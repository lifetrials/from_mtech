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42"/>
  </p:notesMasterIdLst>
  <p:handoutMasterIdLst>
    <p:handoutMasterId r:id="rId43"/>
  </p:handoutMasterIdLst>
  <p:sldIdLst>
    <p:sldId id="331" r:id="rId2"/>
    <p:sldId id="428" r:id="rId3"/>
    <p:sldId id="429" r:id="rId4"/>
    <p:sldId id="449" r:id="rId5"/>
    <p:sldId id="450" r:id="rId6"/>
    <p:sldId id="336" r:id="rId7"/>
    <p:sldId id="334" r:id="rId8"/>
    <p:sldId id="335" r:id="rId9"/>
    <p:sldId id="401" r:id="rId10"/>
    <p:sldId id="402" r:id="rId11"/>
    <p:sldId id="337" r:id="rId12"/>
    <p:sldId id="437" r:id="rId13"/>
    <p:sldId id="436" r:id="rId14"/>
    <p:sldId id="338" r:id="rId15"/>
    <p:sldId id="339" r:id="rId16"/>
    <p:sldId id="434" r:id="rId17"/>
    <p:sldId id="435" r:id="rId18"/>
    <p:sldId id="438" r:id="rId19"/>
    <p:sldId id="439" r:id="rId20"/>
    <p:sldId id="340" r:id="rId21"/>
    <p:sldId id="341" r:id="rId22"/>
    <p:sldId id="440" r:id="rId23"/>
    <p:sldId id="403" r:id="rId24"/>
    <p:sldId id="419" r:id="rId25"/>
    <p:sldId id="421" r:id="rId26"/>
    <p:sldId id="422" r:id="rId27"/>
    <p:sldId id="424" r:id="rId28"/>
    <p:sldId id="441" r:id="rId29"/>
    <p:sldId id="423" r:id="rId30"/>
    <p:sldId id="442" r:id="rId31"/>
    <p:sldId id="443" r:id="rId32"/>
    <p:sldId id="350" r:id="rId33"/>
    <p:sldId id="351" r:id="rId34"/>
    <p:sldId id="444" r:id="rId35"/>
    <p:sldId id="445" r:id="rId36"/>
    <p:sldId id="446" r:id="rId37"/>
    <p:sldId id="447" r:id="rId38"/>
    <p:sldId id="352" r:id="rId39"/>
    <p:sldId id="353" r:id="rId40"/>
    <p:sldId id="448" r:id="rId41"/>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autoAdjust="0"/>
    <p:restoredTop sz="94635"/>
  </p:normalViewPr>
  <p:slideViewPr>
    <p:cSldViewPr snapToGrid="0">
      <p:cViewPr varScale="1">
        <p:scale>
          <a:sx n="109" d="100"/>
          <a:sy n="109" d="100"/>
        </p:scale>
        <p:origin x="1566" y="108"/>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287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027A3F3-A935-4BDC-812E-9120B643162F}"/>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7271601B-176A-4BB3-AC87-58251574C751}"/>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0588">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AC7F65B7-06EB-44DB-B452-D2D383181528}"/>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B2508938-9467-485D-A454-F81218F2ADB1}"/>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a:latin typeface="Helvetica" charset="0"/>
                <a:ea typeface="MS PGothic" charset="-128"/>
              </a:defRPr>
            </a:lvl1pPr>
          </a:lstStyle>
          <a:p>
            <a:pPr>
              <a:defRPr/>
            </a:pPr>
            <a:fld id="{E0F0762C-192C-43F0-9235-1ED3B30BABF7}"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99FA718-A6D5-4F45-AA4A-4BEBC20AD73D}"/>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D00055E3-33CD-4C16-B1E7-137DC8ED0737}"/>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80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4A5BA436-A0A2-4A15-B145-2DD97D7A3078}"/>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7145563E-578D-4EA3-A924-014C2A79C5AF}"/>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1EE489C0-8AB7-4BF4-AFB6-59687BD0D42A}"/>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311BAF64-3980-48A7-93B5-275428159D16}"/>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a:latin typeface="Times New Roman" charset="0"/>
                <a:ea typeface="MS PGothic" charset="-128"/>
              </a:defRPr>
            </a:lvl1pPr>
          </a:lstStyle>
          <a:p>
            <a:pPr>
              <a:defRPr/>
            </a:pPr>
            <a:fld id="{C9F949B7-291A-4420-9D9C-B1ABA67FB313}"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5776ACBD-4645-43B7-892F-697D57D49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48A88ED8-0C05-4DF8-A678-F55DA039B324}"/>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374978C2-165A-418A-AF53-B86870696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405F6187-9AEA-4432-A06C-1C71DC909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A31E14-A3B9-4040-8D31-E2E402615F68}"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92AB0F5E-8A1E-4B4A-A2A0-FE71829D0E73}"/>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9A7828BA-2BF1-4802-82BB-DA5609DDA8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1DCCDE05-0681-4707-90EF-7D1EEA3E3A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F39FF-FF4B-4DB5-A12B-99992D735DF8}"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F0E0EA84-2041-4AE8-806B-3AAE9F7A038C}"/>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1DC70842-3A74-4598-A4CA-0474C81F1B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80788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14611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A01F25CF-FF7D-432D-AEB3-6710154153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BD862C-4A3E-4654-8B80-448A34563F74}"/>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25E9679F-2A37-45A8-BEFD-99A5560446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D19DD103-275F-46A0-BEB3-576DC18D62D7}"/>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E9ADCDDC-7641-41D4-AAB2-2DC5DA9547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249595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FCFEC24-8D51-4AAB-8657-81C98775092E}"/>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4FAB513B-E127-4650-9171-574B0AF722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59296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4449CF17-6DE0-42A8-AF6D-65582A8B77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id="{51D3904E-C473-48EE-9DE3-D37AD52B1BE1}"/>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26B73BA7-C0AE-4B26-9EE2-89053DF39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82373FB-7979-43C3-9CD1-428D9B5060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DD50E9C8-67EF-4556-969A-2795FF144239}"/>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5BF3A816-A617-46B9-9536-0B761391AA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ChangeArrowheads="1" noTextEdit="1"/>
          </p:cNvSpPr>
          <p:nvPr>
            <p:ph type="sldImg"/>
          </p:nvPr>
        </p:nvSpPr>
        <p:spPr>
          <a:ln/>
        </p:spPr>
      </p:sp>
      <p:sp>
        <p:nvSpPr>
          <p:cNvPr id="102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ea typeface="ＭＳ Ｐゴシック" panose="020B0600070205080204" pitchFamily="34" charset="-128"/>
                <a:cs typeface="Arial" panose="020B0604020202020204" pitchFamily="34" charset="0"/>
              </a:rPr>
              <a:t>A Gantt chart is a horizontal bar chart developed as a production control tool in 1917 by Henry L. Gantt, an American engineer and social scientist.</a:t>
            </a: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30D81773-FBDA-4E4B-8B66-970B6314FBD3}" type="slidenum">
              <a:rPr lang="en-US" altLang="en-US" smtClean="0"/>
              <a:pPr>
                <a:spcBef>
                  <a:spcPct val="0"/>
                </a:spcBef>
              </a:pPr>
              <a:t>19</a:t>
            </a:fld>
            <a:endParaRPr lang="en-US" altLang="en-US" smtClean="0"/>
          </a:p>
        </p:txBody>
      </p:sp>
    </p:spTree>
    <p:extLst>
      <p:ext uri="{BB962C8B-B14F-4D97-AF65-F5344CB8AC3E}">
        <p14:creationId xmlns:p14="http://schemas.microsoft.com/office/powerpoint/2010/main" val="23610822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5BA74056-F347-47E7-8F80-E67498FF6C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EBB136E9-59A5-44E7-9BD0-1637A76BE655}"/>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4EED1A63-8694-46B7-9400-1442886D34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5754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08998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7DB04AC4-9FA4-4B81-A2E4-1E6AFD4EE9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1B5580B-1301-4E06-BEA8-C7B0DE30B0A7}"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32770" name="Rectangle 2">
            <a:extLst>
              <a:ext uri="{FF2B5EF4-FFF2-40B4-BE49-F238E27FC236}">
                <a16:creationId xmlns:a16="http://schemas.microsoft.com/office/drawing/2014/main" id="{3F57FD02-2058-4DC0-B613-AD0294133A65}"/>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D6CEFB33-83BB-47AD-B7F4-C32DEBB57E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89ACFED5-FEE9-4052-81A1-4F4ACC8A4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6F1106F-71C9-45B5-A785-D6B08923631A}"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36866" name="Rectangle 2">
            <a:extLst>
              <a:ext uri="{FF2B5EF4-FFF2-40B4-BE49-F238E27FC236}">
                <a16:creationId xmlns:a16="http://schemas.microsoft.com/office/drawing/2014/main" id="{FB4DEBF9-633C-48A9-B2B4-116F70BEBD63}"/>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250F3D6F-9310-4C8C-BB98-4172C6D545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832233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C2245F4-0687-48BF-BF76-797F8BC2AC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pPr/>
              <a:t>29</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2946022D-15EE-4829-ABB0-2302B5FB73E7}"/>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833E1FE6-F684-4288-B04E-1699B856B6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80054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13E74FC7-08E4-41EE-B8E9-4784734F456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38BED452-4AFF-4E3B-8BDB-D1CDFE41C8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pPr/>
              <a:t>33</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B321B815-8EF8-44E7-95DE-2501AEDAD0FE}"/>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EE4E2E56-FB91-48A2-96D3-B738321EA9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C1EC5355-B083-4702-ABF4-E2BCA09291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F2CFA1-F1C4-4CAE-A60E-FA4BA9406BF9}" type="slidenum">
              <a:rPr lang="en-US" altLang="en-US" smtClean="0">
                <a:latin typeface="Times New Roman" panose="02020603050405020304" pitchFamily="18" charset="0"/>
              </a:rPr>
              <a:pPr/>
              <a:t>38</a:t>
            </a:fld>
            <a:endParaRPr lang="en-US" altLang="en-US">
              <a:latin typeface="Times New Roman" panose="02020603050405020304" pitchFamily="18" charset="0"/>
            </a:endParaRPr>
          </a:p>
        </p:txBody>
      </p:sp>
      <p:sp>
        <p:nvSpPr>
          <p:cNvPr id="45058" name="Rectangle 2">
            <a:extLst>
              <a:ext uri="{FF2B5EF4-FFF2-40B4-BE49-F238E27FC236}">
                <a16:creationId xmlns:a16="http://schemas.microsoft.com/office/drawing/2014/main" id="{F745C6AB-0ABB-4D15-945B-36AE7232EF99}"/>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C1561A3E-BDF2-4110-B38B-723F414272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C4542300-0CB6-4A29-9D16-61BA981CC9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7A2607-C363-42A4-A7E7-0B2A0C05B6FD}"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47106" name="Rectangle 2">
            <a:extLst>
              <a:ext uri="{FF2B5EF4-FFF2-40B4-BE49-F238E27FC236}">
                <a16:creationId xmlns:a16="http://schemas.microsoft.com/office/drawing/2014/main" id="{86EC9CC8-78B2-4FF3-AAE4-54ADF392848F}"/>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63C3F6B7-CCAA-4E66-935F-A90C69C863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ChangeArrowheads="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dirty="0">
                <a:ea typeface="+mn-ea"/>
              </a:rPr>
              <a:t>Far from Ideal !!!</a:t>
            </a:r>
          </a:p>
          <a:p>
            <a:pPr>
              <a:defRPr/>
            </a:pPr>
            <a:r>
              <a:rPr lang="en-US" dirty="0">
                <a:ea typeface="+mn-ea"/>
              </a:rPr>
              <a:t>---- can only have round robin scheduling</a:t>
            </a:r>
          </a:p>
          <a:p>
            <a:pPr>
              <a:defRPr/>
            </a:pPr>
            <a:r>
              <a:rPr lang="en-US" dirty="0">
                <a:ea typeface="+mn-ea"/>
              </a:rPr>
              <a:t>---- cannot prioritize</a:t>
            </a:r>
          </a:p>
        </p:txBody>
      </p:sp>
      <p:sp>
        <p:nvSpPr>
          <p:cNvPr id="256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71198363-2EF8-4B55-A8D6-353B65D3A1C5}" type="slidenum">
              <a:rPr lang="en-US" altLang="en-US" smtClean="0"/>
              <a:pPr>
                <a:spcBef>
                  <a:spcPct val="0"/>
                </a:spcBef>
              </a:pPr>
              <a:t>40</a:t>
            </a:fld>
            <a:endParaRPr lang="en-US" altLang="en-US" smtClean="0"/>
          </a:p>
        </p:txBody>
      </p:sp>
    </p:spTree>
    <p:extLst>
      <p:ext uri="{BB962C8B-B14F-4D97-AF65-F5344CB8AC3E}">
        <p14:creationId xmlns:p14="http://schemas.microsoft.com/office/powerpoint/2010/main" val="9281372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9054E9F-B0F7-4A1B-8874-547788B722C4}"/>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1B0B5327-705F-4338-8684-BE3C6B32B1E1}"/>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F9912C43-735E-4FCD-9C20-4B4E9F5D4C0F}"/>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8B2B38F7-FF3D-4D34-8AF3-C5E2B22472F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9D6487E-E59C-4825-A316-F9FD0074A55B}"/>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0BACFF7A-A989-4729-8688-C6C2FD0049F0}"/>
              </a:ext>
            </a:extLst>
          </p:cNvPr>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62320D51-40DC-47DF-B772-6310A5073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B4F18C78-A1C0-4229-859F-4A1EAA01B0EB}"/>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848305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745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23410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16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0134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4588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302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470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15702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8947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1278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DB124D09-86E8-40B1-99F0-1209287C139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101563B5-6DEC-40C9-94C1-11A3E355C2E2}"/>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97A89EDA-A1F4-4710-BBC1-A142F18D0927}"/>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7773D04D-003A-405C-9D9C-1709ED056175}"/>
              </a:ext>
            </a:extLst>
          </p:cNvPr>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a:extLst>
              <a:ext uri="{FF2B5EF4-FFF2-40B4-BE49-F238E27FC236}">
                <a16:creationId xmlns:a16="http://schemas.microsoft.com/office/drawing/2014/main" id="{7AA57875-966E-44EB-9268-6903F2C1DDAD}"/>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B805250A-2DE9-48CE-9970-F8DC7B1A9953}"/>
              </a:ext>
            </a:extLst>
          </p:cNvPr>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a:extLst>
              <a:ext uri="{FF2B5EF4-FFF2-40B4-BE49-F238E27FC236}">
                <a16:creationId xmlns:a16="http://schemas.microsoft.com/office/drawing/2014/main" id="{5DF010FB-BF4A-4539-85F6-EF017614C474}"/>
              </a:ext>
            </a:extLst>
          </p:cNvPr>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a:extLst>
              <a:ext uri="{FF2B5EF4-FFF2-40B4-BE49-F238E27FC236}">
                <a16:creationId xmlns:a16="http://schemas.microsoft.com/office/drawing/2014/main" id="{F35EB3C6-158A-401E-AF69-45BFE965FB7C}"/>
              </a:ext>
            </a:extLst>
          </p:cNvPr>
          <p:cNvSpPr txBox="1">
            <a:spLocks noChangeArrowheads="1"/>
          </p:cNvSpPr>
          <p:nvPr/>
        </p:nvSpPr>
        <p:spPr bwMode="auto">
          <a:xfrm>
            <a:off x="4256147" y="6613525"/>
            <a:ext cx="447558" cy="246221"/>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en-US" sz="1000" b="1" dirty="0">
                <a:solidFill>
                  <a:srgbClr val="006699"/>
                </a:solidFill>
                <a:latin typeface="Helvetica" charset="0"/>
              </a:rPr>
              <a:t>5.</a:t>
            </a:r>
            <a:fld id="{4EB6AB46-21AB-49DC-9DBD-606B37BEB33B}" type="slidenum">
              <a:rPr lang="en-US" altLang="en-US" sz="1000" b="1" smtClean="0">
                <a:solidFill>
                  <a:srgbClr val="006699"/>
                </a:solidFill>
                <a:latin typeface="Helvetica" charset="0"/>
              </a:rPr>
              <a:pPr algn="ctr">
                <a:spcBef>
                  <a:spcPct val="50000"/>
                </a:spcBef>
                <a:defRPr/>
              </a:pPr>
              <a:t>‹#›</a:t>
            </a:fld>
            <a:endParaRPr lang="en-US" altLang="en-US" sz="1000" b="1" dirty="0">
              <a:solidFill>
                <a:srgbClr val="006699"/>
              </a:solidFill>
              <a:latin typeface="Helvetica" charset="0"/>
            </a:endParaRPr>
          </a:p>
        </p:txBody>
      </p:sp>
      <p:sp>
        <p:nvSpPr>
          <p:cNvPr id="1034" name="Text Box 10">
            <a:extLst>
              <a:ext uri="{FF2B5EF4-FFF2-40B4-BE49-F238E27FC236}">
                <a16:creationId xmlns:a16="http://schemas.microsoft.com/office/drawing/2014/main" id="{D78F82E7-FC4D-4DEF-BAC0-15DF6AAD70A5}"/>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A47C3AE5-5C42-45F2-A307-C022C640A4BF}"/>
              </a:ext>
            </a:extLst>
          </p:cNvPr>
          <p:cNvSpPr txBox="1">
            <a:spLocks noChangeArrowheads="1"/>
          </p:cNvSpPr>
          <p:nvPr/>
        </p:nvSpPr>
        <p:spPr bwMode="auto">
          <a:xfrm>
            <a:off x="185738" y="6595087"/>
            <a:ext cx="2730500" cy="246062"/>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502C53CD-F3D0-4970-8364-2ED201BCF77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07"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218F8D62-A6F5-4F18-9BB3-A18FA6B4E228}"/>
              </a:ext>
            </a:extLst>
          </p:cNvPr>
          <p:cNvSpPr>
            <a:spLocks noGrp="1" noChangeArrowheads="1"/>
          </p:cNvSpPr>
          <p:nvPr>
            <p:ph type="ctrTitle"/>
          </p:nvPr>
        </p:nvSpPr>
        <p:spPr>
          <a:xfrm>
            <a:off x="685800" y="782638"/>
            <a:ext cx="7772400" cy="2127250"/>
          </a:xfrm>
        </p:spPr>
        <p:txBody>
          <a:bodyPr/>
          <a:lstStyle/>
          <a:p>
            <a:pPr eaLnBrk="1" hangingPunct="1"/>
            <a:r>
              <a:rPr lang="en-US" altLang="en-US" dirty="0"/>
              <a:t>Chapter 5:  CPU Scheduling</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a:t>
            </a:r>
            <a:endParaRPr lang="en-IN" dirty="0"/>
          </a:p>
        </p:txBody>
      </p:sp>
      <p:sp>
        <p:nvSpPr>
          <p:cNvPr id="3" name="Content Placeholder 2"/>
          <p:cNvSpPr>
            <a:spLocks noGrp="1"/>
          </p:cNvSpPr>
          <p:nvPr>
            <p:ph idx="1"/>
          </p:nvPr>
        </p:nvSpPr>
        <p:spPr/>
        <p:txBody>
          <a:bodyPr/>
          <a:lstStyle/>
          <a:p>
            <a:endParaRPr lang="en-IN"/>
          </a:p>
        </p:txBody>
      </p:sp>
      <p:sp>
        <p:nvSpPr>
          <p:cNvPr id="4" name="Slide Number Placeholder 3"/>
          <p:cNvSpPr>
            <a:spLocks noGrp="1"/>
          </p:cNvSpPr>
          <p:nvPr>
            <p:ph type="sldNum" sz="quarter" idx="4294967295"/>
          </p:nvPr>
        </p:nvSpPr>
        <p:spPr/>
        <p:txBody>
          <a:bodyPr/>
          <a:lstStyle/>
          <a:p>
            <a:pPr>
              <a:defRPr/>
            </a:pPr>
            <a:fld id="{2454B9D3-F01D-4473-B4D0-E3F7713226C0}" type="slidenum">
              <a:rPr lang="en-US" altLang="en-US" smtClean="0"/>
              <a:pPr>
                <a:defRPr/>
              </a:pPr>
              <a:t>2</a:t>
            </a:fld>
            <a:endParaRPr lang="en-US" altLang="en-US"/>
          </a:p>
        </p:txBody>
      </p:sp>
      <p:pic>
        <p:nvPicPr>
          <p:cNvPr id="5" name="Picture 4"/>
          <p:cNvPicPr>
            <a:picLocks noChangeAspect="1"/>
          </p:cNvPicPr>
          <p:nvPr/>
        </p:nvPicPr>
        <p:blipFill>
          <a:blip r:embed="rId2"/>
          <a:stretch>
            <a:fillRect/>
          </a:stretch>
        </p:blipFill>
        <p:spPr>
          <a:xfrm>
            <a:off x="341255" y="1071155"/>
            <a:ext cx="8658340" cy="5147582"/>
          </a:xfrm>
          <a:prstGeom prst="rect">
            <a:avLst/>
          </a:prstGeom>
        </p:spPr>
      </p:pic>
    </p:spTree>
    <p:extLst>
      <p:ext uri="{BB962C8B-B14F-4D97-AF65-F5344CB8AC3E}">
        <p14:creationId xmlns:p14="http://schemas.microsoft.com/office/powerpoint/2010/main" val="180724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Important Registers</a:t>
            </a:r>
            <a:endParaRPr lang="en-IN" dirty="0"/>
          </a:p>
        </p:txBody>
      </p:sp>
      <p:pic>
        <p:nvPicPr>
          <p:cNvPr id="5" name="Content Placeholder 4"/>
          <p:cNvPicPr>
            <a:picLocks noGrp="1" noChangeAspect="1"/>
          </p:cNvPicPr>
          <p:nvPr>
            <p:ph idx="1"/>
          </p:nvPr>
        </p:nvPicPr>
        <p:blipFill>
          <a:blip r:embed="rId2"/>
          <a:stretch>
            <a:fillRect/>
          </a:stretch>
        </p:blipFill>
        <p:spPr>
          <a:xfrm>
            <a:off x="457200" y="1957114"/>
            <a:ext cx="8229600" cy="3812135"/>
          </a:xfrm>
          <a:prstGeom prst="rect">
            <a:avLst/>
          </a:prstGeom>
        </p:spPr>
      </p:pic>
      <p:sp>
        <p:nvSpPr>
          <p:cNvPr id="4" name="Slide Number Placeholder 3"/>
          <p:cNvSpPr>
            <a:spLocks noGrp="1"/>
          </p:cNvSpPr>
          <p:nvPr>
            <p:ph type="sldNum" sz="quarter" idx="4294967295"/>
          </p:nvPr>
        </p:nvSpPr>
        <p:spPr/>
        <p:txBody>
          <a:bodyPr/>
          <a:lstStyle/>
          <a:p>
            <a:pPr>
              <a:defRPr/>
            </a:pPr>
            <a:fld id="{2454B9D3-F01D-4473-B4D0-E3F7713226C0}" type="slidenum">
              <a:rPr lang="en-US" altLang="en-US" smtClean="0"/>
              <a:pPr>
                <a:defRPr/>
              </a:pPr>
              <a:t>3</a:t>
            </a:fld>
            <a:endParaRPr lang="en-US" altLang="en-US"/>
          </a:p>
        </p:txBody>
      </p:sp>
    </p:spTree>
    <p:extLst>
      <p:ext uri="{BB962C8B-B14F-4D97-AF65-F5344CB8AC3E}">
        <p14:creationId xmlns:p14="http://schemas.microsoft.com/office/powerpoint/2010/main" val="16041835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 Switching</a:t>
            </a:r>
            <a:endParaRPr lang="en-IN" dirty="0"/>
          </a:p>
        </p:txBody>
      </p:sp>
      <p:sp>
        <p:nvSpPr>
          <p:cNvPr id="3" name="Content Placeholder 2"/>
          <p:cNvSpPr>
            <a:spLocks noGrp="1"/>
          </p:cNvSpPr>
          <p:nvPr>
            <p:ph idx="1"/>
          </p:nvPr>
        </p:nvSpPr>
        <p:spPr/>
        <p:txBody>
          <a:bodyPr/>
          <a:lstStyle/>
          <a:p>
            <a:endParaRPr lang="en-IN"/>
          </a:p>
        </p:txBody>
      </p:sp>
      <p:sp>
        <p:nvSpPr>
          <p:cNvPr id="4" name="Slide Number Placeholder 3"/>
          <p:cNvSpPr>
            <a:spLocks noGrp="1"/>
          </p:cNvSpPr>
          <p:nvPr>
            <p:ph type="sldNum" sz="quarter" idx="4294967295"/>
          </p:nvPr>
        </p:nvSpPr>
        <p:spPr/>
        <p:txBody>
          <a:bodyPr/>
          <a:lstStyle/>
          <a:p>
            <a:pPr>
              <a:defRPr/>
            </a:pPr>
            <a:fld id="{2454B9D3-F01D-4473-B4D0-E3F7713226C0}" type="slidenum">
              <a:rPr lang="en-US" altLang="en-US" smtClean="0"/>
              <a:pPr>
                <a:defRPr/>
              </a:pPr>
              <a:t>4</a:t>
            </a:fld>
            <a:endParaRPr lang="en-US" altLang="en-US"/>
          </a:p>
        </p:txBody>
      </p:sp>
      <p:pic>
        <p:nvPicPr>
          <p:cNvPr id="5" name="Picture 4"/>
          <p:cNvPicPr>
            <a:picLocks noChangeAspect="1"/>
          </p:cNvPicPr>
          <p:nvPr/>
        </p:nvPicPr>
        <p:blipFill>
          <a:blip r:embed="rId2"/>
          <a:stretch>
            <a:fillRect/>
          </a:stretch>
        </p:blipFill>
        <p:spPr>
          <a:xfrm>
            <a:off x="436618" y="1195686"/>
            <a:ext cx="8707382" cy="5629773"/>
          </a:xfrm>
          <a:prstGeom prst="rect">
            <a:avLst/>
          </a:prstGeom>
        </p:spPr>
      </p:pic>
    </p:spTree>
    <p:extLst>
      <p:ext uri="{BB962C8B-B14F-4D97-AF65-F5344CB8AC3E}">
        <p14:creationId xmlns:p14="http://schemas.microsoft.com/office/powerpoint/2010/main" val="30055304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mode to Kernel mode and back</a:t>
            </a:r>
            <a:endParaRPr lang="en-IN" dirty="0"/>
          </a:p>
        </p:txBody>
      </p:sp>
      <p:sp>
        <p:nvSpPr>
          <p:cNvPr id="4" name="Slide Number Placeholder 3"/>
          <p:cNvSpPr>
            <a:spLocks noGrp="1"/>
          </p:cNvSpPr>
          <p:nvPr>
            <p:ph type="sldNum" sz="quarter" idx="4294967295"/>
          </p:nvPr>
        </p:nvSpPr>
        <p:spPr/>
        <p:txBody>
          <a:bodyPr/>
          <a:lstStyle/>
          <a:p>
            <a:pPr>
              <a:defRPr/>
            </a:pPr>
            <a:fld id="{2454B9D3-F01D-4473-B4D0-E3F7713226C0}" type="slidenum">
              <a:rPr lang="en-US" altLang="en-US" smtClean="0"/>
              <a:pPr>
                <a:defRPr/>
              </a:pPr>
              <a:t>5</a:t>
            </a:fld>
            <a:endParaRPr lang="en-US" altLang="en-US"/>
          </a:p>
        </p:txBody>
      </p:sp>
      <p:pic>
        <p:nvPicPr>
          <p:cNvPr id="5" name="Picture 4"/>
          <p:cNvPicPr>
            <a:picLocks noChangeAspect="1"/>
          </p:cNvPicPr>
          <p:nvPr/>
        </p:nvPicPr>
        <p:blipFill>
          <a:blip r:embed="rId2"/>
          <a:stretch>
            <a:fillRect/>
          </a:stretch>
        </p:blipFill>
        <p:spPr>
          <a:xfrm>
            <a:off x="152400" y="1981200"/>
            <a:ext cx="8029814" cy="3133982"/>
          </a:xfrm>
          <a:prstGeom prst="rect">
            <a:avLst/>
          </a:prstGeom>
        </p:spPr>
      </p:pic>
    </p:spTree>
    <p:extLst>
      <p:ext uri="{BB962C8B-B14F-4D97-AF65-F5344CB8AC3E}">
        <p14:creationId xmlns:p14="http://schemas.microsoft.com/office/powerpoint/2010/main" val="5587076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838200" y="229606"/>
            <a:ext cx="7848600" cy="576262"/>
          </a:xfrm>
        </p:spPr>
        <p:txBody>
          <a:bodyPr/>
          <a:lstStyle/>
          <a:p>
            <a:pPr eaLnBrk="1" hangingPunct="1"/>
            <a:r>
              <a:rPr lang="en-US" altLang="en-US" dirty="0"/>
              <a:t>CPU Scheduler</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838200" y="1065485"/>
            <a:ext cx="7227276" cy="4808781"/>
          </a:xfrm>
        </p:spPr>
        <p:txBody>
          <a:bodyPr/>
          <a:lstStyle/>
          <a:p>
            <a:pPr>
              <a:defRPr/>
            </a:pPr>
            <a:r>
              <a:rPr lang="en-US" dirty="0">
                <a:ea typeface="ＭＳ Ｐゴシック" charset="0"/>
                <a:cs typeface="ＭＳ Ｐゴシック" charset="0"/>
              </a:rPr>
              <a:t>The</a:t>
            </a:r>
            <a:r>
              <a:rPr lang="en-US" b="1" dirty="0">
                <a:solidFill>
                  <a:srgbClr val="3366FF"/>
                </a:solidFill>
                <a:ea typeface="ＭＳ Ｐゴシック" charset="0"/>
                <a:cs typeface="ＭＳ Ｐゴシック" charset="0"/>
              </a:rPr>
              <a:t> </a:t>
            </a:r>
            <a:r>
              <a:rPr lang="en-US" b="1" dirty="0">
                <a:solidFill>
                  <a:srgbClr val="006699"/>
                </a:solidFill>
                <a:latin typeface="+mj-lt"/>
              </a:rPr>
              <a:t>CPU scheduler </a:t>
            </a:r>
            <a:r>
              <a:rPr lang="en-US" dirty="0">
                <a:ea typeface="ＭＳ Ｐゴシック" charset="-128"/>
                <a:cs typeface="ＭＳ Ｐゴシック" charset="-128"/>
              </a:rPr>
              <a:t>selects from among the processes in ready queue, and allocates a CPU core to one of them</a:t>
            </a:r>
          </a:p>
          <a:p>
            <a:pPr marL="742835" lvl="1">
              <a:defRPr/>
            </a:pPr>
            <a:r>
              <a:rPr lang="en-US" dirty="0">
                <a:ea typeface="ＭＳ Ｐゴシック" charset="-128"/>
              </a:rPr>
              <a:t>Queue may be ordered in various </a:t>
            </a:r>
            <a:r>
              <a:rPr lang="en-US" dirty="0" smtClean="0">
                <a:ea typeface="ＭＳ Ｐゴシック" charset="-128"/>
              </a:rPr>
              <a:t>ways</a:t>
            </a:r>
          </a:p>
          <a:p>
            <a:pPr marL="457085" lvl="1" indent="0">
              <a:buNone/>
              <a:defRPr/>
            </a:pPr>
            <a:endParaRPr lang="en-US" dirty="0">
              <a:ea typeface="ＭＳ Ｐゴシック" charset="-128"/>
            </a:endParaRPr>
          </a:p>
          <a:p>
            <a:pPr>
              <a:defRPr/>
            </a:pPr>
            <a:r>
              <a:rPr lang="en-US" dirty="0">
                <a:ea typeface="ＭＳ Ｐゴシック" charset="-128"/>
                <a:cs typeface="ＭＳ Ｐゴシック" charset="-128"/>
              </a:rPr>
              <a:t>CPU scheduling decisions may take place when a process:</a:t>
            </a:r>
          </a:p>
          <a:p>
            <a:pPr marL="799900" lvl="1" indent="-342815">
              <a:buFont typeface="Monotype Sorts" pitchFamily="-84" charset="2"/>
              <a:buNone/>
              <a:defRPr/>
            </a:pPr>
            <a:r>
              <a:rPr lang="en-US" dirty="0">
                <a:solidFill>
                  <a:srgbClr val="CC6600"/>
                </a:solidFill>
                <a:ea typeface="ＭＳ Ｐゴシック" charset="-128"/>
              </a:rPr>
              <a:t>1.	</a:t>
            </a:r>
            <a:r>
              <a:rPr lang="en-US" dirty="0">
                <a:ea typeface="ＭＳ Ｐゴシック" charset="-128"/>
              </a:rPr>
              <a:t>Switches from running to waiting state</a:t>
            </a:r>
          </a:p>
          <a:p>
            <a:pPr marL="799900" lvl="1" indent="-342815">
              <a:buFont typeface="Monotype Sorts" pitchFamily="-84" charset="2"/>
              <a:buNone/>
              <a:defRPr/>
            </a:pPr>
            <a:r>
              <a:rPr lang="en-US" dirty="0">
                <a:solidFill>
                  <a:srgbClr val="CC6600"/>
                </a:solidFill>
                <a:ea typeface="ＭＳ Ｐゴシック" charset="-128"/>
              </a:rPr>
              <a:t>2.</a:t>
            </a:r>
            <a:r>
              <a:rPr lang="en-US" dirty="0">
                <a:ea typeface="ＭＳ Ｐゴシック" charset="-128"/>
              </a:rPr>
              <a:t>	Switches from running to ready state</a:t>
            </a:r>
          </a:p>
          <a:p>
            <a:pPr marL="799900" lvl="1" indent="-342815">
              <a:buFont typeface="Monotype Sorts" pitchFamily="-84" charset="2"/>
              <a:buNone/>
              <a:defRPr/>
            </a:pPr>
            <a:r>
              <a:rPr lang="en-US" dirty="0">
                <a:solidFill>
                  <a:srgbClr val="CC6600"/>
                </a:solidFill>
                <a:ea typeface="ＭＳ Ｐゴシック" charset="-128"/>
              </a:rPr>
              <a:t>3.</a:t>
            </a:r>
            <a:r>
              <a:rPr lang="en-US" dirty="0">
                <a:ea typeface="ＭＳ Ｐゴシック" charset="-128"/>
              </a:rPr>
              <a:t>	Switches from waiting to ready</a:t>
            </a:r>
          </a:p>
          <a:p>
            <a:pPr marL="799900" lvl="1" indent="-342815">
              <a:buFont typeface="Monotype Sorts" charset="2"/>
              <a:buAutoNum type="arabicPeriod" startAt="4"/>
              <a:defRPr/>
            </a:pPr>
            <a:r>
              <a:rPr lang="en-US" dirty="0" smtClean="0">
                <a:ea typeface="ＭＳ Ｐゴシック" charset="-128"/>
              </a:rPr>
              <a:t>Terminates</a:t>
            </a:r>
          </a:p>
          <a:p>
            <a:pPr marL="457085" lvl="1" indent="0">
              <a:buNone/>
              <a:defRPr/>
            </a:pPr>
            <a:endParaRPr lang="en-US" dirty="0">
              <a:ea typeface="ＭＳ Ｐゴシック" charset="-128"/>
            </a:endParaRPr>
          </a:p>
          <a:p>
            <a:pPr>
              <a:defRPr/>
            </a:pPr>
            <a:r>
              <a:rPr lang="en-US" dirty="0">
                <a:ea typeface="ＭＳ Ｐゴシック" charset="-128"/>
                <a:cs typeface="ＭＳ Ｐゴシック" charset="-128"/>
              </a:rPr>
              <a:t>For situations 1 and 4, there is no choice in terms of scheduling. A new process (if one exists in the ready queue) must be selected for execution. </a:t>
            </a:r>
            <a:endParaRPr lang="en-US" dirty="0" smtClean="0">
              <a:ea typeface="ＭＳ Ｐゴシック" charset="-128"/>
              <a:cs typeface="ＭＳ Ｐゴシック" charset="-128"/>
            </a:endParaRPr>
          </a:p>
          <a:p>
            <a:pPr marL="0" indent="0">
              <a:buNone/>
              <a:defRPr/>
            </a:pPr>
            <a:endParaRPr lang="en-US" dirty="0">
              <a:ea typeface="ＭＳ Ｐゴシック" charset="-128"/>
              <a:cs typeface="ＭＳ Ｐゴシック" charset="-128"/>
            </a:endParaRPr>
          </a:p>
          <a:p>
            <a:pPr>
              <a:defRPr/>
            </a:pPr>
            <a:r>
              <a:rPr lang="en-US" dirty="0">
                <a:ea typeface="ＭＳ Ｐゴシック" charset="-128"/>
                <a:cs typeface="ＭＳ Ｐゴシック" charset="-128"/>
              </a:rPr>
              <a:t>For situations 2 and 3, however, there is  a choice.</a:t>
            </a:r>
            <a:endParaRPr lang="en-US" b="1" dirty="0">
              <a:solidFill>
                <a:srgbClr val="3366FF"/>
              </a:solidFill>
              <a:ea typeface="ＭＳ Ｐゴシック" charset="0"/>
              <a:cs typeface="ＭＳ Ｐゴシック"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651">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651">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651">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651">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65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AC8CABCD-F408-4385-AC6D-CB5E8038C31B}"/>
              </a:ext>
            </a:extLst>
          </p:cNvPr>
          <p:cNvSpPr>
            <a:spLocks noGrp="1" noChangeArrowheads="1"/>
          </p:cNvSpPr>
          <p:nvPr>
            <p:ph type="title"/>
          </p:nvPr>
        </p:nvSpPr>
        <p:spPr>
          <a:xfrm>
            <a:off x="457200" y="223450"/>
            <a:ext cx="8229600" cy="576262"/>
          </a:xfrm>
        </p:spPr>
        <p:txBody>
          <a:bodyPr/>
          <a:lstStyle/>
          <a:p>
            <a:pPr eaLnBrk="1" hangingPunct="1"/>
            <a:r>
              <a:rPr lang="en-US" altLang="en-US" dirty="0" smtClean="0"/>
              <a:t>Nature of processes</a:t>
            </a:r>
            <a:endParaRPr lang="en-US" altLang="en-US" dirty="0"/>
          </a:p>
        </p:txBody>
      </p:sp>
      <p:sp>
        <p:nvSpPr>
          <p:cNvPr id="11266" name="Rectangle 3">
            <a:extLst>
              <a:ext uri="{FF2B5EF4-FFF2-40B4-BE49-F238E27FC236}">
                <a16:creationId xmlns:a16="http://schemas.microsoft.com/office/drawing/2014/main" id="{B2D356C4-1B27-4D4C-8A80-D241E2CD7B36}"/>
              </a:ext>
            </a:extLst>
          </p:cNvPr>
          <p:cNvSpPr>
            <a:spLocks noGrp="1" noChangeArrowheads="1"/>
          </p:cNvSpPr>
          <p:nvPr>
            <p:ph type="body" idx="1"/>
          </p:nvPr>
        </p:nvSpPr>
        <p:spPr>
          <a:xfrm>
            <a:off x="841375" y="1064418"/>
            <a:ext cx="3978275" cy="5057775"/>
          </a:xfrm>
        </p:spPr>
        <p:txBody>
          <a:bodyPr/>
          <a:lstStyle/>
          <a:p>
            <a:r>
              <a:rPr lang="en-US" altLang="en-US" sz="2000" dirty="0"/>
              <a:t>Maximum CPU utilization obtained with </a:t>
            </a:r>
            <a:r>
              <a:rPr lang="en-US" altLang="en-US" sz="2000" dirty="0" smtClean="0"/>
              <a:t>multiprogramming</a:t>
            </a:r>
          </a:p>
          <a:p>
            <a:endParaRPr lang="en-US" altLang="en-US" sz="2000" dirty="0"/>
          </a:p>
          <a:p>
            <a:r>
              <a:rPr lang="en-US" altLang="en-US" sz="2000" dirty="0"/>
              <a:t>CPU–I/O Burst Cycle – Process execution consists of a </a:t>
            </a:r>
            <a:r>
              <a:rPr lang="en-US" altLang="en-US" sz="2000" b="1" dirty="0">
                <a:solidFill>
                  <a:srgbClr val="006699"/>
                </a:solidFill>
                <a:latin typeface="+mj-lt"/>
              </a:rPr>
              <a:t>cycle</a:t>
            </a:r>
            <a:r>
              <a:rPr lang="en-US" altLang="en-US" sz="2000" dirty="0"/>
              <a:t> of CPU execution and I/O wait</a:t>
            </a:r>
          </a:p>
          <a:p>
            <a:endParaRPr lang="en-US" altLang="en-US" sz="2000" b="1" dirty="0" smtClean="0">
              <a:solidFill>
                <a:srgbClr val="006699"/>
              </a:solidFill>
              <a:latin typeface="+mj-lt"/>
            </a:endParaRPr>
          </a:p>
          <a:p>
            <a:r>
              <a:rPr lang="en-US" altLang="en-US" sz="2000" b="1" dirty="0" smtClean="0">
                <a:solidFill>
                  <a:srgbClr val="006699"/>
                </a:solidFill>
                <a:latin typeface="+mj-lt"/>
              </a:rPr>
              <a:t>CPU</a:t>
            </a:r>
            <a:r>
              <a:rPr lang="en-US" altLang="en-US" sz="2000" b="1" dirty="0" smtClean="0">
                <a:solidFill>
                  <a:srgbClr val="3366FF"/>
                </a:solidFill>
              </a:rPr>
              <a:t> </a:t>
            </a:r>
            <a:r>
              <a:rPr lang="en-US" altLang="en-US" sz="2000" b="1" dirty="0">
                <a:solidFill>
                  <a:srgbClr val="006699"/>
                </a:solidFill>
                <a:latin typeface="+mj-lt"/>
              </a:rPr>
              <a:t>burst</a:t>
            </a:r>
            <a:r>
              <a:rPr lang="en-US" altLang="en-US" sz="2000" b="1" dirty="0">
                <a:solidFill>
                  <a:srgbClr val="3366FF"/>
                </a:solidFill>
              </a:rPr>
              <a:t> </a:t>
            </a:r>
            <a:r>
              <a:rPr lang="en-US" altLang="en-US" sz="2000" dirty="0"/>
              <a:t>followed by </a:t>
            </a:r>
            <a:r>
              <a:rPr lang="en-US" altLang="en-US" sz="2000" b="1" dirty="0">
                <a:solidFill>
                  <a:srgbClr val="006699"/>
                </a:solidFill>
                <a:latin typeface="+mj-lt"/>
              </a:rPr>
              <a:t>I/O burst</a:t>
            </a:r>
          </a:p>
          <a:p>
            <a:endParaRPr lang="en-US" altLang="en-US" sz="2000" dirty="0" smtClean="0"/>
          </a:p>
          <a:p>
            <a:r>
              <a:rPr lang="en-US" altLang="en-US" sz="2000" dirty="0" smtClean="0"/>
              <a:t>CPU </a:t>
            </a:r>
            <a:r>
              <a:rPr lang="en-US" altLang="en-US" sz="2000" dirty="0"/>
              <a:t>burst distribution is of main concern</a:t>
            </a:r>
          </a:p>
          <a:p>
            <a:pPr>
              <a:buFont typeface="Monotype Sorts" pitchFamily="-84" charset="2"/>
              <a:buNone/>
            </a:pPr>
            <a:endParaRPr lang="en-US" altLang="en-US" sz="2000" dirty="0"/>
          </a:p>
        </p:txBody>
      </p:sp>
      <p:pic>
        <p:nvPicPr>
          <p:cNvPr id="11267" name="Picture 1">
            <a:extLst>
              <a:ext uri="{FF2B5EF4-FFF2-40B4-BE49-F238E27FC236}">
                <a16:creationId xmlns:a16="http://schemas.microsoft.com/office/drawing/2014/main" id="{42D4194B-20FB-49DE-95E2-D3F1F7D61B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86388" y="1169988"/>
            <a:ext cx="2603500" cy="484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272FB29C-A265-4A5A-90F0-4EA35A17174F}"/>
              </a:ext>
            </a:extLst>
          </p:cNvPr>
          <p:cNvSpPr>
            <a:spLocks noGrp="1" noChangeArrowheads="1"/>
          </p:cNvSpPr>
          <p:nvPr>
            <p:ph type="title"/>
          </p:nvPr>
        </p:nvSpPr>
        <p:spPr>
          <a:xfrm>
            <a:off x="1066800" y="222868"/>
            <a:ext cx="7620000" cy="576262"/>
          </a:xfrm>
        </p:spPr>
        <p:txBody>
          <a:bodyPr/>
          <a:lstStyle/>
          <a:p>
            <a:pPr eaLnBrk="1" hangingPunct="1"/>
            <a:r>
              <a:rPr lang="en-US" altLang="en-US" dirty="0"/>
              <a:t>Histogram of CPU-burst Times</a:t>
            </a:r>
          </a:p>
        </p:txBody>
      </p:sp>
      <p:sp>
        <p:nvSpPr>
          <p:cNvPr id="13314" name="TextBox 2">
            <a:extLst>
              <a:ext uri="{FF2B5EF4-FFF2-40B4-BE49-F238E27FC236}">
                <a16:creationId xmlns:a16="http://schemas.microsoft.com/office/drawing/2014/main" id="{199A0D9E-EDB0-4B00-B274-814CD65DE927}"/>
              </a:ext>
            </a:extLst>
          </p:cNvPr>
          <p:cNvSpPr txBox="1">
            <a:spLocks noChangeArrowheads="1"/>
          </p:cNvSpPr>
          <p:nvPr/>
        </p:nvSpPr>
        <p:spPr bwMode="auto">
          <a:xfrm>
            <a:off x="730885" y="1075781"/>
            <a:ext cx="520366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285750" indent="-285750">
              <a:spcBef>
                <a:spcPct val="0"/>
              </a:spcBef>
              <a:buClrTx/>
              <a:buSzTx/>
            </a:pPr>
            <a:r>
              <a:rPr kumimoji="0" lang="en-US" altLang="en-US" sz="2400" dirty="0">
                <a:latin typeface="Verdana" panose="020B0604030504040204" pitchFamily="34" charset="0"/>
              </a:rPr>
              <a:t>Large number of short bursts</a:t>
            </a:r>
          </a:p>
          <a:p>
            <a:pPr marL="285750" indent="-285750">
              <a:spcBef>
                <a:spcPct val="0"/>
              </a:spcBef>
              <a:buClrTx/>
              <a:buSzTx/>
            </a:pPr>
            <a:endParaRPr kumimoji="0" lang="en-US" altLang="en-US" sz="2400" dirty="0">
              <a:latin typeface="Verdana" panose="020B0604030504040204" pitchFamily="34" charset="0"/>
            </a:endParaRPr>
          </a:p>
          <a:p>
            <a:pPr marL="285750" indent="-285750">
              <a:spcBef>
                <a:spcPct val="0"/>
              </a:spcBef>
              <a:buClrTx/>
              <a:buSzTx/>
            </a:pPr>
            <a:r>
              <a:rPr kumimoji="0" lang="en-US" altLang="en-US" sz="2400" dirty="0">
                <a:latin typeface="Verdana" panose="020B0604030504040204" pitchFamily="34" charset="0"/>
              </a:rPr>
              <a:t>Small number of longer bursts</a:t>
            </a:r>
          </a:p>
        </p:txBody>
      </p:sp>
      <p:pic>
        <p:nvPicPr>
          <p:cNvPr id="13315" name="Picture 1">
            <a:extLst>
              <a:ext uri="{FF2B5EF4-FFF2-40B4-BE49-F238E27FC236}">
                <a16:creationId xmlns:a16="http://schemas.microsoft.com/office/drawing/2014/main" id="{A278EA04-1701-4441-AB9A-E05347064E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17763" y="2479675"/>
            <a:ext cx="4922837"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and Nonpreemptive Scheduling</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31984" y="1193434"/>
            <a:ext cx="8029135" cy="4707181"/>
          </a:xfrm>
        </p:spPr>
        <p:txBody>
          <a:bodyPr/>
          <a:lstStyle/>
          <a:p>
            <a:pPr>
              <a:defRPr/>
            </a:pPr>
            <a:r>
              <a:rPr lang="en-US" dirty="0">
                <a:ea typeface="ＭＳ Ｐゴシック" charset="0"/>
              </a:rPr>
              <a:t>When scheduling takes place only under circumstances 1 and 4, the scheduling scheme is </a:t>
            </a:r>
            <a:r>
              <a:rPr lang="en-US" b="1" dirty="0" err="1">
                <a:solidFill>
                  <a:srgbClr val="006699"/>
                </a:solidFill>
                <a:latin typeface="+mj-lt"/>
              </a:rPr>
              <a:t>nonpreemptive</a:t>
            </a:r>
            <a:r>
              <a:rPr lang="en-US" dirty="0" smtClean="0">
                <a:ea typeface="ＭＳ Ｐゴシック" charset="0"/>
              </a:rPr>
              <a:t>.</a:t>
            </a:r>
          </a:p>
          <a:p>
            <a:pPr>
              <a:defRPr/>
            </a:pPr>
            <a:endParaRPr lang="en-US" dirty="0">
              <a:ea typeface="ＭＳ Ｐゴシック" charset="0"/>
            </a:endParaRPr>
          </a:p>
          <a:p>
            <a:pPr>
              <a:defRPr/>
            </a:pPr>
            <a:r>
              <a:rPr lang="en-US" dirty="0">
                <a:ea typeface="ＭＳ Ｐゴシック" charset="0"/>
              </a:rPr>
              <a:t>Otherwise, it is </a:t>
            </a:r>
            <a:r>
              <a:rPr lang="en-US" b="1" dirty="0">
                <a:solidFill>
                  <a:srgbClr val="006699"/>
                </a:solidFill>
                <a:latin typeface="+mj-lt"/>
              </a:rPr>
              <a:t>preemptive</a:t>
            </a:r>
            <a:r>
              <a:rPr lang="en-US" dirty="0">
                <a:ea typeface="ＭＳ Ｐゴシック" charset="0"/>
              </a:rPr>
              <a:t>. </a:t>
            </a:r>
            <a:endParaRPr lang="en-US" dirty="0" smtClean="0">
              <a:ea typeface="ＭＳ Ｐゴシック" charset="0"/>
            </a:endParaRPr>
          </a:p>
          <a:p>
            <a:pPr marL="0" indent="0">
              <a:buNone/>
              <a:defRPr/>
            </a:pPr>
            <a:endParaRPr lang="en-US" dirty="0">
              <a:ea typeface="ＭＳ Ｐゴシック" charset="0"/>
            </a:endParaRPr>
          </a:p>
          <a:p>
            <a:pPr>
              <a:defRPr/>
            </a:pPr>
            <a:r>
              <a:rPr lang="en-US" dirty="0">
                <a:ea typeface="ＭＳ Ｐゴシック" charset="0"/>
              </a:rPr>
              <a:t>Under Nonpreemptive scheduling, once the CPU has been allocated to a process, the process keeps the CPU until it releases it either by terminating or by switching to the waiting state. </a:t>
            </a:r>
            <a:endParaRPr lang="en-US" dirty="0" smtClean="0">
              <a:ea typeface="ＭＳ Ｐゴシック" charset="0"/>
            </a:endParaRPr>
          </a:p>
          <a:p>
            <a:pPr>
              <a:defRPr/>
            </a:pPr>
            <a:endParaRPr lang="en-US" dirty="0">
              <a:ea typeface="ＭＳ Ｐゴシック" charset="0"/>
            </a:endParaRPr>
          </a:p>
          <a:p>
            <a:pPr>
              <a:defRPr/>
            </a:pPr>
            <a:r>
              <a:rPr lang="en-US" dirty="0">
                <a:ea typeface="ＭＳ Ｐゴシック" charset="0"/>
              </a:rPr>
              <a:t>Virtually all modern operating systems including Windows, MacOS, Linux, and UNIX use preemptive scheduling algorithms.</a:t>
            </a:r>
            <a:endParaRPr lang="en-US" dirty="0">
              <a:ea typeface="ＭＳ Ｐゴシック" charset="-128"/>
            </a:endParaRPr>
          </a:p>
        </p:txBody>
      </p:sp>
    </p:spTree>
    <p:extLst>
      <p:ext uri="{BB962C8B-B14F-4D97-AF65-F5344CB8AC3E}">
        <p14:creationId xmlns:p14="http://schemas.microsoft.com/office/powerpoint/2010/main" val="372872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5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Scheduling and Race Conditions</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31985" y="1193435"/>
            <a:ext cx="7898506" cy="4621212"/>
          </a:xfrm>
        </p:spPr>
        <p:txBody>
          <a:bodyPr/>
          <a:lstStyle/>
          <a:p>
            <a:pPr>
              <a:defRPr/>
            </a:pPr>
            <a:r>
              <a:rPr lang="en-US" dirty="0">
                <a:ea typeface="ＭＳ Ｐゴシック" charset="0"/>
              </a:rPr>
              <a:t>Preemptive scheduling can result in race conditions when data are shared among several processes</a:t>
            </a:r>
            <a:r>
              <a:rPr lang="en-US" dirty="0" smtClean="0">
                <a:ea typeface="ＭＳ Ｐゴシック" charset="0"/>
              </a:rPr>
              <a:t>.</a:t>
            </a:r>
          </a:p>
          <a:p>
            <a:pPr>
              <a:defRPr/>
            </a:pPr>
            <a:endParaRPr lang="en-US" dirty="0">
              <a:ea typeface="ＭＳ Ｐゴシック" charset="0"/>
            </a:endParaRPr>
          </a:p>
          <a:p>
            <a:pPr>
              <a:defRPr/>
            </a:pPr>
            <a:r>
              <a:rPr lang="en-US" dirty="0">
                <a:ea typeface="ＭＳ Ｐゴシック" charset="0"/>
              </a:rPr>
              <a:t>Consider the case of two processes that share data. While one process is updating the data, it is preempted so that the second process can run. The second process then tries to read the data, which are in an inconsistent state. </a:t>
            </a:r>
            <a:endParaRPr lang="en-US" dirty="0" smtClean="0">
              <a:ea typeface="ＭＳ Ｐゴシック" charset="0"/>
            </a:endParaRPr>
          </a:p>
          <a:p>
            <a:pPr>
              <a:defRPr/>
            </a:pPr>
            <a:endParaRPr lang="en-US" dirty="0">
              <a:ea typeface="ＭＳ Ｐゴシック" charset="0"/>
            </a:endParaRPr>
          </a:p>
          <a:p>
            <a:pPr>
              <a:defRPr/>
            </a:pPr>
            <a:r>
              <a:rPr lang="en-US" dirty="0">
                <a:ea typeface="ＭＳ Ｐゴシック" charset="0"/>
              </a:rPr>
              <a:t>This issue will be explored in detail </a:t>
            </a:r>
            <a:r>
              <a:rPr lang="en-US" dirty="0" smtClean="0">
                <a:ea typeface="ＭＳ Ｐゴシック" charset="0"/>
              </a:rPr>
              <a:t>later</a:t>
            </a:r>
            <a:endParaRPr lang="en-US" dirty="0">
              <a:ea typeface="ＭＳ Ｐゴシック" charset="-128"/>
            </a:endParaRPr>
          </a:p>
        </p:txBody>
      </p:sp>
    </p:spTree>
    <p:extLst>
      <p:ext uri="{BB962C8B-B14F-4D97-AF65-F5344CB8AC3E}">
        <p14:creationId xmlns:p14="http://schemas.microsoft.com/office/powerpoint/2010/main" val="3046456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C185CC1F-4F14-4AFD-8E13-6930EBB32CE9}"/>
              </a:ext>
            </a:extLst>
          </p:cNvPr>
          <p:cNvSpPr>
            <a:spLocks noGrp="1" noChangeArrowheads="1"/>
          </p:cNvSpPr>
          <p:nvPr>
            <p:ph type="title"/>
          </p:nvPr>
        </p:nvSpPr>
        <p:spPr>
          <a:xfrm>
            <a:off x="457200" y="217329"/>
            <a:ext cx="8229600" cy="576263"/>
          </a:xfrm>
        </p:spPr>
        <p:txBody>
          <a:bodyPr/>
          <a:lstStyle/>
          <a:p>
            <a:pPr eaLnBrk="1" hangingPunct="1"/>
            <a:r>
              <a:rPr lang="en-US" altLang="en-US" dirty="0"/>
              <a:t>Dispatcher</a:t>
            </a:r>
          </a:p>
        </p:txBody>
      </p:sp>
      <p:sp>
        <p:nvSpPr>
          <p:cNvPr id="17410" name="Rectangle 3">
            <a:extLst>
              <a:ext uri="{FF2B5EF4-FFF2-40B4-BE49-F238E27FC236}">
                <a16:creationId xmlns:a16="http://schemas.microsoft.com/office/drawing/2014/main" id="{E113DAE6-D3A7-45EF-87B5-890976FCB8D4}"/>
              </a:ext>
            </a:extLst>
          </p:cNvPr>
          <p:cNvSpPr>
            <a:spLocks noGrp="1" noChangeArrowheads="1"/>
          </p:cNvSpPr>
          <p:nvPr>
            <p:ph type="body" idx="1"/>
          </p:nvPr>
        </p:nvSpPr>
        <p:spPr>
          <a:xfrm>
            <a:off x="600888" y="1109784"/>
            <a:ext cx="4754548" cy="4515661"/>
          </a:xfrm>
        </p:spPr>
        <p:txBody>
          <a:bodyPr/>
          <a:lstStyle/>
          <a:p>
            <a:r>
              <a:rPr lang="en-US" altLang="en-US" sz="2000" dirty="0"/>
              <a:t>Dispatcher module gives control of the CPU to the process selected by the CPU scheduler; this involves:</a:t>
            </a:r>
          </a:p>
          <a:p>
            <a:pPr lvl="1"/>
            <a:r>
              <a:rPr lang="en-US" altLang="en-US" sz="2000" dirty="0"/>
              <a:t>Switching context</a:t>
            </a:r>
          </a:p>
          <a:p>
            <a:pPr lvl="1"/>
            <a:r>
              <a:rPr lang="en-US" altLang="en-US" sz="2000" dirty="0"/>
              <a:t>Switching to user mode</a:t>
            </a:r>
          </a:p>
          <a:p>
            <a:pPr lvl="1"/>
            <a:r>
              <a:rPr lang="en-US" altLang="en-US" sz="2000" dirty="0"/>
              <a:t>Jumping to the proper location in the user program to restart that program</a:t>
            </a:r>
          </a:p>
          <a:p>
            <a:endParaRPr lang="en-US" altLang="en-US" sz="2000" b="1" dirty="0" smtClean="0">
              <a:solidFill>
                <a:srgbClr val="006699"/>
              </a:solidFill>
              <a:latin typeface="+mj-lt"/>
            </a:endParaRPr>
          </a:p>
          <a:p>
            <a:r>
              <a:rPr lang="en-US" altLang="en-US" sz="2000" b="1" dirty="0" smtClean="0">
                <a:solidFill>
                  <a:srgbClr val="006699"/>
                </a:solidFill>
                <a:latin typeface="+mj-lt"/>
              </a:rPr>
              <a:t>Dispatch </a:t>
            </a:r>
            <a:r>
              <a:rPr lang="en-US" altLang="en-US" sz="2000" b="1" dirty="0">
                <a:solidFill>
                  <a:srgbClr val="006699"/>
                </a:solidFill>
                <a:latin typeface="+mj-lt"/>
              </a:rPr>
              <a:t>latency </a:t>
            </a:r>
            <a:r>
              <a:rPr lang="en-US" altLang="en-US" sz="2000" dirty="0"/>
              <a:t>– time it takes for the dispatcher to stop one process and start another running</a:t>
            </a:r>
          </a:p>
        </p:txBody>
      </p:sp>
      <p:pic>
        <p:nvPicPr>
          <p:cNvPr id="17411" name="Picture 1">
            <a:extLst>
              <a:ext uri="{FF2B5EF4-FFF2-40B4-BE49-F238E27FC236}">
                <a16:creationId xmlns:a16="http://schemas.microsoft.com/office/drawing/2014/main" id="{4B24D036-ECCD-4EE8-9908-C3EEA54E5C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56824" y="1109784"/>
            <a:ext cx="5424942" cy="364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4294884C-D89B-43C5-8278-E1AFFD1E5DD1}"/>
              </a:ext>
            </a:extLst>
          </p:cNvPr>
          <p:cNvSpPr>
            <a:spLocks noGrp="1" noChangeArrowheads="1"/>
          </p:cNvSpPr>
          <p:nvPr>
            <p:ph type="title"/>
          </p:nvPr>
        </p:nvSpPr>
        <p:spPr>
          <a:xfrm>
            <a:off x="842963" y="228600"/>
            <a:ext cx="8229600" cy="576263"/>
          </a:xfrm>
        </p:spPr>
        <p:txBody>
          <a:bodyPr/>
          <a:lstStyle/>
          <a:p>
            <a:pPr eaLnBrk="1" hangingPunct="1"/>
            <a:r>
              <a:rPr lang="en-US" altLang="en-US" dirty="0"/>
              <a:t>CPU Switch From Process to Process</a:t>
            </a:r>
          </a:p>
        </p:txBody>
      </p:sp>
      <p:sp>
        <p:nvSpPr>
          <p:cNvPr id="33795" name="TextBox 1">
            <a:extLst>
              <a:ext uri="{FF2B5EF4-FFF2-40B4-BE49-F238E27FC236}">
                <a16:creationId xmlns:a16="http://schemas.microsoft.com/office/drawing/2014/main" id="{2AC6A249-89C1-4E3A-A92E-5E91F7A23743}"/>
              </a:ext>
            </a:extLst>
          </p:cNvPr>
          <p:cNvSpPr txBox="1">
            <a:spLocks noChangeArrowheads="1"/>
          </p:cNvSpPr>
          <p:nvPr/>
        </p:nvSpPr>
        <p:spPr bwMode="auto">
          <a:xfrm>
            <a:off x="1278542" y="979488"/>
            <a:ext cx="685395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dirty="0">
                <a:latin typeface="Verdana" panose="020B0604030504040204" pitchFamily="34" charset="0"/>
              </a:rPr>
              <a:t>A </a:t>
            </a:r>
            <a:r>
              <a:rPr kumimoji="0" lang="en-US" altLang="en-US" b="1" dirty="0">
                <a:latin typeface="Verdana" panose="020B0604030504040204" pitchFamily="34" charset="0"/>
              </a:rPr>
              <a:t>context switch </a:t>
            </a:r>
            <a:r>
              <a:rPr kumimoji="0" lang="en-US" altLang="en-US" dirty="0">
                <a:latin typeface="Verdana" panose="020B0604030504040204" pitchFamily="34" charset="0"/>
              </a:rPr>
              <a:t>occurs when the CPU  switches from one process to another.</a:t>
            </a:r>
          </a:p>
        </p:txBody>
      </p:sp>
      <p:pic>
        <p:nvPicPr>
          <p:cNvPr id="33796" name="Picture 1">
            <a:extLst>
              <a:ext uri="{FF2B5EF4-FFF2-40B4-BE49-F238E27FC236}">
                <a16:creationId xmlns:a16="http://schemas.microsoft.com/office/drawing/2014/main" id="{81BF3499-8F25-4834-B5FB-DDAE904111A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7083" y="1780486"/>
            <a:ext cx="5185155" cy="4237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46329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69EF2C8-62D9-4AD3-A3DB-7E8B03141FB3}"/>
              </a:ext>
            </a:extLst>
          </p:cNvPr>
          <p:cNvSpPr>
            <a:spLocks noGrp="1" noChangeArrowheads="1"/>
          </p:cNvSpPr>
          <p:nvPr>
            <p:ph type="title"/>
          </p:nvPr>
        </p:nvSpPr>
        <p:spPr>
          <a:xfrm>
            <a:off x="363538" y="231775"/>
            <a:ext cx="8229600" cy="576263"/>
          </a:xfrm>
        </p:spPr>
        <p:txBody>
          <a:bodyPr/>
          <a:lstStyle/>
          <a:p>
            <a:pPr eaLnBrk="1" hangingPunct="1"/>
            <a:r>
              <a:rPr lang="en-US" altLang="en-US"/>
              <a:t>Context Switch</a:t>
            </a:r>
          </a:p>
        </p:txBody>
      </p:sp>
      <p:sp>
        <p:nvSpPr>
          <p:cNvPr id="35843" name="Rectangle 3">
            <a:extLst>
              <a:ext uri="{FF2B5EF4-FFF2-40B4-BE49-F238E27FC236}">
                <a16:creationId xmlns:a16="http://schemas.microsoft.com/office/drawing/2014/main" id="{BFE77FD9-7213-4CFD-BE76-B9508F46FB81}"/>
              </a:ext>
            </a:extLst>
          </p:cNvPr>
          <p:cNvSpPr>
            <a:spLocks noGrp="1" noChangeArrowheads="1"/>
          </p:cNvSpPr>
          <p:nvPr>
            <p:ph type="body" idx="1"/>
          </p:nvPr>
        </p:nvSpPr>
        <p:spPr>
          <a:xfrm>
            <a:off x="854076" y="1108075"/>
            <a:ext cx="7331136" cy="4413494"/>
          </a:xfrm>
        </p:spPr>
        <p:txBody>
          <a:bodyPr/>
          <a:lstStyle/>
          <a:p>
            <a:r>
              <a:rPr lang="en-US" altLang="en-US" sz="2000" dirty="0"/>
              <a:t>When CPU switches to another process, the system must </a:t>
            </a:r>
            <a:r>
              <a:rPr lang="en-US" altLang="en-US" sz="2000" b="1" kern="1200" dirty="0">
                <a:solidFill>
                  <a:srgbClr val="006699"/>
                </a:solidFill>
                <a:latin typeface="+mj-lt"/>
                <a:cs typeface="+mn-cs"/>
              </a:rPr>
              <a:t>save</a:t>
            </a:r>
            <a:r>
              <a:rPr lang="en-US" altLang="en-US" sz="2000" b="1" dirty="0">
                <a:solidFill>
                  <a:srgbClr val="3366FF"/>
                </a:solidFill>
              </a:rPr>
              <a:t> </a:t>
            </a:r>
            <a:r>
              <a:rPr lang="en-US" altLang="en-US" sz="2000" b="1" kern="1200" dirty="0">
                <a:solidFill>
                  <a:srgbClr val="006699"/>
                </a:solidFill>
                <a:latin typeface="+mj-lt"/>
                <a:cs typeface="+mn-cs"/>
              </a:rPr>
              <a:t>the</a:t>
            </a:r>
            <a:r>
              <a:rPr lang="en-US" altLang="en-US" sz="2000" b="1" dirty="0">
                <a:solidFill>
                  <a:srgbClr val="3366FF"/>
                </a:solidFill>
              </a:rPr>
              <a:t> </a:t>
            </a:r>
            <a:r>
              <a:rPr lang="en-US" altLang="en-US" sz="2000" b="1" kern="1200" dirty="0">
                <a:solidFill>
                  <a:srgbClr val="006699"/>
                </a:solidFill>
                <a:latin typeface="+mj-lt"/>
                <a:cs typeface="+mn-cs"/>
              </a:rPr>
              <a:t>state</a:t>
            </a:r>
            <a:r>
              <a:rPr lang="en-US" altLang="en-US" sz="2000" b="1" dirty="0">
                <a:solidFill>
                  <a:srgbClr val="3366FF"/>
                </a:solidFill>
              </a:rPr>
              <a:t> </a:t>
            </a:r>
            <a:r>
              <a:rPr lang="en-US" altLang="en-US" sz="2000" dirty="0"/>
              <a:t>of the old process and load the </a:t>
            </a:r>
            <a:r>
              <a:rPr lang="en-US" altLang="en-US" sz="2000" b="1" kern="1200" dirty="0">
                <a:solidFill>
                  <a:srgbClr val="006699"/>
                </a:solidFill>
                <a:latin typeface="+mj-lt"/>
                <a:cs typeface="+mn-cs"/>
              </a:rPr>
              <a:t>saved</a:t>
            </a:r>
            <a:r>
              <a:rPr lang="en-US" altLang="en-US" sz="2000" b="1" dirty="0">
                <a:solidFill>
                  <a:srgbClr val="3366FF"/>
                </a:solidFill>
              </a:rPr>
              <a:t> </a:t>
            </a:r>
            <a:r>
              <a:rPr lang="en-US" altLang="en-US" sz="2000" b="1" kern="1200" dirty="0">
                <a:solidFill>
                  <a:srgbClr val="006699"/>
                </a:solidFill>
                <a:latin typeface="+mj-lt"/>
                <a:cs typeface="+mn-cs"/>
              </a:rPr>
              <a:t>state</a:t>
            </a:r>
            <a:r>
              <a:rPr lang="en-US" altLang="en-US" sz="2000" b="1" dirty="0">
                <a:solidFill>
                  <a:srgbClr val="3366FF"/>
                </a:solidFill>
              </a:rPr>
              <a:t> </a:t>
            </a:r>
            <a:r>
              <a:rPr lang="en-US" altLang="en-US" sz="2000" dirty="0"/>
              <a:t>for the new process via a </a:t>
            </a:r>
            <a:r>
              <a:rPr lang="en-US" altLang="en-US" sz="2000" b="1" kern="1200" dirty="0">
                <a:solidFill>
                  <a:srgbClr val="006699"/>
                </a:solidFill>
                <a:latin typeface="+mj-lt"/>
                <a:cs typeface="+mn-cs"/>
              </a:rPr>
              <a:t>context</a:t>
            </a:r>
            <a:r>
              <a:rPr lang="en-US" altLang="en-US" sz="2000" b="1" dirty="0">
                <a:solidFill>
                  <a:srgbClr val="3366FF"/>
                </a:solidFill>
              </a:rPr>
              <a:t> </a:t>
            </a:r>
            <a:r>
              <a:rPr lang="en-US" altLang="en-US" sz="2000" b="1" kern="1200" dirty="0" smtClean="0">
                <a:solidFill>
                  <a:srgbClr val="006699"/>
                </a:solidFill>
                <a:latin typeface="+mj-lt"/>
                <a:cs typeface="+mn-cs"/>
              </a:rPr>
              <a:t>switch</a:t>
            </a:r>
          </a:p>
          <a:p>
            <a:pPr marL="0" indent="0">
              <a:buNone/>
            </a:pPr>
            <a:endParaRPr lang="en-US" altLang="en-US" sz="2000" b="1" kern="1200" dirty="0">
              <a:solidFill>
                <a:srgbClr val="006699"/>
              </a:solidFill>
              <a:latin typeface="+mj-lt"/>
              <a:cs typeface="+mn-cs"/>
            </a:endParaRPr>
          </a:p>
          <a:p>
            <a:r>
              <a:rPr lang="en-US" altLang="en-US" sz="2000" b="1" kern="1200" dirty="0">
                <a:solidFill>
                  <a:srgbClr val="006699"/>
                </a:solidFill>
                <a:latin typeface="+mj-lt"/>
                <a:cs typeface="+mn-cs"/>
              </a:rPr>
              <a:t>Context</a:t>
            </a:r>
            <a:r>
              <a:rPr lang="en-US" altLang="en-US" sz="2000" b="1" dirty="0">
                <a:solidFill>
                  <a:srgbClr val="3366FF"/>
                </a:solidFill>
              </a:rPr>
              <a:t> </a:t>
            </a:r>
            <a:r>
              <a:rPr lang="en-US" altLang="en-US" sz="2000" dirty="0"/>
              <a:t>of a process represented in the PCB</a:t>
            </a:r>
          </a:p>
          <a:p>
            <a:endParaRPr lang="en-US" altLang="en-US" sz="2000" dirty="0" smtClean="0"/>
          </a:p>
          <a:p>
            <a:r>
              <a:rPr lang="en-US" altLang="en-US" sz="2000" dirty="0" smtClean="0"/>
              <a:t>Context-switch </a:t>
            </a:r>
            <a:r>
              <a:rPr lang="en-US" altLang="en-US" sz="2000" dirty="0"/>
              <a:t>time is pure overhead; the system does no useful work while switching</a:t>
            </a:r>
          </a:p>
          <a:p>
            <a:pPr lvl="1"/>
            <a:r>
              <a:rPr lang="en-US" altLang="en-US" sz="2000" dirty="0"/>
              <a:t>The more complex the OS and the PCB </a:t>
            </a:r>
            <a:r>
              <a:rPr lang="en-US" altLang="en-US" sz="2000" dirty="0">
                <a:sym typeface="Wingdings" panose="05000000000000000000" pitchFamily="2" charset="2"/>
              </a:rPr>
              <a:t> the </a:t>
            </a:r>
            <a:r>
              <a:rPr lang="en-US" altLang="en-US" sz="2000" dirty="0"/>
              <a:t>longer the context switch</a:t>
            </a:r>
          </a:p>
          <a:p>
            <a:endParaRPr lang="en-US" altLang="en-US" sz="2000" dirty="0" smtClean="0"/>
          </a:p>
          <a:p>
            <a:r>
              <a:rPr lang="en-US" altLang="en-US" sz="2000" dirty="0" smtClean="0"/>
              <a:t>Time </a:t>
            </a:r>
            <a:r>
              <a:rPr lang="en-US" altLang="en-US" sz="2000" dirty="0"/>
              <a:t>dependent on hardware support</a:t>
            </a:r>
          </a:p>
          <a:p>
            <a:pPr lvl="1"/>
            <a:r>
              <a:rPr lang="en-US" altLang="en-US" sz="2000" dirty="0"/>
              <a:t>Some hardware provides multiple sets of registers per CPU </a:t>
            </a:r>
            <a:r>
              <a:rPr lang="en-US" altLang="en-US" sz="2000" dirty="0">
                <a:sym typeface="Wingdings" panose="05000000000000000000" pitchFamily="2" charset="2"/>
              </a:rPr>
              <a:t></a:t>
            </a:r>
            <a:r>
              <a:rPr lang="en-US" altLang="en-US" sz="2000" dirty="0"/>
              <a:t> multiple contexts loaded at once</a:t>
            </a:r>
          </a:p>
        </p:txBody>
      </p:sp>
    </p:spTree>
    <p:extLst>
      <p:ext uri="{BB962C8B-B14F-4D97-AF65-F5344CB8AC3E}">
        <p14:creationId xmlns:p14="http://schemas.microsoft.com/office/powerpoint/2010/main" val="3338378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84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584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84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684BC100-CBCD-4FBD-A30F-9EBDD59CA0FB}"/>
              </a:ext>
            </a:extLst>
          </p:cNvPr>
          <p:cNvSpPr>
            <a:spLocks noGrp="1" noChangeArrowheads="1"/>
          </p:cNvSpPr>
          <p:nvPr>
            <p:ph type="title"/>
          </p:nvPr>
        </p:nvSpPr>
        <p:spPr>
          <a:xfrm>
            <a:off x="990600" y="214313"/>
            <a:ext cx="7696200" cy="576262"/>
          </a:xfrm>
        </p:spPr>
        <p:txBody>
          <a:bodyPr/>
          <a:lstStyle/>
          <a:p>
            <a:pPr eaLnBrk="1" hangingPunct="1"/>
            <a:r>
              <a:rPr lang="en-US" altLang="en-US" dirty="0"/>
              <a:t>Scheduling Criteria</a:t>
            </a:r>
          </a:p>
        </p:txBody>
      </p:sp>
      <p:sp>
        <p:nvSpPr>
          <p:cNvPr id="19458" name="Rectangle 3">
            <a:extLst>
              <a:ext uri="{FF2B5EF4-FFF2-40B4-BE49-F238E27FC236}">
                <a16:creationId xmlns:a16="http://schemas.microsoft.com/office/drawing/2014/main" id="{4338C466-115B-47DE-A288-6C7152DF0770}"/>
              </a:ext>
            </a:extLst>
          </p:cNvPr>
          <p:cNvSpPr>
            <a:spLocks noGrp="1" noChangeArrowheads="1"/>
          </p:cNvSpPr>
          <p:nvPr>
            <p:ph type="body" idx="1"/>
          </p:nvPr>
        </p:nvSpPr>
        <p:spPr>
          <a:xfrm>
            <a:off x="849085" y="1246189"/>
            <a:ext cx="7602584" cy="4904520"/>
          </a:xfrm>
        </p:spPr>
        <p:txBody>
          <a:bodyPr/>
          <a:lstStyle/>
          <a:p>
            <a:r>
              <a:rPr lang="en-US" altLang="en-US" sz="2000" b="1" dirty="0"/>
              <a:t>CPU utilization </a:t>
            </a:r>
            <a:r>
              <a:rPr lang="en-US" altLang="en-US" sz="2000" dirty="0"/>
              <a:t>– keep the CPU as busy as </a:t>
            </a:r>
            <a:r>
              <a:rPr lang="en-US" altLang="en-US" sz="2000" dirty="0" smtClean="0"/>
              <a:t>possible</a:t>
            </a:r>
          </a:p>
          <a:p>
            <a:pPr marL="0" indent="0">
              <a:buNone/>
            </a:pPr>
            <a:endParaRPr lang="en-US" altLang="en-US" sz="2000" dirty="0"/>
          </a:p>
          <a:p>
            <a:r>
              <a:rPr lang="en-US" altLang="en-US" sz="2000" b="1" dirty="0"/>
              <a:t>Throughput</a:t>
            </a:r>
            <a:r>
              <a:rPr lang="en-US" altLang="en-US" sz="2000" dirty="0"/>
              <a:t> – # of processes that complete their execution per time </a:t>
            </a:r>
            <a:r>
              <a:rPr lang="en-US" altLang="en-US" sz="2000" dirty="0" smtClean="0"/>
              <a:t>unit</a:t>
            </a:r>
          </a:p>
          <a:p>
            <a:endParaRPr lang="en-US" altLang="en-US" sz="2000" dirty="0"/>
          </a:p>
          <a:p>
            <a:r>
              <a:rPr lang="en-US" altLang="en-US" sz="2000" b="1" dirty="0"/>
              <a:t>Turnaround time </a:t>
            </a:r>
            <a:r>
              <a:rPr lang="en-US" altLang="en-US" sz="2000" dirty="0"/>
              <a:t>– amount of time to execute a particular </a:t>
            </a:r>
            <a:r>
              <a:rPr lang="en-US" altLang="en-US" sz="2000" dirty="0" smtClean="0"/>
              <a:t>process</a:t>
            </a:r>
          </a:p>
          <a:p>
            <a:endParaRPr lang="en-US" altLang="en-US" sz="2000" dirty="0"/>
          </a:p>
          <a:p>
            <a:r>
              <a:rPr lang="en-US" altLang="en-US" sz="2000" b="1" dirty="0"/>
              <a:t>Waiting time </a:t>
            </a:r>
            <a:r>
              <a:rPr lang="en-US" altLang="en-US" sz="2000" dirty="0"/>
              <a:t>– amount of time a process has been waiting in the ready </a:t>
            </a:r>
            <a:r>
              <a:rPr lang="en-US" altLang="en-US" sz="2000" dirty="0" smtClean="0"/>
              <a:t>queue</a:t>
            </a:r>
          </a:p>
          <a:p>
            <a:endParaRPr lang="en-US" altLang="en-US" sz="2000" dirty="0"/>
          </a:p>
          <a:p>
            <a:r>
              <a:rPr lang="en-US" altLang="en-US" sz="2000" b="1" dirty="0"/>
              <a:t>Response time </a:t>
            </a:r>
            <a:r>
              <a:rPr lang="en-US" altLang="en-US" sz="2000" dirty="0"/>
              <a:t>– amount of time it takes from when a request was submitted until the </a:t>
            </a:r>
            <a:r>
              <a:rPr lang="en-US" altLang="en-US" sz="2000" u="sng" dirty="0"/>
              <a:t>first</a:t>
            </a:r>
            <a:r>
              <a:rPr lang="en-US" altLang="en-US" sz="2000" dirty="0"/>
              <a:t> response is produced.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A22DB2EC-3AE5-4A50-BF1F-F8FE7B96CE4B}"/>
              </a:ext>
            </a:extLst>
          </p:cNvPr>
          <p:cNvSpPr>
            <a:spLocks noGrp="1" noChangeArrowheads="1"/>
          </p:cNvSpPr>
          <p:nvPr>
            <p:ph type="title"/>
          </p:nvPr>
        </p:nvSpPr>
        <p:spPr>
          <a:xfrm>
            <a:off x="1423450" y="143942"/>
            <a:ext cx="7513637" cy="576262"/>
          </a:xfrm>
        </p:spPr>
        <p:txBody>
          <a:bodyPr/>
          <a:lstStyle/>
          <a:p>
            <a:pPr eaLnBrk="1" hangingPunct="1"/>
            <a:r>
              <a:rPr lang="en-US" altLang="en-US" sz="2800" dirty="0"/>
              <a:t>Scheduling Algorithm Optimization Criteria</a:t>
            </a:r>
          </a:p>
        </p:txBody>
      </p:sp>
      <p:sp>
        <p:nvSpPr>
          <p:cNvPr id="21506" name="Rectangle 3">
            <a:extLst>
              <a:ext uri="{FF2B5EF4-FFF2-40B4-BE49-F238E27FC236}">
                <a16:creationId xmlns:a16="http://schemas.microsoft.com/office/drawing/2014/main" id="{DA102F21-0BD1-4162-8066-37183DF9B945}"/>
              </a:ext>
            </a:extLst>
          </p:cNvPr>
          <p:cNvSpPr>
            <a:spLocks noGrp="1" noChangeArrowheads="1"/>
          </p:cNvSpPr>
          <p:nvPr>
            <p:ph type="body" idx="1"/>
          </p:nvPr>
        </p:nvSpPr>
        <p:spPr>
          <a:xfrm>
            <a:off x="852488" y="1113511"/>
            <a:ext cx="6115050" cy="4483100"/>
          </a:xfrm>
        </p:spPr>
        <p:txBody>
          <a:bodyPr/>
          <a:lstStyle/>
          <a:p>
            <a:r>
              <a:rPr lang="en-US" altLang="en-US" sz="2400" dirty="0"/>
              <a:t>Max CPU </a:t>
            </a:r>
            <a:r>
              <a:rPr lang="en-US" altLang="en-US" sz="2400" dirty="0" smtClean="0"/>
              <a:t>utilization</a:t>
            </a:r>
          </a:p>
          <a:p>
            <a:pPr marL="0" indent="0">
              <a:buNone/>
            </a:pPr>
            <a:endParaRPr lang="en-US" altLang="en-US" sz="2400" dirty="0"/>
          </a:p>
          <a:p>
            <a:r>
              <a:rPr lang="en-US" altLang="en-US" sz="2400" dirty="0"/>
              <a:t>Max throughput</a:t>
            </a:r>
          </a:p>
          <a:p>
            <a:endParaRPr lang="en-US" altLang="en-US" sz="2400" dirty="0" smtClean="0"/>
          </a:p>
          <a:p>
            <a:r>
              <a:rPr lang="en-US" altLang="en-US" sz="2400" dirty="0" smtClean="0"/>
              <a:t>Min </a:t>
            </a:r>
            <a:r>
              <a:rPr lang="en-US" altLang="en-US" sz="2400" dirty="0"/>
              <a:t>turnaround time </a:t>
            </a:r>
          </a:p>
          <a:p>
            <a:endParaRPr lang="en-US" altLang="en-US" sz="2400" dirty="0" smtClean="0"/>
          </a:p>
          <a:p>
            <a:r>
              <a:rPr lang="en-US" altLang="en-US" sz="2400" dirty="0" smtClean="0"/>
              <a:t>Min </a:t>
            </a:r>
            <a:r>
              <a:rPr lang="en-US" altLang="en-US" sz="2400" dirty="0"/>
              <a:t>waiting time </a:t>
            </a:r>
          </a:p>
          <a:p>
            <a:endParaRPr lang="en-US" altLang="en-US" sz="2400" dirty="0" smtClean="0"/>
          </a:p>
          <a:p>
            <a:r>
              <a:rPr lang="en-US" altLang="en-US" sz="2400" dirty="0" smtClean="0"/>
              <a:t>Min </a:t>
            </a:r>
            <a:r>
              <a:rPr lang="en-US" altLang="en-US" sz="2400" dirty="0"/>
              <a:t>response time</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HyperThreading</a:t>
            </a:r>
            <a:endParaRPr lang="en-IN" dirty="0"/>
          </a:p>
        </p:txBody>
      </p:sp>
      <p:sp>
        <p:nvSpPr>
          <p:cNvPr id="4" name="Slide Number Placeholder 3"/>
          <p:cNvSpPr>
            <a:spLocks noGrp="1"/>
          </p:cNvSpPr>
          <p:nvPr>
            <p:ph type="sldNum" sz="quarter" idx="4294967295"/>
          </p:nvPr>
        </p:nvSpPr>
        <p:spPr/>
        <p:txBody>
          <a:bodyPr/>
          <a:lstStyle/>
          <a:p>
            <a:pPr>
              <a:defRPr/>
            </a:pPr>
            <a:fld id="{2454B9D3-F01D-4473-B4D0-E3F7713226C0}" type="slidenum">
              <a:rPr lang="en-US" altLang="en-US" smtClean="0"/>
              <a:pPr>
                <a:defRPr/>
              </a:pPr>
              <a:t>16</a:t>
            </a:fld>
            <a:endParaRPr lang="en-US" altLang="en-US"/>
          </a:p>
        </p:txBody>
      </p:sp>
      <p:pic>
        <p:nvPicPr>
          <p:cNvPr id="5" name="Picture 4"/>
          <p:cNvPicPr>
            <a:picLocks noChangeAspect="1"/>
          </p:cNvPicPr>
          <p:nvPr/>
        </p:nvPicPr>
        <p:blipFill>
          <a:blip r:embed="rId2"/>
          <a:stretch>
            <a:fillRect/>
          </a:stretch>
        </p:blipFill>
        <p:spPr>
          <a:xfrm>
            <a:off x="304800" y="1430215"/>
            <a:ext cx="8618088" cy="4224704"/>
          </a:xfrm>
          <a:prstGeom prst="rect">
            <a:avLst/>
          </a:prstGeom>
        </p:spPr>
      </p:pic>
    </p:spTree>
    <p:extLst>
      <p:ext uri="{BB962C8B-B14F-4D97-AF65-F5344CB8AC3E}">
        <p14:creationId xmlns:p14="http://schemas.microsoft.com/office/powerpoint/2010/main" val="41001691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Linux code	</a:t>
            </a:r>
            <a:endParaRPr lang="en-IN" dirty="0"/>
          </a:p>
        </p:txBody>
      </p:sp>
      <p:sp>
        <p:nvSpPr>
          <p:cNvPr id="3" name="Content Placeholder 2"/>
          <p:cNvSpPr>
            <a:spLocks noGrp="1"/>
          </p:cNvSpPr>
          <p:nvPr>
            <p:ph idx="1"/>
          </p:nvPr>
        </p:nvSpPr>
        <p:spPr>
          <a:xfrm>
            <a:off x="457200" y="3886200"/>
            <a:ext cx="8229600" cy="4525963"/>
          </a:xfrm>
        </p:spPr>
        <p:txBody>
          <a:bodyPr/>
          <a:lstStyle/>
          <a:p>
            <a:pPr marL="0" indent="0">
              <a:buNone/>
            </a:pPr>
            <a:r>
              <a:rPr lang="en-US" dirty="0" smtClean="0"/>
              <a:t>Scheduling code: kernel/</a:t>
            </a:r>
            <a:r>
              <a:rPr lang="en-US" dirty="0" err="1" smtClean="0"/>
              <a:t>sched</a:t>
            </a:r>
            <a:r>
              <a:rPr lang="en-US" dirty="0" smtClean="0"/>
              <a:t>/</a:t>
            </a:r>
            <a:r>
              <a:rPr lang="en-US" dirty="0" err="1" smtClean="0"/>
              <a:t>core.c</a:t>
            </a:r>
            <a:endParaRPr lang="en-IN" dirty="0"/>
          </a:p>
        </p:txBody>
      </p:sp>
      <p:sp>
        <p:nvSpPr>
          <p:cNvPr id="4" name="Slide Number Placeholder 3"/>
          <p:cNvSpPr>
            <a:spLocks noGrp="1"/>
          </p:cNvSpPr>
          <p:nvPr>
            <p:ph type="sldNum" sz="quarter" idx="4294967295"/>
          </p:nvPr>
        </p:nvSpPr>
        <p:spPr/>
        <p:txBody>
          <a:bodyPr/>
          <a:lstStyle/>
          <a:p>
            <a:pPr>
              <a:defRPr/>
            </a:pPr>
            <a:fld id="{2454B9D3-F01D-4473-B4D0-E3F7713226C0}" type="slidenum">
              <a:rPr lang="en-US" altLang="en-US" smtClean="0"/>
              <a:pPr>
                <a:defRPr/>
              </a:pPr>
              <a:t>17</a:t>
            </a:fld>
            <a:endParaRPr lang="en-US" altLang="en-US"/>
          </a:p>
        </p:txBody>
      </p:sp>
      <p:pic>
        <p:nvPicPr>
          <p:cNvPr id="5" name="Picture 4"/>
          <p:cNvPicPr>
            <a:picLocks noChangeAspect="1"/>
          </p:cNvPicPr>
          <p:nvPr/>
        </p:nvPicPr>
        <p:blipFill>
          <a:blip r:embed="rId2"/>
          <a:stretch>
            <a:fillRect/>
          </a:stretch>
        </p:blipFill>
        <p:spPr>
          <a:xfrm>
            <a:off x="295515" y="1524000"/>
            <a:ext cx="8848485" cy="2157597"/>
          </a:xfrm>
          <a:prstGeom prst="rect">
            <a:avLst/>
          </a:prstGeom>
        </p:spPr>
      </p:pic>
    </p:spTree>
    <p:extLst>
      <p:ext uri="{BB962C8B-B14F-4D97-AF65-F5344CB8AC3E}">
        <p14:creationId xmlns:p14="http://schemas.microsoft.com/office/powerpoint/2010/main" val="3405326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noChangeArrowheads="1"/>
          </p:cNvSpPr>
          <p:nvPr>
            <p:ph type="title"/>
          </p:nvPr>
        </p:nvSpPr>
        <p:spPr>
          <a:xfrm>
            <a:off x="444138" y="795556"/>
            <a:ext cx="8229600" cy="576262"/>
          </a:xfrm>
        </p:spPr>
        <p:txBody>
          <a:bodyPr/>
          <a:lstStyle/>
          <a:p>
            <a:r>
              <a:rPr lang="en-US" altLang="en-US" dirty="0" smtClean="0">
                <a:ea typeface="ＭＳ Ｐゴシック" panose="020B0600070205080204" pitchFamily="34" charset="-128"/>
              </a:rPr>
              <a:t>FCFS Scheduling</a:t>
            </a:r>
            <a:br>
              <a:rPr lang="en-US" altLang="en-US" dirty="0" smtClean="0">
                <a:ea typeface="ＭＳ Ｐゴシック" panose="020B0600070205080204" pitchFamily="34" charset="-128"/>
              </a:rPr>
            </a:br>
            <a:r>
              <a:rPr lang="en-US" altLang="en-US" dirty="0" smtClean="0">
                <a:ea typeface="ＭＳ Ｐゴシック" panose="020B0600070205080204" pitchFamily="34" charset="-128"/>
              </a:rPr>
              <a:t>(First Come First Serve)</a:t>
            </a:r>
          </a:p>
        </p:txBody>
      </p:sp>
      <p:sp>
        <p:nvSpPr>
          <p:cNvPr id="20482" name="Content Placeholder 2"/>
          <p:cNvSpPr>
            <a:spLocks noGrp="1"/>
          </p:cNvSpPr>
          <p:nvPr>
            <p:ph idx="1"/>
          </p:nvPr>
        </p:nvSpPr>
        <p:spPr/>
        <p:txBody>
          <a:bodyPr/>
          <a:lstStyle/>
          <a:p>
            <a:pPr>
              <a:defRPr/>
            </a:pPr>
            <a:endParaRPr lang="en-US" altLang="en-US" sz="2400" dirty="0">
              <a:ea typeface="ＭＳ Ｐゴシック" panose="020B0600070205080204" pitchFamily="34" charset="-128"/>
            </a:endParaRPr>
          </a:p>
          <a:p>
            <a:pPr>
              <a:defRPr/>
            </a:pPr>
            <a:r>
              <a:rPr lang="en-US" altLang="en-US" sz="2400" dirty="0">
                <a:ea typeface="ＭＳ Ｐゴシック" panose="020B0600070205080204" pitchFamily="34" charset="-128"/>
              </a:rPr>
              <a:t>First job that requests the CPU gets the </a:t>
            </a:r>
            <a:r>
              <a:rPr lang="en-US" altLang="en-US" sz="2400" dirty="0" smtClean="0">
                <a:ea typeface="ＭＳ Ｐゴシック" panose="020B0600070205080204" pitchFamily="34" charset="-128"/>
              </a:rPr>
              <a:t>CPU</a:t>
            </a:r>
          </a:p>
          <a:p>
            <a:pPr>
              <a:defRPr/>
            </a:pPr>
            <a:endParaRPr lang="en-US" altLang="en-US" sz="2400" dirty="0">
              <a:ea typeface="ＭＳ Ｐゴシック" panose="020B0600070205080204" pitchFamily="34" charset="-128"/>
            </a:endParaRPr>
          </a:p>
          <a:p>
            <a:pPr>
              <a:defRPr/>
            </a:pPr>
            <a:r>
              <a:rPr lang="en-US" altLang="en-US" sz="2400" dirty="0">
                <a:ea typeface="ＭＳ Ｐゴシック" panose="020B0600070205080204" pitchFamily="34" charset="-128"/>
              </a:rPr>
              <a:t>Non preemptive</a:t>
            </a:r>
          </a:p>
          <a:p>
            <a:pPr lvl="1">
              <a:defRPr/>
            </a:pPr>
            <a:r>
              <a:rPr lang="en-US" altLang="en-US" sz="2000" dirty="0">
                <a:ea typeface="Arial" panose="020B0604020202020204" pitchFamily="34" charset="0"/>
              </a:rPr>
              <a:t>Process continues till the burst cycle ends </a:t>
            </a:r>
          </a:p>
          <a:p>
            <a:pPr marL="0" indent="0">
              <a:buFontTx/>
              <a:buNone/>
              <a:defRPr/>
            </a:pPr>
            <a:endParaRPr lang="en-US" altLang="en-US" sz="2800" dirty="0">
              <a:ea typeface="ＭＳ Ｐゴシック" panose="020B0600070205080204" pitchFamily="34" charset="-128"/>
            </a:endParaRPr>
          </a:p>
        </p:txBody>
      </p:sp>
      <p:sp>
        <p:nvSpPr>
          <p:cNvPr id="8196" name="Slide Number Placeholder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fld id="{444FF51A-3A36-44C9-84DF-6F784E868CC2}" type="slidenum">
              <a:rPr lang="en-US" altLang="en-US" sz="1400" smtClean="0">
                <a:solidFill>
                  <a:schemeClr val="bg2"/>
                </a:solidFill>
              </a:rPr>
              <a:pPr>
                <a:spcBef>
                  <a:spcPct val="0"/>
                </a:spcBef>
                <a:buFontTx/>
                <a:buNone/>
              </a:pPr>
              <a:t>18</a:t>
            </a:fld>
            <a:endParaRPr lang="en-US" altLang="en-US" sz="1400" smtClean="0">
              <a:solidFill>
                <a:schemeClr val="bg2"/>
              </a:solidFill>
            </a:endParaRPr>
          </a:p>
        </p:txBody>
      </p:sp>
    </p:spTree>
    <p:extLst>
      <p:ext uri="{BB962C8B-B14F-4D97-AF65-F5344CB8AC3E}">
        <p14:creationId xmlns:p14="http://schemas.microsoft.com/office/powerpoint/2010/main" val="11152869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noChangeArrowheads="1"/>
          </p:cNvSpPr>
          <p:nvPr>
            <p:ph type="title"/>
          </p:nvPr>
        </p:nvSpPr>
        <p:spPr/>
        <p:txBody>
          <a:bodyPr/>
          <a:lstStyle/>
          <a:p>
            <a:r>
              <a:rPr lang="en-US" altLang="en-US" smtClean="0">
                <a:ea typeface="ＭＳ Ｐゴシック" panose="020B0600070205080204" pitchFamily="34" charset="-128"/>
              </a:rPr>
              <a:t>FCFS Example</a:t>
            </a:r>
          </a:p>
        </p:txBody>
      </p:sp>
      <p:sp>
        <p:nvSpPr>
          <p:cNvPr id="9219" name="Content Placeholder 2"/>
          <p:cNvSpPr>
            <a:spLocks noGrp="1" noChangeArrowheads="1"/>
          </p:cNvSpPr>
          <p:nvPr>
            <p:ph idx="1"/>
          </p:nvPr>
        </p:nvSpPr>
        <p:spPr/>
        <p:txBody>
          <a:bodyPr/>
          <a:lstStyle/>
          <a:p>
            <a:endParaRPr lang="en-US" altLang="en-US" smtClean="0">
              <a:ea typeface="ＭＳ Ｐゴシック" panose="020B0600070205080204" pitchFamily="34" charset="-128"/>
            </a:endParaRPr>
          </a:p>
        </p:txBody>
      </p:sp>
      <p:pic>
        <p:nvPicPr>
          <p:cNvPr id="9220" name="Table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7000" y="1714500"/>
            <a:ext cx="3771900" cy="226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1273175" y="4735513"/>
            <a:ext cx="3048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1577975" y="4735513"/>
            <a:ext cx="3048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9" name="Rectangle 8"/>
          <p:cNvSpPr/>
          <p:nvPr/>
        </p:nvSpPr>
        <p:spPr>
          <a:xfrm>
            <a:off x="1905000" y="4735513"/>
            <a:ext cx="3048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0" name="Rectangle 9"/>
          <p:cNvSpPr/>
          <p:nvPr/>
        </p:nvSpPr>
        <p:spPr>
          <a:xfrm>
            <a:off x="2209800" y="4735513"/>
            <a:ext cx="3048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1" name="Rectangle 10"/>
          <p:cNvSpPr/>
          <p:nvPr/>
        </p:nvSpPr>
        <p:spPr>
          <a:xfrm>
            <a:off x="2532063" y="4735513"/>
            <a:ext cx="3048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2" name="Rectangle 11"/>
          <p:cNvSpPr/>
          <p:nvPr/>
        </p:nvSpPr>
        <p:spPr>
          <a:xfrm>
            <a:off x="2836863" y="4735513"/>
            <a:ext cx="3048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3" name="Rectangle 12"/>
          <p:cNvSpPr/>
          <p:nvPr/>
        </p:nvSpPr>
        <p:spPr>
          <a:xfrm>
            <a:off x="3163888" y="4735513"/>
            <a:ext cx="3048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4" name="Rectangle 13"/>
          <p:cNvSpPr/>
          <p:nvPr/>
        </p:nvSpPr>
        <p:spPr>
          <a:xfrm>
            <a:off x="3468688" y="4735513"/>
            <a:ext cx="304800" cy="381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5" name="Rectangle 14"/>
          <p:cNvSpPr/>
          <p:nvPr/>
        </p:nvSpPr>
        <p:spPr>
          <a:xfrm>
            <a:off x="3792538" y="4735513"/>
            <a:ext cx="304800" cy="381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6" name="Rectangle 15"/>
          <p:cNvSpPr/>
          <p:nvPr/>
        </p:nvSpPr>
        <p:spPr>
          <a:xfrm>
            <a:off x="4097338" y="4735513"/>
            <a:ext cx="304800" cy="381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7" name="Rectangle 16"/>
          <p:cNvSpPr/>
          <p:nvPr/>
        </p:nvSpPr>
        <p:spPr>
          <a:xfrm>
            <a:off x="4387850" y="4735513"/>
            <a:ext cx="304800" cy="381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8" name="Rectangle 17"/>
          <p:cNvSpPr/>
          <p:nvPr/>
        </p:nvSpPr>
        <p:spPr>
          <a:xfrm>
            <a:off x="4692650" y="4735513"/>
            <a:ext cx="304800" cy="381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9" name="Rectangle 18"/>
          <p:cNvSpPr/>
          <p:nvPr/>
        </p:nvSpPr>
        <p:spPr>
          <a:xfrm>
            <a:off x="5016500" y="4735513"/>
            <a:ext cx="304800" cy="381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0" name="Rectangle 19"/>
          <p:cNvSpPr/>
          <p:nvPr/>
        </p:nvSpPr>
        <p:spPr>
          <a:xfrm>
            <a:off x="5321300" y="4735513"/>
            <a:ext cx="304800" cy="381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1" name="Rectangle 20"/>
          <p:cNvSpPr/>
          <p:nvPr/>
        </p:nvSpPr>
        <p:spPr>
          <a:xfrm>
            <a:off x="5629275" y="4735513"/>
            <a:ext cx="304800" cy="381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2" name="Rectangle 21"/>
          <p:cNvSpPr/>
          <p:nvPr/>
        </p:nvSpPr>
        <p:spPr>
          <a:xfrm>
            <a:off x="5934075" y="4735513"/>
            <a:ext cx="304800" cy="381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3" name="Rectangle 22"/>
          <p:cNvSpPr/>
          <p:nvPr/>
        </p:nvSpPr>
        <p:spPr>
          <a:xfrm>
            <a:off x="6248400" y="4735513"/>
            <a:ext cx="304800" cy="381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4" name="Rectangle 23"/>
          <p:cNvSpPr/>
          <p:nvPr/>
        </p:nvSpPr>
        <p:spPr>
          <a:xfrm>
            <a:off x="6553200" y="4735513"/>
            <a:ext cx="304800" cy="381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9239" name="TextBox 30"/>
          <p:cNvSpPr txBox="1">
            <a:spLocks noChangeArrowheads="1"/>
          </p:cNvSpPr>
          <p:nvPr/>
        </p:nvSpPr>
        <p:spPr bwMode="auto">
          <a:xfrm>
            <a:off x="1300163" y="4202113"/>
            <a:ext cx="13779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Gantt Chart</a:t>
            </a:r>
          </a:p>
        </p:txBody>
      </p:sp>
      <p:cxnSp>
        <p:nvCxnSpPr>
          <p:cNvPr id="33" name="Straight Arrow Connector 32"/>
          <p:cNvCxnSpPr/>
          <p:nvPr/>
        </p:nvCxnSpPr>
        <p:spPr>
          <a:xfrm>
            <a:off x="3967163" y="5649913"/>
            <a:ext cx="23622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241" name="TextBox 34"/>
          <p:cNvSpPr txBox="1">
            <a:spLocks noChangeArrowheads="1"/>
          </p:cNvSpPr>
          <p:nvPr/>
        </p:nvSpPr>
        <p:spPr bwMode="auto">
          <a:xfrm>
            <a:off x="4729163" y="5649913"/>
            <a:ext cx="6207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time</a:t>
            </a:r>
          </a:p>
        </p:txBody>
      </p:sp>
      <p:sp>
        <p:nvSpPr>
          <p:cNvPr id="9242" name="TextBox 35"/>
          <p:cNvSpPr txBox="1">
            <a:spLocks noChangeArrowheads="1"/>
          </p:cNvSpPr>
          <p:nvPr/>
        </p:nvSpPr>
        <p:spPr bwMode="auto">
          <a:xfrm>
            <a:off x="5562600" y="1752600"/>
            <a:ext cx="3506788"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Average Waiting Time </a:t>
            </a:r>
          </a:p>
          <a:p>
            <a:pPr eaLnBrk="1" hangingPunct="1">
              <a:spcBef>
                <a:spcPct val="0"/>
              </a:spcBef>
              <a:buFontTx/>
              <a:buNone/>
            </a:pPr>
            <a:r>
              <a:rPr lang="en-US" altLang="en-US" sz="1800"/>
              <a:t>=  (0 + 7 + 11 + 13) / 4</a:t>
            </a:r>
          </a:p>
          <a:p>
            <a:pPr eaLnBrk="1" hangingPunct="1">
              <a:spcBef>
                <a:spcPct val="0"/>
              </a:spcBef>
              <a:buFontTx/>
              <a:buNone/>
            </a:pPr>
            <a:r>
              <a:rPr lang="en-US" altLang="en-US" sz="1800"/>
              <a:t>=  7.75</a:t>
            </a:r>
          </a:p>
          <a:p>
            <a:pPr eaLnBrk="1" hangingPunct="1">
              <a:spcBef>
                <a:spcPct val="0"/>
              </a:spcBef>
              <a:buFontTx/>
              <a:buNone/>
            </a:pPr>
            <a:endParaRPr lang="en-US" altLang="en-US" sz="1800"/>
          </a:p>
          <a:p>
            <a:pPr eaLnBrk="1" hangingPunct="1">
              <a:spcBef>
                <a:spcPct val="0"/>
              </a:spcBef>
              <a:buFontTx/>
              <a:buNone/>
            </a:pPr>
            <a:r>
              <a:rPr lang="en-US" altLang="en-US" sz="1800"/>
              <a:t>Average Response Time</a:t>
            </a:r>
          </a:p>
          <a:p>
            <a:pPr eaLnBrk="1" hangingPunct="1">
              <a:spcBef>
                <a:spcPct val="0"/>
              </a:spcBef>
              <a:buFontTx/>
              <a:buNone/>
            </a:pPr>
            <a:r>
              <a:rPr lang="en-US" altLang="en-US" sz="1800"/>
              <a:t>= (0 + 7 + 11 + 13) / 4</a:t>
            </a:r>
          </a:p>
          <a:p>
            <a:pPr eaLnBrk="1" hangingPunct="1">
              <a:spcBef>
                <a:spcPct val="0"/>
              </a:spcBef>
              <a:buFontTx/>
              <a:buNone/>
            </a:pPr>
            <a:r>
              <a:rPr lang="en-US" altLang="en-US" sz="1800"/>
              <a:t>= 7.75</a:t>
            </a:r>
          </a:p>
          <a:p>
            <a:pPr eaLnBrk="1" hangingPunct="1">
              <a:spcBef>
                <a:spcPct val="0"/>
              </a:spcBef>
              <a:buFontTx/>
              <a:buNone/>
            </a:pPr>
            <a:r>
              <a:rPr lang="en-US" altLang="en-US" sz="1800"/>
              <a:t>(same as Average Waiting Time)</a:t>
            </a:r>
          </a:p>
        </p:txBody>
      </p:sp>
      <p:sp>
        <p:nvSpPr>
          <p:cNvPr id="9243" name="TextBox 40"/>
          <p:cNvSpPr txBox="1">
            <a:spLocks noChangeArrowheads="1"/>
          </p:cNvSpPr>
          <p:nvPr/>
        </p:nvSpPr>
        <p:spPr bwMode="auto">
          <a:xfrm>
            <a:off x="1209675" y="5105400"/>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C000"/>
                </a:solidFill>
              </a:rPr>
              <a:t>P1</a:t>
            </a:r>
          </a:p>
        </p:txBody>
      </p:sp>
      <p:sp>
        <p:nvSpPr>
          <p:cNvPr id="9244" name="TextBox 41"/>
          <p:cNvSpPr txBox="1">
            <a:spLocks noChangeArrowheads="1"/>
          </p:cNvSpPr>
          <p:nvPr/>
        </p:nvSpPr>
        <p:spPr bwMode="auto">
          <a:xfrm>
            <a:off x="3419475" y="5105400"/>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70C0"/>
                </a:solidFill>
              </a:rPr>
              <a:t>P2</a:t>
            </a:r>
          </a:p>
        </p:txBody>
      </p:sp>
      <p:sp>
        <p:nvSpPr>
          <p:cNvPr id="9245" name="TextBox 42"/>
          <p:cNvSpPr txBox="1">
            <a:spLocks noChangeArrowheads="1"/>
          </p:cNvSpPr>
          <p:nvPr/>
        </p:nvSpPr>
        <p:spPr bwMode="auto">
          <a:xfrm>
            <a:off x="4562475" y="5116513"/>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B050"/>
                </a:solidFill>
              </a:rPr>
              <a:t>P3</a:t>
            </a:r>
          </a:p>
        </p:txBody>
      </p:sp>
      <p:sp>
        <p:nvSpPr>
          <p:cNvPr id="9246" name="TextBox 43"/>
          <p:cNvSpPr txBox="1">
            <a:spLocks noChangeArrowheads="1"/>
          </p:cNvSpPr>
          <p:nvPr/>
        </p:nvSpPr>
        <p:spPr bwMode="auto">
          <a:xfrm>
            <a:off x="5324475" y="5105400"/>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0000"/>
                </a:solidFill>
              </a:rPr>
              <a:t>P4</a:t>
            </a:r>
          </a:p>
        </p:txBody>
      </p:sp>
      <p:sp>
        <p:nvSpPr>
          <p:cNvPr id="9247" name="Slide Number Placeholder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fld id="{C02D076B-9310-4F1D-BB37-3CF8BE8E5B4D}" type="slidenum">
              <a:rPr lang="en-US" altLang="en-US" sz="1400" smtClean="0">
                <a:solidFill>
                  <a:schemeClr val="bg2"/>
                </a:solidFill>
              </a:rPr>
              <a:pPr>
                <a:spcBef>
                  <a:spcPct val="0"/>
                </a:spcBef>
                <a:buFontTx/>
                <a:buNone/>
              </a:pPr>
              <a:t>19</a:t>
            </a:fld>
            <a:endParaRPr lang="en-US" altLang="en-US" sz="1400" smtClean="0">
              <a:solidFill>
                <a:schemeClr val="bg2"/>
              </a:solidFill>
            </a:endParaRPr>
          </a:p>
        </p:txBody>
      </p:sp>
    </p:spTree>
    <p:extLst>
      <p:ext uri="{BB962C8B-B14F-4D97-AF65-F5344CB8AC3E}">
        <p14:creationId xmlns:p14="http://schemas.microsoft.com/office/powerpoint/2010/main" val="368162257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107396" y="287515"/>
            <a:ext cx="7997825" cy="457200"/>
          </a:xfrm>
        </p:spPr>
        <p:txBody>
          <a:bodyPr/>
          <a:lstStyle/>
          <a:p>
            <a:pPr eaLnBrk="1" hangingPunct="1"/>
            <a:r>
              <a:rPr lang="en-US" altLang="en-US" sz="2800" dirty="0"/>
              <a:t>First- Come, First-Served (FCFS) Scheduling</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833438" y="1250950"/>
            <a:ext cx="7566025" cy="4114800"/>
          </a:xfrm>
        </p:spPr>
        <p:txBody>
          <a:bodyPr/>
          <a:lstStyle/>
          <a:p>
            <a:pPr>
              <a:lnSpc>
                <a:spcPct val="90000"/>
              </a:lnSpc>
              <a:buFont typeface="Monotype Sorts" pitchFamily="-84" charset="2"/>
              <a:buNone/>
              <a:tabLst>
                <a:tab pos="3028950" algn="ctr"/>
                <a:tab pos="4633913" algn="ctr"/>
              </a:tabLst>
            </a:pPr>
            <a:r>
              <a:rPr lang="en-US" altLang="en-US" sz="1600"/>
              <a:t>		</a:t>
            </a:r>
            <a:r>
              <a:rPr lang="en-US" altLang="en-US" u="sng"/>
              <a:t>Process</a:t>
            </a:r>
            <a:r>
              <a:rPr lang="en-US" altLang="en-US"/>
              <a:t>	</a:t>
            </a:r>
            <a:r>
              <a:rPr lang="en-US" altLang="en-US" u="sng"/>
              <a:t>Burst Time	</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1</a:t>
            </a:r>
            <a:r>
              <a:rPr lang="en-US" altLang="en-US"/>
              <a:t>	24</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2</a:t>
            </a:r>
            <a:r>
              <a:rPr lang="en-US" altLang="en-US"/>
              <a:t> 	3</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3	 </a:t>
            </a:r>
            <a:r>
              <a:rPr lang="en-US" altLang="en-US"/>
              <a:t>3</a:t>
            </a:r>
            <a:r>
              <a:rPr lang="en-US" altLang="en-US" i="1" baseline="-25000"/>
              <a:t> </a:t>
            </a:r>
          </a:p>
          <a:p>
            <a:pPr>
              <a:lnSpc>
                <a:spcPct val="90000"/>
              </a:lnSpc>
              <a:tabLst>
                <a:tab pos="3028950" algn="ctr"/>
                <a:tab pos="4633913" algn="ctr"/>
              </a:tabLst>
            </a:pPr>
            <a:r>
              <a:rPr lang="en-US" altLang="en-US"/>
              <a:t>Suppose that the processes arrive in the order: </a:t>
            </a:r>
            <a:r>
              <a:rPr lang="en-US" altLang="en-US" i="1"/>
              <a:t>P</a:t>
            </a:r>
            <a:r>
              <a:rPr lang="en-US" altLang="en-US" i="1" baseline="-25000"/>
              <a:t>1</a:t>
            </a:r>
            <a:r>
              <a:rPr lang="en-US" altLang="en-US"/>
              <a:t> , </a:t>
            </a:r>
            <a:r>
              <a:rPr lang="en-US" altLang="en-US" i="1"/>
              <a:t>P</a:t>
            </a:r>
            <a:r>
              <a:rPr lang="en-US" altLang="en-US" i="1" baseline="-25000"/>
              <a:t>2</a:t>
            </a:r>
            <a:r>
              <a:rPr lang="en-US" altLang="en-US"/>
              <a:t> , </a:t>
            </a:r>
            <a:r>
              <a:rPr lang="en-US" altLang="en-US" i="1"/>
              <a:t>P</a:t>
            </a:r>
            <a:r>
              <a:rPr lang="en-US" altLang="en-US" i="1" baseline="-25000"/>
              <a:t>3  </a:t>
            </a:r>
            <a:br>
              <a:rPr lang="en-US" altLang="en-US" i="1" baseline="-25000"/>
            </a:br>
            <a:r>
              <a:rPr lang="en-US" altLang="en-US"/>
              <a:t>The Gantt Chart for the schedule is:</a:t>
            </a:r>
            <a:br>
              <a:rPr lang="en-US" altLang="en-US"/>
            </a:br>
            <a:r>
              <a:rPr lang="en-US" altLang="en-US" sz="1600"/>
              <a:t/>
            </a:r>
            <a:br>
              <a:rPr lang="en-US" altLang="en-US" sz="1600"/>
            </a:br>
            <a:r>
              <a:rPr lang="en-US" altLang="en-US" sz="1600"/>
              <a:t/>
            </a:r>
            <a:br>
              <a:rPr lang="en-US" altLang="en-US" sz="1600"/>
            </a:br>
            <a:r>
              <a:rPr lang="en-US" altLang="en-US" sz="1600"/>
              <a:t/>
            </a:r>
            <a:br>
              <a:rPr lang="en-US" altLang="en-US" sz="1600"/>
            </a:br>
            <a:r>
              <a:rPr lang="en-US" altLang="en-US" sz="1600"/>
              <a:t/>
            </a:r>
            <a:br>
              <a:rPr lang="en-US" altLang="en-US" sz="1600"/>
            </a:br>
            <a:endParaRPr lang="en-US" altLang="en-US" sz="1600"/>
          </a:p>
          <a:p>
            <a:pPr>
              <a:lnSpc>
                <a:spcPct val="90000"/>
              </a:lnSpc>
              <a:buFont typeface="Monotype Sorts" pitchFamily="-84" charset="2"/>
              <a:buNone/>
              <a:tabLst>
                <a:tab pos="3028950" algn="ctr"/>
                <a:tab pos="4633913" algn="ctr"/>
              </a:tabLst>
            </a:pPr>
            <a:endParaRPr lang="en-US" altLang="en-US" sz="1600"/>
          </a:p>
          <a:p>
            <a:pPr>
              <a:lnSpc>
                <a:spcPct val="90000"/>
              </a:lnSpc>
              <a:tabLst>
                <a:tab pos="3028950" algn="ctr"/>
                <a:tab pos="4633913" algn="ctr"/>
              </a:tabLst>
            </a:pPr>
            <a:r>
              <a:rPr lang="en-US" altLang="en-US"/>
              <a:t>Waiting time for </a:t>
            </a:r>
            <a:r>
              <a:rPr lang="en-US" altLang="en-US" i="1"/>
              <a:t>P</a:t>
            </a:r>
            <a:r>
              <a:rPr lang="en-US" altLang="en-US" i="1" baseline="-25000"/>
              <a:t>1</a:t>
            </a:r>
            <a:r>
              <a:rPr lang="en-US" altLang="en-US"/>
              <a:t>  = 0; </a:t>
            </a:r>
            <a:r>
              <a:rPr lang="en-US" altLang="en-US" i="1"/>
              <a:t>P</a:t>
            </a:r>
            <a:r>
              <a:rPr lang="en-US" altLang="en-US" i="1" baseline="-25000"/>
              <a:t>2</a:t>
            </a:r>
            <a:r>
              <a:rPr lang="en-US" altLang="en-US"/>
              <a:t>  = 24; </a:t>
            </a:r>
            <a:r>
              <a:rPr lang="en-US" altLang="en-US" i="1"/>
              <a:t>P</a:t>
            </a:r>
            <a:r>
              <a:rPr lang="en-US" altLang="en-US" i="1" baseline="-25000"/>
              <a:t>3 </a:t>
            </a:r>
            <a:r>
              <a:rPr lang="en-US" altLang="en-US"/>
              <a:t>= 27</a:t>
            </a:r>
          </a:p>
          <a:p>
            <a:pPr>
              <a:lnSpc>
                <a:spcPct val="90000"/>
              </a:lnSpc>
              <a:tabLst>
                <a:tab pos="3028950" algn="ctr"/>
                <a:tab pos="4633913" algn="ctr"/>
              </a:tabLst>
            </a:pPr>
            <a:r>
              <a:rPr lang="en-US" altLang="en-US"/>
              <a:t>Average waiting time:  (0 + 24 + 27)/3 = 17</a:t>
            </a:r>
          </a:p>
        </p:txBody>
      </p:sp>
      <p:pic>
        <p:nvPicPr>
          <p:cNvPr id="23555" name="Picture 1">
            <a:extLst>
              <a:ext uri="{FF2B5EF4-FFF2-40B4-BE49-F238E27FC236}">
                <a16:creationId xmlns:a16="http://schemas.microsoft.com/office/drawing/2014/main" id="{6693C49E-F1BF-40FA-ACEB-79D52B112D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71575" y="3479800"/>
            <a:ext cx="6954838"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24DA10D-55B3-4B35-A002-F73DC17E003A}"/>
              </a:ext>
            </a:extLst>
          </p:cNvPr>
          <p:cNvSpPr>
            <a:spLocks noGrp="1" noChangeArrowheads="1"/>
          </p:cNvSpPr>
          <p:nvPr>
            <p:ph type="title"/>
          </p:nvPr>
        </p:nvSpPr>
        <p:spPr>
          <a:xfrm>
            <a:off x="982663" y="231158"/>
            <a:ext cx="7704137" cy="576262"/>
          </a:xfrm>
        </p:spPr>
        <p:txBody>
          <a:bodyPr/>
          <a:lstStyle/>
          <a:p>
            <a:pPr eaLnBrk="1" hangingPunct="1"/>
            <a:r>
              <a:rPr lang="en-US" altLang="en-US" dirty="0"/>
              <a:t>FCFS Scheduling (Cont.)</a:t>
            </a:r>
          </a:p>
        </p:txBody>
      </p:sp>
      <p:sp>
        <p:nvSpPr>
          <p:cNvPr id="13315" name="Rectangle 3">
            <a:extLst>
              <a:ext uri="{FF2B5EF4-FFF2-40B4-BE49-F238E27FC236}">
                <a16:creationId xmlns:a16="http://schemas.microsoft.com/office/drawing/2014/main" id="{332EE341-968F-42D6-9F71-9462061509EC}"/>
              </a:ext>
            </a:extLst>
          </p:cNvPr>
          <p:cNvSpPr>
            <a:spLocks noGrp="1" noChangeArrowheads="1"/>
          </p:cNvSpPr>
          <p:nvPr>
            <p:ph type="body" idx="1"/>
          </p:nvPr>
        </p:nvSpPr>
        <p:spPr>
          <a:xfrm>
            <a:off x="855663" y="1233488"/>
            <a:ext cx="7704137" cy="4530725"/>
          </a:xfrm>
        </p:spPr>
        <p:txBody>
          <a:bodyPr/>
          <a:lstStyle/>
          <a:p>
            <a:pPr>
              <a:buFont typeface="Monotype Sorts" pitchFamily="-84" charset="2"/>
              <a:buNone/>
              <a:tabLst>
                <a:tab pos="3649345" algn="ctr"/>
              </a:tabLst>
              <a:defRPr/>
            </a:pPr>
            <a:r>
              <a:rPr lang="en-US" altLang="en-US" dirty="0">
                <a:cs typeface="ＭＳ Ｐゴシック" charset="-128"/>
              </a:rPr>
              <a:t>Suppose that the processes arrive in the order:</a:t>
            </a:r>
          </a:p>
          <a:p>
            <a:pPr>
              <a:buFont typeface="Monotype Sorts" pitchFamily="-84" charset="2"/>
              <a:buNone/>
              <a:tabLst>
                <a:tab pos="3649345"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p>
          <a:p>
            <a:pPr>
              <a:tabLst>
                <a:tab pos="3649345" algn="ctr"/>
              </a:tabLst>
              <a:defRPr/>
            </a:pPr>
            <a:r>
              <a:rPr lang="en-US" altLang="en-US" dirty="0">
                <a:cs typeface="ＭＳ Ｐゴシック" charset="-128"/>
              </a:rPr>
              <a:t>The Gantt chart for the schedule is:</a:t>
            </a:r>
            <a:br>
              <a:rPr lang="en-US" altLang="en-US" dirty="0">
                <a:cs typeface="ＭＳ Ｐゴシック" charset="-128"/>
              </a:rPr>
            </a:br>
            <a:endParaRPr lang="en-US" altLang="en-US" dirty="0">
              <a:cs typeface="ＭＳ Ｐゴシック" charset="-128"/>
            </a:endParaRPr>
          </a:p>
          <a:p>
            <a:pPr>
              <a:tabLst>
                <a:tab pos="3649345" algn="ctr"/>
              </a:tabLst>
              <a:defRPr/>
            </a:pPr>
            <a:endParaRPr lang="en-US" altLang="en-US" dirty="0">
              <a:cs typeface="ＭＳ Ｐゴシック" charset="-128"/>
            </a:endParaRPr>
          </a:p>
          <a:p>
            <a:pPr>
              <a:tabLst>
                <a:tab pos="3649345" algn="ctr"/>
              </a:tabLst>
              <a:defRPr/>
            </a:pPr>
            <a:endParaRPr lang="en-US" altLang="en-US" dirty="0">
              <a:cs typeface="ＭＳ Ｐゴシック" charset="-128"/>
            </a:endParaRPr>
          </a:p>
          <a:p>
            <a:pPr marL="0" indent="0">
              <a:buFont typeface="Monotype Sorts" pitchFamily="-84" charset="2"/>
              <a:buNone/>
              <a:tabLst>
                <a:tab pos="3649345" algn="ctr"/>
              </a:tabLst>
              <a:defRPr/>
            </a:pPr>
            <a:endParaRPr lang="en-US" altLang="en-US" dirty="0">
              <a:cs typeface="ＭＳ Ｐゴシック" charset="-128"/>
            </a:endParaRPr>
          </a:p>
          <a:p>
            <a:pPr>
              <a:tabLst>
                <a:tab pos="3649345" algn="ctr"/>
              </a:tabLst>
              <a:defRPr/>
            </a:pPr>
            <a:r>
              <a:rPr lang="en-US" altLang="en-US" dirty="0">
                <a:cs typeface="ＭＳ Ｐゴシック" charset="-128"/>
              </a:rPr>
              <a:t>Waiting time for </a:t>
            </a:r>
            <a:r>
              <a:rPr lang="en-US" altLang="en-US" i="1" dirty="0">
                <a:cs typeface="ＭＳ Ｐゴシック" charset="-128"/>
              </a:rPr>
              <a:t>P</a:t>
            </a:r>
            <a:r>
              <a:rPr lang="en-US" altLang="en-US" i="1" baseline="-25000" dirty="0">
                <a:cs typeface="ＭＳ Ｐゴシック" charset="-128"/>
              </a:rPr>
              <a:t>1 </a:t>
            </a:r>
            <a:r>
              <a:rPr lang="en-US" altLang="en-US" i="1" dirty="0">
                <a:cs typeface="ＭＳ Ｐゴシック" charset="-128"/>
              </a:rPr>
              <a:t>=</a:t>
            </a:r>
            <a:r>
              <a:rPr lang="en-US" altLang="en-US" dirty="0">
                <a:cs typeface="ＭＳ Ｐゴシック" charset="-128"/>
              </a:rPr>
              <a:t> 6</a:t>
            </a:r>
            <a:r>
              <a:rPr lang="en-US" altLang="en-US" i="1" dirty="0">
                <a:cs typeface="ＭＳ Ｐゴシック" charset="-128"/>
              </a:rPr>
              <a:t>;</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0</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3 </a:t>
            </a:r>
            <a:r>
              <a:rPr lang="en-US" altLang="en-US" i="1" dirty="0">
                <a:cs typeface="ＭＳ Ｐゴシック" charset="-128"/>
              </a:rPr>
              <a:t>= </a:t>
            </a:r>
            <a:r>
              <a:rPr lang="en-US" altLang="en-US" dirty="0">
                <a:cs typeface="ＭＳ Ｐゴシック" charset="-128"/>
              </a:rPr>
              <a:t>3</a:t>
            </a:r>
            <a:endParaRPr lang="en-US" altLang="en-US" i="1" dirty="0">
              <a:cs typeface="ＭＳ Ｐゴシック" charset="-128"/>
            </a:endParaRPr>
          </a:p>
          <a:p>
            <a:pPr>
              <a:tabLst>
                <a:tab pos="3649345" algn="ctr"/>
              </a:tabLst>
              <a:defRPr/>
            </a:pPr>
            <a:r>
              <a:rPr lang="en-US" altLang="en-US" dirty="0">
                <a:cs typeface="ＭＳ Ｐゴシック" charset="-128"/>
              </a:rPr>
              <a:t>Average waiting time:   (6 + 0 + 3)/3 = 3</a:t>
            </a:r>
          </a:p>
          <a:p>
            <a:pPr>
              <a:tabLst>
                <a:tab pos="3649345" algn="ctr"/>
              </a:tabLst>
              <a:defRPr/>
            </a:pPr>
            <a:r>
              <a:rPr lang="en-US" altLang="en-US" dirty="0">
                <a:cs typeface="ＭＳ Ｐゴシック" charset="-128"/>
              </a:rPr>
              <a:t>Much better than previous </a:t>
            </a:r>
            <a:r>
              <a:rPr lang="en-US" altLang="en-US" dirty="0" smtClean="0">
                <a:cs typeface="ＭＳ Ｐゴシック" charset="-128"/>
              </a:rPr>
              <a:t>case</a:t>
            </a:r>
            <a:endParaRPr lang="en-US" altLang="en-US" dirty="0">
              <a:cs typeface="ＭＳ Ｐゴシック" charset="-128"/>
            </a:endParaRPr>
          </a:p>
        </p:txBody>
      </p:sp>
      <p:pic>
        <p:nvPicPr>
          <p:cNvPr id="25603" name="Picture 1">
            <a:extLst>
              <a:ext uri="{FF2B5EF4-FFF2-40B4-BE49-F238E27FC236}">
                <a16:creationId xmlns:a16="http://schemas.microsoft.com/office/drawing/2014/main" id="{AA51E2F7-6758-4662-8420-58D4F08902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2632075"/>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noChangeArrowheads="1"/>
          </p:cNvSpPr>
          <p:nvPr>
            <p:ph type="title"/>
          </p:nvPr>
        </p:nvSpPr>
        <p:spPr/>
        <p:txBody>
          <a:bodyPr/>
          <a:lstStyle/>
          <a:p>
            <a:r>
              <a:rPr lang="en-US" altLang="en-US" smtClean="0">
                <a:ea typeface="ＭＳ Ｐゴシック" panose="020B0600070205080204" pitchFamily="34" charset="-128"/>
              </a:rPr>
              <a:t>FCFS Pros and Cons</a:t>
            </a:r>
          </a:p>
        </p:txBody>
      </p:sp>
      <p:sp>
        <p:nvSpPr>
          <p:cNvPr id="12291" name="Content Placeholder 2"/>
          <p:cNvSpPr>
            <a:spLocks noGrp="1" noChangeArrowheads="1"/>
          </p:cNvSpPr>
          <p:nvPr>
            <p:ph idx="1"/>
          </p:nvPr>
        </p:nvSpPr>
        <p:spPr/>
        <p:txBody>
          <a:bodyPr/>
          <a:lstStyle/>
          <a:p>
            <a:r>
              <a:rPr lang="en-US" altLang="en-US" sz="2800" dirty="0" smtClean="0">
                <a:solidFill>
                  <a:srgbClr val="0000CC"/>
                </a:solidFill>
                <a:ea typeface="ＭＳ Ｐゴシック" panose="020B0600070205080204" pitchFamily="34" charset="-128"/>
              </a:rPr>
              <a:t>Advantages</a:t>
            </a:r>
          </a:p>
          <a:p>
            <a:pPr lvl="1"/>
            <a:r>
              <a:rPr lang="en-US" altLang="en-US" sz="2400" dirty="0" smtClean="0">
                <a:ea typeface="Arial" panose="020B0604020202020204" pitchFamily="34" charset="0"/>
              </a:rPr>
              <a:t>Simple</a:t>
            </a:r>
          </a:p>
          <a:p>
            <a:pPr lvl="1"/>
            <a:r>
              <a:rPr lang="en-US" altLang="en-US" sz="2400" dirty="0" smtClean="0">
                <a:ea typeface="Arial" panose="020B0604020202020204" pitchFamily="34" charset="0"/>
              </a:rPr>
              <a:t>Fair (as long as no process hogs the CPU, every process will eventually run)</a:t>
            </a:r>
          </a:p>
          <a:p>
            <a:pPr lvl="1"/>
            <a:endParaRPr lang="en-US" altLang="en-US" sz="2400" dirty="0" smtClean="0">
              <a:ea typeface="Arial" panose="020B0604020202020204" pitchFamily="34" charset="0"/>
            </a:endParaRPr>
          </a:p>
          <a:p>
            <a:r>
              <a:rPr lang="en-US" altLang="en-US" sz="2800" dirty="0" smtClean="0">
                <a:solidFill>
                  <a:srgbClr val="0000CC"/>
                </a:solidFill>
                <a:ea typeface="ＭＳ Ｐゴシック" panose="020B0600070205080204" pitchFamily="34" charset="-128"/>
              </a:rPr>
              <a:t>Disadvantages</a:t>
            </a:r>
          </a:p>
          <a:p>
            <a:pPr lvl="1"/>
            <a:r>
              <a:rPr lang="en-US" altLang="en-US" sz="2400" dirty="0" smtClean="0">
                <a:ea typeface="Arial" panose="020B0604020202020204" pitchFamily="34" charset="0"/>
              </a:rPr>
              <a:t>Waiting time depends on arrival order</a:t>
            </a:r>
          </a:p>
          <a:p>
            <a:pPr lvl="1"/>
            <a:r>
              <a:rPr lang="en-US" altLang="en-US" sz="2400" dirty="0" smtClean="0">
                <a:ea typeface="Arial" panose="020B0604020202020204" pitchFamily="34" charset="0"/>
              </a:rPr>
              <a:t>short processes stuck waiting for long process to complete </a:t>
            </a:r>
          </a:p>
          <a:p>
            <a:pPr lvl="2"/>
            <a:r>
              <a:rPr lang="en-US" altLang="en-US" sz="2400" dirty="0" smtClean="0">
                <a:ea typeface="Arial" panose="020B0604020202020204" pitchFamily="34" charset="0"/>
              </a:rPr>
              <a:t>Convoy effect: </a:t>
            </a:r>
            <a:r>
              <a:rPr lang="en-US" altLang="en-US" sz="2400" dirty="0"/>
              <a:t>Consider one CPU-bound and many I/O-bound processes</a:t>
            </a:r>
          </a:p>
          <a:p>
            <a:pPr lvl="2"/>
            <a:endParaRPr lang="en-US" altLang="en-US" sz="2400" dirty="0" smtClean="0">
              <a:ea typeface="Arial" panose="020B0604020202020204" pitchFamily="34" charset="0"/>
            </a:endParaRPr>
          </a:p>
        </p:txBody>
      </p:sp>
      <p:sp>
        <p:nvSpPr>
          <p:cNvPr id="12292" name="Slide Number Placeholder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fld id="{2319AE8C-8263-4BC1-BD28-BC26BFD9C73B}" type="slidenum">
              <a:rPr lang="en-US" altLang="en-US" sz="1400" smtClean="0">
                <a:solidFill>
                  <a:schemeClr val="bg2"/>
                </a:solidFill>
              </a:rPr>
              <a:pPr>
                <a:spcBef>
                  <a:spcPct val="0"/>
                </a:spcBef>
                <a:buFontTx/>
                <a:buNone/>
              </a:pPr>
              <a:t>22</a:t>
            </a:fld>
            <a:endParaRPr lang="en-US" altLang="en-US" sz="1400" smtClean="0">
              <a:solidFill>
                <a:schemeClr val="bg2"/>
              </a:solidFill>
            </a:endParaRPr>
          </a:p>
        </p:txBody>
      </p:sp>
    </p:spTree>
    <p:extLst>
      <p:ext uri="{BB962C8B-B14F-4D97-AF65-F5344CB8AC3E}">
        <p14:creationId xmlns:p14="http://schemas.microsoft.com/office/powerpoint/2010/main" val="2329863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1108909" y="129252"/>
            <a:ext cx="7704137" cy="576262"/>
          </a:xfrm>
        </p:spPr>
        <p:txBody>
          <a:bodyPr/>
          <a:lstStyle/>
          <a:p>
            <a:pPr eaLnBrk="1" hangingPunct="1"/>
            <a:r>
              <a:rPr lang="en-US" altLang="en-US" dirty="0"/>
              <a:t>Shortest-Job-First (SJF)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821093" y="1233488"/>
            <a:ext cx="7991953" cy="4345509"/>
          </a:xfrm>
        </p:spPr>
        <p:txBody>
          <a:bodyPr/>
          <a:lstStyle/>
          <a:p>
            <a:r>
              <a:rPr lang="en-US" altLang="en-US" dirty="0"/>
              <a:t>Associate with each process the length of its next CPU burst</a:t>
            </a:r>
          </a:p>
          <a:p>
            <a:pPr lvl="1"/>
            <a:r>
              <a:rPr lang="en-US" altLang="en-US" dirty="0"/>
              <a:t>Use these lengths to schedule the process with the shortest </a:t>
            </a:r>
            <a:r>
              <a:rPr lang="en-US" altLang="en-US" dirty="0" smtClean="0"/>
              <a:t>time</a:t>
            </a:r>
          </a:p>
          <a:p>
            <a:pPr lvl="1"/>
            <a:endParaRPr lang="en-US" altLang="en-US" dirty="0"/>
          </a:p>
          <a:p>
            <a:r>
              <a:rPr lang="en-US" altLang="en-US" u="sng" dirty="0"/>
              <a:t>SJF is optimal</a:t>
            </a:r>
            <a:r>
              <a:rPr lang="en-US" altLang="en-US" dirty="0"/>
              <a:t> – gives minimum average waiting time for a given set of processes</a:t>
            </a:r>
          </a:p>
          <a:p>
            <a:endParaRPr lang="en-US" altLang="en-US" dirty="0" smtClean="0">
              <a:cs typeface="ＭＳ Ｐゴシック" charset="-128"/>
            </a:endParaRPr>
          </a:p>
          <a:p>
            <a:r>
              <a:rPr lang="en-US" altLang="en-US" dirty="0" smtClean="0">
                <a:cs typeface="ＭＳ Ｐゴシック" charset="-128"/>
              </a:rPr>
              <a:t>Preemptive </a:t>
            </a:r>
            <a:r>
              <a:rPr lang="en-US" altLang="en-US" dirty="0">
                <a:cs typeface="ＭＳ Ｐゴシック" charset="-128"/>
              </a:rPr>
              <a:t>version called </a:t>
            </a:r>
            <a:r>
              <a:rPr lang="en-US" altLang="en-US" b="1" dirty="0">
                <a:solidFill>
                  <a:srgbClr val="006699"/>
                </a:solidFill>
                <a:latin typeface="+mj-lt"/>
              </a:rPr>
              <a:t>shortest-remaining-time-first</a:t>
            </a:r>
          </a:p>
          <a:p>
            <a:endParaRPr lang="en-US" altLang="en-US" dirty="0" smtClean="0"/>
          </a:p>
          <a:p>
            <a:r>
              <a:rPr lang="en-US" altLang="en-US" dirty="0" smtClean="0"/>
              <a:t>How </a:t>
            </a:r>
            <a:r>
              <a:rPr lang="en-US" altLang="en-US" dirty="0"/>
              <a:t>do we determine the length of the next CPU burst?</a:t>
            </a:r>
          </a:p>
          <a:p>
            <a:pPr lvl="1"/>
            <a:r>
              <a:rPr lang="en-US" altLang="en-US" dirty="0" smtClean="0"/>
              <a:t>Predicting the future</a:t>
            </a:r>
          </a:p>
          <a:p>
            <a:pPr lvl="1"/>
            <a:r>
              <a:rPr lang="en-US" altLang="en-US" dirty="0" smtClean="0"/>
              <a:t>Could </a:t>
            </a:r>
            <a:r>
              <a:rPr lang="en-US" altLang="en-US" dirty="0"/>
              <a:t>ask the user</a:t>
            </a:r>
          </a:p>
          <a:p>
            <a:pPr lvl="1"/>
            <a:r>
              <a:rPr lang="en-US" altLang="en-US" dirty="0" smtClean="0"/>
              <a:t>Estimate</a:t>
            </a:r>
          </a:p>
          <a:p>
            <a:pPr lvl="1"/>
            <a:endParaRPr lang="en-US" altLang="en-US" dirty="0"/>
          </a:p>
          <a:p>
            <a:pPr indent="-285750"/>
            <a:r>
              <a:rPr lang="en-US" altLang="en-US" dirty="0" smtClean="0"/>
              <a:t>Can lead to starvation for long jobs</a:t>
            </a:r>
            <a:endParaRPr lang="en-US" altLang="en-US" dirty="0"/>
          </a:p>
          <a:p>
            <a:pPr lvl="1"/>
            <a:endParaRPr lang="en-US" altLang="en-US" dirty="0"/>
          </a:p>
        </p:txBody>
      </p:sp>
    </p:spTree>
    <p:extLst>
      <p:ext uri="{BB962C8B-B14F-4D97-AF65-F5344CB8AC3E}">
        <p14:creationId xmlns:p14="http://schemas.microsoft.com/office/powerpoint/2010/main" val="413677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50">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50">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650">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650">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650">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65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107396" y="287515"/>
            <a:ext cx="7997825" cy="457200"/>
          </a:xfrm>
        </p:spPr>
        <p:txBody>
          <a:bodyPr/>
          <a:lstStyle/>
          <a:p>
            <a:pPr eaLnBrk="1" hangingPunct="1"/>
            <a:r>
              <a:rPr lang="en-US" altLang="en-US" dirty="0"/>
              <a:t>Example of SJF</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833438" y="1250949"/>
            <a:ext cx="7788048" cy="4594679"/>
          </a:xfrm>
        </p:spPr>
        <p:txBody>
          <a:bodyPr/>
          <a:lstStyle/>
          <a:p>
            <a:pPr>
              <a:lnSpc>
                <a:spcPct val="90000"/>
              </a:lnSpc>
              <a:buFont typeface="Monotype Sorts" pitchFamily="-84" charset="2"/>
              <a:buNone/>
              <a:tabLst>
                <a:tab pos="3028950" algn="ctr"/>
                <a:tab pos="4633913" algn="ctr"/>
              </a:tabLst>
            </a:pPr>
            <a:r>
              <a:rPr lang="en-US" altLang="en-US" sz="1600" dirty="0"/>
              <a:t>		</a:t>
            </a:r>
            <a:r>
              <a:rPr lang="en-US" altLang="en-US" u="sng" dirty="0"/>
              <a:t>Process</a:t>
            </a:r>
            <a:r>
              <a:rPr lang="en-US" altLang="en-US" dirty="0"/>
              <a:t>	</a:t>
            </a:r>
            <a:r>
              <a:rPr lang="en-US" altLang="en-US" u="sng" dirty="0"/>
              <a:t>Burst Time	</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1</a:t>
            </a:r>
            <a:r>
              <a:rPr lang="en-US" altLang="en-US" dirty="0"/>
              <a:t>	6</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2</a:t>
            </a:r>
            <a:r>
              <a:rPr lang="en-US" altLang="en-US" dirty="0"/>
              <a:t> 	8</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3	 </a:t>
            </a:r>
            <a:r>
              <a:rPr lang="en-US" altLang="en-US" dirty="0"/>
              <a:t>7</a:t>
            </a:r>
          </a:p>
          <a:p>
            <a:pPr>
              <a:lnSpc>
                <a:spcPct val="90000"/>
              </a:lnSpc>
              <a:buFont typeface="Monotype Sorts" pitchFamily="-84" charset="2"/>
              <a:buNone/>
              <a:tabLst>
                <a:tab pos="3028950" algn="ctr"/>
                <a:tab pos="4633913" algn="ctr"/>
              </a:tabLst>
            </a:pPr>
            <a:r>
              <a:rPr lang="en-US" altLang="en-US" i="1" baseline="-25000" dirty="0"/>
              <a:t>                                                                    </a:t>
            </a:r>
            <a:r>
              <a:rPr lang="en-US" altLang="en-US" i="1" dirty="0"/>
              <a:t>P</a:t>
            </a:r>
            <a:r>
              <a:rPr lang="en-US" altLang="en-US" i="1" baseline="-25000" dirty="0"/>
              <a:t>4	 </a:t>
            </a:r>
            <a:r>
              <a:rPr lang="en-US" altLang="en-US" dirty="0"/>
              <a:t>3</a:t>
            </a:r>
          </a:p>
          <a:p>
            <a:pPr>
              <a:lnSpc>
                <a:spcPct val="90000"/>
              </a:lnSpc>
              <a:buFont typeface="Monotype Sorts" pitchFamily="-84" charset="2"/>
              <a:buNone/>
              <a:tabLst>
                <a:tab pos="3028950" algn="ctr"/>
                <a:tab pos="4633913" algn="ctr"/>
              </a:tabLst>
            </a:pPr>
            <a:endParaRPr lang="en-US" altLang="en-US" i="1" baseline="-25000" dirty="0"/>
          </a:p>
          <a:p>
            <a:pPr>
              <a:lnSpc>
                <a:spcPct val="90000"/>
              </a:lnSpc>
              <a:tabLst>
                <a:tab pos="3028950" algn="ctr"/>
                <a:tab pos="4633913" algn="ctr"/>
              </a:tabLst>
            </a:pPr>
            <a:r>
              <a:rPr lang="en-US" altLang="en-US" dirty="0"/>
              <a:t>SJF scheduling chart</a:t>
            </a:r>
            <a:br>
              <a:rPr lang="en-US" altLang="en-US" dirty="0"/>
            </a:br>
            <a:r>
              <a:rPr lang="en-US" altLang="en-US" sz="1600" dirty="0"/>
              <a:t/>
            </a:r>
            <a:br>
              <a:rPr lang="en-US" altLang="en-US" sz="1600" dirty="0"/>
            </a:br>
            <a:r>
              <a:rPr lang="en-US" altLang="en-US" sz="1600" dirty="0"/>
              <a:t/>
            </a:r>
            <a:br>
              <a:rPr lang="en-US" altLang="en-US" sz="1600" dirty="0"/>
            </a:br>
            <a:r>
              <a:rPr lang="en-US" altLang="en-US" sz="1600" dirty="0"/>
              <a:t/>
            </a:r>
            <a:br>
              <a:rPr lang="en-US" altLang="en-US" sz="1600" dirty="0"/>
            </a:br>
            <a:r>
              <a:rPr lang="en-US" altLang="en-US" sz="1600" dirty="0"/>
              <a:t/>
            </a:r>
            <a:br>
              <a:rPr lang="en-US" altLang="en-US" sz="1600" dirty="0"/>
            </a:br>
            <a:endParaRPr lang="en-US" altLang="en-US" sz="1600" dirty="0"/>
          </a:p>
          <a:p>
            <a:pPr marL="0" indent="0">
              <a:lnSpc>
                <a:spcPct val="90000"/>
              </a:lnSpc>
              <a:buNone/>
              <a:tabLst>
                <a:tab pos="3028950" algn="ctr"/>
                <a:tab pos="4633913" algn="ctr"/>
              </a:tabLst>
            </a:pPr>
            <a:endParaRPr lang="en-US" altLang="en-US" dirty="0"/>
          </a:p>
          <a:p>
            <a:pPr>
              <a:lnSpc>
                <a:spcPct val="90000"/>
              </a:lnSpc>
              <a:tabLst>
                <a:tab pos="3028950" algn="ctr"/>
                <a:tab pos="4633913" algn="ctr"/>
              </a:tabLst>
            </a:pPr>
            <a:r>
              <a:rPr lang="en-US" altLang="en-US" dirty="0"/>
              <a:t>Average waiting time = (3 + 16 + 9 + 0) / 4 = 7</a:t>
            </a:r>
          </a:p>
        </p:txBody>
      </p:sp>
      <p:pic>
        <p:nvPicPr>
          <p:cNvPr id="5" name="Picture 1">
            <a:extLst>
              <a:ext uri="{FF2B5EF4-FFF2-40B4-BE49-F238E27FC236}">
                <a16:creationId xmlns:a16="http://schemas.microsoft.com/office/drawing/2014/main" id="{DADC6AF8-4597-4452-983E-FCBE4FEE15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6952" y="3755574"/>
            <a:ext cx="6093760" cy="827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022014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7A3CFFB8-E2A9-4251-9DDA-A9BF289B2979}"/>
              </a:ext>
            </a:extLst>
          </p:cNvPr>
          <p:cNvSpPr>
            <a:spLocks noGrp="1" noChangeArrowheads="1"/>
          </p:cNvSpPr>
          <p:nvPr>
            <p:ph type="title"/>
          </p:nvPr>
        </p:nvSpPr>
        <p:spPr>
          <a:xfrm>
            <a:off x="987629" y="165918"/>
            <a:ext cx="8249492" cy="611187"/>
          </a:xfrm>
        </p:spPr>
        <p:txBody>
          <a:bodyPr/>
          <a:lstStyle/>
          <a:p>
            <a:pPr eaLnBrk="1" hangingPunct="1"/>
            <a:r>
              <a:rPr lang="en-US" altLang="en-US" dirty="0"/>
              <a:t>Determining Length of Next CPU Burst</a:t>
            </a:r>
          </a:p>
        </p:txBody>
      </p:sp>
      <p:sp>
        <p:nvSpPr>
          <p:cNvPr id="16387" name="Rectangle 3">
            <a:extLst>
              <a:ext uri="{FF2B5EF4-FFF2-40B4-BE49-F238E27FC236}">
                <a16:creationId xmlns:a16="http://schemas.microsoft.com/office/drawing/2014/main" id="{8340EA5D-E641-4F83-8451-8011ACC73F79}"/>
              </a:ext>
            </a:extLst>
          </p:cNvPr>
          <p:cNvSpPr>
            <a:spLocks noGrp="1" noChangeArrowheads="1"/>
          </p:cNvSpPr>
          <p:nvPr>
            <p:ph type="body" idx="1"/>
          </p:nvPr>
        </p:nvSpPr>
        <p:spPr>
          <a:xfrm>
            <a:off x="802433" y="1233488"/>
            <a:ext cx="7681167" cy="4935537"/>
          </a:xfrm>
        </p:spPr>
        <p:txBody>
          <a:bodyPr/>
          <a:lstStyle/>
          <a:p>
            <a:pPr>
              <a:defRPr/>
            </a:pPr>
            <a:r>
              <a:rPr lang="en-US" altLang="en-US" dirty="0">
                <a:cs typeface="ＭＳ Ｐゴシック" charset="-128"/>
              </a:rPr>
              <a:t>Can only estimate the length – should be similar to the previous one</a:t>
            </a:r>
          </a:p>
          <a:p>
            <a:pPr lvl="1">
              <a:defRPr/>
            </a:pPr>
            <a:r>
              <a:rPr lang="en-US" altLang="en-US" dirty="0"/>
              <a:t>Then pick process with shortest predicted next CPU </a:t>
            </a:r>
            <a:r>
              <a:rPr lang="en-US" altLang="en-US" dirty="0" smtClean="0"/>
              <a:t>burst</a:t>
            </a:r>
          </a:p>
          <a:p>
            <a:pPr marL="457200" lvl="1" indent="0">
              <a:buNone/>
              <a:defRPr/>
            </a:pPr>
            <a:endParaRPr lang="en-US" altLang="en-US" dirty="0">
              <a:cs typeface="ＭＳ Ｐゴシック" charset="-128"/>
            </a:endParaRPr>
          </a:p>
          <a:p>
            <a:pPr>
              <a:defRPr/>
            </a:pPr>
            <a:r>
              <a:rPr lang="en-US" altLang="en-US" dirty="0">
                <a:cs typeface="ＭＳ Ｐゴシック" charset="-128"/>
              </a:rPr>
              <a:t>Can be done by using the length of previous CPU bursts, using exponential averaging</a:t>
            </a:r>
          </a:p>
          <a:p>
            <a:pPr>
              <a:defRPr/>
            </a:pPr>
            <a:endParaRPr lang="en-US" altLang="en-US" dirty="0">
              <a:cs typeface="ＭＳ Ｐゴシック" charset="-128"/>
            </a:endParaRPr>
          </a:p>
          <a:p>
            <a:pPr>
              <a:defRPr/>
            </a:pPr>
            <a:endParaRPr lang="en-US" altLang="en-US" dirty="0">
              <a:cs typeface="ＭＳ Ｐゴシック" charset="-128"/>
            </a:endParaRPr>
          </a:p>
          <a:p>
            <a:pPr>
              <a:defRPr/>
            </a:pPr>
            <a:endParaRPr lang="en-US" altLang="en-US" dirty="0">
              <a:cs typeface="ＭＳ Ｐゴシック" charset="-128"/>
            </a:endParaRPr>
          </a:p>
          <a:p>
            <a:pPr marL="0" indent="0">
              <a:buFont typeface="Monotype Sorts" pitchFamily="-84" charset="2"/>
              <a:buNone/>
              <a:defRPr/>
            </a:pPr>
            <a:endParaRPr lang="en-US" altLang="en-US" dirty="0">
              <a:cs typeface="ＭＳ Ｐゴシック" charset="-128"/>
            </a:endParaRPr>
          </a:p>
          <a:p>
            <a:pPr marL="0" indent="0">
              <a:buFont typeface="Monotype Sorts" pitchFamily="-84" charset="2"/>
              <a:buNone/>
              <a:defRPr/>
            </a:pPr>
            <a:endParaRPr lang="en-US" altLang="en-US" dirty="0">
              <a:cs typeface="ＭＳ Ｐゴシック" charset="-128"/>
            </a:endParaRPr>
          </a:p>
          <a:p>
            <a:pPr>
              <a:defRPr/>
            </a:pPr>
            <a:endParaRPr lang="en-US" altLang="en-US" dirty="0" smtClean="0">
              <a:cs typeface="ＭＳ Ｐゴシック" charset="-128"/>
            </a:endParaRPr>
          </a:p>
          <a:p>
            <a:pPr>
              <a:defRPr/>
            </a:pPr>
            <a:endParaRPr lang="en-US" altLang="en-US" dirty="0">
              <a:cs typeface="ＭＳ Ｐゴシック" charset="-128"/>
            </a:endParaRPr>
          </a:p>
          <a:p>
            <a:pPr>
              <a:defRPr/>
            </a:pPr>
            <a:r>
              <a:rPr lang="en-US" altLang="en-US" dirty="0" smtClean="0">
                <a:cs typeface="ＭＳ Ｐゴシック" charset="-128"/>
              </a:rPr>
              <a:t>Commonly</a:t>
            </a:r>
            <a:r>
              <a:rPr lang="en-US" altLang="en-US" dirty="0">
                <a:cs typeface="ＭＳ Ｐゴシック" charset="-128"/>
              </a:rPr>
              <a:t>, </a:t>
            </a:r>
            <a:r>
              <a:rPr lang="en-US" altLang="en-US" dirty="0">
                <a:latin typeface="Lucida Grande" pitchFamily="-84" charset="0"/>
                <a:cs typeface="ＭＳ Ｐゴシック" charset="-128"/>
              </a:rPr>
              <a:t>α </a:t>
            </a:r>
            <a:r>
              <a:rPr lang="en-US" altLang="en-US" dirty="0">
                <a:cs typeface="ＭＳ Ｐゴシック" charset="-128"/>
              </a:rPr>
              <a:t>set to ½</a:t>
            </a:r>
          </a:p>
        </p:txBody>
      </p:sp>
      <p:pic>
        <p:nvPicPr>
          <p:cNvPr id="31748" name="Picture 1">
            <a:extLst>
              <a:ext uri="{FF2B5EF4-FFF2-40B4-BE49-F238E27FC236}">
                <a16:creationId xmlns:a16="http://schemas.microsoft.com/office/drawing/2014/main" id="{E328DB97-6C8D-4434-AF77-5C40A02A28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24945" y="4489283"/>
            <a:ext cx="24511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Graphical user interface, text, application&#10;&#10;Description automatically generated">
            <a:extLst>
              <a:ext uri="{FF2B5EF4-FFF2-40B4-BE49-F238E27FC236}">
                <a16:creationId xmlns:a16="http://schemas.microsoft.com/office/drawing/2014/main" id="{427B0884-5EC4-48E6-847A-70815D91C373}"/>
              </a:ext>
            </a:extLst>
          </p:cNvPr>
          <p:cNvPicPr>
            <a:picLocks noChangeAspect="1"/>
          </p:cNvPicPr>
          <p:nvPr/>
        </p:nvPicPr>
        <p:blipFill>
          <a:blip r:embed="rId4"/>
          <a:stretch>
            <a:fillRect/>
          </a:stretch>
        </p:blipFill>
        <p:spPr>
          <a:xfrm>
            <a:off x="1820688" y="3015456"/>
            <a:ext cx="4457700" cy="137160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D9F41D91-5CCD-4C10-BD4B-8757760950E9}"/>
              </a:ext>
            </a:extLst>
          </p:cNvPr>
          <p:cNvSpPr>
            <a:spLocks noGrp="1" noChangeArrowheads="1"/>
          </p:cNvSpPr>
          <p:nvPr>
            <p:ph type="title"/>
          </p:nvPr>
        </p:nvSpPr>
        <p:spPr>
          <a:xfrm>
            <a:off x="1175460" y="229606"/>
            <a:ext cx="7451725" cy="576262"/>
          </a:xfrm>
        </p:spPr>
        <p:txBody>
          <a:bodyPr/>
          <a:lstStyle/>
          <a:p>
            <a:pPr eaLnBrk="1" hangingPunct="1"/>
            <a:r>
              <a:rPr lang="en-US" altLang="en-US" dirty="0"/>
              <a:t>Examples of Exponential Averaging</a:t>
            </a:r>
          </a:p>
        </p:txBody>
      </p:sp>
      <p:sp>
        <p:nvSpPr>
          <p:cNvPr id="35842" name="Rectangle 3">
            <a:extLst>
              <a:ext uri="{FF2B5EF4-FFF2-40B4-BE49-F238E27FC236}">
                <a16:creationId xmlns:a16="http://schemas.microsoft.com/office/drawing/2014/main" id="{D651A984-67C5-468C-8F88-230FFA867BD5}"/>
              </a:ext>
            </a:extLst>
          </p:cNvPr>
          <p:cNvSpPr>
            <a:spLocks noGrp="1" noChangeArrowheads="1"/>
          </p:cNvSpPr>
          <p:nvPr>
            <p:ph type="body" idx="1"/>
          </p:nvPr>
        </p:nvSpPr>
        <p:spPr>
          <a:xfrm>
            <a:off x="793101" y="1233488"/>
            <a:ext cx="7834083" cy="4530725"/>
          </a:xfrm>
        </p:spPr>
        <p:txBody>
          <a:bodyPr/>
          <a:lstStyle/>
          <a:p>
            <a:pPr>
              <a:lnSpc>
                <a:spcPct val="90000"/>
              </a:lnSpc>
            </a:pPr>
            <a:r>
              <a:rPr lang="en-US" altLang="en-US" dirty="0">
                <a:sym typeface="Symbol" panose="05050102010706020507" pitchFamily="18" charset="2"/>
              </a:rPr>
              <a:t> =0</a:t>
            </a:r>
          </a:p>
          <a:p>
            <a:pPr lvl="1">
              <a:lnSpc>
                <a:spcPct val="90000"/>
              </a:lnSpc>
            </a:pPr>
            <a:r>
              <a:rPr lang="en-US" altLang="en-US" dirty="0">
                <a:sym typeface="Symbol" panose="05050102010706020507" pitchFamily="18" charset="2"/>
              </a:rPr>
              <a:t></a:t>
            </a:r>
            <a:r>
              <a:rPr lang="en-US" altLang="en-US" baseline="-25000" dirty="0">
                <a:sym typeface="Symbol" panose="05050102010706020507" pitchFamily="18" charset="2"/>
              </a:rPr>
              <a:t>n+1</a:t>
            </a:r>
            <a:r>
              <a:rPr lang="en-US" altLang="en-US" dirty="0">
                <a:sym typeface="Symbol" panose="05050102010706020507" pitchFamily="18" charset="2"/>
              </a:rPr>
              <a:t> = </a:t>
            </a:r>
            <a:r>
              <a:rPr lang="en-US" altLang="en-US" baseline="-25000" dirty="0">
                <a:sym typeface="Symbol" panose="05050102010706020507" pitchFamily="18" charset="2"/>
              </a:rPr>
              <a:t>n</a:t>
            </a:r>
          </a:p>
          <a:p>
            <a:pPr lvl="1">
              <a:lnSpc>
                <a:spcPct val="90000"/>
              </a:lnSpc>
            </a:pPr>
            <a:r>
              <a:rPr lang="en-US" altLang="en-US" dirty="0">
                <a:sym typeface="Symbol" panose="05050102010706020507" pitchFamily="18" charset="2"/>
              </a:rPr>
              <a:t>Recent history does not count</a:t>
            </a:r>
          </a:p>
          <a:p>
            <a:pPr>
              <a:lnSpc>
                <a:spcPct val="90000"/>
              </a:lnSpc>
            </a:pPr>
            <a:r>
              <a:rPr lang="en-US" altLang="en-US" dirty="0">
                <a:sym typeface="Symbol" panose="05050102010706020507" pitchFamily="18" charset="2"/>
              </a:rPr>
              <a:t> =1</a:t>
            </a:r>
          </a:p>
          <a:p>
            <a:pPr lvl="1">
              <a:lnSpc>
                <a:spcPct val="90000"/>
              </a:lnSpc>
            </a:pPr>
            <a:r>
              <a:rPr lang="en-US" altLang="en-US" dirty="0">
                <a:sym typeface="Symbol" panose="05050102010706020507" pitchFamily="18" charset="2"/>
              </a:rPr>
              <a:t> </a:t>
            </a:r>
            <a:r>
              <a:rPr lang="en-US" altLang="en-US" baseline="-25000" dirty="0">
                <a:sym typeface="Symbol" panose="05050102010706020507" pitchFamily="18" charset="2"/>
              </a:rPr>
              <a:t>n+1</a:t>
            </a:r>
            <a:r>
              <a:rPr lang="en-US" altLang="en-US" dirty="0">
                <a:sym typeface="Symbol" panose="05050102010706020507" pitchFamily="18" charset="2"/>
              </a:rPr>
              <a:t> =  </a:t>
            </a:r>
            <a:r>
              <a:rPr lang="en-US" altLang="en-US" i="1" dirty="0" err="1">
                <a:sym typeface="Symbol" panose="05050102010706020507" pitchFamily="18" charset="2"/>
              </a:rPr>
              <a:t>t</a:t>
            </a:r>
            <a:r>
              <a:rPr lang="en-US" altLang="en-US" baseline="-25000" dirty="0" err="1">
                <a:sym typeface="Symbol" panose="05050102010706020507" pitchFamily="18" charset="2"/>
              </a:rPr>
              <a:t>n</a:t>
            </a:r>
            <a:endParaRPr lang="en-US" altLang="en-US" baseline="-25000" dirty="0">
              <a:sym typeface="Symbol" panose="05050102010706020507" pitchFamily="18" charset="2"/>
            </a:endParaRPr>
          </a:p>
          <a:p>
            <a:pPr lvl="1">
              <a:lnSpc>
                <a:spcPct val="90000"/>
              </a:lnSpc>
            </a:pPr>
            <a:r>
              <a:rPr lang="en-US" altLang="en-US" dirty="0">
                <a:sym typeface="Symbol" panose="05050102010706020507" pitchFamily="18" charset="2"/>
              </a:rPr>
              <a:t>Only the actual last CPU burst counts</a:t>
            </a:r>
          </a:p>
          <a:p>
            <a:pPr>
              <a:lnSpc>
                <a:spcPct val="90000"/>
              </a:lnSpc>
            </a:pPr>
            <a:r>
              <a:rPr lang="en-US" altLang="en-US" dirty="0">
                <a:sym typeface="Symbol" panose="05050102010706020507" pitchFamily="18" charset="2"/>
              </a:rPr>
              <a:t>If we expand the formula, we get:</a:t>
            </a:r>
          </a:p>
          <a:p>
            <a:pPr lvl="2">
              <a:lnSpc>
                <a:spcPct val="90000"/>
              </a:lnSpc>
              <a:buFont typeface="Webdings" panose="05030102010509060703" pitchFamily="18" charset="2"/>
              <a:buNone/>
            </a:pPr>
            <a:r>
              <a:rPr lang="en-US" altLang="en-US" dirty="0">
                <a:sym typeface="Symbol" panose="05050102010706020507" pitchFamily="18" charset="2"/>
              </a:rPr>
              <a:t></a:t>
            </a:r>
            <a:r>
              <a:rPr lang="en-US" altLang="en-US" i="1" baseline="-25000" dirty="0">
                <a:sym typeface="Symbol" panose="05050102010706020507" pitchFamily="18" charset="2"/>
              </a:rPr>
              <a:t>n</a:t>
            </a:r>
            <a:r>
              <a:rPr lang="en-US" altLang="en-US" baseline="-25000" dirty="0">
                <a:sym typeface="Symbol" panose="05050102010706020507" pitchFamily="18" charset="2"/>
              </a:rPr>
              <a:t>+1</a:t>
            </a:r>
            <a:r>
              <a:rPr lang="en-US" altLang="en-US" dirty="0">
                <a:sym typeface="Symbol" panose="05050102010706020507" pitchFamily="18" charset="2"/>
              </a:rPr>
              <a:t> =  </a:t>
            </a:r>
            <a:r>
              <a:rPr lang="en-US" altLang="en-US" dirty="0" err="1">
                <a:sym typeface="Symbol" panose="05050102010706020507" pitchFamily="18" charset="2"/>
              </a:rPr>
              <a:t>t</a:t>
            </a:r>
            <a:r>
              <a:rPr lang="en-US" altLang="en-US" i="1" baseline="-25000" dirty="0" err="1">
                <a:sym typeface="Symbol" panose="05050102010706020507" pitchFamily="18" charset="2"/>
              </a:rPr>
              <a:t>n</a:t>
            </a:r>
            <a:r>
              <a:rPr lang="en-US" altLang="en-US" dirty="0">
                <a:sym typeface="Symbol" panose="05050102010706020507" pitchFamily="18" charset="2"/>
              </a:rPr>
              <a:t>+(1</a:t>
            </a:r>
            <a:r>
              <a:rPr lang="en-US" altLang="en-US" i="1" dirty="0">
                <a:sym typeface="Symbol" panose="05050102010706020507" pitchFamily="18" charset="2"/>
              </a:rPr>
              <a:t> - </a:t>
            </a:r>
            <a:r>
              <a:rPr lang="en-US" altLang="en-US" dirty="0">
                <a:sym typeface="Symbol" panose="05050102010706020507" pitchFamily="18" charset="2"/>
              </a:rPr>
              <a:t></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dirty="0" err="1">
                <a:sym typeface="Symbol" panose="05050102010706020507" pitchFamily="18" charset="2"/>
              </a:rPr>
              <a:t>t</a:t>
            </a:r>
            <a:r>
              <a:rPr lang="en-US" altLang="en-US" i="1" baseline="-25000" dirty="0" err="1">
                <a:sym typeface="Symbol" panose="05050102010706020507" pitchFamily="18" charset="2"/>
              </a:rPr>
              <a:t>n</a:t>
            </a:r>
            <a:r>
              <a:rPr lang="en-US" altLang="en-US" i="1" dirty="0">
                <a:sym typeface="Symbol" panose="05050102010706020507" pitchFamily="18" charset="2"/>
              </a:rPr>
              <a:t> </a:t>
            </a:r>
            <a:r>
              <a:rPr lang="en-US" altLang="en-US" baseline="-25000" dirty="0">
                <a:sym typeface="Symbol" panose="05050102010706020507" pitchFamily="18" charset="2"/>
              </a:rPr>
              <a:t>-1</a:t>
            </a:r>
            <a:r>
              <a:rPr lang="en-US" altLang="en-US" i="1" baseline="-25000" dirty="0">
                <a:sym typeface="Symbol" panose="05050102010706020507" pitchFamily="18" charset="2"/>
              </a:rPr>
              <a:t> </a:t>
            </a:r>
            <a:r>
              <a:rPr lang="en-US" altLang="en-US" dirty="0">
                <a:sym typeface="Symbol" panose="05050102010706020507" pitchFamily="18" charset="2"/>
              </a:rPr>
              <a:t>+ …</a:t>
            </a:r>
          </a:p>
          <a:p>
            <a:pPr lvl="2">
              <a:lnSpc>
                <a:spcPct val="90000"/>
              </a:lnSpc>
              <a:buFont typeface="Webdings" panose="05030102010509060703" pitchFamily="18" charset="2"/>
              <a:buNone/>
            </a:pPr>
            <a:r>
              <a:rPr lang="en-US" altLang="en-US"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1 -  </a:t>
            </a:r>
            <a:r>
              <a:rPr lang="en-US" altLang="en-US" i="1" dirty="0">
                <a:sym typeface="Symbol" panose="05050102010706020507" pitchFamily="18" charset="2"/>
              </a:rPr>
              <a:t>)</a:t>
            </a:r>
            <a:r>
              <a:rPr lang="en-US" altLang="en-US" i="1" baseline="30000" dirty="0">
                <a:sym typeface="Symbol" panose="05050102010706020507" pitchFamily="18" charset="2"/>
              </a:rPr>
              <a:t>j</a:t>
            </a:r>
            <a:r>
              <a:rPr lang="en-US" altLang="en-US" baseline="30000" dirty="0">
                <a:sym typeface="Symbol" panose="05050102010706020507" pitchFamily="18" charset="2"/>
              </a:rPr>
              <a:t> </a:t>
            </a:r>
            <a:r>
              <a:rPr lang="en-US" altLang="en-US" dirty="0">
                <a:sym typeface="Symbol" panose="05050102010706020507" pitchFamily="18" charset="2"/>
              </a:rPr>
              <a:t> </a:t>
            </a:r>
            <a:r>
              <a:rPr lang="en-US" altLang="en-US" i="1" dirty="0" err="1">
                <a:sym typeface="Symbol" panose="05050102010706020507" pitchFamily="18" charset="2"/>
              </a:rPr>
              <a:t>t</a:t>
            </a:r>
            <a:r>
              <a:rPr lang="en-US" altLang="en-US" i="1" baseline="-25000" dirty="0" err="1">
                <a:sym typeface="Symbol" panose="05050102010706020507" pitchFamily="18" charset="2"/>
              </a:rPr>
              <a:t>n</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i="1" baseline="-25000" dirty="0">
                <a:sym typeface="Symbol" panose="05050102010706020507" pitchFamily="18" charset="2"/>
              </a:rPr>
              <a:t>j</a:t>
            </a:r>
            <a:r>
              <a:rPr lang="en-US" altLang="en-US" i="1" dirty="0">
                <a:sym typeface="Symbol" panose="05050102010706020507" pitchFamily="18" charset="2"/>
              </a:rPr>
              <a:t> </a:t>
            </a:r>
            <a:r>
              <a:rPr lang="en-US" altLang="en-US" dirty="0">
                <a:sym typeface="Symbol" panose="05050102010706020507" pitchFamily="18" charset="2"/>
              </a:rPr>
              <a:t>+ …</a:t>
            </a:r>
          </a:p>
          <a:p>
            <a:pPr lvl="2">
              <a:lnSpc>
                <a:spcPct val="90000"/>
              </a:lnSpc>
              <a:buFont typeface="Webdings" panose="05030102010509060703" pitchFamily="18" charset="2"/>
              <a:buNone/>
            </a:pPr>
            <a:r>
              <a:rPr lang="en-US" altLang="en-US"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1 -  </a:t>
            </a:r>
            <a:r>
              <a:rPr lang="en-US" altLang="en-US" i="1" dirty="0">
                <a:sym typeface="Symbol" panose="05050102010706020507" pitchFamily="18" charset="2"/>
              </a:rPr>
              <a:t>)</a:t>
            </a:r>
            <a:r>
              <a:rPr lang="en-US" altLang="en-US" i="1" baseline="30000" dirty="0">
                <a:sym typeface="Symbol" panose="05050102010706020507" pitchFamily="18" charset="2"/>
              </a:rPr>
              <a:t>n</a:t>
            </a:r>
            <a:r>
              <a:rPr lang="en-US" altLang="en-US" baseline="30000" dirty="0">
                <a:sym typeface="Symbol" panose="05050102010706020507" pitchFamily="18" charset="2"/>
              </a:rPr>
              <a:t> +1 </a:t>
            </a:r>
            <a:r>
              <a:rPr lang="en-US" altLang="en-US" dirty="0">
                <a:sym typeface="Symbol" panose="05050102010706020507" pitchFamily="18" charset="2"/>
              </a:rPr>
              <a:t></a:t>
            </a:r>
            <a:r>
              <a:rPr lang="en-US" altLang="en-US" baseline="-25000" dirty="0">
                <a:sym typeface="Symbol" panose="05050102010706020507" pitchFamily="18" charset="2"/>
              </a:rPr>
              <a:t>0</a:t>
            </a:r>
            <a:br>
              <a:rPr lang="en-US" altLang="en-US" baseline="-25000" dirty="0">
                <a:sym typeface="Symbol" panose="05050102010706020507" pitchFamily="18" charset="2"/>
              </a:rPr>
            </a:br>
            <a:endParaRPr lang="en-US" altLang="en-US" baseline="-25000" dirty="0">
              <a:sym typeface="Symbol" panose="05050102010706020507" pitchFamily="18" charset="2"/>
            </a:endParaRPr>
          </a:p>
          <a:p>
            <a:pPr>
              <a:lnSpc>
                <a:spcPct val="90000"/>
              </a:lnSpc>
            </a:pPr>
            <a:r>
              <a:rPr lang="en-US" altLang="en-US" dirty="0">
                <a:sym typeface="Symbol" panose="05050102010706020507" pitchFamily="18" charset="2"/>
              </a:rPr>
              <a:t>Since both  and (1 - ) are less than or equal to 1, each successor predecessor  term has less weight than its predecessor</a:t>
            </a:r>
          </a:p>
          <a:p>
            <a:pPr>
              <a:lnSpc>
                <a:spcPct val="90000"/>
              </a:lnSpc>
              <a:buFont typeface="Monotype Sorts" pitchFamily="-84" charset="2"/>
              <a:buNone/>
            </a:pPr>
            <a:endParaRPr lang="en-US" altLang="en-US" dirty="0">
              <a:sym typeface="Symbol" panose="05050102010706020507" pitchFamily="18" charset="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1200349" y="129252"/>
            <a:ext cx="7709971" cy="576262"/>
          </a:xfrm>
        </p:spPr>
        <p:txBody>
          <a:bodyPr/>
          <a:lstStyle/>
          <a:p>
            <a:pPr eaLnBrk="1" hangingPunct="1"/>
            <a:r>
              <a:rPr lang="en-US" altLang="en-US" sz="2800" dirty="0"/>
              <a:t>Shortest Remaining Time First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821093" y="1139969"/>
            <a:ext cx="7865707" cy="4345509"/>
          </a:xfrm>
        </p:spPr>
        <p:txBody>
          <a:bodyPr/>
          <a:lstStyle/>
          <a:p>
            <a:r>
              <a:rPr lang="en-US" altLang="en-US" sz="2400" dirty="0">
                <a:cs typeface="ＭＳ Ｐゴシック" charset="-128"/>
              </a:rPr>
              <a:t>Preemptive version of </a:t>
            </a:r>
            <a:r>
              <a:rPr lang="en-US" altLang="en-US" sz="2400" dirty="0" smtClean="0">
                <a:cs typeface="ＭＳ Ｐゴシック" charset="-128"/>
              </a:rPr>
              <a:t>SJN</a:t>
            </a:r>
          </a:p>
          <a:p>
            <a:endParaRPr lang="en-US" altLang="en-US" sz="2400" b="1" dirty="0">
              <a:solidFill>
                <a:srgbClr val="006699"/>
              </a:solidFill>
              <a:latin typeface="+mj-lt"/>
            </a:endParaRPr>
          </a:p>
          <a:p>
            <a:r>
              <a:rPr lang="en-US" altLang="en-US" sz="2400" dirty="0"/>
              <a:t>Whenever a new process arrives in the ready queue, the decision on which process to schedule next is redone using the SJN algorithm</a:t>
            </a:r>
            <a:r>
              <a:rPr lang="en-US" altLang="en-US" sz="2400" dirty="0" smtClean="0"/>
              <a:t>.</a:t>
            </a:r>
          </a:p>
          <a:p>
            <a:endParaRPr lang="en-US" altLang="en-US" sz="2400" dirty="0"/>
          </a:p>
          <a:p>
            <a:r>
              <a:rPr lang="en-US" altLang="en-US" sz="2400" dirty="0">
                <a:ea typeface="ＭＳ Ｐゴシック" panose="020B0600070205080204" pitchFamily="34" charset="-128"/>
              </a:rPr>
              <a:t>Further reduces average waiting time and average response time</a:t>
            </a:r>
          </a:p>
          <a:p>
            <a:pPr marL="0" indent="0">
              <a:buNone/>
            </a:pPr>
            <a:endParaRPr lang="en-US" altLang="en-US" sz="2400" dirty="0" smtClean="0"/>
          </a:p>
        </p:txBody>
      </p:sp>
    </p:spTree>
    <p:extLst>
      <p:ext uri="{BB962C8B-B14F-4D97-AF65-F5344CB8AC3E}">
        <p14:creationId xmlns:p14="http://schemas.microsoft.com/office/powerpoint/2010/main" val="245264172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noChangeArrowheads="1"/>
          </p:cNvSpPr>
          <p:nvPr>
            <p:ph type="title"/>
          </p:nvPr>
        </p:nvSpPr>
        <p:spPr/>
        <p:txBody>
          <a:bodyPr/>
          <a:lstStyle/>
          <a:p>
            <a:r>
              <a:rPr lang="en-US" altLang="en-US" smtClean="0">
                <a:ea typeface="ＭＳ Ｐゴシック" panose="020B0600070205080204" pitchFamily="34" charset="-128"/>
              </a:rPr>
              <a:t>SRTF Example</a:t>
            </a:r>
          </a:p>
        </p:txBody>
      </p:sp>
      <p:pic>
        <p:nvPicPr>
          <p:cNvPr id="16387" name="Table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600" y="1638300"/>
            <a:ext cx="3771900" cy="226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1963738" y="4953000"/>
            <a:ext cx="304800" cy="381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2286000" y="4953000"/>
            <a:ext cx="304800" cy="381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2590800" y="4953000"/>
            <a:ext cx="304800" cy="381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2882900" y="4953000"/>
            <a:ext cx="304800" cy="381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1" name="Rectangle 10"/>
          <p:cNvSpPr/>
          <p:nvPr/>
        </p:nvSpPr>
        <p:spPr>
          <a:xfrm>
            <a:off x="3810000" y="4953000"/>
            <a:ext cx="304800" cy="381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6393" name="TextBox 15"/>
          <p:cNvSpPr txBox="1">
            <a:spLocks noChangeArrowheads="1"/>
          </p:cNvSpPr>
          <p:nvPr/>
        </p:nvSpPr>
        <p:spPr bwMode="auto">
          <a:xfrm>
            <a:off x="457200" y="3962400"/>
            <a:ext cx="1377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Gantt Chart</a:t>
            </a:r>
          </a:p>
        </p:txBody>
      </p:sp>
      <p:sp>
        <p:nvSpPr>
          <p:cNvPr id="17" name="Rectangle 16"/>
          <p:cNvSpPr/>
          <p:nvPr/>
        </p:nvSpPr>
        <p:spPr>
          <a:xfrm>
            <a:off x="1371600" y="4953000"/>
            <a:ext cx="3048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18" name="Rectangle 17"/>
          <p:cNvSpPr/>
          <p:nvPr/>
        </p:nvSpPr>
        <p:spPr>
          <a:xfrm>
            <a:off x="1676400" y="4953000"/>
            <a:ext cx="3048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19" name="Rectangle 18"/>
          <p:cNvSpPr/>
          <p:nvPr/>
        </p:nvSpPr>
        <p:spPr>
          <a:xfrm>
            <a:off x="4114800" y="4953000"/>
            <a:ext cx="3048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0" name="Rectangle 19"/>
          <p:cNvSpPr/>
          <p:nvPr/>
        </p:nvSpPr>
        <p:spPr>
          <a:xfrm>
            <a:off x="4419600" y="4953000"/>
            <a:ext cx="3048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1" name="Rectangle 20"/>
          <p:cNvSpPr/>
          <p:nvPr/>
        </p:nvSpPr>
        <p:spPr>
          <a:xfrm>
            <a:off x="4741863" y="4953000"/>
            <a:ext cx="3048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2" name="Rectangle 21"/>
          <p:cNvSpPr/>
          <p:nvPr/>
        </p:nvSpPr>
        <p:spPr>
          <a:xfrm>
            <a:off x="5046663" y="4953000"/>
            <a:ext cx="3048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3" name="Rectangle 22"/>
          <p:cNvSpPr/>
          <p:nvPr/>
        </p:nvSpPr>
        <p:spPr>
          <a:xfrm>
            <a:off x="5334000" y="4953000"/>
            <a:ext cx="3048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6401" name="TextBox 23"/>
          <p:cNvSpPr txBox="1">
            <a:spLocks noChangeArrowheads="1"/>
          </p:cNvSpPr>
          <p:nvPr/>
        </p:nvSpPr>
        <p:spPr bwMode="auto">
          <a:xfrm>
            <a:off x="1295400" y="4572000"/>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C000"/>
                </a:solidFill>
              </a:rPr>
              <a:t>P1</a:t>
            </a:r>
          </a:p>
        </p:txBody>
      </p:sp>
      <p:sp>
        <p:nvSpPr>
          <p:cNvPr id="16402" name="TextBox 24"/>
          <p:cNvSpPr txBox="1">
            <a:spLocks noChangeArrowheads="1"/>
          </p:cNvSpPr>
          <p:nvPr/>
        </p:nvSpPr>
        <p:spPr bwMode="auto">
          <a:xfrm>
            <a:off x="1866900" y="4572000"/>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70C0"/>
                </a:solidFill>
              </a:rPr>
              <a:t>P2</a:t>
            </a:r>
          </a:p>
        </p:txBody>
      </p:sp>
      <p:sp>
        <p:nvSpPr>
          <p:cNvPr id="16403" name="TextBox 25"/>
          <p:cNvSpPr txBox="1">
            <a:spLocks noChangeArrowheads="1"/>
          </p:cNvSpPr>
          <p:nvPr/>
        </p:nvSpPr>
        <p:spPr bwMode="auto">
          <a:xfrm>
            <a:off x="2566988" y="45720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B050"/>
                </a:solidFill>
              </a:rPr>
              <a:t>P3</a:t>
            </a:r>
          </a:p>
        </p:txBody>
      </p:sp>
      <p:sp>
        <p:nvSpPr>
          <p:cNvPr id="16404" name="TextBox 26"/>
          <p:cNvSpPr txBox="1">
            <a:spLocks noChangeArrowheads="1"/>
          </p:cNvSpPr>
          <p:nvPr/>
        </p:nvSpPr>
        <p:spPr bwMode="auto">
          <a:xfrm>
            <a:off x="3494088" y="4572000"/>
            <a:ext cx="373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0000"/>
                </a:solidFill>
              </a:rPr>
              <a:t>P4</a:t>
            </a:r>
          </a:p>
        </p:txBody>
      </p:sp>
      <p:sp>
        <p:nvSpPr>
          <p:cNvPr id="16405" name="TextBox 27"/>
          <p:cNvSpPr txBox="1">
            <a:spLocks noChangeArrowheads="1"/>
          </p:cNvSpPr>
          <p:nvPr/>
        </p:nvSpPr>
        <p:spPr bwMode="auto">
          <a:xfrm>
            <a:off x="1295400" y="5334000"/>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C000"/>
                </a:solidFill>
              </a:rPr>
              <a:t>P1</a:t>
            </a:r>
          </a:p>
        </p:txBody>
      </p:sp>
      <p:sp>
        <p:nvSpPr>
          <p:cNvPr id="29" name="Rectangle 28"/>
          <p:cNvSpPr/>
          <p:nvPr/>
        </p:nvSpPr>
        <p:spPr>
          <a:xfrm>
            <a:off x="3200400" y="4953000"/>
            <a:ext cx="304800" cy="381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30" name="Rectangle 29"/>
          <p:cNvSpPr/>
          <p:nvPr/>
        </p:nvSpPr>
        <p:spPr>
          <a:xfrm>
            <a:off x="3522663" y="4953000"/>
            <a:ext cx="304800" cy="381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6408" name="TextBox 30"/>
          <p:cNvSpPr txBox="1">
            <a:spLocks noChangeArrowheads="1"/>
          </p:cNvSpPr>
          <p:nvPr/>
        </p:nvSpPr>
        <p:spPr bwMode="auto">
          <a:xfrm>
            <a:off x="1981200" y="5334000"/>
            <a:ext cx="374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70C0"/>
                </a:solidFill>
              </a:rPr>
              <a:t>P2</a:t>
            </a:r>
          </a:p>
        </p:txBody>
      </p:sp>
      <p:sp>
        <p:nvSpPr>
          <p:cNvPr id="16409" name="TextBox 31"/>
          <p:cNvSpPr txBox="1">
            <a:spLocks noChangeArrowheads="1"/>
          </p:cNvSpPr>
          <p:nvPr/>
        </p:nvSpPr>
        <p:spPr bwMode="auto">
          <a:xfrm>
            <a:off x="3124200" y="5334000"/>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B050"/>
                </a:solidFill>
              </a:rPr>
              <a:t>P3</a:t>
            </a:r>
          </a:p>
        </p:txBody>
      </p:sp>
      <p:sp>
        <p:nvSpPr>
          <p:cNvPr id="16410" name="TextBox 33"/>
          <p:cNvSpPr txBox="1">
            <a:spLocks noChangeArrowheads="1"/>
          </p:cNvSpPr>
          <p:nvPr/>
        </p:nvSpPr>
        <p:spPr bwMode="auto">
          <a:xfrm>
            <a:off x="457200" y="4572000"/>
            <a:ext cx="83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Arrival</a:t>
            </a:r>
          </a:p>
        </p:txBody>
      </p:sp>
      <p:sp>
        <p:nvSpPr>
          <p:cNvPr id="16411" name="TextBox 34"/>
          <p:cNvSpPr txBox="1">
            <a:spLocks noChangeArrowheads="1"/>
          </p:cNvSpPr>
          <p:nvPr/>
        </p:nvSpPr>
        <p:spPr bwMode="auto">
          <a:xfrm>
            <a:off x="225425" y="5294313"/>
            <a:ext cx="11461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Schedule</a:t>
            </a:r>
          </a:p>
        </p:txBody>
      </p:sp>
      <p:sp>
        <p:nvSpPr>
          <p:cNvPr id="16412" name="TextBox 35"/>
          <p:cNvSpPr txBox="1">
            <a:spLocks noChangeArrowheads="1"/>
          </p:cNvSpPr>
          <p:nvPr/>
        </p:nvSpPr>
        <p:spPr bwMode="auto">
          <a:xfrm>
            <a:off x="5334000" y="2286000"/>
            <a:ext cx="25527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Average wait time </a:t>
            </a:r>
          </a:p>
          <a:p>
            <a:pPr eaLnBrk="1" hangingPunct="1">
              <a:spcBef>
                <a:spcPct val="0"/>
              </a:spcBef>
              <a:buFontTx/>
              <a:buNone/>
            </a:pPr>
            <a:r>
              <a:rPr lang="en-US" altLang="en-US" sz="1800"/>
              <a:t>= (7 + 0 + 2 + 1) / 4</a:t>
            </a:r>
          </a:p>
          <a:p>
            <a:pPr eaLnBrk="1" hangingPunct="1">
              <a:spcBef>
                <a:spcPct val="0"/>
              </a:spcBef>
              <a:buFontTx/>
              <a:buNone/>
            </a:pPr>
            <a:r>
              <a:rPr lang="en-US" altLang="en-US" sz="1800"/>
              <a:t>= 2.5</a:t>
            </a:r>
          </a:p>
          <a:p>
            <a:pPr eaLnBrk="1" hangingPunct="1">
              <a:spcBef>
                <a:spcPct val="0"/>
              </a:spcBef>
              <a:buFontTx/>
              <a:buNone/>
            </a:pPr>
            <a:endParaRPr lang="en-US" altLang="en-US" sz="1800"/>
          </a:p>
          <a:p>
            <a:pPr eaLnBrk="1" hangingPunct="1">
              <a:spcBef>
                <a:spcPct val="0"/>
              </a:spcBef>
              <a:buFontTx/>
              <a:buNone/>
            </a:pPr>
            <a:r>
              <a:rPr lang="en-US" altLang="en-US" sz="1800"/>
              <a:t>Average response time</a:t>
            </a:r>
          </a:p>
          <a:p>
            <a:pPr eaLnBrk="1" hangingPunct="1">
              <a:spcBef>
                <a:spcPct val="0"/>
              </a:spcBef>
              <a:buFontTx/>
              <a:buNone/>
            </a:pPr>
            <a:r>
              <a:rPr lang="en-US" altLang="en-US" sz="1800"/>
              <a:t>= (0 + 0 + 2 + 1) / 4</a:t>
            </a:r>
          </a:p>
          <a:p>
            <a:pPr eaLnBrk="1" hangingPunct="1">
              <a:spcBef>
                <a:spcPct val="0"/>
              </a:spcBef>
              <a:buFontTx/>
              <a:buNone/>
            </a:pPr>
            <a:r>
              <a:rPr lang="en-US" altLang="en-US" sz="1800"/>
              <a:t>= 0.75 </a:t>
            </a:r>
          </a:p>
        </p:txBody>
      </p:sp>
      <p:sp>
        <p:nvSpPr>
          <p:cNvPr id="37" name="TextBox 36"/>
          <p:cNvSpPr txBox="1"/>
          <p:nvPr/>
        </p:nvSpPr>
        <p:spPr>
          <a:xfrm>
            <a:off x="685800" y="6019800"/>
            <a:ext cx="3657600" cy="646113"/>
          </a:xfrm>
          <a:prstGeom prst="rect">
            <a:avLst/>
          </a:prstGeom>
          <a:noFill/>
          <a:ln>
            <a:solidFill>
              <a:schemeClr val="bg1">
                <a:lumMod val="75000"/>
              </a:schemeClr>
            </a:solidFill>
          </a:ln>
        </p:spPr>
        <p:txBody>
          <a:bodyPr>
            <a:spAutoFit/>
          </a:bodyPr>
          <a:lstStyle/>
          <a:p>
            <a:pPr eaLnBrk="1" hangingPunct="1">
              <a:defRPr/>
            </a:pPr>
            <a:r>
              <a:rPr lang="en-US" dirty="0">
                <a:latin typeface="Arial" charset="0"/>
                <a:ea typeface="+mn-ea"/>
              </a:rPr>
              <a:t>P2 burst is 4, P1 remaining is 5</a:t>
            </a:r>
          </a:p>
          <a:p>
            <a:pPr eaLnBrk="1" hangingPunct="1">
              <a:defRPr/>
            </a:pPr>
            <a:r>
              <a:rPr lang="en-US" dirty="0">
                <a:latin typeface="Arial" charset="0"/>
                <a:ea typeface="+mn-ea"/>
              </a:rPr>
              <a:t>(preempt P1) </a:t>
            </a:r>
          </a:p>
        </p:txBody>
      </p:sp>
      <p:cxnSp>
        <p:nvCxnSpPr>
          <p:cNvPr id="40" name="Straight Arrow Connector 39"/>
          <p:cNvCxnSpPr>
            <a:endCxn id="5" idx="2"/>
          </p:cNvCxnSpPr>
          <p:nvPr/>
        </p:nvCxnSpPr>
        <p:spPr>
          <a:xfrm flipV="1">
            <a:off x="1371600" y="5334000"/>
            <a:ext cx="744538" cy="685800"/>
          </a:xfrm>
          <a:prstGeom prst="straightConnector1">
            <a:avLst/>
          </a:prstGeom>
          <a:ln>
            <a:solidFill>
              <a:schemeClr val="bg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4724400" y="6019800"/>
            <a:ext cx="3657600" cy="646113"/>
          </a:xfrm>
          <a:prstGeom prst="rect">
            <a:avLst/>
          </a:prstGeom>
          <a:noFill/>
          <a:ln>
            <a:solidFill>
              <a:schemeClr val="bg1">
                <a:lumMod val="75000"/>
              </a:schemeClr>
            </a:solidFill>
          </a:ln>
        </p:spPr>
        <p:txBody>
          <a:bodyPr>
            <a:spAutoFit/>
          </a:bodyPr>
          <a:lstStyle/>
          <a:p>
            <a:pPr eaLnBrk="1" hangingPunct="1">
              <a:defRPr/>
            </a:pPr>
            <a:r>
              <a:rPr lang="en-US" dirty="0">
                <a:latin typeface="Arial" charset="0"/>
                <a:ea typeface="+mn-ea"/>
              </a:rPr>
              <a:t>P3 burst is 2, P2 remaining is 2</a:t>
            </a:r>
          </a:p>
          <a:p>
            <a:pPr eaLnBrk="1" hangingPunct="1">
              <a:defRPr/>
            </a:pPr>
            <a:r>
              <a:rPr lang="en-US" dirty="0">
                <a:latin typeface="Arial" charset="0"/>
                <a:ea typeface="+mn-ea"/>
              </a:rPr>
              <a:t>(no preemption) </a:t>
            </a:r>
          </a:p>
        </p:txBody>
      </p:sp>
      <p:cxnSp>
        <p:nvCxnSpPr>
          <p:cNvPr id="44" name="Straight Arrow Connector 43"/>
          <p:cNvCxnSpPr>
            <a:endCxn id="7" idx="2"/>
          </p:cNvCxnSpPr>
          <p:nvPr/>
        </p:nvCxnSpPr>
        <p:spPr>
          <a:xfrm rot="10800000">
            <a:off x="2743200" y="5334000"/>
            <a:ext cx="1981200" cy="685800"/>
          </a:xfrm>
          <a:prstGeom prst="straightConnector1">
            <a:avLst/>
          </a:prstGeom>
          <a:ln>
            <a:solidFill>
              <a:schemeClr val="bg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6417" name="Slide Number Placeholder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fld id="{7C5ECC46-0585-428B-98DD-73ACEBA8AF8B}" type="slidenum">
              <a:rPr lang="en-US" altLang="en-US" sz="1400" smtClean="0">
                <a:solidFill>
                  <a:schemeClr val="bg2"/>
                </a:solidFill>
              </a:rPr>
              <a:pPr>
                <a:spcBef>
                  <a:spcPct val="0"/>
                </a:spcBef>
                <a:buFontTx/>
                <a:buNone/>
              </a:pPr>
              <a:t>28</a:t>
            </a:fld>
            <a:endParaRPr lang="en-US" altLang="en-US" sz="1400" smtClean="0">
              <a:solidFill>
                <a:schemeClr val="bg2"/>
              </a:solidFill>
            </a:endParaRPr>
          </a:p>
        </p:txBody>
      </p:sp>
      <p:sp>
        <p:nvSpPr>
          <p:cNvPr id="16418" name="TextBox 38"/>
          <p:cNvSpPr txBox="1">
            <a:spLocks noChangeArrowheads="1"/>
          </p:cNvSpPr>
          <p:nvPr/>
        </p:nvSpPr>
        <p:spPr bwMode="auto">
          <a:xfrm>
            <a:off x="3816350" y="5345113"/>
            <a:ext cx="374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0000"/>
                </a:solidFill>
              </a:rPr>
              <a:t>P4</a:t>
            </a:r>
          </a:p>
        </p:txBody>
      </p:sp>
      <p:sp>
        <p:nvSpPr>
          <p:cNvPr id="16419" name="TextBox 42"/>
          <p:cNvSpPr txBox="1">
            <a:spLocks noChangeArrowheads="1"/>
          </p:cNvSpPr>
          <p:nvPr/>
        </p:nvSpPr>
        <p:spPr bwMode="auto">
          <a:xfrm>
            <a:off x="4105275" y="5334000"/>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C000"/>
                </a:solidFill>
              </a:rPr>
              <a:t>P1</a:t>
            </a:r>
          </a:p>
        </p:txBody>
      </p:sp>
    </p:spTree>
    <p:extLst>
      <p:ext uri="{BB962C8B-B14F-4D97-AF65-F5344CB8AC3E}">
        <p14:creationId xmlns:p14="http://schemas.microsoft.com/office/powerpoint/2010/main" val="17311820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E841C6C2-8CFF-4FDC-A9E1-6B260CB17106}"/>
              </a:ext>
            </a:extLst>
          </p:cNvPr>
          <p:cNvSpPr>
            <a:spLocks noGrp="1" noChangeArrowheads="1"/>
          </p:cNvSpPr>
          <p:nvPr>
            <p:ph type="title"/>
          </p:nvPr>
        </p:nvSpPr>
        <p:spPr>
          <a:xfrm>
            <a:off x="1358420" y="163952"/>
            <a:ext cx="7594600" cy="576262"/>
          </a:xfrm>
        </p:spPr>
        <p:txBody>
          <a:bodyPr/>
          <a:lstStyle/>
          <a:p>
            <a:pPr eaLnBrk="1" hangingPunct="1"/>
            <a:r>
              <a:rPr lang="en-US" altLang="en-US" sz="3000" dirty="0"/>
              <a:t>Example of Shortest-remaining-time-first</a:t>
            </a:r>
          </a:p>
        </p:txBody>
      </p:sp>
      <p:sp>
        <p:nvSpPr>
          <p:cNvPr id="19459" name="Rectangle 36">
            <a:extLst>
              <a:ext uri="{FF2B5EF4-FFF2-40B4-BE49-F238E27FC236}">
                <a16:creationId xmlns:a16="http://schemas.microsoft.com/office/drawing/2014/main" id="{F6B280F4-20CD-4AA5-887B-A75AC06E0F7C}"/>
              </a:ext>
            </a:extLst>
          </p:cNvPr>
          <p:cNvSpPr>
            <a:spLocks noGrp="1" noChangeArrowheads="1"/>
          </p:cNvSpPr>
          <p:nvPr>
            <p:ph type="body" idx="1"/>
          </p:nvPr>
        </p:nvSpPr>
        <p:spPr>
          <a:xfrm>
            <a:off x="802433" y="1233488"/>
            <a:ext cx="7707085" cy="4530725"/>
          </a:xfrm>
        </p:spPr>
        <p:txBody>
          <a:bodyPr/>
          <a:lstStyle/>
          <a:p>
            <a:pPr>
              <a:tabLst>
                <a:tab pos="1601312" algn="ctr"/>
                <a:tab pos="3252629" algn="ctr"/>
                <a:tab pos="5141754" algn="ctr"/>
              </a:tabLst>
              <a:defRPr/>
            </a:pPr>
            <a:r>
              <a:rPr lang="en-US" altLang="en-US" dirty="0">
                <a:cs typeface="ＭＳ Ｐゴシック" charset="-128"/>
              </a:rPr>
              <a:t>Now we add the </a:t>
            </a:r>
            <a:r>
              <a:rPr lang="en-US" altLang="en-US" dirty="0" smtClean="0">
                <a:cs typeface="ＭＳ Ｐゴシック" charset="-128"/>
              </a:rPr>
              <a:t>concept of </a:t>
            </a:r>
            <a:r>
              <a:rPr lang="en-US" altLang="en-US" dirty="0">
                <a:cs typeface="ＭＳ Ｐゴシック" charset="-128"/>
              </a:rPr>
              <a:t>preemption to the analysis</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u="sng" dirty="0">
                <a:cs typeface="ＭＳ Ｐゴシック" charset="-128"/>
              </a:rPr>
              <a:t>Process</a:t>
            </a:r>
            <a:r>
              <a:rPr lang="en-US" altLang="en-US" u="sng" dirty="0">
                <a:solidFill>
                  <a:schemeClr val="bg1"/>
                </a:solidFill>
                <a:cs typeface="ＭＳ Ｐゴシック" charset="-128"/>
              </a:rPr>
              <a:t>      </a:t>
            </a:r>
            <a:r>
              <a:rPr lang="en-US" altLang="en-US" u="sng" dirty="0" err="1">
                <a:solidFill>
                  <a:schemeClr val="bg1"/>
                </a:solidFill>
                <a:cs typeface="ＭＳ Ｐゴシック" charset="-128"/>
              </a:rPr>
              <a:t>i</a:t>
            </a:r>
            <a:r>
              <a:rPr lang="en-US" altLang="en-US" u="sng" dirty="0">
                <a:solidFill>
                  <a:schemeClr val="bg1"/>
                </a:solidFill>
                <a:cs typeface="ＭＳ Ｐゴシック" charset="-128"/>
              </a:rPr>
              <a:t> </a:t>
            </a:r>
            <a:r>
              <a:rPr lang="en-US" altLang="en-US" i="1" u="sng" dirty="0">
                <a:cs typeface="ＭＳ Ｐゴシック" charset="-128"/>
              </a:rPr>
              <a:t>Arrival </a:t>
            </a:r>
            <a:r>
              <a:rPr lang="en-US" altLang="en-US" u="sng" dirty="0" err="1">
                <a:cs typeface="ＭＳ Ｐゴシック" charset="-128"/>
              </a:rPr>
              <a:t>Time</a:t>
            </a:r>
            <a:r>
              <a:rPr lang="en-US" altLang="en-US" u="sng" dirty="0" err="1">
                <a:solidFill>
                  <a:schemeClr val="bg1"/>
                </a:solidFill>
                <a:cs typeface="ＭＳ Ｐゴシック" charset="-128"/>
              </a:rPr>
              <a:t>T</a:t>
            </a:r>
            <a:r>
              <a:rPr lang="en-US" altLang="en-US" dirty="0">
                <a:cs typeface="ＭＳ Ｐゴシック" charset="-128"/>
              </a:rPr>
              <a:t>	</a:t>
            </a:r>
            <a:r>
              <a:rPr lang="en-US" altLang="en-US" u="sng" dirty="0">
                <a:cs typeface="ＭＳ Ｐゴシック" charset="-128"/>
              </a:rPr>
              <a:t>Burst Time</a:t>
            </a:r>
            <a:endParaRPr lang="en-US" altLang="en-US" dirty="0">
              <a:cs typeface="ＭＳ Ｐゴシック" charset="-128"/>
            </a:endParaRP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r>
              <a:rPr lang="en-US" altLang="en-US" dirty="0">
                <a:solidFill>
                  <a:srgbClr val="000000"/>
                </a:solidFill>
                <a:cs typeface="ＭＳ Ｐゴシック" charset="-128"/>
              </a:rPr>
              <a:t>0</a:t>
            </a:r>
            <a:r>
              <a:rPr lang="en-US" altLang="en-US" dirty="0">
                <a:cs typeface="ＭＳ Ｐゴシック" charset="-128"/>
              </a:rPr>
              <a:t>	8</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 	</a:t>
            </a:r>
            <a:r>
              <a:rPr lang="en-US" altLang="en-US" dirty="0">
                <a:solidFill>
                  <a:srgbClr val="000000"/>
                </a:solidFill>
                <a:cs typeface="ＭＳ Ｐゴシック" charset="-128"/>
              </a:rPr>
              <a:t>1</a:t>
            </a:r>
            <a:r>
              <a:rPr lang="en-US" altLang="en-US" dirty="0">
                <a:cs typeface="ＭＳ Ｐゴシック" charset="-128"/>
              </a:rPr>
              <a:t>	4</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a:t>
            </a:r>
            <a:r>
              <a:rPr lang="en-US" altLang="en-US" dirty="0">
                <a:solidFill>
                  <a:srgbClr val="000000"/>
                </a:solidFill>
                <a:cs typeface="ＭＳ Ｐゴシック" charset="-128"/>
              </a:rPr>
              <a:t>2</a:t>
            </a:r>
            <a:r>
              <a:rPr lang="en-US" altLang="en-US" dirty="0">
                <a:cs typeface="ＭＳ Ｐゴシック" charset="-128"/>
              </a:rPr>
              <a:t>	9</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4</a:t>
            </a:r>
            <a:r>
              <a:rPr lang="en-US" altLang="en-US" dirty="0">
                <a:cs typeface="ＭＳ Ｐゴシック" charset="-128"/>
              </a:rPr>
              <a:t>	</a:t>
            </a:r>
            <a:r>
              <a:rPr lang="en-US" altLang="en-US" dirty="0">
                <a:solidFill>
                  <a:srgbClr val="000000"/>
                </a:solidFill>
                <a:cs typeface="ＭＳ Ｐゴシック" charset="-128"/>
              </a:rPr>
              <a:t>3</a:t>
            </a:r>
            <a:r>
              <a:rPr lang="en-US" altLang="en-US" dirty="0">
                <a:cs typeface="ＭＳ Ｐゴシック" charset="-128"/>
              </a:rPr>
              <a:t>	5</a:t>
            </a:r>
          </a:p>
          <a:p>
            <a:pPr>
              <a:tabLst>
                <a:tab pos="1601312" algn="ctr"/>
                <a:tab pos="3252629" algn="ctr"/>
                <a:tab pos="5141754" algn="ctr"/>
              </a:tabLst>
              <a:defRPr/>
            </a:pPr>
            <a:r>
              <a:rPr lang="en-US" altLang="en-US" i="1" dirty="0">
                <a:cs typeface="ＭＳ Ｐゴシック" charset="-128"/>
              </a:rPr>
              <a:t>Preemptive </a:t>
            </a:r>
            <a:r>
              <a:rPr lang="en-US" altLang="en-US" dirty="0">
                <a:cs typeface="ＭＳ Ｐゴシック" charset="-128"/>
              </a:rPr>
              <a:t>SJF Gantt Chart</a:t>
            </a:r>
          </a:p>
          <a:p>
            <a:pPr>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endParaRPr lang="en-US" altLang="en-US" dirty="0">
              <a:cs typeface="ＭＳ Ｐゴシック" charset="-128"/>
            </a:endParaRPr>
          </a:p>
          <a:p>
            <a:pPr marL="0" indent="0">
              <a:buFont typeface="Monotype Sorts" pitchFamily="-84" charset="2"/>
              <a:buNone/>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endParaRPr lang="en-US" altLang="en-US" dirty="0" smtClean="0">
              <a:cs typeface="ＭＳ Ｐゴシック" charset="-128"/>
            </a:endParaRPr>
          </a:p>
          <a:p>
            <a:pPr>
              <a:tabLst>
                <a:tab pos="1601312" algn="ctr"/>
                <a:tab pos="3252629" algn="ctr"/>
                <a:tab pos="5141754" algn="ctr"/>
              </a:tabLst>
              <a:defRPr/>
            </a:pPr>
            <a:r>
              <a:rPr lang="en-US" altLang="en-US" dirty="0" smtClean="0">
                <a:cs typeface="ＭＳ Ｐゴシック" charset="-128"/>
              </a:rPr>
              <a:t>Average </a:t>
            </a:r>
            <a:r>
              <a:rPr lang="en-US" altLang="en-US" dirty="0">
                <a:cs typeface="ＭＳ Ｐゴシック" charset="-128"/>
              </a:rPr>
              <a:t>waiting time = [(10-1)+(1-1)+(17-2)+(5-3)]/4 = 26/4 = 6.5</a:t>
            </a:r>
          </a:p>
          <a:p>
            <a:pPr>
              <a:tabLst>
                <a:tab pos="1601312" algn="ctr"/>
                <a:tab pos="3252629" algn="ctr"/>
                <a:tab pos="5141754" algn="ctr"/>
              </a:tabLst>
              <a:defRPr/>
            </a:pPr>
            <a:endParaRPr lang="en-US" altLang="en-US" i="1" baseline="-25000" dirty="0">
              <a:cs typeface="ＭＳ Ｐゴシック" charset="-128"/>
            </a:endParaRPr>
          </a:p>
          <a:p>
            <a:pPr>
              <a:buFont typeface="Monotype Sorts" pitchFamily="-84" charset="2"/>
              <a:buNone/>
              <a:tabLst>
                <a:tab pos="1601312" algn="ctr"/>
                <a:tab pos="3252629" algn="ctr"/>
                <a:tab pos="5141754" algn="ctr"/>
              </a:tabLst>
              <a:defRPr/>
            </a:pPr>
            <a:endParaRPr lang="en-US" altLang="en-US" i="1" baseline="-25000" dirty="0">
              <a:cs typeface="ＭＳ Ｐゴシック" charset="-128"/>
            </a:endParaRPr>
          </a:p>
        </p:txBody>
      </p:sp>
      <p:pic>
        <p:nvPicPr>
          <p:cNvPr id="37891" name="Picture 1">
            <a:extLst>
              <a:ext uri="{FF2B5EF4-FFF2-40B4-BE49-F238E27FC236}">
                <a16:creationId xmlns:a16="http://schemas.microsoft.com/office/drawing/2014/main" id="{100802A9-2833-4519-B21E-A1B2D0AF97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6213" y="4284663"/>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18375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noChangeArrowheads="1"/>
          </p:cNvSpPr>
          <p:nvPr>
            <p:ph type="title"/>
          </p:nvPr>
        </p:nvSpPr>
        <p:spPr/>
        <p:txBody>
          <a:bodyPr/>
          <a:lstStyle/>
          <a:p>
            <a:r>
              <a:rPr lang="en-US" altLang="en-US" smtClean="0">
                <a:ea typeface="ＭＳ Ｐゴシック" panose="020B0600070205080204" pitchFamily="34" charset="-128"/>
              </a:rPr>
              <a:t>Round Robin Scheduling</a:t>
            </a:r>
          </a:p>
        </p:txBody>
      </p:sp>
      <p:sp>
        <p:nvSpPr>
          <p:cNvPr id="17411" name="Content Placeholder 2"/>
          <p:cNvSpPr>
            <a:spLocks noGrp="1" noChangeArrowheads="1"/>
          </p:cNvSpPr>
          <p:nvPr>
            <p:ph idx="1"/>
          </p:nvPr>
        </p:nvSpPr>
        <p:spPr/>
        <p:txBody>
          <a:bodyPr/>
          <a:lstStyle/>
          <a:p>
            <a:r>
              <a:rPr lang="en-US" altLang="en-US" smtClean="0">
                <a:ea typeface="ＭＳ Ｐゴシック" panose="020B0600070205080204" pitchFamily="34" charset="-128"/>
              </a:rPr>
              <a:t>Run process for a time slice then move to FIFO</a:t>
            </a:r>
          </a:p>
        </p:txBody>
      </p:sp>
      <p:sp>
        <p:nvSpPr>
          <p:cNvPr id="17412" name="Slide Number Placeholder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fld id="{68E8857E-873C-4629-B46F-0673C2067E17}" type="slidenum">
              <a:rPr lang="en-US" altLang="en-US" sz="1400" smtClean="0">
                <a:solidFill>
                  <a:schemeClr val="bg2"/>
                </a:solidFill>
              </a:rPr>
              <a:pPr>
                <a:spcBef>
                  <a:spcPct val="0"/>
                </a:spcBef>
                <a:buFontTx/>
                <a:buNone/>
              </a:pPr>
              <a:t>30</a:t>
            </a:fld>
            <a:endParaRPr lang="en-US" altLang="en-US" sz="1400" smtClean="0">
              <a:solidFill>
                <a:schemeClr val="bg2"/>
              </a:solidFill>
            </a:endParaRPr>
          </a:p>
        </p:txBody>
      </p:sp>
    </p:spTree>
    <p:extLst>
      <p:ext uri="{BB962C8B-B14F-4D97-AF65-F5344CB8AC3E}">
        <p14:creationId xmlns:p14="http://schemas.microsoft.com/office/powerpoint/2010/main" val="429089050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noChangeArrowheads="1"/>
          </p:cNvSpPr>
          <p:nvPr>
            <p:ph type="title"/>
          </p:nvPr>
        </p:nvSpPr>
        <p:spPr/>
        <p:txBody>
          <a:bodyPr/>
          <a:lstStyle/>
          <a:p>
            <a:r>
              <a:rPr lang="en-US" altLang="en-US" smtClean="0">
                <a:ea typeface="ＭＳ Ｐゴシック" panose="020B0600070205080204" pitchFamily="34" charset="-128"/>
              </a:rPr>
              <a:t>Round Robin Scheduling</a:t>
            </a:r>
          </a:p>
        </p:txBody>
      </p:sp>
      <p:pic>
        <p:nvPicPr>
          <p:cNvPr id="18435" name="Table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600" y="1879600"/>
            <a:ext cx="3771900" cy="226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Content Placeholder 9"/>
          <p:cNvGraphicFramePr>
            <a:graphicFrameLocks noGrp="1"/>
          </p:cNvGraphicFramePr>
          <p:nvPr>
            <p:ph idx="1"/>
          </p:nvPr>
        </p:nvGraphicFramePr>
        <p:xfrm>
          <a:off x="914400" y="4191000"/>
          <a:ext cx="8229606" cy="2117726"/>
        </p:xfrm>
        <a:graphic>
          <a:graphicData uri="http://schemas.openxmlformats.org/drawingml/2006/table">
            <a:tbl>
              <a:tblPr firstRow="1" bandRow="1">
                <a:tableStyleId>{5DA37D80-6434-44D0-A028-1B22A696006F}</a:tableStyleId>
              </a:tblPr>
              <a:tblGrid>
                <a:gridCol w="587829">
                  <a:extLst>
                    <a:ext uri="{9D8B030D-6E8A-4147-A177-3AD203B41FA5}">
                      <a16:colId xmlns:a16="http://schemas.microsoft.com/office/drawing/2014/main" val="20000"/>
                    </a:ext>
                  </a:extLst>
                </a:gridCol>
                <a:gridCol w="587829">
                  <a:extLst>
                    <a:ext uri="{9D8B030D-6E8A-4147-A177-3AD203B41FA5}">
                      <a16:colId xmlns:a16="http://schemas.microsoft.com/office/drawing/2014/main" val="20001"/>
                    </a:ext>
                  </a:extLst>
                </a:gridCol>
                <a:gridCol w="587829">
                  <a:extLst>
                    <a:ext uri="{9D8B030D-6E8A-4147-A177-3AD203B41FA5}">
                      <a16:colId xmlns:a16="http://schemas.microsoft.com/office/drawing/2014/main" val="20002"/>
                    </a:ext>
                  </a:extLst>
                </a:gridCol>
                <a:gridCol w="587829">
                  <a:extLst>
                    <a:ext uri="{9D8B030D-6E8A-4147-A177-3AD203B41FA5}">
                      <a16:colId xmlns:a16="http://schemas.microsoft.com/office/drawing/2014/main" val="20003"/>
                    </a:ext>
                  </a:extLst>
                </a:gridCol>
                <a:gridCol w="587829">
                  <a:extLst>
                    <a:ext uri="{9D8B030D-6E8A-4147-A177-3AD203B41FA5}">
                      <a16:colId xmlns:a16="http://schemas.microsoft.com/office/drawing/2014/main" val="20004"/>
                    </a:ext>
                  </a:extLst>
                </a:gridCol>
                <a:gridCol w="587829">
                  <a:extLst>
                    <a:ext uri="{9D8B030D-6E8A-4147-A177-3AD203B41FA5}">
                      <a16:colId xmlns:a16="http://schemas.microsoft.com/office/drawing/2014/main" val="20005"/>
                    </a:ext>
                  </a:extLst>
                </a:gridCol>
                <a:gridCol w="587829">
                  <a:extLst>
                    <a:ext uri="{9D8B030D-6E8A-4147-A177-3AD203B41FA5}">
                      <a16:colId xmlns:a16="http://schemas.microsoft.com/office/drawing/2014/main" val="20006"/>
                    </a:ext>
                  </a:extLst>
                </a:gridCol>
                <a:gridCol w="587829">
                  <a:extLst>
                    <a:ext uri="{9D8B030D-6E8A-4147-A177-3AD203B41FA5}">
                      <a16:colId xmlns:a16="http://schemas.microsoft.com/office/drawing/2014/main" val="20007"/>
                    </a:ext>
                  </a:extLst>
                </a:gridCol>
                <a:gridCol w="587829">
                  <a:extLst>
                    <a:ext uri="{9D8B030D-6E8A-4147-A177-3AD203B41FA5}">
                      <a16:colId xmlns:a16="http://schemas.microsoft.com/office/drawing/2014/main" val="20008"/>
                    </a:ext>
                  </a:extLst>
                </a:gridCol>
                <a:gridCol w="587829">
                  <a:extLst>
                    <a:ext uri="{9D8B030D-6E8A-4147-A177-3AD203B41FA5}">
                      <a16:colId xmlns:a16="http://schemas.microsoft.com/office/drawing/2014/main" val="20009"/>
                    </a:ext>
                  </a:extLst>
                </a:gridCol>
                <a:gridCol w="587829">
                  <a:extLst>
                    <a:ext uri="{9D8B030D-6E8A-4147-A177-3AD203B41FA5}">
                      <a16:colId xmlns:a16="http://schemas.microsoft.com/office/drawing/2014/main" val="20010"/>
                    </a:ext>
                  </a:extLst>
                </a:gridCol>
                <a:gridCol w="587829">
                  <a:extLst>
                    <a:ext uri="{9D8B030D-6E8A-4147-A177-3AD203B41FA5}">
                      <a16:colId xmlns:a16="http://schemas.microsoft.com/office/drawing/2014/main" val="20011"/>
                    </a:ext>
                  </a:extLst>
                </a:gridCol>
                <a:gridCol w="587829">
                  <a:extLst>
                    <a:ext uri="{9D8B030D-6E8A-4147-A177-3AD203B41FA5}">
                      <a16:colId xmlns:a16="http://schemas.microsoft.com/office/drawing/2014/main" val="20012"/>
                    </a:ext>
                  </a:extLst>
                </a:gridCol>
                <a:gridCol w="587829">
                  <a:extLst>
                    <a:ext uri="{9D8B030D-6E8A-4147-A177-3AD203B41FA5}">
                      <a16:colId xmlns:a16="http://schemas.microsoft.com/office/drawing/2014/main" val="20013"/>
                    </a:ext>
                  </a:extLst>
                </a:gridCol>
              </a:tblGrid>
              <a:tr h="370658">
                <a:tc>
                  <a:txBody>
                    <a:bodyPr/>
                    <a:lstStyle/>
                    <a:p>
                      <a:r>
                        <a:rPr lang="en-US" sz="1800" dirty="0"/>
                        <a:t>P1</a:t>
                      </a:r>
                    </a:p>
                  </a:txBody>
                  <a:tcPr marT="45698" marB="45698">
                    <a:solidFill>
                      <a:schemeClr val="bg1">
                        <a:lumMod val="85000"/>
                      </a:schemeClr>
                    </a:solidFill>
                  </a:tcPr>
                </a:tc>
                <a:tc>
                  <a:txBody>
                    <a:bodyPr/>
                    <a:lstStyle/>
                    <a:p>
                      <a:endParaRPr lang="en-US" sz="1800" dirty="0"/>
                    </a:p>
                  </a:txBody>
                  <a:tcPr marT="45698" marB="45698">
                    <a:solidFill>
                      <a:schemeClr val="bg1">
                        <a:lumMod val="85000"/>
                      </a:schemeClr>
                    </a:solidFill>
                  </a:tcPr>
                </a:tc>
                <a:tc>
                  <a:txBody>
                    <a:bodyPr/>
                    <a:lstStyle/>
                    <a:p>
                      <a:r>
                        <a:rPr lang="en-US" sz="1800" dirty="0"/>
                        <a:t>P2</a:t>
                      </a:r>
                    </a:p>
                  </a:txBody>
                  <a:tcPr marT="45698" marB="45698">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P3</a:t>
                      </a:r>
                    </a:p>
                  </a:txBody>
                  <a:tcPr marT="45698" marB="45698">
                    <a:solidFill>
                      <a:schemeClr val="bg1">
                        <a:lumMod val="85000"/>
                      </a:schemeClr>
                    </a:solidFill>
                  </a:tcPr>
                </a:tc>
                <a:tc>
                  <a:txBody>
                    <a:bodyPr/>
                    <a:lstStyle/>
                    <a:p>
                      <a:endParaRPr lang="en-US" sz="1800" dirty="0"/>
                    </a:p>
                  </a:txBody>
                  <a:tcPr marT="45698" marB="45698">
                    <a:solidFill>
                      <a:schemeClr val="bg1">
                        <a:lumMod val="85000"/>
                      </a:schemeClr>
                    </a:solidFill>
                  </a:tcPr>
                </a:tc>
                <a:tc>
                  <a:txBody>
                    <a:bodyPr/>
                    <a:lstStyle/>
                    <a:p>
                      <a:endParaRPr lang="en-US" sz="1800" dirty="0"/>
                    </a:p>
                  </a:txBody>
                  <a:tcPr marT="45698" marB="45698">
                    <a:solidFill>
                      <a:schemeClr val="bg1">
                        <a:lumMod val="85000"/>
                      </a:schemeClr>
                    </a:solidFill>
                  </a:tcPr>
                </a:tc>
                <a:tc>
                  <a:txBody>
                    <a:bodyPr/>
                    <a:lstStyle/>
                    <a:p>
                      <a:endParaRPr lang="en-US" sz="1800" dirty="0"/>
                    </a:p>
                  </a:txBody>
                  <a:tcPr marT="45698" marB="45698">
                    <a:solidFill>
                      <a:schemeClr val="bg1">
                        <a:lumMod val="85000"/>
                      </a:schemeClr>
                    </a:solidFill>
                  </a:tcPr>
                </a:tc>
                <a:tc>
                  <a:txBody>
                    <a:bodyPr/>
                    <a:lstStyle/>
                    <a:p>
                      <a:endParaRPr lang="en-US" sz="1800" dirty="0"/>
                    </a:p>
                  </a:txBody>
                  <a:tcPr marT="45698" marB="45698">
                    <a:solidFill>
                      <a:schemeClr val="bg1">
                        <a:lumMod val="85000"/>
                      </a:schemeClr>
                    </a:solidFill>
                  </a:tcPr>
                </a:tc>
                <a:tc>
                  <a:txBody>
                    <a:bodyPr/>
                    <a:lstStyle/>
                    <a:p>
                      <a:endParaRPr lang="en-US" sz="1800" dirty="0"/>
                    </a:p>
                  </a:txBody>
                  <a:tcPr marT="45698" marB="45698">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P4</a:t>
                      </a:r>
                    </a:p>
                  </a:txBody>
                  <a:tcPr marT="45698" marB="45698">
                    <a:solidFill>
                      <a:schemeClr val="bg1">
                        <a:lumMod val="85000"/>
                      </a:schemeClr>
                    </a:solidFill>
                  </a:tcPr>
                </a:tc>
                <a:tc>
                  <a:txBody>
                    <a:bodyPr/>
                    <a:lstStyle/>
                    <a:p>
                      <a:endParaRPr lang="en-US" sz="1800" dirty="0"/>
                    </a:p>
                  </a:txBody>
                  <a:tcPr marT="45698" marB="45698">
                    <a:solidFill>
                      <a:schemeClr val="bg1">
                        <a:lumMod val="85000"/>
                      </a:schemeClr>
                    </a:solidFill>
                  </a:tcPr>
                </a:tc>
                <a:tc>
                  <a:txBody>
                    <a:bodyPr/>
                    <a:lstStyle/>
                    <a:p>
                      <a:endParaRPr lang="en-US" sz="1800" dirty="0"/>
                    </a:p>
                  </a:txBody>
                  <a:tcPr marT="45698" marB="45698">
                    <a:solidFill>
                      <a:schemeClr val="bg1">
                        <a:lumMod val="85000"/>
                      </a:schemeClr>
                    </a:solidFill>
                  </a:tcPr>
                </a:tc>
                <a:tc>
                  <a:txBody>
                    <a:bodyPr/>
                    <a:lstStyle/>
                    <a:p>
                      <a:endParaRPr lang="en-US" sz="1800" dirty="0"/>
                    </a:p>
                  </a:txBody>
                  <a:tcPr marT="45698" marB="45698">
                    <a:solidFill>
                      <a:schemeClr val="bg1">
                        <a:lumMod val="85000"/>
                      </a:schemeClr>
                    </a:solidFill>
                  </a:tcPr>
                </a:tc>
                <a:tc>
                  <a:txBody>
                    <a:bodyPr/>
                    <a:lstStyle/>
                    <a:p>
                      <a:endParaRPr lang="en-US" sz="1800" dirty="0"/>
                    </a:p>
                  </a:txBody>
                  <a:tcPr marT="45698" marB="45698">
                    <a:solidFill>
                      <a:schemeClr val="bg1">
                        <a:lumMod val="85000"/>
                      </a:schemeClr>
                    </a:solidFill>
                  </a:tcPr>
                </a:tc>
                <a:extLst>
                  <a:ext uri="{0D108BD9-81ED-4DB2-BD59-A6C34878D82A}">
                    <a16:rowId xmlns:a16="http://schemas.microsoft.com/office/drawing/2014/main" val="10000"/>
                  </a:ext>
                </a:extLst>
              </a:tr>
              <a:tr h="365716">
                <a:tc>
                  <a:txBody>
                    <a:bodyPr/>
                    <a:lstStyle/>
                    <a:p>
                      <a:endParaRPr lang="en-US" sz="1800" dirty="0"/>
                    </a:p>
                  </a:txBody>
                  <a:tcPr marT="45698" marB="45698">
                    <a:solidFill>
                      <a:srgbClr val="FFC000"/>
                    </a:solidFill>
                  </a:tcPr>
                </a:tc>
                <a:tc>
                  <a:txBody>
                    <a:bodyPr/>
                    <a:lstStyle/>
                    <a:p>
                      <a:endParaRPr lang="en-US" sz="1800" dirty="0"/>
                    </a:p>
                  </a:txBody>
                  <a:tcPr marT="45698" marB="45698">
                    <a:solidFill>
                      <a:srgbClr val="FFC000"/>
                    </a:solidFill>
                  </a:tcPr>
                </a:tc>
                <a:tc>
                  <a:txBody>
                    <a:bodyPr/>
                    <a:lstStyle/>
                    <a:p>
                      <a:endParaRPr lang="en-US" sz="1800" dirty="0"/>
                    </a:p>
                  </a:txBody>
                  <a:tcPr marT="45698" marB="45698">
                    <a:solidFill>
                      <a:srgbClr val="0070C0"/>
                    </a:solidFill>
                  </a:tcPr>
                </a:tc>
                <a:tc>
                  <a:txBody>
                    <a:bodyPr/>
                    <a:lstStyle/>
                    <a:p>
                      <a:endParaRPr lang="en-US" sz="1800" dirty="0"/>
                    </a:p>
                  </a:txBody>
                  <a:tcPr marT="45698" marB="45698">
                    <a:solidFill>
                      <a:srgbClr val="0070C0"/>
                    </a:solidFill>
                  </a:tcPr>
                </a:tc>
                <a:tc>
                  <a:txBody>
                    <a:bodyPr/>
                    <a:lstStyle/>
                    <a:p>
                      <a:endParaRPr lang="en-US" sz="1800" dirty="0"/>
                    </a:p>
                  </a:txBody>
                  <a:tcPr marT="45698" marB="45698">
                    <a:solidFill>
                      <a:srgbClr val="FFC000"/>
                    </a:solidFill>
                  </a:tcPr>
                </a:tc>
                <a:tc>
                  <a:txBody>
                    <a:bodyPr/>
                    <a:lstStyle/>
                    <a:p>
                      <a:endParaRPr lang="en-US" sz="1800" dirty="0"/>
                    </a:p>
                  </a:txBody>
                  <a:tcPr marT="45698" marB="45698">
                    <a:solidFill>
                      <a:srgbClr val="FFC000"/>
                    </a:solidFill>
                  </a:tcPr>
                </a:tc>
                <a:tc>
                  <a:txBody>
                    <a:bodyPr/>
                    <a:lstStyle/>
                    <a:p>
                      <a:endParaRPr lang="en-US" sz="1800" dirty="0"/>
                    </a:p>
                  </a:txBody>
                  <a:tcPr marT="45698" marB="45698">
                    <a:solidFill>
                      <a:srgbClr val="00B050"/>
                    </a:solidFill>
                  </a:tcPr>
                </a:tc>
                <a:tc>
                  <a:txBody>
                    <a:bodyPr/>
                    <a:lstStyle/>
                    <a:p>
                      <a:endParaRPr lang="en-US" sz="1800" dirty="0"/>
                    </a:p>
                  </a:txBody>
                  <a:tcPr marT="45698" marB="45698">
                    <a:solidFill>
                      <a:srgbClr val="00B050"/>
                    </a:solidFill>
                  </a:tcPr>
                </a:tc>
                <a:tc>
                  <a:txBody>
                    <a:bodyPr/>
                    <a:lstStyle/>
                    <a:p>
                      <a:endParaRPr lang="en-US" sz="1800" dirty="0"/>
                    </a:p>
                  </a:txBody>
                  <a:tcPr marT="45698" marB="45698">
                    <a:solidFill>
                      <a:srgbClr val="0070C0"/>
                    </a:solidFill>
                  </a:tcPr>
                </a:tc>
                <a:tc>
                  <a:txBody>
                    <a:bodyPr/>
                    <a:lstStyle/>
                    <a:p>
                      <a:endParaRPr lang="en-US" sz="1800" dirty="0"/>
                    </a:p>
                  </a:txBody>
                  <a:tcPr marT="45698" marB="45698">
                    <a:solidFill>
                      <a:srgbClr val="0070C0"/>
                    </a:solidFill>
                  </a:tcPr>
                </a:tc>
                <a:tc>
                  <a:txBody>
                    <a:bodyPr/>
                    <a:lstStyle/>
                    <a:p>
                      <a:endParaRPr lang="en-US" sz="1800" dirty="0"/>
                    </a:p>
                  </a:txBody>
                  <a:tcPr marT="45698" marB="45698">
                    <a:solidFill>
                      <a:srgbClr val="FFC000"/>
                    </a:solidFill>
                  </a:tcPr>
                </a:tc>
                <a:tc>
                  <a:txBody>
                    <a:bodyPr/>
                    <a:lstStyle/>
                    <a:p>
                      <a:endParaRPr lang="en-US" sz="1800" dirty="0"/>
                    </a:p>
                  </a:txBody>
                  <a:tcPr marT="45698" marB="45698">
                    <a:solidFill>
                      <a:srgbClr val="FFC000"/>
                    </a:solidFill>
                  </a:tcPr>
                </a:tc>
                <a:tc>
                  <a:txBody>
                    <a:bodyPr/>
                    <a:lstStyle/>
                    <a:p>
                      <a:endParaRPr lang="en-US" sz="1800" dirty="0"/>
                    </a:p>
                  </a:txBody>
                  <a:tcPr marT="45698" marB="45698">
                    <a:solidFill>
                      <a:srgbClr val="FF0000"/>
                    </a:solidFill>
                  </a:tcPr>
                </a:tc>
                <a:tc>
                  <a:txBody>
                    <a:bodyPr/>
                    <a:lstStyle/>
                    <a:p>
                      <a:endParaRPr lang="en-US" sz="1800" dirty="0"/>
                    </a:p>
                  </a:txBody>
                  <a:tcPr marT="45698" marB="45698">
                    <a:solidFill>
                      <a:srgbClr val="FFC000"/>
                    </a:solidFill>
                  </a:tcPr>
                </a:tc>
                <a:extLst>
                  <a:ext uri="{0D108BD9-81ED-4DB2-BD59-A6C34878D82A}">
                    <a16:rowId xmlns:a16="http://schemas.microsoft.com/office/drawing/2014/main" val="10001"/>
                  </a:ext>
                </a:extLst>
              </a:tr>
              <a:tr h="370658">
                <a:tc>
                  <a:txBody>
                    <a:bodyPr/>
                    <a:lstStyle/>
                    <a:p>
                      <a:r>
                        <a:rPr lang="en-US" sz="1800" dirty="0"/>
                        <a:t>P1</a:t>
                      </a:r>
                    </a:p>
                  </a:txBody>
                  <a:tcPr marT="45698" marB="45698">
                    <a:solidFill>
                      <a:schemeClr val="bg1">
                        <a:lumMod val="85000"/>
                      </a:schemeClr>
                    </a:solidFill>
                  </a:tcPr>
                </a:tc>
                <a:tc>
                  <a:txBody>
                    <a:bodyPr/>
                    <a:lstStyle/>
                    <a:p>
                      <a:endParaRPr lang="en-US" sz="1800" dirty="0"/>
                    </a:p>
                  </a:txBody>
                  <a:tcPr marT="45698" marB="45698">
                    <a:solidFill>
                      <a:schemeClr val="bg1">
                        <a:lumMod val="85000"/>
                      </a:schemeClr>
                    </a:solidFill>
                  </a:tcPr>
                </a:tc>
                <a:tc>
                  <a:txBody>
                    <a:bodyPr/>
                    <a:lstStyle/>
                    <a:p>
                      <a:r>
                        <a:rPr lang="en-US" sz="1800" dirty="0"/>
                        <a:t>P2</a:t>
                      </a:r>
                    </a:p>
                  </a:txBody>
                  <a:tcPr marT="45698" marB="45698">
                    <a:solidFill>
                      <a:schemeClr val="bg1">
                        <a:lumMod val="85000"/>
                      </a:schemeClr>
                    </a:solidFill>
                  </a:tcPr>
                </a:tc>
                <a:tc>
                  <a:txBody>
                    <a:bodyPr/>
                    <a:lstStyle/>
                    <a:p>
                      <a:endParaRPr lang="en-US" sz="1800" dirty="0"/>
                    </a:p>
                  </a:txBody>
                  <a:tcPr marT="45698" marB="45698">
                    <a:solidFill>
                      <a:schemeClr val="bg1">
                        <a:lumMod val="85000"/>
                      </a:schemeClr>
                    </a:solidFill>
                  </a:tcPr>
                </a:tc>
                <a:tc>
                  <a:txBody>
                    <a:bodyPr/>
                    <a:lstStyle/>
                    <a:p>
                      <a:r>
                        <a:rPr lang="en-US" sz="1800" dirty="0"/>
                        <a:t>P1</a:t>
                      </a:r>
                    </a:p>
                  </a:txBody>
                  <a:tcPr marT="45698" marB="45698">
                    <a:solidFill>
                      <a:schemeClr val="bg1">
                        <a:lumMod val="85000"/>
                      </a:schemeClr>
                    </a:solidFill>
                  </a:tcPr>
                </a:tc>
                <a:tc>
                  <a:txBody>
                    <a:bodyPr/>
                    <a:lstStyle/>
                    <a:p>
                      <a:endParaRPr lang="en-US" sz="1800" dirty="0"/>
                    </a:p>
                  </a:txBody>
                  <a:tcPr marT="45698" marB="45698">
                    <a:solidFill>
                      <a:schemeClr val="bg1">
                        <a:lumMod val="85000"/>
                      </a:schemeClr>
                    </a:solidFill>
                  </a:tcPr>
                </a:tc>
                <a:tc>
                  <a:txBody>
                    <a:bodyPr/>
                    <a:lstStyle/>
                    <a:p>
                      <a:r>
                        <a:rPr lang="en-US" sz="1800" dirty="0"/>
                        <a:t>P3</a:t>
                      </a:r>
                    </a:p>
                  </a:txBody>
                  <a:tcPr marT="45698" marB="45698">
                    <a:solidFill>
                      <a:schemeClr val="bg1">
                        <a:lumMod val="85000"/>
                      </a:schemeClr>
                    </a:solidFill>
                  </a:tcPr>
                </a:tc>
                <a:tc>
                  <a:txBody>
                    <a:bodyPr/>
                    <a:lstStyle/>
                    <a:p>
                      <a:endParaRPr lang="en-US" sz="1800" dirty="0"/>
                    </a:p>
                  </a:txBody>
                  <a:tcPr marT="45698" marB="45698">
                    <a:solidFill>
                      <a:schemeClr val="bg1">
                        <a:lumMod val="85000"/>
                      </a:schemeClr>
                    </a:solidFill>
                  </a:tcPr>
                </a:tc>
                <a:tc>
                  <a:txBody>
                    <a:bodyPr/>
                    <a:lstStyle/>
                    <a:p>
                      <a:r>
                        <a:rPr lang="en-US" sz="1800" dirty="0"/>
                        <a:t>P2</a:t>
                      </a:r>
                    </a:p>
                  </a:txBody>
                  <a:tcPr marT="45698" marB="45698">
                    <a:solidFill>
                      <a:schemeClr val="bg1">
                        <a:lumMod val="85000"/>
                      </a:schemeClr>
                    </a:solidFill>
                  </a:tcPr>
                </a:tc>
                <a:tc>
                  <a:txBody>
                    <a:bodyPr/>
                    <a:lstStyle/>
                    <a:p>
                      <a:endParaRPr lang="en-US" sz="1800" dirty="0"/>
                    </a:p>
                  </a:txBody>
                  <a:tcPr marT="45698" marB="45698">
                    <a:solidFill>
                      <a:schemeClr val="bg1">
                        <a:lumMod val="85000"/>
                      </a:schemeClr>
                    </a:solidFill>
                  </a:tcPr>
                </a:tc>
                <a:tc>
                  <a:txBody>
                    <a:bodyPr/>
                    <a:lstStyle/>
                    <a:p>
                      <a:r>
                        <a:rPr lang="en-US" sz="1800" dirty="0"/>
                        <a:t>P1</a:t>
                      </a:r>
                    </a:p>
                  </a:txBody>
                  <a:tcPr marT="45698" marB="45698">
                    <a:solidFill>
                      <a:schemeClr val="bg1">
                        <a:lumMod val="85000"/>
                      </a:schemeClr>
                    </a:solidFill>
                  </a:tcPr>
                </a:tc>
                <a:tc>
                  <a:txBody>
                    <a:bodyPr/>
                    <a:lstStyle/>
                    <a:p>
                      <a:endParaRPr lang="en-US" sz="1800" dirty="0"/>
                    </a:p>
                  </a:txBody>
                  <a:tcPr marT="45698" marB="45698">
                    <a:solidFill>
                      <a:schemeClr val="bg1">
                        <a:lumMod val="85000"/>
                      </a:schemeClr>
                    </a:solidFill>
                  </a:tcPr>
                </a:tc>
                <a:tc>
                  <a:txBody>
                    <a:bodyPr/>
                    <a:lstStyle/>
                    <a:p>
                      <a:r>
                        <a:rPr lang="en-US" sz="1800" dirty="0"/>
                        <a:t>P4</a:t>
                      </a:r>
                    </a:p>
                  </a:txBody>
                  <a:tcPr marT="45698" marB="45698">
                    <a:solidFill>
                      <a:schemeClr val="bg1">
                        <a:lumMod val="85000"/>
                      </a:schemeClr>
                    </a:solidFill>
                  </a:tcPr>
                </a:tc>
                <a:tc>
                  <a:txBody>
                    <a:bodyPr/>
                    <a:lstStyle/>
                    <a:p>
                      <a:r>
                        <a:rPr lang="en-US" sz="1800" dirty="0"/>
                        <a:t>P1</a:t>
                      </a:r>
                    </a:p>
                  </a:txBody>
                  <a:tcPr marT="45698" marB="45698">
                    <a:solidFill>
                      <a:schemeClr val="bg1">
                        <a:lumMod val="85000"/>
                      </a:schemeClr>
                    </a:solidFill>
                  </a:tcPr>
                </a:tc>
                <a:extLst>
                  <a:ext uri="{0D108BD9-81ED-4DB2-BD59-A6C34878D82A}">
                    <a16:rowId xmlns:a16="http://schemas.microsoft.com/office/drawing/2014/main" val="10002"/>
                  </a:ext>
                </a:extLst>
              </a:tr>
              <a:tr h="370658">
                <a:tc>
                  <a:txBody>
                    <a:bodyPr/>
                    <a:lstStyle/>
                    <a:p>
                      <a:endParaRPr lang="en-US" sz="1800" dirty="0"/>
                    </a:p>
                  </a:txBody>
                  <a:tcPr marT="45698" marB="45698">
                    <a:solidFill>
                      <a:schemeClr val="bg1"/>
                    </a:solidFill>
                  </a:tcPr>
                </a:tc>
                <a:tc>
                  <a:txBody>
                    <a:bodyPr/>
                    <a:lstStyle/>
                    <a:p>
                      <a:endParaRPr lang="en-US" sz="1800" dirty="0"/>
                    </a:p>
                  </a:txBody>
                  <a:tcPr marT="45698" marB="45698">
                    <a:solidFill>
                      <a:schemeClr val="bg1"/>
                    </a:solidFill>
                  </a:tcPr>
                </a:tc>
                <a:tc>
                  <a:txBody>
                    <a:bodyPr/>
                    <a:lstStyle/>
                    <a:p>
                      <a:endParaRPr lang="en-US" sz="1800" dirty="0"/>
                    </a:p>
                  </a:txBody>
                  <a:tcPr marT="45698" marB="45698">
                    <a:solidFill>
                      <a:schemeClr val="bg1"/>
                    </a:solidFill>
                  </a:tcPr>
                </a:tc>
                <a:tc>
                  <a:txBody>
                    <a:bodyPr/>
                    <a:lstStyle/>
                    <a:p>
                      <a:endParaRPr lang="en-US" sz="1800" dirty="0"/>
                    </a:p>
                  </a:txBody>
                  <a:tcPr marT="45698" marB="45698">
                    <a:solidFill>
                      <a:schemeClr val="bg1"/>
                    </a:solidFill>
                  </a:tcPr>
                </a:tc>
                <a:tc>
                  <a:txBody>
                    <a:bodyPr/>
                    <a:lstStyle/>
                    <a:p>
                      <a:endParaRPr lang="en-US" sz="1800" dirty="0"/>
                    </a:p>
                  </a:txBody>
                  <a:tcPr marT="45698" marB="45698">
                    <a:solidFill>
                      <a:schemeClr val="bg1"/>
                    </a:solidFill>
                  </a:tcPr>
                </a:tc>
                <a:tc>
                  <a:txBody>
                    <a:bodyPr/>
                    <a:lstStyle/>
                    <a:p>
                      <a:endParaRPr lang="en-US" sz="1800" dirty="0"/>
                    </a:p>
                  </a:txBody>
                  <a:tcPr marT="45698" marB="45698">
                    <a:solidFill>
                      <a:schemeClr val="bg1"/>
                    </a:solidFill>
                  </a:tcPr>
                </a:tc>
                <a:tc>
                  <a:txBody>
                    <a:bodyPr/>
                    <a:lstStyle/>
                    <a:p>
                      <a:endParaRPr lang="en-US" sz="1800" dirty="0"/>
                    </a:p>
                  </a:txBody>
                  <a:tcPr marT="45698" marB="45698">
                    <a:solidFill>
                      <a:schemeClr val="bg1"/>
                    </a:solidFill>
                  </a:tcPr>
                </a:tc>
                <a:tc>
                  <a:txBody>
                    <a:bodyPr/>
                    <a:lstStyle/>
                    <a:p>
                      <a:endParaRPr lang="en-US" sz="1800" dirty="0"/>
                    </a:p>
                  </a:txBody>
                  <a:tcPr marT="45698" marB="45698">
                    <a:solidFill>
                      <a:schemeClr val="bg1"/>
                    </a:solidFill>
                  </a:tcPr>
                </a:tc>
                <a:tc>
                  <a:txBody>
                    <a:bodyPr/>
                    <a:lstStyle/>
                    <a:p>
                      <a:endParaRPr lang="en-US" sz="1800" dirty="0"/>
                    </a:p>
                  </a:txBody>
                  <a:tcPr marT="45698" marB="45698">
                    <a:solidFill>
                      <a:schemeClr val="bg1"/>
                    </a:solidFill>
                  </a:tcPr>
                </a:tc>
                <a:tc>
                  <a:txBody>
                    <a:bodyPr/>
                    <a:lstStyle/>
                    <a:p>
                      <a:endParaRPr lang="en-US" sz="1800" dirty="0"/>
                    </a:p>
                  </a:txBody>
                  <a:tcPr marT="45698" marB="45698">
                    <a:solidFill>
                      <a:schemeClr val="bg1"/>
                    </a:solidFill>
                  </a:tcPr>
                </a:tc>
                <a:tc>
                  <a:txBody>
                    <a:bodyPr/>
                    <a:lstStyle/>
                    <a:p>
                      <a:endParaRPr lang="en-US" sz="1800" dirty="0"/>
                    </a:p>
                  </a:txBody>
                  <a:tcPr marT="45698" marB="45698">
                    <a:solidFill>
                      <a:schemeClr val="bg1"/>
                    </a:solidFill>
                  </a:tcPr>
                </a:tc>
                <a:tc>
                  <a:txBody>
                    <a:bodyPr/>
                    <a:lstStyle/>
                    <a:p>
                      <a:endParaRPr lang="en-US" sz="1800" dirty="0"/>
                    </a:p>
                  </a:txBody>
                  <a:tcPr marT="45698" marB="45698">
                    <a:solidFill>
                      <a:schemeClr val="bg1"/>
                    </a:solidFill>
                  </a:tcPr>
                </a:tc>
                <a:tc>
                  <a:txBody>
                    <a:bodyPr/>
                    <a:lstStyle/>
                    <a:p>
                      <a:endParaRPr lang="en-US" sz="1800" dirty="0"/>
                    </a:p>
                  </a:txBody>
                  <a:tcPr marT="45698" marB="45698">
                    <a:solidFill>
                      <a:schemeClr val="bg1"/>
                    </a:solidFill>
                  </a:tcPr>
                </a:tc>
                <a:tc>
                  <a:txBody>
                    <a:bodyPr/>
                    <a:lstStyle/>
                    <a:p>
                      <a:endParaRPr lang="en-US" sz="1800" dirty="0"/>
                    </a:p>
                  </a:txBody>
                  <a:tcPr marT="45698" marB="45698">
                    <a:solidFill>
                      <a:schemeClr val="bg1"/>
                    </a:solidFill>
                  </a:tcPr>
                </a:tc>
                <a:extLst>
                  <a:ext uri="{0D108BD9-81ED-4DB2-BD59-A6C34878D82A}">
                    <a16:rowId xmlns:a16="http://schemas.microsoft.com/office/drawing/2014/main" val="10003"/>
                  </a:ext>
                </a:extLst>
              </a:tr>
              <a:tr h="640036">
                <a:tc>
                  <a:txBody>
                    <a:bodyPr/>
                    <a:lstStyle/>
                    <a:p>
                      <a:endParaRPr lang="en-US" sz="1800" dirty="0"/>
                    </a:p>
                  </a:txBody>
                  <a:tcPr marT="45698" marB="45698">
                    <a:solidFill>
                      <a:schemeClr val="bg1"/>
                    </a:solidFill>
                  </a:tcPr>
                </a:tc>
                <a:tc>
                  <a:txBody>
                    <a:bodyPr/>
                    <a:lstStyle/>
                    <a:p>
                      <a:endParaRPr lang="en-US" sz="1800" dirty="0"/>
                    </a:p>
                  </a:txBody>
                  <a:tcPr marT="45698" marB="45698">
                    <a:solidFill>
                      <a:schemeClr val="bg1"/>
                    </a:solidFill>
                  </a:tcPr>
                </a:tc>
                <a:tc>
                  <a:txBody>
                    <a:bodyPr/>
                    <a:lstStyle/>
                    <a:p>
                      <a:r>
                        <a:rPr lang="en-US" sz="1800" dirty="0"/>
                        <a:t>P1</a:t>
                      </a:r>
                    </a:p>
                  </a:txBody>
                  <a:tcPr marT="45698" marB="45698">
                    <a:solidFill>
                      <a:schemeClr val="bg1"/>
                    </a:solidFill>
                  </a:tcPr>
                </a:tc>
                <a:tc>
                  <a:txBody>
                    <a:bodyPr/>
                    <a:lstStyle/>
                    <a:p>
                      <a:r>
                        <a:rPr lang="en-US" sz="1800" dirty="0"/>
                        <a:t>P1</a:t>
                      </a:r>
                    </a:p>
                    <a:p>
                      <a:r>
                        <a:rPr lang="en-US" sz="1800" dirty="0"/>
                        <a:t>P3</a:t>
                      </a:r>
                    </a:p>
                  </a:txBody>
                  <a:tcPr marT="45698" marB="45698">
                    <a:solidFill>
                      <a:schemeClr val="bg1"/>
                    </a:solidFill>
                  </a:tcPr>
                </a:tc>
                <a:tc>
                  <a:txBody>
                    <a:bodyPr/>
                    <a:lstStyle/>
                    <a:p>
                      <a:r>
                        <a:rPr lang="en-US" sz="1800" dirty="0"/>
                        <a:t>P3</a:t>
                      </a:r>
                    </a:p>
                    <a:p>
                      <a:r>
                        <a:rPr lang="en-US" sz="1800" dirty="0"/>
                        <a:t>P2</a:t>
                      </a:r>
                    </a:p>
                  </a:txBody>
                  <a:tcPr marT="45698" marB="45698">
                    <a:solidFill>
                      <a:schemeClr val="bg1"/>
                    </a:solidFill>
                  </a:tcPr>
                </a:tc>
                <a:tc>
                  <a:txBody>
                    <a:bodyPr/>
                    <a:lstStyle/>
                    <a:p>
                      <a:endParaRPr lang="en-US" sz="1800" dirty="0"/>
                    </a:p>
                  </a:txBody>
                  <a:tcPr marT="45698" marB="45698">
                    <a:solidFill>
                      <a:schemeClr val="bg1"/>
                    </a:solidFill>
                  </a:tcPr>
                </a:tc>
                <a:tc>
                  <a:txBody>
                    <a:bodyPr/>
                    <a:lstStyle/>
                    <a:p>
                      <a:r>
                        <a:rPr lang="en-US" sz="1800" dirty="0"/>
                        <a:t>P2</a:t>
                      </a:r>
                    </a:p>
                    <a:p>
                      <a:r>
                        <a:rPr lang="en-US" sz="1800" dirty="0"/>
                        <a:t>P1</a:t>
                      </a:r>
                    </a:p>
                  </a:txBody>
                  <a:tcPr marT="45698" marB="45698">
                    <a:solidFill>
                      <a:schemeClr val="bg1"/>
                    </a:solidFill>
                  </a:tcPr>
                </a:tc>
                <a:tc>
                  <a:txBody>
                    <a:bodyPr/>
                    <a:lstStyle/>
                    <a:p>
                      <a:endParaRPr lang="en-US" sz="1800" dirty="0"/>
                    </a:p>
                  </a:txBody>
                  <a:tcPr marT="45698" marB="45698">
                    <a:solidFill>
                      <a:schemeClr val="bg1"/>
                    </a:solidFill>
                  </a:tcPr>
                </a:tc>
                <a:tc>
                  <a:txBody>
                    <a:bodyPr/>
                    <a:lstStyle/>
                    <a:p>
                      <a:r>
                        <a:rPr lang="en-US" sz="1800" dirty="0"/>
                        <a:t>P1</a:t>
                      </a:r>
                    </a:p>
                  </a:txBody>
                  <a:tcPr marT="45698" marB="45698">
                    <a:solidFill>
                      <a:schemeClr val="bg1"/>
                    </a:solidFill>
                  </a:tcPr>
                </a:tc>
                <a:tc>
                  <a:txBody>
                    <a:bodyPr/>
                    <a:lstStyle/>
                    <a:p>
                      <a:r>
                        <a:rPr lang="en-US" sz="1800" dirty="0"/>
                        <a:t>P1</a:t>
                      </a:r>
                    </a:p>
                    <a:p>
                      <a:r>
                        <a:rPr lang="en-US" sz="1800" dirty="0"/>
                        <a:t>P4</a:t>
                      </a:r>
                    </a:p>
                  </a:txBody>
                  <a:tcPr marT="45698" marB="45698">
                    <a:solidFill>
                      <a:schemeClr val="bg1"/>
                    </a:solidFill>
                  </a:tcPr>
                </a:tc>
                <a:tc>
                  <a:txBody>
                    <a:bodyPr/>
                    <a:lstStyle/>
                    <a:p>
                      <a:r>
                        <a:rPr lang="en-US" sz="1800" dirty="0"/>
                        <a:t>P4</a:t>
                      </a:r>
                    </a:p>
                    <a:p>
                      <a:r>
                        <a:rPr lang="en-US" sz="1800" dirty="0"/>
                        <a:t>P1</a:t>
                      </a:r>
                    </a:p>
                  </a:txBody>
                  <a:tcPr marT="45698" marB="45698">
                    <a:solidFill>
                      <a:schemeClr val="bg1"/>
                    </a:solidFill>
                  </a:tcPr>
                </a:tc>
                <a:tc>
                  <a:txBody>
                    <a:bodyPr/>
                    <a:lstStyle/>
                    <a:p>
                      <a:endParaRPr lang="en-US" sz="1800" dirty="0"/>
                    </a:p>
                  </a:txBody>
                  <a:tcPr marT="45698" marB="45698">
                    <a:solidFill>
                      <a:schemeClr val="bg1"/>
                    </a:solidFill>
                  </a:tcPr>
                </a:tc>
                <a:tc>
                  <a:txBody>
                    <a:bodyPr/>
                    <a:lstStyle/>
                    <a:p>
                      <a:r>
                        <a:rPr lang="en-US" sz="1800" dirty="0"/>
                        <a:t>P1</a:t>
                      </a:r>
                    </a:p>
                  </a:txBody>
                  <a:tcPr marT="45698" marB="45698">
                    <a:solidFill>
                      <a:schemeClr val="bg1"/>
                    </a:solidFill>
                  </a:tcPr>
                </a:tc>
                <a:tc>
                  <a:txBody>
                    <a:bodyPr/>
                    <a:lstStyle/>
                    <a:p>
                      <a:endParaRPr lang="en-US" sz="1800" dirty="0"/>
                    </a:p>
                  </a:txBody>
                  <a:tcPr marT="45698" marB="45698">
                    <a:solidFill>
                      <a:schemeClr val="bg1"/>
                    </a:solidFill>
                  </a:tcPr>
                </a:tc>
                <a:extLst>
                  <a:ext uri="{0D108BD9-81ED-4DB2-BD59-A6C34878D82A}">
                    <a16:rowId xmlns:a16="http://schemas.microsoft.com/office/drawing/2014/main" val="10004"/>
                  </a:ext>
                </a:extLst>
              </a:tr>
            </a:tbl>
          </a:graphicData>
        </a:graphic>
      </p:graphicFrame>
      <p:sp>
        <p:nvSpPr>
          <p:cNvPr id="11" name="Rectangle 10"/>
          <p:cNvSpPr/>
          <p:nvPr/>
        </p:nvSpPr>
        <p:spPr>
          <a:xfrm>
            <a:off x="914400" y="5334000"/>
            <a:ext cx="8229600" cy="3413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8529" name="TextBox 11"/>
          <p:cNvSpPr txBox="1">
            <a:spLocks noChangeArrowheads="1"/>
          </p:cNvSpPr>
          <p:nvPr/>
        </p:nvSpPr>
        <p:spPr bwMode="auto">
          <a:xfrm>
            <a:off x="76200" y="4191000"/>
            <a:ext cx="83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Arrival</a:t>
            </a:r>
          </a:p>
        </p:txBody>
      </p:sp>
      <p:sp>
        <p:nvSpPr>
          <p:cNvPr id="18530" name="TextBox 12"/>
          <p:cNvSpPr txBox="1">
            <a:spLocks noChangeArrowheads="1"/>
          </p:cNvSpPr>
          <p:nvPr/>
        </p:nvSpPr>
        <p:spPr bwMode="auto">
          <a:xfrm>
            <a:off x="-120650" y="4964113"/>
            <a:ext cx="11477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schedule</a:t>
            </a:r>
          </a:p>
        </p:txBody>
      </p:sp>
      <p:sp>
        <p:nvSpPr>
          <p:cNvPr id="18531" name="TextBox 13"/>
          <p:cNvSpPr txBox="1">
            <a:spLocks noChangeArrowheads="1"/>
          </p:cNvSpPr>
          <p:nvPr/>
        </p:nvSpPr>
        <p:spPr bwMode="auto">
          <a:xfrm>
            <a:off x="203200" y="5649913"/>
            <a:ext cx="711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FIFO</a:t>
            </a:r>
          </a:p>
        </p:txBody>
      </p:sp>
      <p:sp>
        <p:nvSpPr>
          <p:cNvPr id="18532" name="TextBox 14"/>
          <p:cNvSpPr txBox="1">
            <a:spLocks noChangeArrowheads="1"/>
          </p:cNvSpPr>
          <p:nvPr/>
        </p:nvSpPr>
        <p:spPr bwMode="auto">
          <a:xfrm>
            <a:off x="6172200" y="1524000"/>
            <a:ext cx="2706688"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Average Waiting time </a:t>
            </a:r>
          </a:p>
          <a:p>
            <a:pPr eaLnBrk="1" hangingPunct="1">
              <a:spcBef>
                <a:spcPct val="0"/>
              </a:spcBef>
              <a:buFontTx/>
              <a:buNone/>
            </a:pPr>
            <a:r>
              <a:rPr lang="en-US" altLang="en-US" sz="1800"/>
              <a:t>= (7 + 4 + 3 + 3) / 4</a:t>
            </a:r>
          </a:p>
          <a:p>
            <a:pPr eaLnBrk="1" hangingPunct="1">
              <a:spcBef>
                <a:spcPct val="0"/>
              </a:spcBef>
              <a:buFontTx/>
              <a:buNone/>
            </a:pPr>
            <a:r>
              <a:rPr lang="en-US" altLang="en-US" sz="1800"/>
              <a:t>= 4.25</a:t>
            </a:r>
          </a:p>
          <a:p>
            <a:pPr eaLnBrk="1" hangingPunct="1">
              <a:spcBef>
                <a:spcPct val="0"/>
              </a:spcBef>
              <a:buFontTx/>
              <a:buNone/>
            </a:pPr>
            <a:endParaRPr lang="en-US" altLang="en-US" sz="1800"/>
          </a:p>
          <a:p>
            <a:pPr eaLnBrk="1" hangingPunct="1">
              <a:spcBef>
                <a:spcPct val="0"/>
              </a:spcBef>
              <a:buFontTx/>
              <a:buNone/>
            </a:pPr>
            <a:r>
              <a:rPr lang="en-US" altLang="en-US" sz="1800"/>
              <a:t>Average Response Time</a:t>
            </a:r>
          </a:p>
          <a:p>
            <a:pPr eaLnBrk="1" hangingPunct="1">
              <a:spcBef>
                <a:spcPct val="0"/>
              </a:spcBef>
              <a:buFontTx/>
              <a:buNone/>
            </a:pPr>
            <a:r>
              <a:rPr lang="en-US" altLang="en-US" sz="1800"/>
              <a:t>= (0 + 0 + 3 + 3) / 4</a:t>
            </a:r>
          </a:p>
          <a:p>
            <a:pPr eaLnBrk="1" hangingPunct="1">
              <a:spcBef>
                <a:spcPct val="0"/>
              </a:spcBef>
              <a:buFontTx/>
              <a:buNone/>
            </a:pPr>
            <a:r>
              <a:rPr lang="en-US" altLang="en-US" sz="1800"/>
              <a:t>= 1.5</a:t>
            </a:r>
          </a:p>
          <a:p>
            <a:pPr eaLnBrk="1" hangingPunct="1">
              <a:spcBef>
                <a:spcPct val="0"/>
              </a:spcBef>
              <a:buFontTx/>
              <a:buNone/>
            </a:pPr>
            <a:endParaRPr lang="en-US" altLang="en-US" sz="1800"/>
          </a:p>
          <a:p>
            <a:pPr eaLnBrk="1" hangingPunct="1">
              <a:spcBef>
                <a:spcPct val="0"/>
              </a:spcBef>
              <a:buFontTx/>
              <a:buNone/>
            </a:pPr>
            <a:r>
              <a:rPr lang="en-US" altLang="en-US" sz="1800"/>
              <a:t>#Context Switches = 7</a:t>
            </a:r>
          </a:p>
        </p:txBody>
      </p:sp>
      <p:sp>
        <p:nvSpPr>
          <p:cNvPr id="18533" name="TextBox 15"/>
          <p:cNvSpPr txBox="1">
            <a:spLocks noChangeArrowheads="1"/>
          </p:cNvSpPr>
          <p:nvPr/>
        </p:nvSpPr>
        <p:spPr bwMode="auto">
          <a:xfrm>
            <a:off x="4419600" y="1528763"/>
            <a:ext cx="1920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a:t>Time slice = 2 </a:t>
            </a:r>
          </a:p>
        </p:txBody>
      </p:sp>
      <p:sp>
        <p:nvSpPr>
          <p:cNvPr id="18534" name="Slide Number Placeholder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fld id="{D7652F3A-2151-40D8-BB42-186C64A4AE15}" type="slidenum">
              <a:rPr lang="en-US" altLang="en-US" sz="1400" smtClean="0">
                <a:solidFill>
                  <a:schemeClr val="bg2"/>
                </a:solidFill>
              </a:rPr>
              <a:pPr>
                <a:spcBef>
                  <a:spcPct val="0"/>
                </a:spcBef>
                <a:buFontTx/>
                <a:buNone/>
              </a:pPr>
              <a:t>31</a:t>
            </a:fld>
            <a:endParaRPr lang="en-US" altLang="en-US" sz="1400" smtClean="0">
              <a:solidFill>
                <a:schemeClr val="bg2"/>
              </a:solidFill>
            </a:endParaRPr>
          </a:p>
        </p:txBody>
      </p:sp>
      <p:sp>
        <p:nvSpPr>
          <p:cNvPr id="19" name="Right Brace 18"/>
          <p:cNvSpPr/>
          <p:nvPr/>
        </p:nvSpPr>
        <p:spPr>
          <a:xfrm rot="16200000">
            <a:off x="4805363" y="3384550"/>
            <a:ext cx="457200" cy="1155700"/>
          </a:xfrm>
          <a:prstGeom prst="rightBrac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cxnSp>
        <p:nvCxnSpPr>
          <p:cNvPr id="21" name="Straight Arrow Connector 20"/>
          <p:cNvCxnSpPr>
            <a:stCxn id="18533" idx="2"/>
            <a:endCxn id="19" idx="1"/>
          </p:cNvCxnSpPr>
          <p:nvPr/>
        </p:nvCxnSpPr>
        <p:spPr>
          <a:xfrm rot="5400000">
            <a:off x="4304507" y="2658269"/>
            <a:ext cx="1804987" cy="346075"/>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087669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C539CA8-5BE8-4B08-A540-B4382F3C2212}"/>
              </a:ext>
            </a:extLst>
          </p:cNvPr>
          <p:cNvSpPr>
            <a:spLocks noGrp="1" noChangeArrowheads="1"/>
          </p:cNvSpPr>
          <p:nvPr>
            <p:ph type="title"/>
          </p:nvPr>
        </p:nvSpPr>
        <p:spPr>
          <a:xfrm>
            <a:off x="457200" y="153418"/>
            <a:ext cx="8229600" cy="576262"/>
          </a:xfrm>
        </p:spPr>
        <p:txBody>
          <a:bodyPr/>
          <a:lstStyle/>
          <a:p>
            <a:pPr eaLnBrk="1" hangingPunct="1"/>
            <a:r>
              <a:rPr lang="en-US" altLang="en-US" dirty="0"/>
              <a:t>Round Robin (RR)</a:t>
            </a:r>
          </a:p>
        </p:txBody>
      </p:sp>
      <p:sp>
        <p:nvSpPr>
          <p:cNvPr id="39938" name="Rectangle 3">
            <a:extLst>
              <a:ext uri="{FF2B5EF4-FFF2-40B4-BE49-F238E27FC236}">
                <a16:creationId xmlns:a16="http://schemas.microsoft.com/office/drawing/2014/main" id="{8A6C6617-67BF-4484-A025-320FA2994436}"/>
              </a:ext>
            </a:extLst>
          </p:cNvPr>
          <p:cNvSpPr>
            <a:spLocks noGrp="1" noChangeArrowheads="1"/>
          </p:cNvSpPr>
          <p:nvPr>
            <p:ph type="body" idx="1"/>
          </p:nvPr>
        </p:nvSpPr>
        <p:spPr>
          <a:xfrm>
            <a:off x="811763" y="1058277"/>
            <a:ext cx="7244217" cy="4381822"/>
          </a:xfrm>
        </p:spPr>
        <p:txBody>
          <a:bodyPr/>
          <a:lstStyle/>
          <a:p>
            <a:r>
              <a:rPr lang="en-US" altLang="en-US" dirty="0"/>
              <a:t>Each process gets a small unit of CPU time (</a:t>
            </a:r>
            <a:r>
              <a:rPr lang="en-US" altLang="en-US" b="1" dirty="0">
                <a:solidFill>
                  <a:srgbClr val="006699"/>
                </a:solidFill>
                <a:latin typeface="+mj-lt"/>
              </a:rPr>
              <a:t>time quantum </a:t>
            </a:r>
            <a:r>
              <a:rPr lang="en-US" altLang="en-US" i="1" dirty="0"/>
              <a:t>q</a:t>
            </a:r>
            <a:r>
              <a:rPr lang="en-US" altLang="en-US" dirty="0"/>
              <a:t>), usually 10-100 milliseconds.  After this time has elapsed, the process is preempted and added to the end of the ready queue.</a:t>
            </a:r>
          </a:p>
          <a:p>
            <a:r>
              <a:rPr lang="en-US" altLang="en-US" dirty="0"/>
              <a:t>If there are </a:t>
            </a:r>
            <a:r>
              <a:rPr lang="en-US" altLang="en-US" i="1" dirty="0"/>
              <a:t>n</a:t>
            </a:r>
            <a:r>
              <a:rPr lang="en-US" altLang="en-US" dirty="0"/>
              <a:t> processes in the ready queue and the time quantum is </a:t>
            </a:r>
            <a:r>
              <a:rPr lang="en-US" altLang="en-US" i="1" dirty="0"/>
              <a:t>q</a:t>
            </a:r>
            <a:r>
              <a:rPr lang="en-US" altLang="en-US" dirty="0"/>
              <a:t>, then each process gets 1/</a:t>
            </a:r>
            <a:r>
              <a:rPr lang="en-US" altLang="en-US" i="1" dirty="0"/>
              <a:t>n</a:t>
            </a:r>
            <a:r>
              <a:rPr lang="en-US" altLang="en-US" dirty="0"/>
              <a:t> of the CPU time in chunks of at most </a:t>
            </a:r>
            <a:r>
              <a:rPr lang="en-US" altLang="en-US" i="1" dirty="0"/>
              <a:t>q</a:t>
            </a:r>
            <a:r>
              <a:rPr lang="en-US" altLang="en-US" dirty="0"/>
              <a:t> time units at once.  </a:t>
            </a:r>
            <a:endParaRPr lang="en-US" altLang="en-US" dirty="0" smtClean="0"/>
          </a:p>
          <a:p>
            <a:r>
              <a:rPr lang="en-US" altLang="en-US" dirty="0" smtClean="0"/>
              <a:t>No </a:t>
            </a:r>
            <a:r>
              <a:rPr lang="en-US" altLang="en-US" dirty="0"/>
              <a:t>process waits more than (</a:t>
            </a:r>
            <a:r>
              <a:rPr lang="en-US" altLang="en-US" i="1" dirty="0"/>
              <a:t>n</a:t>
            </a:r>
            <a:r>
              <a:rPr lang="en-US" altLang="en-US" dirty="0"/>
              <a:t>-1)</a:t>
            </a:r>
            <a:r>
              <a:rPr lang="en-US" altLang="en-US" i="1" dirty="0"/>
              <a:t>q </a:t>
            </a:r>
            <a:r>
              <a:rPr lang="en-US" altLang="en-US" dirty="0"/>
              <a:t>time units.</a:t>
            </a:r>
          </a:p>
          <a:p>
            <a:r>
              <a:rPr lang="en-US" altLang="en-US" dirty="0"/>
              <a:t>Timer interrupts every quantum to schedule next process</a:t>
            </a:r>
          </a:p>
          <a:p>
            <a:r>
              <a:rPr lang="en-US" altLang="en-US" dirty="0"/>
              <a:t>Performance</a:t>
            </a:r>
          </a:p>
          <a:p>
            <a:pPr lvl="1"/>
            <a:r>
              <a:rPr lang="en-US" altLang="en-US" i="1" dirty="0"/>
              <a:t>q</a:t>
            </a:r>
            <a:r>
              <a:rPr lang="en-US" altLang="en-US" dirty="0"/>
              <a:t> large </a:t>
            </a:r>
            <a:r>
              <a:rPr lang="en-US" altLang="en-US" dirty="0">
                <a:sym typeface="Symbol" panose="05050102010706020507" pitchFamily="18" charset="2"/>
              </a:rPr>
              <a:t> FIFO (FCFS)</a:t>
            </a:r>
          </a:p>
          <a:p>
            <a:pPr lvl="1"/>
            <a:r>
              <a:rPr lang="en-US" altLang="en-US" i="1" dirty="0">
                <a:sym typeface="Symbol" panose="05050102010706020507" pitchFamily="18" charset="2"/>
              </a:rPr>
              <a:t>q </a:t>
            </a:r>
            <a:r>
              <a:rPr lang="en-US" altLang="en-US" dirty="0">
                <a:sym typeface="Symbol" panose="05050102010706020507" pitchFamily="18" charset="2"/>
              </a:rPr>
              <a:t>small  RR</a:t>
            </a:r>
          </a:p>
          <a:p>
            <a:r>
              <a:rPr lang="en-US" altLang="en-US" dirty="0">
                <a:sym typeface="Symbol" panose="05050102010706020507" pitchFamily="18" charset="2"/>
              </a:rPr>
              <a:t>Note that q must be large with respect to context switch, otherwise overhead is too high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3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93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93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938">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993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93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6DF101FA-59C2-4431-9504-FC73D47453BC}"/>
              </a:ext>
            </a:extLst>
          </p:cNvPr>
          <p:cNvSpPr>
            <a:spLocks noGrp="1" noChangeArrowheads="1"/>
          </p:cNvSpPr>
          <p:nvPr>
            <p:ph type="title"/>
          </p:nvPr>
        </p:nvSpPr>
        <p:spPr>
          <a:xfrm>
            <a:off x="979833" y="86668"/>
            <a:ext cx="8418610" cy="647700"/>
          </a:xfrm>
        </p:spPr>
        <p:txBody>
          <a:bodyPr/>
          <a:lstStyle/>
          <a:p>
            <a:pPr eaLnBrk="1" hangingPunct="1"/>
            <a:r>
              <a:rPr lang="en-US" altLang="en-US" dirty="0"/>
              <a:t>Example of RR with Time Quantum = 4</a:t>
            </a:r>
          </a:p>
        </p:txBody>
      </p:sp>
      <p:sp>
        <p:nvSpPr>
          <p:cNvPr id="41986" name="Rectangle 3">
            <a:extLst>
              <a:ext uri="{FF2B5EF4-FFF2-40B4-BE49-F238E27FC236}">
                <a16:creationId xmlns:a16="http://schemas.microsoft.com/office/drawing/2014/main" id="{E17EE130-D776-4D6D-84E6-F464A160ACBF}"/>
              </a:ext>
            </a:extLst>
          </p:cNvPr>
          <p:cNvSpPr>
            <a:spLocks noGrp="1" noChangeArrowheads="1"/>
          </p:cNvSpPr>
          <p:nvPr>
            <p:ph type="body" idx="1"/>
          </p:nvPr>
        </p:nvSpPr>
        <p:spPr>
          <a:xfrm>
            <a:off x="954087" y="1193799"/>
            <a:ext cx="7460707" cy="4639841"/>
          </a:xfrm>
        </p:spPr>
        <p:txBody>
          <a:bodyPr/>
          <a:lstStyle/>
          <a:p>
            <a:pPr>
              <a:lnSpc>
                <a:spcPct val="90000"/>
              </a:lnSpc>
              <a:buFont typeface="Monotype Sorts" pitchFamily="-84" charset="2"/>
              <a:buNone/>
              <a:tabLst>
                <a:tab pos="2219325" algn="ctr"/>
                <a:tab pos="3994150" algn="ctr"/>
              </a:tabLst>
            </a:pPr>
            <a:r>
              <a:rPr lang="en-US" altLang="en-US" dirty="0"/>
              <a:t>		</a:t>
            </a:r>
            <a:r>
              <a:rPr lang="en-US" altLang="en-US" u="sng" dirty="0"/>
              <a:t>Process</a:t>
            </a:r>
            <a:r>
              <a:rPr lang="en-US" altLang="en-US" dirty="0"/>
              <a:t>	</a:t>
            </a:r>
            <a:r>
              <a:rPr lang="en-US" altLang="en-US" u="sng" dirty="0"/>
              <a:t>Burst Time</a:t>
            </a:r>
          </a:p>
          <a:p>
            <a:pPr>
              <a:lnSpc>
                <a:spcPct val="90000"/>
              </a:lnSpc>
              <a:buFont typeface="Monotype Sorts" pitchFamily="-84" charset="2"/>
              <a:buNone/>
              <a:tabLst>
                <a:tab pos="2219325" algn="ctr"/>
                <a:tab pos="3994150" algn="ctr"/>
              </a:tabLst>
            </a:pPr>
            <a:r>
              <a:rPr lang="en-US" altLang="en-US" i="1" dirty="0"/>
              <a:t>		P</a:t>
            </a:r>
            <a:r>
              <a:rPr lang="en-US" altLang="en-US" i="1" baseline="-25000" dirty="0"/>
              <a:t>1	</a:t>
            </a:r>
            <a:r>
              <a:rPr lang="en-US" altLang="en-US" dirty="0"/>
              <a:t>24</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2	 </a:t>
            </a:r>
            <a:r>
              <a:rPr lang="en-US" altLang="en-US" dirty="0"/>
              <a:t>3</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3	</a:t>
            </a:r>
            <a:r>
              <a:rPr lang="en-US" altLang="en-US" dirty="0"/>
              <a:t>3	</a:t>
            </a:r>
          </a:p>
          <a:p>
            <a:pPr>
              <a:lnSpc>
                <a:spcPct val="90000"/>
              </a:lnSpc>
              <a:tabLst>
                <a:tab pos="2219325" algn="ctr"/>
                <a:tab pos="3994150" algn="ctr"/>
              </a:tabLst>
            </a:pPr>
            <a:r>
              <a:rPr lang="en-US" altLang="en-US" dirty="0"/>
              <a:t>The Gantt chart is: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pPr>
              <a:lnSpc>
                <a:spcPct val="90000"/>
              </a:lnSpc>
              <a:tabLst>
                <a:tab pos="2219325" algn="ctr"/>
                <a:tab pos="3994150" algn="ctr"/>
              </a:tabLst>
            </a:pPr>
            <a:r>
              <a:rPr lang="en-US" altLang="en-US" dirty="0"/>
              <a:t>Typically, higher average turnaround than SJF, but better </a:t>
            </a:r>
            <a:r>
              <a:rPr lang="en-US" altLang="en-US" b="1" i="1" dirty="0"/>
              <a:t>response</a:t>
            </a:r>
          </a:p>
          <a:p>
            <a:pPr>
              <a:lnSpc>
                <a:spcPct val="90000"/>
              </a:lnSpc>
              <a:tabLst>
                <a:tab pos="2219325" algn="ctr"/>
                <a:tab pos="3994150" algn="ctr"/>
              </a:tabLst>
            </a:pPr>
            <a:r>
              <a:rPr lang="en-US" altLang="en-US" dirty="0"/>
              <a:t>q should be large compared to context switch time</a:t>
            </a:r>
          </a:p>
          <a:p>
            <a:pPr lvl="1">
              <a:lnSpc>
                <a:spcPct val="90000"/>
              </a:lnSpc>
              <a:tabLst>
                <a:tab pos="2219325" algn="ctr"/>
                <a:tab pos="3994150" algn="ctr"/>
              </a:tabLst>
            </a:pPr>
            <a:r>
              <a:rPr lang="en-US" altLang="en-US" dirty="0"/>
              <a:t>q usually 10 milliseconds  to 100 milliseconds, </a:t>
            </a:r>
          </a:p>
          <a:p>
            <a:pPr lvl="1">
              <a:lnSpc>
                <a:spcPct val="90000"/>
              </a:lnSpc>
              <a:tabLst>
                <a:tab pos="2219325" algn="ctr"/>
                <a:tab pos="3994150" algn="ctr"/>
              </a:tabLst>
            </a:pPr>
            <a:r>
              <a:rPr lang="en-US" altLang="en-US" dirty="0"/>
              <a:t>Context switch &lt; 10 microseconds</a:t>
            </a:r>
          </a:p>
        </p:txBody>
      </p:sp>
      <p:pic>
        <p:nvPicPr>
          <p:cNvPr id="41987" name="Picture 1">
            <a:extLst>
              <a:ext uri="{FF2B5EF4-FFF2-40B4-BE49-F238E27FC236}">
                <a16:creationId xmlns:a16="http://schemas.microsoft.com/office/drawing/2014/main" id="{0835376E-2FE4-439A-B19A-4C86254AE5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98588" y="2926442"/>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noChangeArrowheads="1"/>
          </p:cNvSpPr>
          <p:nvPr>
            <p:ph type="title"/>
          </p:nvPr>
        </p:nvSpPr>
        <p:spPr/>
        <p:txBody>
          <a:bodyPr/>
          <a:lstStyle/>
          <a:p>
            <a:r>
              <a:rPr lang="en-US" altLang="en-US" smtClean="0">
                <a:ea typeface="ＭＳ Ｐゴシック" panose="020B0600070205080204" pitchFamily="34" charset="-128"/>
              </a:rPr>
              <a:t>Example (smaller timeslice)</a:t>
            </a:r>
          </a:p>
        </p:txBody>
      </p:sp>
      <p:pic>
        <p:nvPicPr>
          <p:cNvPr id="21507" name="Table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600" y="1638300"/>
            <a:ext cx="3771900" cy="226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Content Placeholder 9"/>
          <p:cNvGraphicFramePr>
            <a:graphicFrameLocks noGrp="1"/>
          </p:cNvGraphicFramePr>
          <p:nvPr>
            <p:ph idx="1"/>
          </p:nvPr>
        </p:nvGraphicFramePr>
        <p:xfrm>
          <a:off x="914400" y="4191000"/>
          <a:ext cx="8229606" cy="2133600"/>
        </p:xfrm>
        <a:graphic>
          <a:graphicData uri="http://schemas.openxmlformats.org/drawingml/2006/table">
            <a:tbl>
              <a:tblPr firstRow="1" bandRow="1">
                <a:tableStyleId>{5DA37D80-6434-44D0-A028-1B22A696006F}</a:tableStyleId>
              </a:tblPr>
              <a:tblGrid>
                <a:gridCol w="587829">
                  <a:extLst>
                    <a:ext uri="{9D8B030D-6E8A-4147-A177-3AD203B41FA5}">
                      <a16:colId xmlns:a16="http://schemas.microsoft.com/office/drawing/2014/main" val="20000"/>
                    </a:ext>
                  </a:extLst>
                </a:gridCol>
                <a:gridCol w="587829">
                  <a:extLst>
                    <a:ext uri="{9D8B030D-6E8A-4147-A177-3AD203B41FA5}">
                      <a16:colId xmlns:a16="http://schemas.microsoft.com/office/drawing/2014/main" val="20001"/>
                    </a:ext>
                  </a:extLst>
                </a:gridCol>
                <a:gridCol w="587829">
                  <a:extLst>
                    <a:ext uri="{9D8B030D-6E8A-4147-A177-3AD203B41FA5}">
                      <a16:colId xmlns:a16="http://schemas.microsoft.com/office/drawing/2014/main" val="20002"/>
                    </a:ext>
                  </a:extLst>
                </a:gridCol>
                <a:gridCol w="587829">
                  <a:extLst>
                    <a:ext uri="{9D8B030D-6E8A-4147-A177-3AD203B41FA5}">
                      <a16:colId xmlns:a16="http://schemas.microsoft.com/office/drawing/2014/main" val="20003"/>
                    </a:ext>
                  </a:extLst>
                </a:gridCol>
                <a:gridCol w="587829">
                  <a:extLst>
                    <a:ext uri="{9D8B030D-6E8A-4147-A177-3AD203B41FA5}">
                      <a16:colId xmlns:a16="http://schemas.microsoft.com/office/drawing/2014/main" val="20004"/>
                    </a:ext>
                  </a:extLst>
                </a:gridCol>
                <a:gridCol w="587829">
                  <a:extLst>
                    <a:ext uri="{9D8B030D-6E8A-4147-A177-3AD203B41FA5}">
                      <a16:colId xmlns:a16="http://schemas.microsoft.com/office/drawing/2014/main" val="20005"/>
                    </a:ext>
                  </a:extLst>
                </a:gridCol>
                <a:gridCol w="587829">
                  <a:extLst>
                    <a:ext uri="{9D8B030D-6E8A-4147-A177-3AD203B41FA5}">
                      <a16:colId xmlns:a16="http://schemas.microsoft.com/office/drawing/2014/main" val="20006"/>
                    </a:ext>
                  </a:extLst>
                </a:gridCol>
                <a:gridCol w="587829">
                  <a:extLst>
                    <a:ext uri="{9D8B030D-6E8A-4147-A177-3AD203B41FA5}">
                      <a16:colId xmlns:a16="http://schemas.microsoft.com/office/drawing/2014/main" val="20007"/>
                    </a:ext>
                  </a:extLst>
                </a:gridCol>
                <a:gridCol w="587829">
                  <a:extLst>
                    <a:ext uri="{9D8B030D-6E8A-4147-A177-3AD203B41FA5}">
                      <a16:colId xmlns:a16="http://schemas.microsoft.com/office/drawing/2014/main" val="20008"/>
                    </a:ext>
                  </a:extLst>
                </a:gridCol>
                <a:gridCol w="587829">
                  <a:extLst>
                    <a:ext uri="{9D8B030D-6E8A-4147-A177-3AD203B41FA5}">
                      <a16:colId xmlns:a16="http://schemas.microsoft.com/office/drawing/2014/main" val="20009"/>
                    </a:ext>
                  </a:extLst>
                </a:gridCol>
                <a:gridCol w="587829">
                  <a:extLst>
                    <a:ext uri="{9D8B030D-6E8A-4147-A177-3AD203B41FA5}">
                      <a16:colId xmlns:a16="http://schemas.microsoft.com/office/drawing/2014/main" val="20010"/>
                    </a:ext>
                  </a:extLst>
                </a:gridCol>
                <a:gridCol w="587829">
                  <a:extLst>
                    <a:ext uri="{9D8B030D-6E8A-4147-A177-3AD203B41FA5}">
                      <a16:colId xmlns:a16="http://schemas.microsoft.com/office/drawing/2014/main" val="20011"/>
                    </a:ext>
                  </a:extLst>
                </a:gridCol>
                <a:gridCol w="587829">
                  <a:extLst>
                    <a:ext uri="{9D8B030D-6E8A-4147-A177-3AD203B41FA5}">
                      <a16:colId xmlns:a16="http://schemas.microsoft.com/office/drawing/2014/main" val="20012"/>
                    </a:ext>
                  </a:extLst>
                </a:gridCol>
                <a:gridCol w="587829">
                  <a:extLst>
                    <a:ext uri="{9D8B030D-6E8A-4147-A177-3AD203B41FA5}">
                      <a16:colId xmlns:a16="http://schemas.microsoft.com/office/drawing/2014/main" val="20013"/>
                    </a:ext>
                  </a:extLst>
                </a:gridCol>
              </a:tblGrid>
              <a:tr h="381000">
                <a:tc>
                  <a:txBody>
                    <a:bodyPr/>
                    <a:lstStyle/>
                    <a:p>
                      <a:r>
                        <a:rPr lang="en-US" dirty="0"/>
                        <a:t>P1</a:t>
                      </a:r>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r>
                        <a:rPr lang="en-US" dirty="0"/>
                        <a:t>P2</a:t>
                      </a:r>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P3</a:t>
                      </a:r>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P4</a:t>
                      </a:r>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370840">
                <a:tc>
                  <a:txBody>
                    <a:bodyPr/>
                    <a:lstStyle/>
                    <a:p>
                      <a:endParaRPr lang="en-US" dirty="0"/>
                    </a:p>
                  </a:txBody>
                  <a:tcPr>
                    <a:solidFill>
                      <a:srgbClr val="FFC000"/>
                    </a:solidFill>
                  </a:tcPr>
                </a:tc>
                <a:tc>
                  <a:txBody>
                    <a:bodyPr/>
                    <a:lstStyle/>
                    <a:p>
                      <a:endParaRPr lang="en-US" dirty="0"/>
                    </a:p>
                  </a:txBody>
                  <a:tcPr>
                    <a:solidFill>
                      <a:srgbClr val="FFC000"/>
                    </a:solidFill>
                  </a:tcPr>
                </a:tc>
                <a:tc>
                  <a:txBody>
                    <a:bodyPr/>
                    <a:lstStyle/>
                    <a:p>
                      <a:endParaRPr lang="en-US" dirty="0"/>
                    </a:p>
                  </a:txBody>
                  <a:tcPr>
                    <a:solidFill>
                      <a:srgbClr val="0070C0"/>
                    </a:solidFill>
                  </a:tcPr>
                </a:tc>
                <a:tc>
                  <a:txBody>
                    <a:bodyPr/>
                    <a:lstStyle/>
                    <a:p>
                      <a:endParaRPr lang="en-US" dirty="0"/>
                    </a:p>
                  </a:txBody>
                  <a:tcPr>
                    <a:solidFill>
                      <a:srgbClr val="FFC000"/>
                    </a:solidFill>
                  </a:tcPr>
                </a:tc>
                <a:tc>
                  <a:txBody>
                    <a:bodyPr/>
                    <a:lstStyle/>
                    <a:p>
                      <a:endParaRPr lang="en-US" dirty="0"/>
                    </a:p>
                  </a:txBody>
                  <a:tcPr>
                    <a:solidFill>
                      <a:srgbClr val="00B050"/>
                    </a:solidFill>
                  </a:tcPr>
                </a:tc>
                <a:tc>
                  <a:txBody>
                    <a:bodyPr/>
                    <a:lstStyle/>
                    <a:p>
                      <a:endParaRPr lang="en-US" dirty="0"/>
                    </a:p>
                  </a:txBody>
                  <a:tcPr>
                    <a:solidFill>
                      <a:srgbClr val="0070C0"/>
                    </a:solidFill>
                  </a:tcPr>
                </a:tc>
                <a:tc>
                  <a:txBody>
                    <a:bodyPr/>
                    <a:lstStyle/>
                    <a:p>
                      <a:endParaRPr lang="en-US" dirty="0"/>
                    </a:p>
                  </a:txBody>
                  <a:tcPr>
                    <a:solidFill>
                      <a:srgbClr val="FFC000"/>
                    </a:solidFill>
                  </a:tcPr>
                </a:tc>
                <a:tc>
                  <a:txBody>
                    <a:bodyPr/>
                    <a:lstStyle/>
                    <a:p>
                      <a:endParaRPr lang="en-US" dirty="0"/>
                    </a:p>
                  </a:txBody>
                  <a:tcPr>
                    <a:solidFill>
                      <a:srgbClr val="00B050"/>
                    </a:solidFill>
                  </a:tcPr>
                </a:tc>
                <a:tc>
                  <a:txBody>
                    <a:bodyPr/>
                    <a:lstStyle/>
                    <a:p>
                      <a:endParaRPr lang="en-US" dirty="0"/>
                    </a:p>
                  </a:txBody>
                  <a:tcPr>
                    <a:solidFill>
                      <a:srgbClr val="0070C0"/>
                    </a:solidFill>
                  </a:tcPr>
                </a:tc>
                <a:tc>
                  <a:txBody>
                    <a:bodyPr/>
                    <a:lstStyle/>
                    <a:p>
                      <a:endParaRPr lang="en-US" dirty="0"/>
                    </a:p>
                  </a:txBody>
                  <a:tcPr>
                    <a:solidFill>
                      <a:srgbClr val="FFC000"/>
                    </a:solidFill>
                  </a:tcPr>
                </a:tc>
                <a:tc>
                  <a:txBody>
                    <a:bodyPr/>
                    <a:lstStyle/>
                    <a:p>
                      <a:endParaRPr lang="en-US" dirty="0"/>
                    </a:p>
                  </a:txBody>
                  <a:tcPr>
                    <a:solidFill>
                      <a:srgbClr val="FF0000"/>
                    </a:solidFill>
                  </a:tcPr>
                </a:tc>
                <a:tc>
                  <a:txBody>
                    <a:bodyPr/>
                    <a:lstStyle/>
                    <a:p>
                      <a:endParaRPr lang="en-US" dirty="0"/>
                    </a:p>
                  </a:txBody>
                  <a:tcPr>
                    <a:solidFill>
                      <a:srgbClr val="0070C0"/>
                    </a:solidFill>
                  </a:tcPr>
                </a:tc>
                <a:tc>
                  <a:txBody>
                    <a:bodyPr/>
                    <a:lstStyle/>
                    <a:p>
                      <a:endParaRPr lang="en-US" dirty="0"/>
                    </a:p>
                  </a:txBody>
                  <a:tcPr>
                    <a:solidFill>
                      <a:srgbClr val="FFC000"/>
                    </a:solidFill>
                  </a:tcPr>
                </a:tc>
                <a:tc>
                  <a:txBody>
                    <a:bodyPr/>
                    <a:lstStyle/>
                    <a:p>
                      <a:endParaRPr lang="en-US" dirty="0"/>
                    </a:p>
                  </a:txBody>
                  <a:tcPr>
                    <a:solidFill>
                      <a:srgbClr val="FFC000"/>
                    </a:solidFill>
                  </a:tcPr>
                </a:tc>
                <a:extLst>
                  <a:ext uri="{0D108BD9-81ED-4DB2-BD59-A6C34878D82A}">
                    <a16:rowId xmlns:a16="http://schemas.microsoft.com/office/drawing/2014/main" val="10001"/>
                  </a:ext>
                </a:extLst>
              </a:tr>
              <a:tr h="370840">
                <a:tc>
                  <a:txBody>
                    <a:bodyPr/>
                    <a:lstStyle/>
                    <a:p>
                      <a:r>
                        <a:rPr lang="en-US" dirty="0"/>
                        <a:t>P1</a:t>
                      </a:r>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r>
                        <a:rPr lang="en-US" dirty="0"/>
                        <a:t>P2</a:t>
                      </a:r>
                    </a:p>
                  </a:txBody>
                  <a:tcPr>
                    <a:solidFill>
                      <a:schemeClr val="bg1">
                        <a:lumMod val="85000"/>
                      </a:schemeClr>
                    </a:solidFill>
                  </a:tcPr>
                </a:tc>
                <a:tc>
                  <a:txBody>
                    <a:bodyPr/>
                    <a:lstStyle/>
                    <a:p>
                      <a:r>
                        <a:rPr lang="en-US" dirty="0"/>
                        <a:t>P1</a:t>
                      </a:r>
                    </a:p>
                  </a:txBody>
                  <a:tcPr>
                    <a:solidFill>
                      <a:schemeClr val="bg1">
                        <a:lumMod val="85000"/>
                      </a:schemeClr>
                    </a:solidFill>
                  </a:tcPr>
                </a:tc>
                <a:tc>
                  <a:txBody>
                    <a:bodyPr/>
                    <a:lstStyle/>
                    <a:p>
                      <a:r>
                        <a:rPr lang="en-US" dirty="0"/>
                        <a:t>P3</a:t>
                      </a:r>
                    </a:p>
                  </a:txBody>
                  <a:tcPr>
                    <a:solidFill>
                      <a:schemeClr val="bg1">
                        <a:lumMod val="85000"/>
                      </a:schemeClr>
                    </a:solidFill>
                  </a:tcPr>
                </a:tc>
                <a:tc>
                  <a:txBody>
                    <a:bodyPr/>
                    <a:lstStyle/>
                    <a:p>
                      <a:r>
                        <a:rPr lang="en-US" dirty="0"/>
                        <a:t>P2</a:t>
                      </a:r>
                    </a:p>
                  </a:txBody>
                  <a:tcPr>
                    <a:solidFill>
                      <a:schemeClr val="bg1">
                        <a:lumMod val="85000"/>
                      </a:schemeClr>
                    </a:solidFill>
                  </a:tcPr>
                </a:tc>
                <a:tc>
                  <a:txBody>
                    <a:bodyPr/>
                    <a:lstStyle/>
                    <a:p>
                      <a:r>
                        <a:rPr lang="en-US" dirty="0"/>
                        <a:t>P1</a:t>
                      </a:r>
                    </a:p>
                  </a:txBody>
                  <a:tcPr>
                    <a:solidFill>
                      <a:schemeClr val="bg1">
                        <a:lumMod val="85000"/>
                      </a:schemeClr>
                    </a:solidFill>
                  </a:tcPr>
                </a:tc>
                <a:tc>
                  <a:txBody>
                    <a:bodyPr/>
                    <a:lstStyle/>
                    <a:p>
                      <a:r>
                        <a:rPr lang="en-US" dirty="0"/>
                        <a:t>P3</a:t>
                      </a:r>
                    </a:p>
                  </a:txBody>
                  <a:tcPr>
                    <a:solidFill>
                      <a:schemeClr val="bg1">
                        <a:lumMod val="85000"/>
                      </a:schemeClr>
                    </a:solidFill>
                  </a:tcPr>
                </a:tc>
                <a:tc>
                  <a:txBody>
                    <a:bodyPr/>
                    <a:lstStyle/>
                    <a:p>
                      <a:r>
                        <a:rPr lang="en-US" dirty="0"/>
                        <a:t>P2</a:t>
                      </a:r>
                    </a:p>
                  </a:txBody>
                  <a:tcPr>
                    <a:solidFill>
                      <a:schemeClr val="bg1">
                        <a:lumMod val="85000"/>
                      </a:schemeClr>
                    </a:solidFill>
                  </a:tcPr>
                </a:tc>
                <a:tc>
                  <a:txBody>
                    <a:bodyPr/>
                    <a:lstStyle/>
                    <a:p>
                      <a:r>
                        <a:rPr lang="en-US" dirty="0"/>
                        <a:t>P1</a:t>
                      </a:r>
                    </a:p>
                  </a:txBody>
                  <a:tcPr>
                    <a:solidFill>
                      <a:schemeClr val="bg1">
                        <a:lumMod val="85000"/>
                      </a:schemeClr>
                    </a:solidFill>
                  </a:tcPr>
                </a:tc>
                <a:tc>
                  <a:txBody>
                    <a:bodyPr/>
                    <a:lstStyle/>
                    <a:p>
                      <a:r>
                        <a:rPr lang="en-US" dirty="0"/>
                        <a:t>P4</a:t>
                      </a:r>
                    </a:p>
                  </a:txBody>
                  <a:tcPr>
                    <a:solidFill>
                      <a:schemeClr val="bg1">
                        <a:lumMod val="85000"/>
                      </a:schemeClr>
                    </a:solidFill>
                  </a:tcPr>
                </a:tc>
                <a:tc>
                  <a:txBody>
                    <a:bodyPr/>
                    <a:lstStyle/>
                    <a:p>
                      <a:r>
                        <a:rPr lang="en-US" dirty="0"/>
                        <a:t>P2</a:t>
                      </a:r>
                    </a:p>
                  </a:txBody>
                  <a:tcPr>
                    <a:solidFill>
                      <a:schemeClr val="bg1">
                        <a:lumMod val="85000"/>
                      </a:schemeClr>
                    </a:solidFill>
                  </a:tcPr>
                </a:tc>
                <a:tc>
                  <a:txBody>
                    <a:bodyPr/>
                    <a:lstStyle/>
                    <a:p>
                      <a:r>
                        <a:rPr lang="en-US" dirty="0"/>
                        <a:t>P1</a:t>
                      </a:r>
                    </a:p>
                  </a:txBody>
                  <a:tcPr>
                    <a:solidFill>
                      <a:schemeClr val="bg1">
                        <a:lumMod val="85000"/>
                      </a:schemeClr>
                    </a:solidFill>
                  </a:tcPr>
                </a:tc>
                <a:tc>
                  <a:txBody>
                    <a:bodyPr/>
                    <a:lstStyle/>
                    <a:p>
                      <a:r>
                        <a:rPr lang="en-US" dirty="0"/>
                        <a:t>P1</a:t>
                      </a:r>
                    </a:p>
                  </a:txBody>
                  <a:tcPr>
                    <a:solidFill>
                      <a:schemeClr val="bg1">
                        <a:lumMod val="85000"/>
                      </a:schemeClr>
                    </a:solidFill>
                  </a:tcPr>
                </a:tc>
                <a:extLst>
                  <a:ext uri="{0D108BD9-81ED-4DB2-BD59-A6C34878D82A}">
                    <a16:rowId xmlns:a16="http://schemas.microsoft.com/office/drawing/2014/main" val="10002"/>
                  </a:ext>
                </a:extLst>
              </a:tr>
              <a:tr h="370840">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10003"/>
                  </a:ext>
                </a:extLst>
              </a:tr>
              <a:tr h="370840">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r>
                        <a:rPr lang="en-US" dirty="0"/>
                        <a:t>P1</a:t>
                      </a:r>
                    </a:p>
                  </a:txBody>
                  <a:tcPr>
                    <a:solidFill>
                      <a:schemeClr val="bg1"/>
                    </a:solidFill>
                  </a:tcPr>
                </a:tc>
                <a:tc>
                  <a:txBody>
                    <a:bodyPr/>
                    <a:lstStyle/>
                    <a:p>
                      <a:r>
                        <a:rPr lang="en-US" dirty="0"/>
                        <a:t>P3</a:t>
                      </a:r>
                    </a:p>
                    <a:p>
                      <a:r>
                        <a:rPr lang="en-US" dirty="0"/>
                        <a:t>P2</a:t>
                      </a:r>
                    </a:p>
                  </a:txBody>
                  <a:tcPr>
                    <a:solidFill>
                      <a:schemeClr val="bg1"/>
                    </a:solidFill>
                  </a:tcPr>
                </a:tc>
                <a:tc>
                  <a:txBody>
                    <a:bodyPr/>
                    <a:lstStyle/>
                    <a:p>
                      <a:r>
                        <a:rPr lang="en-US" dirty="0"/>
                        <a:t>P2</a:t>
                      </a:r>
                    </a:p>
                    <a:p>
                      <a:r>
                        <a:rPr lang="en-US" dirty="0"/>
                        <a:t>P1</a:t>
                      </a:r>
                    </a:p>
                  </a:txBody>
                  <a:tcPr>
                    <a:solidFill>
                      <a:schemeClr val="bg1"/>
                    </a:solidFill>
                  </a:tcPr>
                </a:tc>
                <a:tc>
                  <a:txBody>
                    <a:bodyPr/>
                    <a:lstStyle/>
                    <a:p>
                      <a:r>
                        <a:rPr lang="en-US" dirty="0"/>
                        <a:t>P1</a:t>
                      </a:r>
                    </a:p>
                    <a:p>
                      <a:r>
                        <a:rPr lang="en-US" dirty="0"/>
                        <a:t>P3</a:t>
                      </a:r>
                    </a:p>
                  </a:txBody>
                  <a:tcPr>
                    <a:solidFill>
                      <a:schemeClr val="bg1"/>
                    </a:solidFill>
                  </a:tcPr>
                </a:tc>
                <a:tc>
                  <a:txBody>
                    <a:bodyPr/>
                    <a:lstStyle/>
                    <a:p>
                      <a:r>
                        <a:rPr lang="en-US" dirty="0"/>
                        <a:t>P3</a:t>
                      </a:r>
                    </a:p>
                    <a:p>
                      <a:r>
                        <a:rPr lang="en-US" dirty="0"/>
                        <a:t>P2</a:t>
                      </a:r>
                    </a:p>
                  </a:txBody>
                  <a:tcPr>
                    <a:solidFill>
                      <a:schemeClr val="bg1"/>
                    </a:solidFill>
                  </a:tcPr>
                </a:tc>
                <a:tc>
                  <a:txBody>
                    <a:bodyPr/>
                    <a:lstStyle/>
                    <a:p>
                      <a:r>
                        <a:rPr lang="en-US" dirty="0"/>
                        <a:t>P2</a:t>
                      </a:r>
                    </a:p>
                    <a:p>
                      <a:r>
                        <a:rPr lang="en-US" dirty="0"/>
                        <a:t>P1</a:t>
                      </a:r>
                    </a:p>
                  </a:txBody>
                  <a:tcPr>
                    <a:solidFill>
                      <a:schemeClr val="bg1"/>
                    </a:solidFill>
                  </a:tcPr>
                </a:tc>
                <a:tc>
                  <a:txBody>
                    <a:bodyPr/>
                    <a:lstStyle/>
                    <a:p>
                      <a:r>
                        <a:rPr lang="en-US" dirty="0"/>
                        <a:t>P1</a:t>
                      </a:r>
                    </a:p>
                  </a:txBody>
                  <a:tcP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P4</a:t>
                      </a:r>
                    </a:p>
                    <a:p>
                      <a:r>
                        <a:rPr lang="en-US" dirty="0"/>
                        <a:t>P2</a:t>
                      </a:r>
                    </a:p>
                  </a:txBody>
                  <a:tcPr>
                    <a:solidFill>
                      <a:schemeClr val="bg1"/>
                    </a:solidFill>
                  </a:tcPr>
                </a:tc>
                <a:tc>
                  <a:txBody>
                    <a:bodyPr/>
                    <a:lstStyle/>
                    <a:p>
                      <a:r>
                        <a:rPr lang="en-US" dirty="0"/>
                        <a:t>P2</a:t>
                      </a:r>
                    </a:p>
                    <a:p>
                      <a:r>
                        <a:rPr lang="en-US" dirty="0"/>
                        <a:t>P1</a:t>
                      </a:r>
                    </a:p>
                  </a:txBody>
                  <a:tcPr>
                    <a:solidFill>
                      <a:schemeClr val="bg1"/>
                    </a:solidFill>
                  </a:tcPr>
                </a:tc>
                <a:tc>
                  <a:txBody>
                    <a:bodyPr/>
                    <a:lstStyle/>
                    <a:p>
                      <a:r>
                        <a:rPr lang="en-US" dirty="0"/>
                        <a:t>P1</a:t>
                      </a:r>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10004"/>
                  </a:ext>
                </a:extLst>
              </a:tr>
            </a:tbl>
          </a:graphicData>
        </a:graphic>
      </p:graphicFrame>
      <p:sp>
        <p:nvSpPr>
          <p:cNvPr id="11" name="Rectangle 10"/>
          <p:cNvSpPr/>
          <p:nvPr/>
        </p:nvSpPr>
        <p:spPr>
          <a:xfrm>
            <a:off x="914400" y="5334000"/>
            <a:ext cx="8229600" cy="3413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1601" name="TextBox 11"/>
          <p:cNvSpPr txBox="1">
            <a:spLocks noChangeArrowheads="1"/>
          </p:cNvSpPr>
          <p:nvPr/>
        </p:nvSpPr>
        <p:spPr bwMode="auto">
          <a:xfrm>
            <a:off x="76200" y="4191000"/>
            <a:ext cx="83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Arrival</a:t>
            </a:r>
          </a:p>
        </p:txBody>
      </p:sp>
      <p:sp>
        <p:nvSpPr>
          <p:cNvPr id="21602" name="TextBox 12"/>
          <p:cNvSpPr txBox="1">
            <a:spLocks noChangeArrowheads="1"/>
          </p:cNvSpPr>
          <p:nvPr/>
        </p:nvSpPr>
        <p:spPr bwMode="auto">
          <a:xfrm>
            <a:off x="-120650" y="4964113"/>
            <a:ext cx="11477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schedule</a:t>
            </a:r>
          </a:p>
        </p:txBody>
      </p:sp>
      <p:sp>
        <p:nvSpPr>
          <p:cNvPr id="21603" name="TextBox 13"/>
          <p:cNvSpPr txBox="1">
            <a:spLocks noChangeArrowheads="1"/>
          </p:cNvSpPr>
          <p:nvPr/>
        </p:nvSpPr>
        <p:spPr bwMode="auto">
          <a:xfrm>
            <a:off x="203200" y="5649913"/>
            <a:ext cx="711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FIFO</a:t>
            </a:r>
          </a:p>
        </p:txBody>
      </p:sp>
      <p:sp>
        <p:nvSpPr>
          <p:cNvPr id="21604" name="TextBox 14"/>
          <p:cNvSpPr txBox="1">
            <a:spLocks noChangeArrowheads="1"/>
          </p:cNvSpPr>
          <p:nvPr/>
        </p:nvSpPr>
        <p:spPr bwMode="auto">
          <a:xfrm>
            <a:off x="6172200" y="1447800"/>
            <a:ext cx="2706688"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Average Waiting time </a:t>
            </a:r>
          </a:p>
          <a:p>
            <a:pPr eaLnBrk="1" hangingPunct="1">
              <a:spcBef>
                <a:spcPct val="0"/>
              </a:spcBef>
              <a:buFontTx/>
              <a:buNone/>
            </a:pPr>
            <a:r>
              <a:rPr lang="en-US" altLang="en-US" sz="1800"/>
              <a:t>= (7 + 6 + 3 + 1) / 4</a:t>
            </a:r>
          </a:p>
          <a:p>
            <a:pPr eaLnBrk="1" hangingPunct="1">
              <a:spcBef>
                <a:spcPct val="0"/>
              </a:spcBef>
              <a:buFontTx/>
              <a:buNone/>
            </a:pPr>
            <a:r>
              <a:rPr lang="en-US" altLang="en-US" sz="1800"/>
              <a:t>= 4.25</a:t>
            </a:r>
          </a:p>
          <a:p>
            <a:pPr eaLnBrk="1" hangingPunct="1">
              <a:spcBef>
                <a:spcPct val="0"/>
              </a:spcBef>
              <a:buFontTx/>
              <a:buNone/>
            </a:pPr>
            <a:endParaRPr lang="en-US" altLang="en-US" sz="1800"/>
          </a:p>
          <a:p>
            <a:pPr eaLnBrk="1" hangingPunct="1">
              <a:spcBef>
                <a:spcPct val="0"/>
              </a:spcBef>
              <a:buFontTx/>
              <a:buNone/>
            </a:pPr>
            <a:r>
              <a:rPr lang="en-US" altLang="en-US" sz="1800"/>
              <a:t>Average Response Time</a:t>
            </a:r>
          </a:p>
          <a:p>
            <a:pPr eaLnBrk="1" hangingPunct="1">
              <a:spcBef>
                <a:spcPct val="0"/>
              </a:spcBef>
              <a:buFontTx/>
              <a:buNone/>
            </a:pPr>
            <a:r>
              <a:rPr lang="en-US" altLang="en-US" sz="1800"/>
              <a:t>= (0 + 0 + 1 + 1) / 4</a:t>
            </a:r>
          </a:p>
          <a:p>
            <a:pPr eaLnBrk="1" hangingPunct="1">
              <a:spcBef>
                <a:spcPct val="0"/>
              </a:spcBef>
              <a:buFontTx/>
              <a:buNone/>
            </a:pPr>
            <a:r>
              <a:rPr lang="en-US" altLang="en-US" sz="1800"/>
              <a:t>= 1/2</a:t>
            </a:r>
          </a:p>
          <a:p>
            <a:pPr eaLnBrk="1" hangingPunct="1">
              <a:spcBef>
                <a:spcPct val="0"/>
              </a:spcBef>
              <a:buFontTx/>
              <a:buNone/>
            </a:pPr>
            <a:endParaRPr lang="en-US" altLang="en-US" sz="1800"/>
          </a:p>
          <a:p>
            <a:pPr eaLnBrk="1" hangingPunct="1">
              <a:spcBef>
                <a:spcPct val="0"/>
              </a:spcBef>
              <a:buFontTx/>
              <a:buNone/>
            </a:pPr>
            <a:r>
              <a:rPr lang="en-US" altLang="en-US" sz="1800"/>
              <a:t>#Context Switches = 11</a:t>
            </a:r>
          </a:p>
        </p:txBody>
      </p:sp>
      <p:sp>
        <p:nvSpPr>
          <p:cNvPr id="21605" name="TextBox 15"/>
          <p:cNvSpPr txBox="1">
            <a:spLocks noChangeArrowheads="1"/>
          </p:cNvSpPr>
          <p:nvPr/>
        </p:nvSpPr>
        <p:spPr bwMode="auto">
          <a:xfrm>
            <a:off x="4419600" y="1295400"/>
            <a:ext cx="1920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a:t>Time slice = 1 </a:t>
            </a:r>
          </a:p>
        </p:txBody>
      </p:sp>
      <p:sp>
        <p:nvSpPr>
          <p:cNvPr id="21606" name="Slide Number Placeholder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fld id="{4CEB4179-7106-4B12-A142-69782C08FA0A}" type="slidenum">
              <a:rPr lang="en-US" altLang="en-US" sz="1400" smtClean="0">
                <a:solidFill>
                  <a:schemeClr val="bg2"/>
                </a:solidFill>
              </a:rPr>
              <a:pPr>
                <a:spcBef>
                  <a:spcPct val="0"/>
                </a:spcBef>
                <a:buFontTx/>
                <a:buNone/>
              </a:pPr>
              <a:t>34</a:t>
            </a:fld>
            <a:endParaRPr lang="en-US" altLang="en-US" sz="1400" smtClean="0">
              <a:solidFill>
                <a:schemeClr val="bg2"/>
              </a:solidFill>
            </a:endParaRPr>
          </a:p>
        </p:txBody>
      </p:sp>
      <p:sp>
        <p:nvSpPr>
          <p:cNvPr id="21607" name="TextBox 17"/>
          <p:cNvSpPr txBox="1">
            <a:spLocks noChangeArrowheads="1"/>
          </p:cNvSpPr>
          <p:nvPr/>
        </p:nvSpPr>
        <p:spPr bwMode="auto">
          <a:xfrm>
            <a:off x="1775618" y="6311900"/>
            <a:ext cx="5287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t>More context switches but quicker response times</a:t>
            </a:r>
          </a:p>
        </p:txBody>
      </p:sp>
    </p:spTree>
    <p:extLst>
      <p:ext uri="{BB962C8B-B14F-4D97-AF65-F5344CB8AC3E}">
        <p14:creationId xmlns:p14="http://schemas.microsoft.com/office/powerpoint/2010/main" val="60518606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noChangeArrowheads="1"/>
          </p:cNvSpPr>
          <p:nvPr>
            <p:ph type="title"/>
          </p:nvPr>
        </p:nvSpPr>
        <p:spPr/>
        <p:txBody>
          <a:bodyPr/>
          <a:lstStyle/>
          <a:p>
            <a:r>
              <a:rPr lang="en-US" altLang="en-US" smtClean="0">
                <a:ea typeface="ＭＳ Ｐゴシック" panose="020B0600070205080204" pitchFamily="34" charset="-128"/>
              </a:rPr>
              <a:t>Example (larger timeslice)</a:t>
            </a:r>
          </a:p>
        </p:txBody>
      </p:sp>
      <p:pic>
        <p:nvPicPr>
          <p:cNvPr id="22531" name="Table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600" y="1638300"/>
            <a:ext cx="3771900" cy="226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Content Placeholder 9"/>
          <p:cNvGraphicFramePr>
            <a:graphicFrameLocks noGrp="1"/>
          </p:cNvGraphicFramePr>
          <p:nvPr>
            <p:ph idx="1"/>
          </p:nvPr>
        </p:nvGraphicFramePr>
        <p:xfrm>
          <a:off x="914400" y="4191000"/>
          <a:ext cx="8229606" cy="2133600"/>
        </p:xfrm>
        <a:graphic>
          <a:graphicData uri="http://schemas.openxmlformats.org/drawingml/2006/table">
            <a:tbl>
              <a:tblPr firstRow="1" bandRow="1">
                <a:tableStyleId>{5DA37D80-6434-44D0-A028-1B22A696006F}</a:tableStyleId>
              </a:tblPr>
              <a:tblGrid>
                <a:gridCol w="587829">
                  <a:extLst>
                    <a:ext uri="{9D8B030D-6E8A-4147-A177-3AD203B41FA5}">
                      <a16:colId xmlns:a16="http://schemas.microsoft.com/office/drawing/2014/main" val="20000"/>
                    </a:ext>
                  </a:extLst>
                </a:gridCol>
                <a:gridCol w="587829">
                  <a:extLst>
                    <a:ext uri="{9D8B030D-6E8A-4147-A177-3AD203B41FA5}">
                      <a16:colId xmlns:a16="http://schemas.microsoft.com/office/drawing/2014/main" val="20001"/>
                    </a:ext>
                  </a:extLst>
                </a:gridCol>
                <a:gridCol w="587829">
                  <a:extLst>
                    <a:ext uri="{9D8B030D-6E8A-4147-A177-3AD203B41FA5}">
                      <a16:colId xmlns:a16="http://schemas.microsoft.com/office/drawing/2014/main" val="20002"/>
                    </a:ext>
                  </a:extLst>
                </a:gridCol>
                <a:gridCol w="587829">
                  <a:extLst>
                    <a:ext uri="{9D8B030D-6E8A-4147-A177-3AD203B41FA5}">
                      <a16:colId xmlns:a16="http://schemas.microsoft.com/office/drawing/2014/main" val="20003"/>
                    </a:ext>
                  </a:extLst>
                </a:gridCol>
                <a:gridCol w="587829">
                  <a:extLst>
                    <a:ext uri="{9D8B030D-6E8A-4147-A177-3AD203B41FA5}">
                      <a16:colId xmlns:a16="http://schemas.microsoft.com/office/drawing/2014/main" val="20004"/>
                    </a:ext>
                  </a:extLst>
                </a:gridCol>
                <a:gridCol w="587829">
                  <a:extLst>
                    <a:ext uri="{9D8B030D-6E8A-4147-A177-3AD203B41FA5}">
                      <a16:colId xmlns:a16="http://schemas.microsoft.com/office/drawing/2014/main" val="20005"/>
                    </a:ext>
                  </a:extLst>
                </a:gridCol>
                <a:gridCol w="587829">
                  <a:extLst>
                    <a:ext uri="{9D8B030D-6E8A-4147-A177-3AD203B41FA5}">
                      <a16:colId xmlns:a16="http://schemas.microsoft.com/office/drawing/2014/main" val="20006"/>
                    </a:ext>
                  </a:extLst>
                </a:gridCol>
                <a:gridCol w="587829">
                  <a:extLst>
                    <a:ext uri="{9D8B030D-6E8A-4147-A177-3AD203B41FA5}">
                      <a16:colId xmlns:a16="http://schemas.microsoft.com/office/drawing/2014/main" val="20007"/>
                    </a:ext>
                  </a:extLst>
                </a:gridCol>
                <a:gridCol w="587829">
                  <a:extLst>
                    <a:ext uri="{9D8B030D-6E8A-4147-A177-3AD203B41FA5}">
                      <a16:colId xmlns:a16="http://schemas.microsoft.com/office/drawing/2014/main" val="20008"/>
                    </a:ext>
                  </a:extLst>
                </a:gridCol>
                <a:gridCol w="587829">
                  <a:extLst>
                    <a:ext uri="{9D8B030D-6E8A-4147-A177-3AD203B41FA5}">
                      <a16:colId xmlns:a16="http://schemas.microsoft.com/office/drawing/2014/main" val="20009"/>
                    </a:ext>
                  </a:extLst>
                </a:gridCol>
                <a:gridCol w="587829">
                  <a:extLst>
                    <a:ext uri="{9D8B030D-6E8A-4147-A177-3AD203B41FA5}">
                      <a16:colId xmlns:a16="http://schemas.microsoft.com/office/drawing/2014/main" val="20010"/>
                    </a:ext>
                  </a:extLst>
                </a:gridCol>
                <a:gridCol w="587829">
                  <a:extLst>
                    <a:ext uri="{9D8B030D-6E8A-4147-A177-3AD203B41FA5}">
                      <a16:colId xmlns:a16="http://schemas.microsoft.com/office/drawing/2014/main" val="20011"/>
                    </a:ext>
                  </a:extLst>
                </a:gridCol>
                <a:gridCol w="587829">
                  <a:extLst>
                    <a:ext uri="{9D8B030D-6E8A-4147-A177-3AD203B41FA5}">
                      <a16:colId xmlns:a16="http://schemas.microsoft.com/office/drawing/2014/main" val="20012"/>
                    </a:ext>
                  </a:extLst>
                </a:gridCol>
                <a:gridCol w="587829">
                  <a:extLst>
                    <a:ext uri="{9D8B030D-6E8A-4147-A177-3AD203B41FA5}">
                      <a16:colId xmlns:a16="http://schemas.microsoft.com/office/drawing/2014/main" val="20013"/>
                    </a:ext>
                  </a:extLst>
                </a:gridCol>
              </a:tblGrid>
              <a:tr h="381000">
                <a:tc>
                  <a:txBody>
                    <a:bodyPr/>
                    <a:lstStyle/>
                    <a:p>
                      <a:r>
                        <a:rPr lang="en-US" dirty="0"/>
                        <a:t>P1</a:t>
                      </a:r>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r>
                        <a:rPr lang="en-US" dirty="0"/>
                        <a:t>P2</a:t>
                      </a:r>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P3</a:t>
                      </a:r>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P4</a:t>
                      </a:r>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extLst>
                  <a:ext uri="{0D108BD9-81ED-4DB2-BD59-A6C34878D82A}">
                    <a16:rowId xmlns:a16="http://schemas.microsoft.com/office/drawing/2014/main" val="10000"/>
                  </a:ext>
                </a:extLst>
              </a:tr>
              <a:tr h="370840">
                <a:tc>
                  <a:txBody>
                    <a:bodyPr/>
                    <a:lstStyle/>
                    <a:p>
                      <a:endParaRPr lang="en-US" dirty="0"/>
                    </a:p>
                  </a:txBody>
                  <a:tcPr>
                    <a:solidFill>
                      <a:srgbClr val="FFC000"/>
                    </a:solidFill>
                  </a:tcPr>
                </a:tc>
                <a:tc>
                  <a:txBody>
                    <a:bodyPr/>
                    <a:lstStyle/>
                    <a:p>
                      <a:endParaRPr lang="en-US" dirty="0"/>
                    </a:p>
                  </a:txBody>
                  <a:tcPr>
                    <a:solidFill>
                      <a:srgbClr val="FFC000"/>
                    </a:solidFill>
                  </a:tcPr>
                </a:tc>
                <a:tc>
                  <a:txBody>
                    <a:bodyPr/>
                    <a:lstStyle/>
                    <a:p>
                      <a:endParaRPr lang="en-US" dirty="0">
                        <a:solidFill>
                          <a:srgbClr val="FFC000"/>
                        </a:solidFill>
                      </a:endParaRPr>
                    </a:p>
                  </a:txBody>
                  <a:tcPr>
                    <a:solidFill>
                      <a:srgbClr val="FFC000"/>
                    </a:solidFill>
                  </a:tcPr>
                </a:tc>
                <a:tc>
                  <a:txBody>
                    <a:bodyPr/>
                    <a:lstStyle/>
                    <a:p>
                      <a:endParaRPr lang="en-US" dirty="0">
                        <a:solidFill>
                          <a:srgbClr val="FFC000"/>
                        </a:solidFill>
                      </a:endParaRPr>
                    </a:p>
                  </a:txBody>
                  <a:tcPr>
                    <a:solidFill>
                      <a:srgbClr val="FFC000"/>
                    </a:solidFill>
                  </a:tcPr>
                </a:tc>
                <a:tc>
                  <a:txBody>
                    <a:bodyPr/>
                    <a:lstStyle/>
                    <a:p>
                      <a:endParaRPr lang="en-US" dirty="0">
                        <a:solidFill>
                          <a:srgbClr val="FFC000"/>
                        </a:solidFill>
                      </a:endParaRPr>
                    </a:p>
                  </a:txBody>
                  <a:tcPr>
                    <a:solidFill>
                      <a:srgbClr val="FFC000"/>
                    </a:solidFill>
                  </a:tcPr>
                </a:tc>
                <a:tc>
                  <a:txBody>
                    <a:bodyPr/>
                    <a:lstStyle/>
                    <a:p>
                      <a:endParaRPr lang="en-US" dirty="0"/>
                    </a:p>
                  </a:txBody>
                  <a:tcPr>
                    <a:solidFill>
                      <a:srgbClr val="0070C0"/>
                    </a:solidFill>
                  </a:tcPr>
                </a:tc>
                <a:tc>
                  <a:txBody>
                    <a:bodyPr/>
                    <a:lstStyle/>
                    <a:p>
                      <a:endParaRPr lang="en-US" dirty="0"/>
                    </a:p>
                  </a:txBody>
                  <a:tcPr>
                    <a:solidFill>
                      <a:srgbClr val="0070C0"/>
                    </a:solidFill>
                  </a:tcPr>
                </a:tc>
                <a:tc>
                  <a:txBody>
                    <a:bodyPr/>
                    <a:lstStyle/>
                    <a:p>
                      <a:endParaRPr lang="en-US" dirty="0"/>
                    </a:p>
                  </a:txBody>
                  <a:tcPr>
                    <a:solidFill>
                      <a:srgbClr val="0070C0"/>
                    </a:solidFill>
                  </a:tcPr>
                </a:tc>
                <a:tc>
                  <a:txBody>
                    <a:bodyPr/>
                    <a:lstStyle/>
                    <a:p>
                      <a:endParaRPr lang="en-US" dirty="0"/>
                    </a:p>
                  </a:txBody>
                  <a:tcPr>
                    <a:solidFill>
                      <a:srgbClr val="0070C0"/>
                    </a:solidFill>
                  </a:tcPr>
                </a:tc>
                <a:tc>
                  <a:txBody>
                    <a:bodyPr/>
                    <a:lstStyle/>
                    <a:p>
                      <a:endParaRPr lang="en-US" dirty="0"/>
                    </a:p>
                  </a:txBody>
                  <a:tcPr>
                    <a:solidFill>
                      <a:srgbClr val="00B050"/>
                    </a:solidFill>
                  </a:tcPr>
                </a:tc>
                <a:tc>
                  <a:txBody>
                    <a:bodyPr/>
                    <a:lstStyle/>
                    <a:p>
                      <a:endParaRPr lang="en-US" dirty="0"/>
                    </a:p>
                  </a:txBody>
                  <a:tcPr>
                    <a:solidFill>
                      <a:srgbClr val="00B050"/>
                    </a:solidFill>
                  </a:tcPr>
                </a:tc>
                <a:tc>
                  <a:txBody>
                    <a:bodyPr/>
                    <a:lstStyle/>
                    <a:p>
                      <a:endParaRPr lang="en-US" dirty="0"/>
                    </a:p>
                  </a:txBody>
                  <a:tcPr>
                    <a:solidFill>
                      <a:srgbClr val="FF0000"/>
                    </a:solidFill>
                  </a:tcPr>
                </a:tc>
                <a:tc>
                  <a:txBody>
                    <a:bodyPr/>
                    <a:lstStyle/>
                    <a:p>
                      <a:endParaRPr lang="en-US" dirty="0"/>
                    </a:p>
                  </a:txBody>
                  <a:tcPr>
                    <a:solidFill>
                      <a:srgbClr val="FFC000"/>
                    </a:solidFill>
                  </a:tcPr>
                </a:tc>
                <a:tc>
                  <a:txBody>
                    <a:bodyPr/>
                    <a:lstStyle/>
                    <a:p>
                      <a:endParaRPr lang="en-US" dirty="0"/>
                    </a:p>
                  </a:txBody>
                  <a:tcPr>
                    <a:solidFill>
                      <a:srgbClr val="FFC000"/>
                    </a:solidFill>
                  </a:tcPr>
                </a:tc>
                <a:extLst>
                  <a:ext uri="{0D108BD9-81ED-4DB2-BD59-A6C34878D82A}">
                    <a16:rowId xmlns:a16="http://schemas.microsoft.com/office/drawing/2014/main" val="10001"/>
                  </a:ext>
                </a:extLst>
              </a:tr>
              <a:tr h="370840">
                <a:tc>
                  <a:txBody>
                    <a:bodyPr/>
                    <a:lstStyle/>
                    <a:p>
                      <a:r>
                        <a:rPr lang="en-US" dirty="0"/>
                        <a:t>P1</a:t>
                      </a:r>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r>
                        <a:rPr lang="en-US" dirty="0"/>
                        <a:t>P2</a:t>
                      </a:r>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r>
                        <a:rPr lang="en-US" dirty="0"/>
                        <a:t>P3</a:t>
                      </a:r>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r>
                        <a:rPr lang="en-US" dirty="0"/>
                        <a:t>P4</a:t>
                      </a:r>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extLst>
                  <a:ext uri="{0D108BD9-81ED-4DB2-BD59-A6C34878D82A}">
                    <a16:rowId xmlns:a16="http://schemas.microsoft.com/office/drawing/2014/main" val="10002"/>
                  </a:ext>
                </a:extLst>
              </a:tr>
              <a:tr h="370840">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10003"/>
                  </a:ext>
                </a:extLst>
              </a:tr>
              <a:tr h="370840">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r>
                        <a:rPr lang="en-US" dirty="0"/>
                        <a:t>P2</a:t>
                      </a:r>
                    </a:p>
                  </a:txBody>
                  <a:tcPr>
                    <a:solidFill>
                      <a:schemeClr val="bg1"/>
                    </a:solidFill>
                  </a:tcPr>
                </a:tc>
                <a:tc>
                  <a:txBody>
                    <a:bodyPr/>
                    <a:lstStyle/>
                    <a:p>
                      <a:r>
                        <a:rPr lang="en-US" dirty="0"/>
                        <a:t>P2</a:t>
                      </a:r>
                    </a:p>
                    <a:p>
                      <a:r>
                        <a:rPr lang="en-US" dirty="0"/>
                        <a:t>P3</a:t>
                      </a:r>
                    </a:p>
                  </a:txBody>
                  <a:tcPr>
                    <a:solidFill>
                      <a:schemeClr val="bg1"/>
                    </a:solidFill>
                  </a:tcPr>
                </a:tc>
                <a:tc>
                  <a:txBody>
                    <a:bodyPr/>
                    <a:lstStyle/>
                    <a:p>
                      <a:r>
                        <a:rPr lang="en-US" dirty="0"/>
                        <a:t>P2</a:t>
                      </a:r>
                    </a:p>
                    <a:p>
                      <a:r>
                        <a:rPr lang="en-US" dirty="0"/>
                        <a:t>P3</a:t>
                      </a:r>
                    </a:p>
                  </a:txBody>
                  <a:tcPr>
                    <a:solidFill>
                      <a:schemeClr val="bg1"/>
                    </a:solidFill>
                  </a:tcPr>
                </a:tc>
                <a:tc>
                  <a:txBody>
                    <a:bodyPr/>
                    <a:lstStyle/>
                    <a:p>
                      <a:r>
                        <a:rPr lang="en-US" dirty="0"/>
                        <a:t>P3</a:t>
                      </a:r>
                    </a:p>
                    <a:p>
                      <a:r>
                        <a:rPr lang="en-US" dirty="0"/>
                        <a:t>P1</a:t>
                      </a:r>
                    </a:p>
                  </a:txBody>
                  <a:tcPr>
                    <a:solidFill>
                      <a:schemeClr val="bg1"/>
                    </a:solidFill>
                  </a:tcPr>
                </a:tc>
                <a:tc>
                  <a:txBody>
                    <a:bodyPr/>
                    <a:lstStyle/>
                    <a:p>
                      <a:r>
                        <a:rPr lang="en-US" dirty="0"/>
                        <a:t>P3</a:t>
                      </a:r>
                    </a:p>
                    <a:p>
                      <a:r>
                        <a:rPr lang="en-US" dirty="0"/>
                        <a:t>P1</a:t>
                      </a:r>
                    </a:p>
                  </a:txBody>
                  <a:tcPr>
                    <a:solidFill>
                      <a:schemeClr val="bg1"/>
                    </a:solidFill>
                  </a:tcPr>
                </a:tc>
                <a:tc>
                  <a:txBody>
                    <a:bodyPr/>
                    <a:lstStyle/>
                    <a:p>
                      <a:r>
                        <a:rPr lang="en-US" dirty="0"/>
                        <a:t>P3</a:t>
                      </a:r>
                    </a:p>
                    <a:p>
                      <a:r>
                        <a:rPr lang="en-US" dirty="0"/>
                        <a:t>P1</a:t>
                      </a:r>
                    </a:p>
                  </a:txBody>
                  <a:tcPr>
                    <a:solidFill>
                      <a:schemeClr val="bg1"/>
                    </a:solidFill>
                  </a:tcPr>
                </a:tc>
                <a:tc>
                  <a:txBody>
                    <a:bodyPr/>
                    <a:lstStyle/>
                    <a:p>
                      <a:r>
                        <a:rPr lang="en-US" dirty="0"/>
                        <a:t>P3</a:t>
                      </a:r>
                    </a:p>
                    <a:p>
                      <a:r>
                        <a:rPr lang="en-US" dirty="0"/>
                        <a:t>P1</a:t>
                      </a:r>
                    </a:p>
                  </a:txBody>
                  <a:tcP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P4</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P1</a:t>
                      </a:r>
                    </a:p>
                  </a:txBody>
                  <a:tcP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P4</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P1</a:t>
                      </a:r>
                    </a:p>
                  </a:txBody>
                  <a:tcPr>
                    <a:solidFill>
                      <a:schemeClr val="bg1"/>
                    </a:solidFill>
                  </a:tcPr>
                </a:tc>
                <a:tc>
                  <a:txBody>
                    <a:bodyPr/>
                    <a:lstStyle/>
                    <a:p>
                      <a:r>
                        <a:rPr lang="en-US" dirty="0"/>
                        <a:t>P1</a:t>
                      </a:r>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10004"/>
                  </a:ext>
                </a:extLst>
              </a:tr>
            </a:tbl>
          </a:graphicData>
        </a:graphic>
      </p:graphicFrame>
      <p:sp>
        <p:nvSpPr>
          <p:cNvPr id="11" name="Rectangle 10"/>
          <p:cNvSpPr/>
          <p:nvPr/>
        </p:nvSpPr>
        <p:spPr>
          <a:xfrm>
            <a:off x="914400" y="5334000"/>
            <a:ext cx="8229600" cy="3413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2625" name="TextBox 11"/>
          <p:cNvSpPr txBox="1">
            <a:spLocks noChangeArrowheads="1"/>
          </p:cNvSpPr>
          <p:nvPr/>
        </p:nvSpPr>
        <p:spPr bwMode="auto">
          <a:xfrm>
            <a:off x="76200" y="4191000"/>
            <a:ext cx="83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Arrival</a:t>
            </a:r>
          </a:p>
        </p:txBody>
      </p:sp>
      <p:sp>
        <p:nvSpPr>
          <p:cNvPr id="22626" name="TextBox 12"/>
          <p:cNvSpPr txBox="1">
            <a:spLocks noChangeArrowheads="1"/>
          </p:cNvSpPr>
          <p:nvPr/>
        </p:nvSpPr>
        <p:spPr bwMode="auto">
          <a:xfrm>
            <a:off x="-120650" y="4964113"/>
            <a:ext cx="11477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schedule</a:t>
            </a:r>
          </a:p>
        </p:txBody>
      </p:sp>
      <p:sp>
        <p:nvSpPr>
          <p:cNvPr id="22627" name="TextBox 13"/>
          <p:cNvSpPr txBox="1">
            <a:spLocks noChangeArrowheads="1"/>
          </p:cNvSpPr>
          <p:nvPr/>
        </p:nvSpPr>
        <p:spPr bwMode="auto">
          <a:xfrm>
            <a:off x="203200" y="5649913"/>
            <a:ext cx="711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FIFO</a:t>
            </a:r>
          </a:p>
        </p:txBody>
      </p:sp>
      <p:sp>
        <p:nvSpPr>
          <p:cNvPr id="22628" name="TextBox 14"/>
          <p:cNvSpPr txBox="1">
            <a:spLocks noChangeArrowheads="1"/>
          </p:cNvSpPr>
          <p:nvPr/>
        </p:nvSpPr>
        <p:spPr bwMode="auto">
          <a:xfrm>
            <a:off x="6172200" y="1447800"/>
            <a:ext cx="2706688"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Average Waiting time </a:t>
            </a:r>
          </a:p>
          <a:p>
            <a:pPr eaLnBrk="1" hangingPunct="1">
              <a:spcBef>
                <a:spcPct val="0"/>
              </a:spcBef>
              <a:buFontTx/>
              <a:buNone/>
            </a:pPr>
            <a:r>
              <a:rPr lang="en-US" altLang="en-US" sz="1800"/>
              <a:t>= (7 + 3 + 6 + 2) / 4</a:t>
            </a:r>
          </a:p>
          <a:p>
            <a:pPr eaLnBrk="1" hangingPunct="1">
              <a:spcBef>
                <a:spcPct val="0"/>
              </a:spcBef>
              <a:buFontTx/>
              <a:buNone/>
            </a:pPr>
            <a:r>
              <a:rPr lang="en-US" altLang="en-US" sz="1800"/>
              <a:t>= 4.25</a:t>
            </a:r>
          </a:p>
          <a:p>
            <a:pPr eaLnBrk="1" hangingPunct="1">
              <a:spcBef>
                <a:spcPct val="0"/>
              </a:spcBef>
              <a:buFontTx/>
              <a:buNone/>
            </a:pPr>
            <a:endParaRPr lang="en-US" altLang="en-US" sz="1800"/>
          </a:p>
          <a:p>
            <a:pPr eaLnBrk="1" hangingPunct="1">
              <a:spcBef>
                <a:spcPct val="0"/>
              </a:spcBef>
              <a:buFontTx/>
              <a:buNone/>
            </a:pPr>
            <a:r>
              <a:rPr lang="en-US" altLang="en-US" sz="1800"/>
              <a:t>Average Response Time</a:t>
            </a:r>
          </a:p>
          <a:p>
            <a:pPr eaLnBrk="1" hangingPunct="1">
              <a:spcBef>
                <a:spcPct val="0"/>
              </a:spcBef>
              <a:buFontTx/>
              <a:buNone/>
            </a:pPr>
            <a:r>
              <a:rPr lang="en-US" altLang="en-US" sz="1800"/>
              <a:t>= (0 + 3 + 6 + 2) / 4</a:t>
            </a:r>
          </a:p>
          <a:p>
            <a:pPr eaLnBrk="1" hangingPunct="1">
              <a:spcBef>
                <a:spcPct val="0"/>
              </a:spcBef>
              <a:buFontTx/>
              <a:buNone/>
            </a:pPr>
            <a:r>
              <a:rPr lang="en-US" altLang="en-US" sz="1800"/>
              <a:t>= 2.75</a:t>
            </a:r>
          </a:p>
          <a:p>
            <a:pPr eaLnBrk="1" hangingPunct="1">
              <a:spcBef>
                <a:spcPct val="0"/>
              </a:spcBef>
              <a:buFontTx/>
              <a:buNone/>
            </a:pPr>
            <a:endParaRPr lang="en-US" altLang="en-US" sz="1800"/>
          </a:p>
          <a:p>
            <a:pPr eaLnBrk="1" hangingPunct="1">
              <a:spcBef>
                <a:spcPct val="0"/>
              </a:spcBef>
              <a:buFontTx/>
              <a:buNone/>
            </a:pPr>
            <a:r>
              <a:rPr lang="en-US" altLang="en-US" sz="1800"/>
              <a:t>#Context Switches = 4</a:t>
            </a:r>
          </a:p>
        </p:txBody>
      </p:sp>
      <p:sp>
        <p:nvSpPr>
          <p:cNvPr id="22629" name="TextBox 15"/>
          <p:cNvSpPr txBox="1">
            <a:spLocks noChangeArrowheads="1"/>
          </p:cNvSpPr>
          <p:nvPr/>
        </p:nvSpPr>
        <p:spPr bwMode="auto">
          <a:xfrm>
            <a:off x="4419600" y="1295400"/>
            <a:ext cx="1920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a:t>Time slice = 5 </a:t>
            </a:r>
          </a:p>
        </p:txBody>
      </p:sp>
      <p:sp>
        <p:nvSpPr>
          <p:cNvPr id="22630" name="Slide Number Placeholder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fld id="{C4F788EF-EBAB-49FF-AD15-2068B04218D4}" type="slidenum">
              <a:rPr lang="en-US" altLang="en-US" sz="1400" smtClean="0">
                <a:solidFill>
                  <a:schemeClr val="bg2"/>
                </a:solidFill>
              </a:rPr>
              <a:pPr>
                <a:spcBef>
                  <a:spcPct val="0"/>
                </a:spcBef>
                <a:buFontTx/>
                <a:buNone/>
              </a:pPr>
              <a:t>35</a:t>
            </a:fld>
            <a:endParaRPr lang="en-US" altLang="en-US" sz="1400" smtClean="0">
              <a:solidFill>
                <a:schemeClr val="bg2"/>
              </a:solidFill>
            </a:endParaRPr>
          </a:p>
        </p:txBody>
      </p:sp>
      <p:sp>
        <p:nvSpPr>
          <p:cNvPr id="22631" name="TextBox 17"/>
          <p:cNvSpPr txBox="1">
            <a:spLocks noChangeArrowheads="1"/>
          </p:cNvSpPr>
          <p:nvPr/>
        </p:nvSpPr>
        <p:spPr bwMode="auto">
          <a:xfrm>
            <a:off x="914400" y="6310313"/>
            <a:ext cx="74691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t>Lesser context switches but looks more like FCFS (bad response time) </a:t>
            </a:r>
          </a:p>
        </p:txBody>
      </p:sp>
    </p:spTree>
    <p:extLst>
      <p:ext uri="{BB962C8B-B14F-4D97-AF65-F5344CB8AC3E}">
        <p14:creationId xmlns:p14="http://schemas.microsoft.com/office/powerpoint/2010/main" val="897053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noChangeArrowheads="1"/>
          </p:cNvSpPr>
          <p:nvPr>
            <p:ph type="title"/>
          </p:nvPr>
        </p:nvSpPr>
        <p:spPr/>
        <p:txBody>
          <a:bodyPr/>
          <a:lstStyle/>
          <a:p>
            <a:r>
              <a:rPr lang="en-US" altLang="en-US" smtClean="0">
                <a:ea typeface="ＭＳ Ｐゴシック" panose="020B0600070205080204" pitchFamily="34" charset="-128"/>
              </a:rPr>
              <a:t>Round Robin Scheduling</a:t>
            </a:r>
          </a:p>
        </p:txBody>
      </p:sp>
      <p:sp>
        <p:nvSpPr>
          <p:cNvPr id="23555" name="Content Placeholder 2"/>
          <p:cNvSpPr>
            <a:spLocks noGrp="1" noChangeArrowheads="1"/>
          </p:cNvSpPr>
          <p:nvPr>
            <p:ph idx="1"/>
          </p:nvPr>
        </p:nvSpPr>
        <p:spPr/>
        <p:txBody>
          <a:bodyPr/>
          <a:lstStyle/>
          <a:p>
            <a:r>
              <a:rPr lang="en-US" altLang="en-US" sz="2800" smtClean="0">
                <a:solidFill>
                  <a:srgbClr val="0000CC"/>
                </a:solidFill>
                <a:ea typeface="ＭＳ Ｐゴシック" panose="020B0600070205080204" pitchFamily="34" charset="-128"/>
              </a:rPr>
              <a:t>Advantages</a:t>
            </a:r>
          </a:p>
          <a:p>
            <a:pPr lvl="1"/>
            <a:r>
              <a:rPr lang="en-US" altLang="en-US" sz="2400" smtClean="0">
                <a:ea typeface="Arial" panose="020B0604020202020204" pitchFamily="34" charset="0"/>
              </a:rPr>
              <a:t>Fair (Each process gets a fair chance to run on the CPU)</a:t>
            </a:r>
          </a:p>
          <a:p>
            <a:pPr lvl="1"/>
            <a:r>
              <a:rPr lang="en-US" altLang="en-US" sz="2400" smtClean="0">
                <a:ea typeface="Arial" panose="020B0604020202020204" pitchFamily="34" charset="0"/>
              </a:rPr>
              <a:t>Low average wait time, when burst times vary </a:t>
            </a:r>
          </a:p>
          <a:p>
            <a:pPr lvl="1"/>
            <a:r>
              <a:rPr lang="en-US" altLang="en-US" sz="2400" smtClean="0">
                <a:ea typeface="Arial" panose="020B0604020202020204" pitchFamily="34" charset="0"/>
              </a:rPr>
              <a:t>Faster response time</a:t>
            </a:r>
          </a:p>
          <a:p>
            <a:r>
              <a:rPr lang="en-US" altLang="en-US" sz="2800" smtClean="0">
                <a:solidFill>
                  <a:srgbClr val="0000CC"/>
                </a:solidFill>
                <a:ea typeface="ＭＳ Ｐゴシック" panose="020B0600070205080204" pitchFamily="34" charset="-128"/>
              </a:rPr>
              <a:t>Disadvantages</a:t>
            </a:r>
          </a:p>
          <a:p>
            <a:pPr lvl="1"/>
            <a:r>
              <a:rPr lang="en-US" altLang="en-US" sz="2400" smtClean="0">
                <a:ea typeface="Arial" panose="020B0604020202020204" pitchFamily="34" charset="0"/>
              </a:rPr>
              <a:t>Increased context switching</a:t>
            </a:r>
          </a:p>
          <a:p>
            <a:pPr lvl="2"/>
            <a:r>
              <a:rPr lang="en-US" altLang="en-US" sz="2000" smtClean="0">
                <a:ea typeface="Arial" panose="020B0604020202020204" pitchFamily="34" charset="0"/>
              </a:rPr>
              <a:t>Context switches are overheads!!!</a:t>
            </a:r>
          </a:p>
          <a:p>
            <a:pPr lvl="1"/>
            <a:r>
              <a:rPr lang="en-US" altLang="en-US" sz="2400" smtClean="0">
                <a:ea typeface="Arial" panose="020B0604020202020204" pitchFamily="34" charset="0"/>
              </a:rPr>
              <a:t>High average wait time, when burst times have equal lengths</a:t>
            </a:r>
          </a:p>
          <a:p>
            <a:pPr lvl="2"/>
            <a:endParaRPr lang="en-US" altLang="en-US" sz="2000" smtClean="0">
              <a:ea typeface="Arial" panose="020B0604020202020204" pitchFamily="34" charset="0"/>
            </a:endParaRPr>
          </a:p>
        </p:txBody>
      </p:sp>
      <p:sp>
        <p:nvSpPr>
          <p:cNvPr id="23556" name="Slide Number Placeholder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fld id="{55844751-36AD-49A3-B414-15803142A0E7}" type="slidenum">
              <a:rPr lang="en-US" altLang="en-US" sz="1400" smtClean="0">
                <a:solidFill>
                  <a:schemeClr val="bg2"/>
                </a:solidFill>
              </a:rPr>
              <a:pPr>
                <a:spcBef>
                  <a:spcPct val="0"/>
                </a:spcBef>
                <a:buFontTx/>
                <a:buNone/>
              </a:pPr>
              <a:t>36</a:t>
            </a:fld>
            <a:endParaRPr lang="en-US" altLang="en-US" sz="1400" smtClean="0">
              <a:solidFill>
                <a:schemeClr val="bg2"/>
              </a:solidFill>
            </a:endParaRPr>
          </a:p>
        </p:txBody>
      </p:sp>
    </p:spTree>
    <p:extLst>
      <p:ext uri="{BB962C8B-B14F-4D97-AF65-F5344CB8AC3E}">
        <p14:creationId xmlns:p14="http://schemas.microsoft.com/office/powerpoint/2010/main" val="148762444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Need to adjust time slice</a:t>
            </a:r>
            <a:endParaRPr lang="en-IN" dirty="0"/>
          </a:p>
        </p:txBody>
      </p:sp>
      <p:sp>
        <p:nvSpPr>
          <p:cNvPr id="3" name="Content Placeholder 2"/>
          <p:cNvSpPr>
            <a:spLocks noGrp="1"/>
          </p:cNvSpPr>
          <p:nvPr>
            <p:ph idx="1"/>
          </p:nvPr>
        </p:nvSpPr>
        <p:spPr/>
        <p:txBody>
          <a:bodyPr/>
          <a:lstStyle/>
          <a:p>
            <a:r>
              <a:rPr lang="en-US" dirty="0" smtClean="0"/>
              <a:t>Depends on nature of application</a:t>
            </a:r>
          </a:p>
          <a:p>
            <a:endParaRPr lang="en-US" dirty="0"/>
          </a:p>
          <a:p>
            <a:r>
              <a:rPr lang="en-US" dirty="0" smtClean="0"/>
              <a:t>Response time important </a:t>
            </a:r>
            <a:r>
              <a:rPr lang="en-US" dirty="0" smtClean="0">
                <a:sym typeface="Wingdings" panose="05000000000000000000" pitchFamily="2" charset="2"/>
              </a:rPr>
              <a:t> shorter time slice</a:t>
            </a:r>
          </a:p>
          <a:p>
            <a:endParaRPr lang="en-US" dirty="0">
              <a:sym typeface="Wingdings" panose="05000000000000000000" pitchFamily="2" charset="2"/>
            </a:endParaRPr>
          </a:p>
          <a:p>
            <a:r>
              <a:rPr lang="en-US" dirty="0" smtClean="0">
                <a:sym typeface="Wingdings" panose="05000000000000000000" pitchFamily="2" charset="2"/>
              </a:rPr>
              <a:t>Relook</a:t>
            </a:r>
            <a:endParaRPr lang="en-IN" dirty="0"/>
          </a:p>
        </p:txBody>
      </p:sp>
      <p:sp>
        <p:nvSpPr>
          <p:cNvPr id="4" name="Slide Number Placeholder 3"/>
          <p:cNvSpPr>
            <a:spLocks noGrp="1"/>
          </p:cNvSpPr>
          <p:nvPr>
            <p:ph type="sldNum" sz="quarter" idx="4294967295"/>
          </p:nvPr>
        </p:nvSpPr>
        <p:spPr/>
        <p:txBody>
          <a:bodyPr/>
          <a:lstStyle/>
          <a:p>
            <a:pPr>
              <a:defRPr/>
            </a:pPr>
            <a:fld id="{2454B9D3-F01D-4473-B4D0-E3F7713226C0}" type="slidenum">
              <a:rPr lang="en-US" altLang="en-US" smtClean="0"/>
              <a:pPr>
                <a:defRPr/>
              </a:pPr>
              <a:t>37</a:t>
            </a:fld>
            <a:endParaRPr lang="en-US" altLang="en-US"/>
          </a:p>
        </p:txBody>
      </p:sp>
    </p:spTree>
    <p:extLst>
      <p:ext uri="{BB962C8B-B14F-4D97-AF65-F5344CB8AC3E}">
        <p14:creationId xmlns:p14="http://schemas.microsoft.com/office/powerpoint/2010/main" val="302246023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14D05664-D904-4350-AFC8-65EA9CF0431F}"/>
              </a:ext>
            </a:extLst>
          </p:cNvPr>
          <p:cNvSpPr>
            <a:spLocks noGrp="1" noChangeArrowheads="1"/>
          </p:cNvSpPr>
          <p:nvPr>
            <p:ph type="title"/>
          </p:nvPr>
        </p:nvSpPr>
        <p:spPr>
          <a:xfrm>
            <a:off x="1285078" y="183273"/>
            <a:ext cx="7829550" cy="525462"/>
          </a:xfrm>
        </p:spPr>
        <p:txBody>
          <a:bodyPr/>
          <a:lstStyle/>
          <a:p>
            <a:pPr eaLnBrk="1" hangingPunct="1"/>
            <a:r>
              <a:rPr lang="en-US" altLang="en-US" sz="3000" dirty="0"/>
              <a:t>Time Quantum and Context Switch Time</a:t>
            </a:r>
          </a:p>
        </p:txBody>
      </p:sp>
      <p:pic>
        <p:nvPicPr>
          <p:cNvPr id="44034" name="Picture 1">
            <a:extLst>
              <a:ext uri="{FF2B5EF4-FFF2-40B4-BE49-F238E27FC236}">
                <a16:creationId xmlns:a16="http://schemas.microsoft.com/office/drawing/2014/main" id="{3018707B-932C-4506-B190-526E13C485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68450" y="1890713"/>
            <a:ext cx="6630988"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A4B4E05D-43D4-46FF-8EED-AA150E4C753C}"/>
              </a:ext>
            </a:extLst>
          </p:cNvPr>
          <p:cNvSpPr>
            <a:spLocks noGrp="1" noChangeArrowheads="1"/>
          </p:cNvSpPr>
          <p:nvPr>
            <p:ph type="title"/>
          </p:nvPr>
        </p:nvSpPr>
        <p:spPr>
          <a:xfrm>
            <a:off x="782711" y="260322"/>
            <a:ext cx="8722438" cy="457200"/>
          </a:xfrm>
        </p:spPr>
        <p:txBody>
          <a:bodyPr/>
          <a:lstStyle/>
          <a:p>
            <a:pPr eaLnBrk="1" hangingPunct="1"/>
            <a:r>
              <a:rPr lang="en-US" altLang="en-US" sz="2600" dirty="0"/>
              <a:t>Turnaround Time Varies With The Time Quantum</a:t>
            </a:r>
          </a:p>
        </p:txBody>
      </p:sp>
      <p:sp>
        <p:nvSpPr>
          <p:cNvPr id="46082" name="TextBox 3">
            <a:extLst>
              <a:ext uri="{FF2B5EF4-FFF2-40B4-BE49-F238E27FC236}">
                <a16:creationId xmlns:a16="http://schemas.microsoft.com/office/drawing/2014/main" id="{39A4C5F4-2866-44DE-AC4E-665A67CEF2FC}"/>
              </a:ext>
            </a:extLst>
          </p:cNvPr>
          <p:cNvSpPr txBox="1">
            <a:spLocks noChangeArrowheads="1"/>
          </p:cNvSpPr>
          <p:nvPr/>
        </p:nvSpPr>
        <p:spPr bwMode="auto">
          <a:xfrm>
            <a:off x="6167438" y="3354388"/>
            <a:ext cx="23129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300">
                <a:latin typeface="Verdana" panose="020B0604030504040204" pitchFamily="34" charset="0"/>
              </a:rPr>
              <a:t>80% of CPU bursts should be shorter than q</a:t>
            </a:r>
          </a:p>
        </p:txBody>
      </p:sp>
      <p:pic>
        <p:nvPicPr>
          <p:cNvPr id="46083" name="Picture 1">
            <a:extLst>
              <a:ext uri="{FF2B5EF4-FFF2-40B4-BE49-F238E27FC236}">
                <a16:creationId xmlns:a16="http://schemas.microsoft.com/office/drawing/2014/main" id="{D2AB9074-3E6B-4C59-9AF1-F5390D98DA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4588" y="1557338"/>
            <a:ext cx="4684712" cy="389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noChangeArrowheads="1"/>
          </p:cNvSpPr>
          <p:nvPr>
            <p:ph type="title"/>
          </p:nvPr>
        </p:nvSpPr>
        <p:spPr/>
        <p:txBody>
          <a:bodyPr/>
          <a:lstStyle/>
          <a:p>
            <a:r>
              <a:rPr lang="en-US" altLang="en-US" smtClean="0">
                <a:ea typeface="ＭＳ Ｐゴシック" panose="020B0600070205080204" pitchFamily="34" charset="-128"/>
              </a:rPr>
              <a:t>xv6 Scheduler Policy</a:t>
            </a:r>
          </a:p>
        </p:txBody>
      </p:sp>
      <p:sp>
        <p:nvSpPr>
          <p:cNvPr id="24579" name="Content Placeholder 2"/>
          <p:cNvSpPr>
            <a:spLocks noGrp="1" noChangeArrowheads="1"/>
          </p:cNvSpPr>
          <p:nvPr>
            <p:ph idx="1"/>
          </p:nvPr>
        </p:nvSpPr>
        <p:spPr>
          <a:xfrm>
            <a:off x="457200" y="1600200"/>
            <a:ext cx="2667000" cy="1600200"/>
          </a:xfrm>
        </p:spPr>
        <p:txBody>
          <a:bodyPr/>
          <a:lstStyle/>
          <a:p>
            <a:pPr>
              <a:buFontTx/>
              <a:buNone/>
            </a:pPr>
            <a:r>
              <a:rPr lang="en-US" altLang="en-US" sz="2000" smtClean="0">
                <a:ea typeface="ＭＳ Ｐゴシック" panose="020B0600070205080204" pitchFamily="34" charset="-128"/>
              </a:rPr>
              <a:t>Decided by the </a:t>
            </a:r>
          </a:p>
          <a:p>
            <a:pPr>
              <a:buFontTx/>
              <a:buNone/>
            </a:pPr>
            <a:r>
              <a:rPr lang="en-US" altLang="en-US" sz="2000" smtClean="0">
                <a:ea typeface="ＭＳ Ｐゴシック" panose="020B0600070205080204" pitchFamily="34" charset="-128"/>
              </a:rPr>
              <a:t>Scheduling Policy</a:t>
            </a:r>
            <a:endParaRPr lang="en-US" altLang="en-US" sz="1800" smtClean="0">
              <a:ea typeface="ＭＳ Ｐゴシック" panose="020B0600070205080204" pitchFamily="34" charset="-128"/>
            </a:endParaRPr>
          </a:p>
        </p:txBody>
      </p:sp>
      <p:sp>
        <p:nvSpPr>
          <p:cNvPr id="24580" name="Slide Number Placeholder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fld id="{DB51A717-140D-4428-90EA-A22736E0A9CD}" type="slidenum">
              <a:rPr lang="en-US" altLang="en-US" sz="1400" smtClean="0">
                <a:solidFill>
                  <a:schemeClr val="bg2"/>
                </a:solidFill>
              </a:rPr>
              <a:pPr>
                <a:spcBef>
                  <a:spcPct val="0"/>
                </a:spcBef>
                <a:buFontTx/>
                <a:buNone/>
              </a:pPr>
              <a:t>40</a:t>
            </a:fld>
            <a:endParaRPr lang="en-US" altLang="en-US" sz="1400" smtClean="0">
              <a:solidFill>
                <a:schemeClr val="bg2"/>
              </a:solidFill>
            </a:endParaRPr>
          </a:p>
        </p:txBody>
      </p:sp>
      <p:pic>
        <p:nvPicPr>
          <p:cNvPr id="2458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295400"/>
            <a:ext cx="4943475" cy="511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val 5"/>
          <p:cNvSpPr/>
          <p:nvPr/>
        </p:nvSpPr>
        <p:spPr>
          <a:xfrm>
            <a:off x="3124200" y="2667000"/>
            <a:ext cx="5029200" cy="990600"/>
          </a:xfrm>
          <a:prstGeom prst="ellipse">
            <a:avLst/>
          </a:prstGeom>
          <a:noFill/>
          <a:ln w="571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TextBox 6"/>
          <p:cNvSpPr txBox="1"/>
          <p:nvPr/>
        </p:nvSpPr>
        <p:spPr>
          <a:xfrm>
            <a:off x="0" y="2667000"/>
            <a:ext cx="3352800" cy="3970338"/>
          </a:xfrm>
          <a:prstGeom prst="rect">
            <a:avLst/>
          </a:prstGeom>
          <a:noFill/>
        </p:spPr>
        <p:txBody>
          <a:bodyPr>
            <a:spAutoFit/>
          </a:bodyPr>
          <a:lstStyle/>
          <a:p>
            <a:pPr eaLnBrk="1" hangingPunct="1">
              <a:defRPr/>
            </a:pPr>
            <a:r>
              <a:rPr lang="en-US" dirty="0">
                <a:latin typeface="Arial" charset="0"/>
                <a:ea typeface="+mn-ea"/>
              </a:rPr>
              <a:t>The xv6 schedule</a:t>
            </a:r>
          </a:p>
          <a:p>
            <a:pPr eaLnBrk="1" hangingPunct="1">
              <a:defRPr/>
            </a:pPr>
            <a:r>
              <a:rPr lang="en-US" dirty="0">
                <a:latin typeface="Arial" charset="0"/>
                <a:ea typeface="+mn-ea"/>
              </a:rPr>
              <a:t>Policy </a:t>
            </a:r>
          </a:p>
          <a:p>
            <a:pPr eaLnBrk="1" hangingPunct="1">
              <a:defRPr/>
            </a:pPr>
            <a:r>
              <a:rPr lang="en-US" dirty="0">
                <a:latin typeface="Arial" charset="0"/>
                <a:ea typeface="+mn-ea"/>
              </a:rPr>
              <a:t>--- </a:t>
            </a:r>
            <a:r>
              <a:rPr lang="en-US" b="1" dirty="0" err="1">
                <a:latin typeface="Arial" charset="0"/>
                <a:ea typeface="+mn-ea"/>
              </a:rPr>
              <a:t>Strawman</a:t>
            </a:r>
            <a:r>
              <a:rPr lang="en-US" b="1" dirty="0">
                <a:latin typeface="Arial" charset="0"/>
                <a:ea typeface="+mn-ea"/>
              </a:rPr>
              <a:t> Scheduler</a:t>
            </a:r>
          </a:p>
          <a:p>
            <a:pPr marL="58738" indent="288925" eaLnBrk="1" hangingPunct="1">
              <a:buFont typeface="Arial" pitchFamily="34" charset="0"/>
              <a:buChar char="•"/>
              <a:defRPr/>
            </a:pPr>
            <a:r>
              <a:rPr lang="en-US" dirty="0">
                <a:latin typeface="Arial" charset="0"/>
                <a:ea typeface="+mn-ea"/>
              </a:rPr>
              <a:t> organize processes in a list</a:t>
            </a:r>
          </a:p>
          <a:p>
            <a:pPr marL="58738" indent="288925" eaLnBrk="1" hangingPunct="1">
              <a:buFont typeface="Arial" pitchFamily="34" charset="0"/>
              <a:buChar char="•"/>
              <a:defRPr/>
            </a:pPr>
            <a:r>
              <a:rPr lang="en-US" dirty="0">
                <a:latin typeface="Arial" charset="0"/>
                <a:ea typeface="+mn-ea"/>
              </a:rPr>
              <a:t> pick the first one that</a:t>
            </a:r>
          </a:p>
          <a:p>
            <a:pPr marL="58738" indent="288925" eaLnBrk="1" hangingPunct="1">
              <a:defRPr/>
            </a:pPr>
            <a:r>
              <a:rPr lang="en-US" dirty="0">
                <a:latin typeface="Arial" charset="0"/>
                <a:ea typeface="+mn-ea"/>
              </a:rPr>
              <a:t>is </a:t>
            </a:r>
            <a:r>
              <a:rPr lang="en-US" dirty="0" err="1">
                <a:latin typeface="Arial" charset="0"/>
                <a:ea typeface="+mn-ea"/>
              </a:rPr>
              <a:t>runnable</a:t>
            </a:r>
            <a:endParaRPr lang="en-US" dirty="0">
              <a:latin typeface="Arial" charset="0"/>
              <a:ea typeface="+mn-ea"/>
            </a:endParaRPr>
          </a:p>
          <a:p>
            <a:pPr marL="58738" indent="288925" eaLnBrk="1" hangingPunct="1">
              <a:buFont typeface="Arial" pitchFamily="34" charset="0"/>
              <a:buChar char="•"/>
              <a:defRPr/>
            </a:pPr>
            <a:r>
              <a:rPr lang="en-US" dirty="0">
                <a:latin typeface="Arial" charset="0"/>
                <a:ea typeface="+mn-ea"/>
              </a:rPr>
              <a:t>put suspended task the   </a:t>
            </a:r>
          </a:p>
          <a:p>
            <a:pPr marL="290513" indent="57150" eaLnBrk="1" hangingPunct="1">
              <a:defRPr/>
            </a:pPr>
            <a:r>
              <a:rPr lang="en-US" dirty="0">
                <a:latin typeface="Arial" charset="0"/>
                <a:ea typeface="+mn-ea"/>
              </a:rPr>
              <a:t> end of the list</a:t>
            </a:r>
          </a:p>
          <a:p>
            <a:pPr eaLnBrk="1" hangingPunct="1">
              <a:defRPr/>
            </a:pPr>
            <a:r>
              <a:rPr lang="en-US" b="1" dirty="0">
                <a:latin typeface="Arial" charset="0"/>
                <a:ea typeface="+mn-ea"/>
              </a:rPr>
              <a:t>Far from ideal!!</a:t>
            </a:r>
          </a:p>
          <a:p>
            <a:pPr eaLnBrk="1" hangingPunct="1">
              <a:buFont typeface="Arial" pitchFamily="34" charset="0"/>
              <a:buChar char="•"/>
              <a:defRPr/>
            </a:pPr>
            <a:r>
              <a:rPr lang="en-US" dirty="0">
                <a:latin typeface="Arial" charset="0"/>
                <a:ea typeface="+mn-ea"/>
              </a:rPr>
              <a:t>     only round robin   </a:t>
            </a:r>
          </a:p>
          <a:p>
            <a:pPr eaLnBrk="1" hangingPunct="1">
              <a:defRPr/>
            </a:pPr>
            <a:r>
              <a:rPr lang="en-US" dirty="0">
                <a:latin typeface="Arial" charset="0"/>
                <a:ea typeface="+mn-ea"/>
              </a:rPr>
              <a:t>      scheduling policy</a:t>
            </a:r>
          </a:p>
          <a:p>
            <a:pPr eaLnBrk="1" hangingPunct="1">
              <a:buFont typeface="Arial" pitchFamily="34" charset="0"/>
              <a:buChar char="•"/>
              <a:defRPr/>
            </a:pPr>
            <a:r>
              <a:rPr lang="en-US" dirty="0">
                <a:latin typeface="Arial" charset="0"/>
                <a:ea typeface="+mn-ea"/>
              </a:rPr>
              <a:t>     does not support    </a:t>
            </a:r>
          </a:p>
          <a:p>
            <a:pPr eaLnBrk="1" hangingPunct="1">
              <a:defRPr/>
            </a:pPr>
            <a:r>
              <a:rPr lang="en-US" dirty="0">
                <a:latin typeface="Arial" charset="0"/>
                <a:ea typeface="+mn-ea"/>
              </a:rPr>
              <a:t>      priorities</a:t>
            </a:r>
          </a:p>
          <a:p>
            <a:pPr eaLnBrk="1" hangingPunct="1">
              <a:defRPr/>
            </a:pPr>
            <a:r>
              <a:rPr lang="en-US" b="1" dirty="0">
                <a:latin typeface="Arial" charset="0"/>
                <a:ea typeface="+mn-ea"/>
              </a:rPr>
              <a:t>  </a:t>
            </a:r>
          </a:p>
        </p:txBody>
      </p:sp>
      <p:cxnSp>
        <p:nvCxnSpPr>
          <p:cNvPr id="9" name="Straight Arrow Connector 8"/>
          <p:cNvCxnSpPr>
            <a:endCxn id="6" idx="2"/>
          </p:cNvCxnSpPr>
          <p:nvPr/>
        </p:nvCxnSpPr>
        <p:spPr>
          <a:xfrm>
            <a:off x="1981200" y="2895600"/>
            <a:ext cx="1143000" cy="266700"/>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66656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13672</TotalTime>
  <Words>1639</Words>
  <Application>Microsoft Office PowerPoint</Application>
  <PresentationFormat>On-screen Show (4:3)</PresentationFormat>
  <Paragraphs>456</Paragraphs>
  <Slides>40</Slides>
  <Notes>25</Notes>
  <HiddenSlides>2</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40</vt:i4>
      </vt:variant>
    </vt:vector>
  </HeadingPairs>
  <TitlesOfParts>
    <vt:vector size="52" baseType="lpstr">
      <vt:lpstr>ＭＳ Ｐゴシック</vt:lpstr>
      <vt:lpstr>ＭＳ Ｐゴシック</vt:lpstr>
      <vt:lpstr>Arial</vt:lpstr>
      <vt:lpstr>Helvetica</vt:lpstr>
      <vt:lpstr>Lucida Grande</vt:lpstr>
      <vt:lpstr>Monotype Sorts</vt:lpstr>
      <vt:lpstr>Symbol</vt:lpstr>
      <vt:lpstr>Times New Roman</vt:lpstr>
      <vt:lpstr>Verdana</vt:lpstr>
      <vt:lpstr>Webdings</vt:lpstr>
      <vt:lpstr>Wingdings</vt:lpstr>
      <vt:lpstr>os-8</vt:lpstr>
      <vt:lpstr>Chapter 5:  CPU Scheduling</vt:lpstr>
      <vt:lpstr>Review</vt:lpstr>
      <vt:lpstr>Review: Important Registers</vt:lpstr>
      <vt:lpstr>Process Switching</vt:lpstr>
      <vt:lpstr>User mode to Kernel mode and back</vt:lpstr>
      <vt:lpstr>CPU Scheduler</vt:lpstr>
      <vt:lpstr>Nature of processes</vt:lpstr>
      <vt:lpstr>Histogram of CPU-burst Times</vt:lpstr>
      <vt:lpstr>Preemptive and Nonpreemptive Scheduling</vt:lpstr>
      <vt:lpstr>Preemptive Scheduling and Race Conditions</vt:lpstr>
      <vt:lpstr>Dispatcher</vt:lpstr>
      <vt:lpstr>CPU Switch From Process to Process</vt:lpstr>
      <vt:lpstr>Context Switch</vt:lpstr>
      <vt:lpstr>Scheduling Criteria</vt:lpstr>
      <vt:lpstr>Scheduling Algorithm Optimization Criteria</vt:lpstr>
      <vt:lpstr>HyperThreading</vt:lpstr>
      <vt:lpstr>Linux code </vt:lpstr>
      <vt:lpstr>FCFS Scheduling (First Come First Serve)</vt:lpstr>
      <vt:lpstr>FCFS Example</vt:lpstr>
      <vt:lpstr>First- Come, First-Served (FCFS) Scheduling</vt:lpstr>
      <vt:lpstr>FCFS Scheduling (Cont.)</vt:lpstr>
      <vt:lpstr>FCFS Pros and Cons</vt:lpstr>
      <vt:lpstr>Shortest-Job-First (SJF) Scheduling</vt:lpstr>
      <vt:lpstr>Example of SJF</vt:lpstr>
      <vt:lpstr>Determining Length of Next CPU Burst</vt:lpstr>
      <vt:lpstr>Examples of Exponential Averaging</vt:lpstr>
      <vt:lpstr>Shortest Remaining Time First Scheduling</vt:lpstr>
      <vt:lpstr>SRTF Example</vt:lpstr>
      <vt:lpstr>Example of Shortest-remaining-time-first</vt:lpstr>
      <vt:lpstr>Round Robin Scheduling</vt:lpstr>
      <vt:lpstr>Round Robin Scheduling</vt:lpstr>
      <vt:lpstr>Round Robin (RR)</vt:lpstr>
      <vt:lpstr>Example of RR with Time Quantum = 4</vt:lpstr>
      <vt:lpstr>Example (smaller timeslice)</vt:lpstr>
      <vt:lpstr>Example (larger timeslice)</vt:lpstr>
      <vt:lpstr>Round Robin Scheduling</vt:lpstr>
      <vt:lpstr>Need to adjust time slice</vt:lpstr>
      <vt:lpstr>Time Quantum and Context Switch Time</vt:lpstr>
      <vt:lpstr>Turnaround Time Varies With The Time Quantum</vt:lpstr>
      <vt:lpstr>xv6 Scheduler Policy</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PC</cp:lastModifiedBy>
  <cp:revision>271</cp:revision>
  <cp:lastPrinted>2013-09-10T17:57:57Z</cp:lastPrinted>
  <dcterms:created xsi:type="dcterms:W3CDTF">2011-01-13T23:43:38Z</dcterms:created>
  <dcterms:modified xsi:type="dcterms:W3CDTF">2026-01-28T02:24:13Z</dcterms:modified>
</cp:coreProperties>
</file>
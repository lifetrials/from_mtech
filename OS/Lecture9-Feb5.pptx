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05" r:id="rId3"/>
    <p:sldId id="295" r:id="rId4"/>
    <p:sldId id="265" r:id="rId5"/>
    <p:sldId id="296" r:id="rId6"/>
    <p:sldId id="345" r:id="rId7"/>
    <p:sldId id="306" r:id="rId8"/>
    <p:sldId id="298" r:id="rId9"/>
    <p:sldId id="299" r:id="rId10"/>
    <p:sldId id="303" r:id="rId11"/>
    <p:sldId id="311" r:id="rId12"/>
    <p:sldId id="308" r:id="rId13"/>
    <p:sldId id="304" r:id="rId14"/>
    <p:sldId id="314" r:id="rId15"/>
    <p:sldId id="315" r:id="rId16"/>
    <p:sldId id="341" r:id="rId17"/>
    <p:sldId id="340" r:id="rId18"/>
    <p:sldId id="339" r:id="rId19"/>
    <p:sldId id="320" r:id="rId20"/>
    <p:sldId id="321" r:id="rId21"/>
    <p:sldId id="322" r:id="rId22"/>
    <p:sldId id="323" r:id="rId23"/>
    <p:sldId id="324" r:id="rId24"/>
    <p:sldId id="325" r:id="rId25"/>
    <p:sldId id="316" r:id="rId26"/>
    <p:sldId id="326" r:id="rId27"/>
    <p:sldId id="327" r:id="rId28"/>
    <p:sldId id="343" r:id="rId29"/>
    <p:sldId id="328" r:id="rId30"/>
    <p:sldId id="329" r:id="rId31"/>
    <p:sldId id="330" r:id="rId32"/>
    <p:sldId id="331" r:id="rId33"/>
    <p:sldId id="332" r:id="rId34"/>
    <p:sldId id="333" r:id="rId35"/>
    <p:sldId id="334" r:id="rId36"/>
    <p:sldId id="344" r:id="rId37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>
      <p:cViewPr varScale="1">
        <p:scale>
          <a:sx n="179" d="100"/>
          <a:sy n="179" d="100"/>
        </p:scale>
        <p:origin x="150" y="3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2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577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790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646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9915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4503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167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3151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1536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8144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8319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425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69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4608195" cy="360045"/>
          </a:xfrm>
          <a:custGeom>
            <a:avLst/>
            <a:gdLst/>
            <a:ahLst/>
            <a:cxnLst/>
            <a:rect l="l" t="t" r="r" b="b"/>
            <a:pathLst>
              <a:path w="4608195" h="360045">
                <a:moveTo>
                  <a:pt x="0" y="360045"/>
                </a:moveTo>
                <a:lnTo>
                  <a:pt x="4607940" y="360045"/>
                </a:lnTo>
                <a:lnTo>
                  <a:pt x="4607940" y="0"/>
                </a:lnTo>
                <a:lnTo>
                  <a:pt x="0" y="0"/>
                </a:lnTo>
                <a:lnTo>
                  <a:pt x="0" y="360045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075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873630" y="3345157"/>
            <a:ext cx="86106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1009" y="3345157"/>
            <a:ext cx="27051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56" y="1034161"/>
            <a:ext cx="4331335" cy="215444"/>
          </a:xfrm>
          <a:prstGeom prst="rect">
            <a:avLst/>
          </a:prstGeom>
          <a:solidFill>
            <a:srgbClr val="337F7F"/>
          </a:solidFill>
        </p:spPr>
        <p:txBody>
          <a:bodyPr vert="horz" wrap="square" lIns="0" tIns="0" rIns="0" bIns="0" rtlCol="0">
            <a:spAutoFit/>
          </a:bodyPr>
          <a:lstStyle/>
          <a:p>
            <a:pPr marL="1162685">
              <a:lnSpc>
                <a:spcPct val="100000"/>
              </a:lnSpc>
            </a:pP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 smtClean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r>
              <a:rPr lang="en-US" sz="1400" spc="10" dirty="0" smtClean="0">
                <a:solidFill>
                  <a:srgbClr val="FFFFFF"/>
                </a:solidFill>
                <a:latin typeface="Arial"/>
                <a:cs typeface="Arial"/>
              </a:rPr>
              <a:t>-2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1</a:t>
            </a:fld>
            <a:r>
              <a:rPr spc="-5" dirty="0"/>
              <a:t>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5137" y="2884400"/>
            <a:ext cx="20517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Slides taken from </a:t>
            </a:r>
          </a:p>
          <a:p>
            <a:r>
              <a:rPr lang="en-IN" sz="1100" dirty="0" err="1" smtClean="0"/>
              <a:t>Prof.</a:t>
            </a:r>
            <a:r>
              <a:rPr lang="en-IN" sz="1100" dirty="0" smtClean="0"/>
              <a:t> </a:t>
            </a:r>
            <a:r>
              <a:rPr lang="en-IN" sz="1100" dirty="0" err="1" smtClean="0"/>
              <a:t>Mandar</a:t>
            </a:r>
            <a:r>
              <a:rPr lang="en-IN" sz="1100" dirty="0" smtClean="0"/>
              <a:t> </a:t>
            </a:r>
            <a:r>
              <a:rPr lang="en-IN" sz="1100" dirty="0" err="1" smtClean="0"/>
              <a:t>Mitra</a:t>
            </a:r>
            <a:endParaRPr lang="en-IN" sz="11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Towards a better solution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1354217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b="0" dirty="0" smtClean="0"/>
              <a:t>Correct way to manage CS for 2 processes is to combine the 2 ideas we discussed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b="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b="0" dirty="0" smtClean="0"/>
              <a:t>Use both turn and </a:t>
            </a:r>
            <a:r>
              <a:rPr lang="en-US" b="0" dirty="0" err="1" smtClean="0"/>
              <a:t>inCS</a:t>
            </a:r>
            <a:r>
              <a:rPr lang="en-US" b="0" dirty="0" smtClean="0"/>
              <a:t> variables to manage to express your willingness to enter CS and manage turn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b="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b="0" dirty="0" smtClean="0"/>
              <a:t>Requires careful handling of the turn variable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5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Using ideas from both solutions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116" y="511175"/>
            <a:ext cx="5725133" cy="3090077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spc="-10" dirty="0"/>
              <a:t>Algorithm</a:t>
            </a:r>
            <a:r>
              <a:rPr lang="en-IN" sz="1000" spc="-5" dirty="0"/>
              <a:t> 2</a:t>
            </a:r>
            <a:r>
              <a:rPr lang="en-IN" sz="1000" b="0" spc="60" dirty="0" smtClean="0"/>
              <a:t>: Only one unlucky interleave is a problem, rest is fine</a:t>
            </a:r>
            <a:endParaRPr lang="en-IN" sz="1000" b="0" u="sng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spc="60" dirty="0" smtClean="0"/>
              <a:t>P0: </a:t>
            </a:r>
            <a:r>
              <a:rPr lang="en-IN" sz="1000" spc="60" dirty="0"/>
              <a:t>	</a:t>
            </a:r>
            <a:r>
              <a:rPr lang="en-IN" sz="1000" spc="60" dirty="0" smtClean="0"/>
              <a:t>	P1:</a:t>
            </a:r>
            <a:endParaRPr lang="en-IN" sz="10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spc="60" dirty="0" err="1"/>
              <a:t>inCS</a:t>
            </a:r>
            <a:r>
              <a:rPr lang="en-IN" sz="1000" spc="60" dirty="0"/>
              <a:t>[0] = </a:t>
            </a:r>
            <a:r>
              <a:rPr lang="en-IN" sz="1000" spc="60" dirty="0" smtClean="0"/>
              <a:t>1;		</a:t>
            </a:r>
            <a:r>
              <a:rPr lang="en-IN" sz="1000" spc="60" dirty="0" err="1" smtClean="0"/>
              <a:t>inCS</a:t>
            </a:r>
            <a:r>
              <a:rPr lang="en-IN" sz="1000" spc="60" dirty="0" smtClean="0"/>
              <a:t>[1] = 1;</a:t>
            </a:r>
            <a:endParaRPr lang="en-IN" sz="10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spc="60" dirty="0"/>
              <a:t>while (</a:t>
            </a:r>
            <a:r>
              <a:rPr lang="en-IN" sz="1000" spc="60" dirty="0" err="1"/>
              <a:t>inCS</a:t>
            </a:r>
            <a:r>
              <a:rPr lang="en-IN" sz="1000" spc="60" dirty="0"/>
              <a:t>[1] == 1); </a:t>
            </a:r>
            <a:r>
              <a:rPr lang="en-IN" sz="1000" spc="60" dirty="0" smtClean="0"/>
              <a:t>	while (</a:t>
            </a:r>
            <a:r>
              <a:rPr lang="en-IN" sz="1000" spc="60" dirty="0" err="1" smtClean="0"/>
              <a:t>inCS</a:t>
            </a:r>
            <a:r>
              <a:rPr lang="en-IN" sz="1000" spc="60" dirty="0" smtClean="0"/>
              <a:t>[0] == 1);</a:t>
            </a:r>
            <a:endParaRPr lang="en-IN" sz="10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spc="60" dirty="0"/>
              <a:t>S0</a:t>
            </a:r>
            <a:r>
              <a:rPr lang="en-IN" sz="1000" spc="60" dirty="0" smtClean="0"/>
              <a:t>;		S1;</a:t>
            </a:r>
            <a:endParaRPr lang="en-IN" sz="1000" spc="60" dirty="0"/>
          </a:p>
          <a:p>
            <a:r>
              <a:rPr lang="en-IN" sz="1000" dirty="0" err="1"/>
              <a:t>inCS</a:t>
            </a:r>
            <a:r>
              <a:rPr lang="en-IN" sz="1000" dirty="0"/>
              <a:t>[0] = 0; </a:t>
            </a:r>
            <a:r>
              <a:rPr lang="en-IN" sz="1000" dirty="0" smtClean="0"/>
              <a:t>		</a:t>
            </a:r>
            <a:r>
              <a:rPr lang="en-IN" sz="1000" dirty="0" err="1" smtClean="0"/>
              <a:t>inCS</a:t>
            </a:r>
            <a:r>
              <a:rPr lang="en-IN" sz="1000" dirty="0" smtClean="0"/>
              <a:t>[1] = 0;</a:t>
            </a:r>
            <a:endParaRPr lang="en-IN" sz="1000" dirty="0"/>
          </a:p>
          <a:p>
            <a:endParaRPr lang="en-IN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0" dirty="0" smtClean="0"/>
              <a:t>Both were relenting the other, wanted to be safe and none entered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Both were excessively polite to the other process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Some kind of a tie and nobody does anything in order to be safe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When there is a tie, we will use turn to break contention</a:t>
            </a:r>
            <a:endParaRPr lang="en-IN" b="0" dirty="0" smtClean="0"/>
          </a:p>
          <a:p>
            <a:endParaRPr lang="en-IN" b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619250" y="892175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48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60" dirty="0"/>
              <a:t>T</a:t>
            </a:r>
            <a:r>
              <a:rPr spc="5" dirty="0"/>
              <a:t>w</a:t>
            </a:r>
            <a:r>
              <a:rPr spc="10" dirty="0"/>
              <a:t>o-process</a:t>
            </a:r>
            <a:r>
              <a:rPr spc="5" dirty="0"/>
              <a:t> </a:t>
            </a:r>
            <a:r>
              <a:rPr spc="10" dirty="0"/>
              <a:t>solutions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5856" y="521302"/>
            <a:ext cx="4358386" cy="1375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Algorithm</a:t>
            </a:r>
            <a:r>
              <a:rPr spc="-5" dirty="0"/>
              <a:t> 1:</a:t>
            </a:r>
            <a:r>
              <a:rPr spc="65" dirty="0"/>
              <a:t> </a:t>
            </a:r>
            <a:r>
              <a:rPr spc="-5" dirty="0"/>
              <a:t>strict </a:t>
            </a:r>
            <a:r>
              <a:rPr spc="-10" dirty="0"/>
              <a:t>alternation</a:t>
            </a:r>
          </a:p>
          <a:p>
            <a:pPr marL="12700" marR="877569">
              <a:lnSpc>
                <a:spcPct val="205200"/>
              </a:lnSpc>
              <a:spcBef>
                <a:spcPts val="140"/>
              </a:spcBef>
            </a:pPr>
            <a:r>
              <a:rPr b="0" spc="10" dirty="0">
                <a:latin typeface="Arial"/>
                <a:cs typeface="Arial"/>
              </a:rPr>
              <a:t>shared 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180" dirty="0">
                <a:latin typeface="Arial"/>
                <a:cs typeface="Arial"/>
              </a:rPr>
              <a:t>int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90" dirty="0">
                <a:latin typeface="Arial"/>
                <a:cs typeface="Arial"/>
              </a:rPr>
              <a:t>turn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-75" dirty="0">
                <a:latin typeface="Arial"/>
                <a:cs typeface="Arial"/>
              </a:rPr>
              <a:t>=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110" dirty="0">
                <a:latin typeface="Arial"/>
                <a:cs typeface="Arial"/>
              </a:rPr>
              <a:t>0;</a:t>
            </a:r>
            <a:r>
              <a:rPr b="0" spc="70" dirty="0">
                <a:latin typeface="Arial"/>
                <a:cs typeface="Arial"/>
              </a:rPr>
              <a:t> </a:t>
            </a:r>
            <a:endParaRPr lang="en-IN" b="0" spc="70" dirty="0" smtClean="0">
              <a:latin typeface="Arial"/>
              <a:cs typeface="Arial"/>
            </a:endParaRPr>
          </a:p>
          <a:p>
            <a:r>
              <a:rPr lang="en-IN" b="0" dirty="0"/>
              <a:t>P</a:t>
            </a:r>
            <a:r>
              <a:rPr lang="en-IN" b="0" baseline="-25000" dirty="0"/>
              <a:t>0</a:t>
            </a:r>
            <a:r>
              <a:rPr lang="en-IN" b="0" dirty="0"/>
              <a:t>:	         P</a:t>
            </a:r>
            <a:r>
              <a:rPr lang="en-IN" b="0" baseline="-25000" dirty="0"/>
              <a:t>1</a:t>
            </a:r>
            <a:r>
              <a:rPr lang="en-IN" b="0" dirty="0"/>
              <a:t>: 	 	</a:t>
            </a:r>
          </a:p>
          <a:p>
            <a:r>
              <a:rPr lang="en-IN" b="0" dirty="0"/>
              <a:t>while (turn == 1);      while (turn == 0);</a:t>
            </a:r>
          </a:p>
          <a:p>
            <a:r>
              <a:rPr lang="en-IN" b="0" dirty="0"/>
              <a:t>S</a:t>
            </a:r>
            <a:r>
              <a:rPr lang="en-IN" b="0" baseline="-25000" dirty="0"/>
              <a:t>0</a:t>
            </a:r>
            <a:r>
              <a:rPr lang="en-IN" b="0" dirty="0"/>
              <a:t>;                            S</a:t>
            </a:r>
            <a:r>
              <a:rPr lang="en-IN" b="0" baseline="-25000" dirty="0"/>
              <a:t>1</a:t>
            </a:r>
            <a:r>
              <a:rPr lang="en-IN" b="0" dirty="0"/>
              <a:t>;                           </a:t>
            </a:r>
          </a:p>
          <a:p>
            <a:r>
              <a:rPr lang="en-IN" b="0" dirty="0"/>
              <a:t>turn = 1;                    turn = 0;</a:t>
            </a:r>
          </a:p>
          <a:p>
            <a:endParaRPr lang="en-IN" b="0" dirty="0"/>
          </a:p>
        </p:txBody>
      </p:sp>
      <p:sp>
        <p:nvSpPr>
          <p:cNvPr id="4" name="object 4"/>
          <p:cNvSpPr/>
          <p:nvPr/>
        </p:nvSpPr>
        <p:spPr>
          <a:xfrm>
            <a:off x="273938" y="2838577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7"/>
                </a:moveTo>
                <a:lnTo>
                  <a:pt x="72517" y="72517"/>
                </a:lnTo>
                <a:lnTo>
                  <a:pt x="72517" y="0"/>
                </a:lnTo>
                <a:lnTo>
                  <a:pt x="0" y="0"/>
                </a:lnTo>
                <a:lnTo>
                  <a:pt x="0" y="7251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3938" y="3061335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7"/>
                </a:moveTo>
                <a:lnTo>
                  <a:pt x="72517" y="72517"/>
                </a:lnTo>
                <a:lnTo>
                  <a:pt x="72517" y="0"/>
                </a:lnTo>
                <a:lnTo>
                  <a:pt x="0" y="0"/>
                </a:lnTo>
                <a:lnTo>
                  <a:pt x="0" y="7251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2970" y="2791744"/>
            <a:ext cx="1715135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900"/>
              </a:lnSpc>
            </a:pPr>
            <a:r>
              <a:rPr sz="1100" spc="-10" dirty="0">
                <a:latin typeface="Arial"/>
                <a:cs typeface="Arial"/>
              </a:rPr>
              <a:t>Mutual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xclusion </a:t>
            </a:r>
            <a:r>
              <a:rPr sz="1100" spc="-10" dirty="0">
                <a:latin typeface="Arial"/>
                <a:cs typeface="Arial"/>
              </a:rPr>
              <a:t>–</a:t>
            </a:r>
            <a:r>
              <a:rPr sz="1100" spc="-5" dirty="0">
                <a:latin typeface="Arial"/>
                <a:cs typeface="Arial"/>
              </a:rPr>
              <a:t> satisfied Pro</a:t>
            </a:r>
            <a:r>
              <a:rPr sz="1100" spc="-25" dirty="0">
                <a:latin typeface="Arial"/>
                <a:cs typeface="Arial"/>
              </a:rPr>
              <a:t>g</a:t>
            </a:r>
            <a:r>
              <a:rPr sz="1100" spc="-10" dirty="0">
                <a:latin typeface="Arial"/>
                <a:cs typeface="Arial"/>
              </a:rPr>
              <a:t>ress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–</a:t>
            </a:r>
            <a:r>
              <a:rPr sz="1100" spc="-5" dirty="0">
                <a:latin typeface="Arial"/>
                <a:cs typeface="Arial"/>
              </a:rPr>
              <a:t> not satisfied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ct val="100000"/>
              </a:lnSpc>
            </a:pPr>
            <a:r>
              <a:rPr spc="-5" dirty="0"/>
              <a:t>8 / 28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Using ideas from both solutions: turn breaks ties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5989194" cy="3107326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b="0" spc="60" dirty="0" smtClean="0"/>
              <a:t>/* Other </a:t>
            </a:r>
            <a:r>
              <a:rPr lang="en-IN" sz="1000" b="0" spc="60" dirty="0"/>
              <a:t>process using CS and it is other’s turn */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b="0" spc="60" dirty="0"/>
              <a:t>/*No contention: other not interested, I can enter*/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b="0" spc="60" dirty="0"/>
              <a:t>/*Both want to enter: if it is my turn, I can enter */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900" spc="60" dirty="0" smtClean="0"/>
              <a:t>P0: 	</a:t>
            </a:r>
            <a:r>
              <a:rPr lang="en-IN" sz="900" spc="60" dirty="0"/>
              <a:t>	</a:t>
            </a:r>
            <a:r>
              <a:rPr lang="en-IN" sz="900" spc="60" dirty="0" smtClean="0"/>
              <a:t>P1: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900" spc="60" dirty="0" err="1" smtClean="0"/>
              <a:t>inCS</a:t>
            </a:r>
            <a:r>
              <a:rPr lang="en-IN" sz="900" spc="60" dirty="0" smtClean="0"/>
              <a:t>[0</a:t>
            </a:r>
            <a:r>
              <a:rPr lang="en-IN" sz="900" spc="60" dirty="0"/>
              <a:t>] = </a:t>
            </a:r>
            <a:r>
              <a:rPr lang="en-IN" sz="900" spc="60" dirty="0" smtClean="0"/>
              <a:t>1;		</a:t>
            </a:r>
            <a:r>
              <a:rPr lang="en-IN" sz="900" spc="60" dirty="0" err="1" smtClean="0"/>
              <a:t>inCS</a:t>
            </a:r>
            <a:r>
              <a:rPr lang="en-IN" sz="900" spc="60" dirty="0" smtClean="0"/>
              <a:t>[1] =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spc="60" dirty="0" smtClean="0"/>
              <a:t>while </a:t>
            </a:r>
            <a:r>
              <a:rPr lang="en-IN" sz="700" spc="60" dirty="0"/>
              <a:t>(</a:t>
            </a:r>
            <a:r>
              <a:rPr lang="en-IN" sz="700" spc="60" dirty="0" err="1"/>
              <a:t>inCS</a:t>
            </a:r>
            <a:r>
              <a:rPr lang="en-IN" sz="700" spc="60" dirty="0"/>
              <a:t>[1] == </a:t>
            </a:r>
            <a:r>
              <a:rPr lang="en-IN" sz="700" spc="60" dirty="0" smtClean="0"/>
              <a:t>1 &amp;&amp; turn == 1);   while </a:t>
            </a:r>
            <a:r>
              <a:rPr lang="en-IN" sz="700" spc="60" dirty="0"/>
              <a:t>(</a:t>
            </a:r>
            <a:r>
              <a:rPr lang="en-IN" sz="700" spc="60" dirty="0" err="1" smtClean="0"/>
              <a:t>inCS</a:t>
            </a:r>
            <a:r>
              <a:rPr lang="en-IN" sz="700" spc="60" dirty="0" smtClean="0"/>
              <a:t>[0] </a:t>
            </a:r>
            <a:r>
              <a:rPr lang="en-IN" sz="700" spc="60" dirty="0"/>
              <a:t>== 1 &amp;&amp; turn </a:t>
            </a:r>
            <a:r>
              <a:rPr lang="en-IN" sz="700" spc="60" dirty="0" smtClean="0"/>
              <a:t>== 0);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900" spc="60" dirty="0" smtClean="0"/>
              <a:t>S0;			S1;</a:t>
            </a:r>
          </a:p>
          <a:p>
            <a:r>
              <a:rPr lang="en-IN" sz="900" dirty="0" err="1" smtClean="0"/>
              <a:t>inCS</a:t>
            </a:r>
            <a:r>
              <a:rPr lang="en-IN" sz="900" dirty="0" smtClean="0"/>
              <a:t>[0</a:t>
            </a:r>
            <a:r>
              <a:rPr lang="en-IN" sz="900" dirty="0"/>
              <a:t>] = 0; </a:t>
            </a:r>
            <a:r>
              <a:rPr lang="en-IN" sz="900" dirty="0" smtClean="0"/>
              <a:t>		</a:t>
            </a:r>
            <a:r>
              <a:rPr lang="en-IN" sz="900" dirty="0" err="1" smtClean="0"/>
              <a:t>inCS</a:t>
            </a:r>
            <a:r>
              <a:rPr lang="en-IN" sz="900" dirty="0" smtClean="0"/>
              <a:t>[1] = 0;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err="1"/>
              <a:t>inCS</a:t>
            </a:r>
            <a:r>
              <a:rPr lang="en-US" sz="1000" b="0" dirty="0"/>
              <a:t>[0] and </a:t>
            </a:r>
            <a:r>
              <a:rPr lang="en-US" sz="1000" b="0" dirty="0" err="1"/>
              <a:t>inCS</a:t>
            </a:r>
            <a:r>
              <a:rPr lang="en-US" sz="1000" b="0" dirty="0"/>
              <a:t>[1] are initialized to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Where to set turn?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To what value is P</a:t>
            </a:r>
            <a:r>
              <a:rPr lang="en-US" sz="1000" b="0" baseline="-25000" dirty="0" smtClean="0"/>
              <a:t>i</a:t>
            </a:r>
            <a:r>
              <a:rPr lang="en-US" sz="1000" b="0" dirty="0" smtClean="0"/>
              <a:t> going to initialize turn to?</a:t>
            </a:r>
            <a:endParaRPr lang="en-IN" sz="1000" b="0" dirty="0"/>
          </a:p>
          <a:p>
            <a:endParaRPr lang="en-IN" dirty="0" smtClean="0"/>
          </a:p>
          <a:p>
            <a:endParaRPr lang="en-IN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847850" y="1349375"/>
            <a:ext cx="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60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Using ideas from both solutions: turn breaks ties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5989194" cy="3107326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b="0" spc="60" dirty="0" smtClean="0"/>
              <a:t>/* Other </a:t>
            </a:r>
            <a:r>
              <a:rPr lang="en-IN" sz="1000" b="0" spc="60" dirty="0"/>
              <a:t>process using CS and it is other’s turn */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b="0" spc="60" dirty="0"/>
              <a:t>/*No contention: other not interested, I can enter*/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b="0" spc="60" dirty="0"/>
              <a:t>/*Both want to enter: if it is my turn, I can enter */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900" spc="60" dirty="0" smtClean="0"/>
              <a:t>P0: 	</a:t>
            </a:r>
            <a:r>
              <a:rPr lang="en-IN" sz="900" spc="60" dirty="0"/>
              <a:t>	</a:t>
            </a:r>
            <a:r>
              <a:rPr lang="en-IN" sz="900" spc="60" dirty="0" smtClean="0"/>
              <a:t>P1: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900" spc="60" dirty="0" err="1" smtClean="0"/>
              <a:t>inCS</a:t>
            </a:r>
            <a:r>
              <a:rPr lang="en-IN" sz="900" spc="60" dirty="0" smtClean="0"/>
              <a:t>[0</a:t>
            </a:r>
            <a:r>
              <a:rPr lang="en-IN" sz="900" spc="60" dirty="0"/>
              <a:t>] = </a:t>
            </a:r>
            <a:r>
              <a:rPr lang="en-IN" sz="900" spc="60" dirty="0" smtClean="0"/>
              <a:t>1;		</a:t>
            </a:r>
            <a:r>
              <a:rPr lang="en-IN" sz="900" spc="60" dirty="0" err="1" smtClean="0"/>
              <a:t>inCS</a:t>
            </a:r>
            <a:r>
              <a:rPr lang="en-IN" sz="900" spc="60" dirty="0" smtClean="0"/>
              <a:t>[1] =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spc="60" dirty="0" smtClean="0"/>
              <a:t>while </a:t>
            </a:r>
            <a:r>
              <a:rPr lang="en-IN" sz="700" spc="60" dirty="0"/>
              <a:t>(</a:t>
            </a:r>
            <a:r>
              <a:rPr lang="en-IN" sz="700" spc="60" dirty="0" err="1"/>
              <a:t>inCS</a:t>
            </a:r>
            <a:r>
              <a:rPr lang="en-IN" sz="700" spc="60" dirty="0"/>
              <a:t>[1] == </a:t>
            </a:r>
            <a:r>
              <a:rPr lang="en-IN" sz="700" spc="60" dirty="0" smtClean="0"/>
              <a:t>1 &amp;&amp; turn == 1);   while </a:t>
            </a:r>
            <a:r>
              <a:rPr lang="en-IN" sz="700" spc="60" dirty="0"/>
              <a:t>(</a:t>
            </a:r>
            <a:r>
              <a:rPr lang="en-IN" sz="700" spc="60" dirty="0" err="1" smtClean="0"/>
              <a:t>inCS</a:t>
            </a:r>
            <a:r>
              <a:rPr lang="en-IN" sz="700" spc="60" dirty="0" smtClean="0"/>
              <a:t>[0] </a:t>
            </a:r>
            <a:r>
              <a:rPr lang="en-IN" sz="700" spc="60" dirty="0"/>
              <a:t>== 1 &amp;&amp; turn </a:t>
            </a:r>
            <a:r>
              <a:rPr lang="en-IN" sz="700" spc="60" dirty="0" smtClean="0"/>
              <a:t>== 0);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900" spc="60" dirty="0" smtClean="0"/>
              <a:t>S0;			S1;</a:t>
            </a:r>
          </a:p>
          <a:p>
            <a:r>
              <a:rPr lang="en-IN" sz="900" dirty="0" err="1" smtClean="0"/>
              <a:t>inCS</a:t>
            </a:r>
            <a:r>
              <a:rPr lang="en-IN" sz="900" dirty="0" smtClean="0"/>
              <a:t>[0</a:t>
            </a:r>
            <a:r>
              <a:rPr lang="en-IN" sz="900" dirty="0"/>
              <a:t>] = 0; </a:t>
            </a:r>
            <a:r>
              <a:rPr lang="en-IN" sz="900" dirty="0" smtClean="0"/>
              <a:t>		</a:t>
            </a:r>
            <a:r>
              <a:rPr lang="en-IN" sz="900" dirty="0" err="1" smtClean="0"/>
              <a:t>inCS</a:t>
            </a:r>
            <a:r>
              <a:rPr lang="en-IN" sz="900" dirty="0" smtClean="0"/>
              <a:t>[1] = 0;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To what value is P</a:t>
            </a:r>
            <a:r>
              <a:rPr lang="en-US" sz="1000" b="0" baseline="-25000" dirty="0" smtClean="0"/>
              <a:t>i</a:t>
            </a:r>
            <a:r>
              <a:rPr lang="en-US" sz="1000" b="0" dirty="0" smtClean="0"/>
              <a:t> going to initialize turn to?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P0 to do </a:t>
            </a:r>
            <a:r>
              <a:rPr lang="en-US" sz="1000" b="0" dirty="0" smtClean="0">
                <a:solidFill>
                  <a:srgbClr val="FF0000"/>
                </a:solidFill>
              </a:rPr>
              <a:t>turn = 1</a:t>
            </a:r>
            <a:r>
              <a:rPr lang="en-US" sz="1000" b="0" dirty="0" smtClean="0"/>
              <a:t> and P1 to do </a:t>
            </a:r>
            <a:r>
              <a:rPr lang="en-US" sz="1000" b="0" dirty="0" smtClean="0">
                <a:solidFill>
                  <a:srgbClr val="FF0000"/>
                </a:solidFill>
              </a:rPr>
              <a:t>turn =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Where to do this?</a:t>
            </a:r>
            <a:endParaRPr lang="en-IN" sz="1000" b="0" dirty="0"/>
          </a:p>
          <a:p>
            <a:endParaRPr lang="en-IN" dirty="0" smtClean="0"/>
          </a:p>
          <a:p>
            <a:endParaRPr lang="en-IN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847850" y="1349375"/>
            <a:ext cx="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62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Using ideas from both solutions: turn breaks ties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358775"/>
            <a:ext cx="5684394" cy="2917915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b="0" spc="60" dirty="0" smtClean="0"/>
              <a:t>/* </a:t>
            </a:r>
            <a:r>
              <a:rPr lang="en-IN" sz="1000" b="0" spc="60" dirty="0"/>
              <a:t>Other process using CS and it is other’s turn */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b="0" spc="60" dirty="0"/>
              <a:t>/*No contention: other not interested, I can enter*/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b="0" spc="60" dirty="0"/>
              <a:t>/*Both want to enter: if it is my turn, I can enter */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endParaRPr lang="en-IN" sz="10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1000" spc="60" dirty="0" smtClean="0"/>
              <a:t>P0: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endParaRPr lang="en-IN" sz="100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900" spc="60" dirty="0" err="1" smtClean="0"/>
              <a:t>inCS</a:t>
            </a:r>
            <a:r>
              <a:rPr lang="en-IN" sz="900" spc="60" dirty="0" smtClean="0"/>
              <a:t>[0] =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900" spc="60" dirty="0" smtClean="0"/>
              <a:t>while </a:t>
            </a:r>
            <a:r>
              <a:rPr lang="en-IN" sz="900" spc="60" dirty="0"/>
              <a:t>(</a:t>
            </a:r>
            <a:r>
              <a:rPr lang="en-IN" sz="900" spc="60" dirty="0" err="1"/>
              <a:t>inCS</a:t>
            </a:r>
            <a:r>
              <a:rPr lang="en-IN" sz="900" spc="60" dirty="0"/>
              <a:t>[1] == </a:t>
            </a:r>
            <a:r>
              <a:rPr lang="en-IN" sz="900" spc="60" dirty="0" smtClean="0"/>
              <a:t>1 &amp;&amp; turn == 1);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900" spc="60" dirty="0" smtClean="0"/>
              <a:t>S0;</a:t>
            </a:r>
          </a:p>
          <a:p>
            <a:endParaRPr lang="en-IN" sz="900" dirty="0" smtClean="0"/>
          </a:p>
          <a:p>
            <a:r>
              <a:rPr lang="en-IN" sz="900" dirty="0" err="1" smtClean="0"/>
              <a:t>inCS</a:t>
            </a:r>
            <a:r>
              <a:rPr lang="en-IN" sz="900" dirty="0" smtClean="0"/>
              <a:t>[0</a:t>
            </a:r>
            <a:r>
              <a:rPr lang="en-IN" sz="900" dirty="0"/>
              <a:t>] = 0; </a:t>
            </a:r>
          </a:p>
          <a:p>
            <a:endParaRPr lang="en-IN" dirty="0" smtClean="0"/>
          </a:p>
          <a:p>
            <a:endParaRPr lang="en-IN" dirty="0" smtClean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23850" y="2416175"/>
            <a:ext cx="9906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33634" y="2416175"/>
            <a:ext cx="1180816" cy="340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23850" y="2416175"/>
            <a:ext cx="9906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8250" y="2292472"/>
            <a:ext cx="121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chemeClr val="accent3">
                    <a:lumMod val="75000"/>
                  </a:schemeClr>
                </a:solidFill>
              </a:rPr>
              <a:t>turn = 1</a:t>
            </a:r>
            <a:endParaRPr lang="en-IN" sz="105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247650" y="1826214"/>
            <a:ext cx="1066800" cy="589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290584" y="2174622"/>
            <a:ext cx="990600" cy="235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27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Only Correct One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358775"/>
            <a:ext cx="6496050" cy="3061607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u="sng" spc="60" dirty="0" smtClean="0"/>
              <a:t>Code for P0:</a:t>
            </a:r>
            <a:r>
              <a:rPr lang="en-IN" sz="800" b="0" spc="60" dirty="0" smtClean="0"/>
              <a:t> </a:t>
            </a:r>
            <a:r>
              <a:rPr lang="en-IN" sz="800" b="0" spc="60" dirty="0"/>
              <a:t>	</a:t>
            </a:r>
            <a:r>
              <a:rPr lang="en-IN" sz="800" b="0" spc="60" dirty="0" smtClean="0"/>
              <a:t>		     </a:t>
            </a:r>
            <a:r>
              <a:rPr lang="en-IN" sz="800" b="0" u="sng" spc="60" dirty="0" smtClean="0"/>
              <a:t>Code for P1: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err="1" smtClean="0"/>
              <a:t>inCS</a:t>
            </a:r>
            <a:r>
              <a:rPr lang="en-IN" sz="800" b="0" spc="60" dirty="0" smtClean="0"/>
              <a:t>[0] = 1;		     </a:t>
            </a:r>
            <a:r>
              <a:rPr lang="en-IN" sz="800" b="0" spc="60" dirty="0" err="1" smtClean="0"/>
              <a:t>inCS</a:t>
            </a:r>
            <a:r>
              <a:rPr lang="en-IN" sz="800" b="0" spc="60" dirty="0" smtClean="0"/>
              <a:t>[1] =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US" sz="800" b="0" spc="60" dirty="0" smtClean="0"/>
              <a:t>turn = 1;		     turn = 0;</a:t>
            </a:r>
            <a:endParaRPr lang="en-IN" sz="800" b="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while (</a:t>
            </a:r>
            <a:r>
              <a:rPr lang="en-IN" sz="800" b="0" spc="60" dirty="0" err="1" smtClean="0"/>
              <a:t>inCS</a:t>
            </a:r>
            <a:r>
              <a:rPr lang="en-IN" sz="800" b="0" spc="60" dirty="0" smtClean="0"/>
              <a:t>[1] == 1 &amp;&amp; turn == 1);      while </a:t>
            </a:r>
            <a:r>
              <a:rPr lang="en-IN" sz="800" b="0" spc="60" dirty="0"/>
              <a:t>(</a:t>
            </a:r>
            <a:r>
              <a:rPr lang="en-IN" sz="800" b="0" spc="60" dirty="0" err="1" smtClean="0"/>
              <a:t>inCS</a:t>
            </a:r>
            <a:r>
              <a:rPr lang="en-IN" sz="800" b="0" spc="60" dirty="0" smtClean="0"/>
              <a:t>[0] </a:t>
            </a:r>
            <a:r>
              <a:rPr lang="en-IN" sz="800" b="0" spc="60" dirty="0"/>
              <a:t>== 1 &amp;&amp; turn == </a:t>
            </a:r>
            <a:r>
              <a:rPr lang="en-IN" sz="800" b="0" spc="60" dirty="0" smtClean="0"/>
              <a:t>0);      </a:t>
            </a:r>
            <a:endParaRPr lang="en-IN" sz="800" b="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S0;			     S1;</a:t>
            </a:r>
          </a:p>
          <a:p>
            <a:r>
              <a:rPr lang="en-IN" sz="800" b="0" dirty="0" err="1" smtClean="0"/>
              <a:t>inCS</a:t>
            </a:r>
            <a:r>
              <a:rPr lang="en-IN" sz="800" b="0" dirty="0" smtClean="0"/>
              <a:t>[0] = 0; 		      </a:t>
            </a:r>
            <a:r>
              <a:rPr lang="en-IN" sz="800" b="0" dirty="0" err="1" smtClean="0"/>
              <a:t>inCS</a:t>
            </a:r>
            <a:r>
              <a:rPr lang="en-IN" sz="800" b="0" dirty="0" smtClean="0"/>
              <a:t>[1] = 0;</a:t>
            </a:r>
          </a:p>
          <a:p>
            <a:endParaRPr lang="en-US" sz="800" b="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endParaRPr lang="en-IN" sz="800" b="0" dirty="0" smtClean="0"/>
          </a:p>
          <a:p>
            <a:endParaRPr lang="en-US" sz="100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err="1"/>
              <a:t>inCS</a:t>
            </a:r>
            <a:r>
              <a:rPr lang="en-US" sz="1000" b="0" dirty="0"/>
              <a:t>[0] and </a:t>
            </a:r>
            <a:r>
              <a:rPr lang="en-US" sz="1000" b="0" dirty="0" err="1"/>
              <a:t>inCS</a:t>
            </a:r>
            <a:r>
              <a:rPr lang="en-US" sz="1000" b="0" dirty="0"/>
              <a:t>[1] are initialized to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0" dirty="0"/>
              <a:t>Take this code, consider </a:t>
            </a:r>
            <a:r>
              <a:rPr lang="en-IN" sz="1000" b="0" u="sng" dirty="0"/>
              <a:t>all possible interleaves </a:t>
            </a:r>
            <a:r>
              <a:rPr lang="en-IN" sz="1000" b="0" dirty="0"/>
              <a:t>and show that </a:t>
            </a:r>
          </a:p>
          <a:p>
            <a:r>
              <a:rPr lang="en-IN" sz="1000" b="0" dirty="0"/>
              <a:t>     both the processes do not enter the CS together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0" dirty="0"/>
              <a:t>How many interleaves are there? </a:t>
            </a:r>
          </a:p>
          <a:p>
            <a:endParaRPr lang="en-IN" sz="1000" b="0" dirty="0" smtClean="0"/>
          </a:p>
          <a:p>
            <a:endParaRPr lang="en-IN" sz="1000" b="0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924050" y="358775"/>
            <a:ext cx="0" cy="152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2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Alternatives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434975"/>
            <a:ext cx="5684394" cy="3261599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900" spc="60" dirty="0"/>
              <a:t>P0: </a:t>
            </a:r>
            <a:r>
              <a:rPr lang="en-IN" sz="900" spc="60" dirty="0" smtClean="0"/>
              <a:t>		                Interleaving</a:t>
            </a:r>
            <a:endParaRPr lang="en-IN" sz="9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spc="60" dirty="0" smtClean="0"/>
              <a:t>1. turn </a:t>
            </a:r>
            <a:r>
              <a:rPr lang="en-IN" sz="800" spc="60" dirty="0"/>
              <a:t>= 1;	</a:t>
            </a:r>
            <a:r>
              <a:rPr lang="en-IN" sz="800" spc="60" dirty="0" smtClean="0"/>
              <a:t>		P0: 1</a:t>
            </a:r>
            <a:endParaRPr lang="en-IN" sz="8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spc="60" dirty="0"/>
              <a:t>2. </a:t>
            </a:r>
            <a:r>
              <a:rPr lang="en-IN" sz="800" spc="60" dirty="0" err="1"/>
              <a:t>inCS</a:t>
            </a:r>
            <a:r>
              <a:rPr lang="en-IN" sz="800" spc="60" dirty="0"/>
              <a:t>[0] = 1</a:t>
            </a:r>
            <a:r>
              <a:rPr lang="en-IN" sz="800" spc="60" dirty="0" smtClean="0"/>
              <a:t>;			P1: 1</a:t>
            </a:r>
            <a:endParaRPr lang="en-IN" sz="8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spc="60" dirty="0"/>
              <a:t>3. while (</a:t>
            </a:r>
            <a:r>
              <a:rPr lang="en-IN" sz="800" spc="60" dirty="0" err="1"/>
              <a:t>inCS</a:t>
            </a:r>
            <a:r>
              <a:rPr lang="en-IN" sz="800" spc="60" dirty="0"/>
              <a:t>[1] == 1 &amp;&amp; turn == 1); </a:t>
            </a:r>
            <a:r>
              <a:rPr lang="en-IN" sz="800" spc="60" dirty="0" smtClean="0"/>
              <a:t>	P1: 2</a:t>
            </a:r>
            <a:endParaRPr lang="en-IN" sz="8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spc="60" dirty="0"/>
              <a:t>4. S0</a:t>
            </a:r>
            <a:r>
              <a:rPr lang="en-IN" sz="800" spc="60" dirty="0" smtClean="0"/>
              <a:t>;			P1: 3</a:t>
            </a:r>
            <a:endParaRPr lang="en-IN" sz="800" spc="60" dirty="0"/>
          </a:p>
          <a:p>
            <a:r>
              <a:rPr lang="en-IN" sz="800" spc="60" dirty="0"/>
              <a:t>5. </a:t>
            </a:r>
            <a:r>
              <a:rPr lang="en-IN" sz="800" spc="60" dirty="0" err="1"/>
              <a:t>inCS</a:t>
            </a:r>
            <a:r>
              <a:rPr lang="en-IN" sz="800" spc="60" dirty="0"/>
              <a:t>[0] = 0; </a:t>
            </a:r>
            <a:r>
              <a:rPr lang="en-IN" sz="800" spc="60" dirty="0" smtClean="0"/>
              <a:t>			</a:t>
            </a:r>
          </a:p>
          <a:p>
            <a:r>
              <a:rPr lang="en-US" sz="800" spc="60" dirty="0" smtClean="0"/>
              <a:t>			P0: 2</a:t>
            </a:r>
          </a:p>
          <a:p>
            <a:r>
              <a:rPr lang="en-US" sz="800" spc="60" dirty="0"/>
              <a:t>	</a:t>
            </a:r>
            <a:r>
              <a:rPr lang="en-US" sz="800" spc="60" dirty="0" smtClean="0"/>
              <a:t>		</a:t>
            </a:r>
          </a:p>
          <a:p>
            <a:r>
              <a:rPr lang="en-US" sz="800" spc="60" dirty="0"/>
              <a:t>	</a:t>
            </a:r>
            <a:r>
              <a:rPr lang="en-US" sz="800" spc="60" dirty="0" smtClean="0"/>
              <a:t>		P0: 3</a:t>
            </a:r>
            <a:endParaRPr lang="en-US" sz="8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spc="60" dirty="0" smtClean="0"/>
              <a:t>P1: 		</a:t>
            </a:r>
            <a:endParaRPr lang="en-IN" sz="8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spc="60" dirty="0"/>
              <a:t>1. turn = </a:t>
            </a:r>
            <a:r>
              <a:rPr lang="en-IN" sz="800" spc="60" dirty="0" smtClean="0"/>
              <a:t>0;</a:t>
            </a:r>
            <a:r>
              <a:rPr lang="en-IN" sz="800" spc="60" dirty="0"/>
              <a:t>	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spc="60" dirty="0"/>
              <a:t>2. </a:t>
            </a:r>
            <a:r>
              <a:rPr lang="en-IN" sz="800" spc="60" dirty="0" err="1" smtClean="0"/>
              <a:t>inCS</a:t>
            </a:r>
            <a:r>
              <a:rPr lang="en-IN" sz="800" spc="60" dirty="0" smtClean="0"/>
              <a:t>[1] </a:t>
            </a:r>
            <a:r>
              <a:rPr lang="en-IN" sz="800" spc="60" dirty="0"/>
              <a:t>=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spc="60" dirty="0"/>
              <a:t>3. while (</a:t>
            </a:r>
            <a:r>
              <a:rPr lang="en-IN" sz="800" spc="60" dirty="0" err="1" smtClean="0"/>
              <a:t>inCS</a:t>
            </a:r>
            <a:r>
              <a:rPr lang="en-IN" sz="800" spc="60" dirty="0" smtClean="0"/>
              <a:t>[0] </a:t>
            </a:r>
            <a:r>
              <a:rPr lang="en-IN" sz="800" spc="60" dirty="0"/>
              <a:t>== 1 &amp;&amp; turn == </a:t>
            </a:r>
            <a:r>
              <a:rPr lang="en-IN" sz="800" spc="60" dirty="0" smtClean="0"/>
              <a:t>0); </a:t>
            </a:r>
            <a:endParaRPr lang="en-IN" sz="80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spc="60" dirty="0"/>
              <a:t>4. </a:t>
            </a:r>
            <a:r>
              <a:rPr lang="en-IN" sz="800" spc="60" dirty="0" smtClean="0"/>
              <a:t>S1;</a:t>
            </a:r>
            <a:endParaRPr lang="en-IN" sz="800" spc="60" dirty="0"/>
          </a:p>
          <a:p>
            <a:r>
              <a:rPr lang="en-IN" sz="800" dirty="0"/>
              <a:t>5. </a:t>
            </a:r>
            <a:r>
              <a:rPr lang="en-IN" sz="800" dirty="0" err="1" smtClean="0"/>
              <a:t>inCS</a:t>
            </a:r>
            <a:r>
              <a:rPr lang="en-IN" sz="800" dirty="0" smtClean="0"/>
              <a:t>[1] </a:t>
            </a:r>
            <a:r>
              <a:rPr lang="en-IN" sz="800" dirty="0"/>
              <a:t>= 0;</a:t>
            </a:r>
            <a:endParaRPr lang="en-IN" sz="800" spc="60" dirty="0"/>
          </a:p>
          <a:p>
            <a:endParaRPr lang="en-IN" sz="1000" b="0" spc="60" dirty="0"/>
          </a:p>
          <a:p>
            <a:endParaRPr lang="en-IN" b="0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228850" y="434975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990850" y="2492375"/>
            <a:ext cx="12954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/>
              <a:t>CS violated</a:t>
            </a:r>
            <a:endParaRPr lang="en-IN" sz="16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0" y="892175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0" y="3025775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29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0" dirty="0"/>
              <a:t>C</a:t>
            </a:r>
            <a:r>
              <a:rPr spc="25" dirty="0"/>
              <a:t>r</a:t>
            </a:r>
            <a:r>
              <a:rPr spc="5" dirty="0"/>
              <a:t>itical </a:t>
            </a:r>
            <a:r>
              <a:rPr spc="10" dirty="0"/>
              <a:t>section</a:t>
            </a:r>
            <a:r>
              <a:rPr spc="5" dirty="0"/>
              <a:t> </a:t>
            </a:r>
            <a:r>
              <a:rPr spc="10" dirty="0"/>
              <a:t>pro</a:t>
            </a:r>
            <a:r>
              <a:rPr spc="-15" dirty="0"/>
              <a:t>b</a:t>
            </a:r>
            <a:r>
              <a:rPr spc="15" dirty="0"/>
              <a:t>lem</a:t>
            </a:r>
            <a:r>
              <a:rPr spc="5" dirty="0"/>
              <a:t> </a:t>
            </a:r>
            <a:r>
              <a:rPr spc="15" dirty="0"/>
              <a:t>(CSP)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5195" y="411226"/>
            <a:ext cx="1217930" cy="16002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ct val="100000"/>
              </a:lnSpc>
            </a:pPr>
            <a:r>
              <a:rPr sz="900" spc="-25" dirty="0">
                <a:latin typeface="Century"/>
                <a:cs typeface="Century"/>
              </a:rPr>
              <a:t>Reference: </a:t>
            </a:r>
            <a:r>
              <a:rPr sz="900" spc="-95" dirty="0">
                <a:latin typeface="Century"/>
                <a:cs typeface="Century"/>
              </a:rPr>
              <a:t> </a:t>
            </a:r>
            <a:r>
              <a:rPr sz="900" spc="-25" dirty="0">
                <a:latin typeface="Century"/>
                <a:cs typeface="Century"/>
              </a:rPr>
              <a:t>Section</a:t>
            </a:r>
            <a:r>
              <a:rPr sz="900" spc="55" dirty="0">
                <a:latin typeface="Century"/>
                <a:cs typeface="Century"/>
              </a:rPr>
              <a:t> </a:t>
            </a:r>
            <a:r>
              <a:rPr sz="900" spc="-30" dirty="0">
                <a:latin typeface="Century"/>
                <a:cs typeface="Century"/>
              </a:rPr>
              <a:t>6.2</a:t>
            </a:r>
            <a:endParaRPr sz="900">
              <a:latin typeface="Century"/>
              <a:cs typeface="Century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25856" y="521302"/>
            <a:ext cx="4358386" cy="2425150"/>
          </a:xfrm>
          <a:prstGeom prst="rect">
            <a:avLst/>
          </a:prstGeom>
        </p:spPr>
        <p:txBody>
          <a:bodyPr vert="horz" wrap="square" lIns="0" tIns="322007" rIns="0" bIns="0" rtlCol="0"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spc="-5" dirty="0"/>
              <a:t>Critical </a:t>
            </a:r>
            <a:r>
              <a:rPr spc="-10" dirty="0"/>
              <a:t>section</a:t>
            </a:r>
            <a:r>
              <a:rPr spc="-5" dirty="0"/>
              <a:t> </a:t>
            </a:r>
            <a:r>
              <a:rPr spc="-10" dirty="0"/>
              <a:t>(CS):</a:t>
            </a:r>
            <a:r>
              <a:rPr dirty="0"/>
              <a:t> </a:t>
            </a:r>
            <a:r>
              <a:rPr spc="-5" dirty="0"/>
              <a:t> </a:t>
            </a:r>
            <a:r>
              <a:rPr b="0" spc="-10" dirty="0">
                <a:latin typeface="Arial"/>
                <a:cs typeface="Arial"/>
              </a:rPr>
              <a:t>segment</a:t>
            </a:r>
            <a:r>
              <a:rPr b="0" spc="-5" dirty="0">
                <a:latin typeface="Arial"/>
                <a:cs typeface="Arial"/>
              </a:rPr>
              <a:t> of </a:t>
            </a:r>
            <a:r>
              <a:rPr b="0" spc="-10" dirty="0">
                <a:latin typeface="Arial"/>
                <a:cs typeface="Arial"/>
              </a:rPr>
              <a:t>code</a:t>
            </a:r>
            <a:r>
              <a:rPr b="0" spc="-5" dirty="0">
                <a:latin typeface="Arial"/>
                <a:cs typeface="Arial"/>
              </a:rPr>
              <a:t> in </a:t>
            </a:r>
            <a:r>
              <a:rPr b="0" spc="-10" dirty="0">
                <a:latin typeface="Arial"/>
                <a:cs typeface="Arial"/>
              </a:rPr>
              <a:t>which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processes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access shared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spc="-10" dirty="0" smtClean="0">
                <a:latin typeface="Arial"/>
                <a:cs typeface="Arial"/>
              </a:rPr>
              <a:t>data</a:t>
            </a:r>
            <a:endParaRPr lang="en-IN" b="0" spc="-10" dirty="0" smtClean="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</a:pPr>
            <a:endParaRPr lang="en-IN" b="0" spc="-10" dirty="0" smtClean="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</a:pPr>
            <a:r>
              <a:rPr lang="en-IN" b="0" spc="-10" dirty="0" smtClean="0"/>
              <a:t>Entry and exit sections: manipulation of auxiliary variables</a:t>
            </a:r>
            <a:endParaRPr b="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pc="-10" dirty="0"/>
              <a:t>Syn</a:t>
            </a:r>
            <a:r>
              <a:rPr spc="-25" dirty="0"/>
              <a:t>c</a:t>
            </a:r>
            <a:r>
              <a:rPr spc="-10" dirty="0"/>
              <a:t>h</a:t>
            </a:r>
            <a:r>
              <a:rPr spc="-30" dirty="0"/>
              <a:t>r</a:t>
            </a:r>
            <a:r>
              <a:rPr spc="-10" dirty="0"/>
              <a:t>onization</a:t>
            </a:r>
            <a:r>
              <a:rPr spc="-5" dirty="0"/>
              <a:t> </a:t>
            </a:r>
            <a:r>
              <a:rPr spc="-10" dirty="0"/>
              <a:t>s</a:t>
            </a:r>
            <a:r>
              <a:rPr spc="-20" dirty="0"/>
              <a:t>c</a:t>
            </a:r>
            <a:r>
              <a:rPr spc="-10" dirty="0"/>
              <a:t>heme: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b="0" spc="70" dirty="0">
                <a:latin typeface="Arial"/>
                <a:cs typeface="Arial"/>
              </a:rPr>
              <a:t>while 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120" dirty="0">
                <a:latin typeface="Arial"/>
                <a:cs typeface="Arial"/>
              </a:rPr>
              <a:t>(1)</a:t>
            </a:r>
            <a:r>
              <a:rPr b="0" dirty="0">
                <a:latin typeface="Arial"/>
                <a:cs typeface="Arial"/>
              </a:rPr>
              <a:t> 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200" dirty="0">
                <a:latin typeface="Arial"/>
                <a:cs typeface="Arial"/>
              </a:rPr>
              <a:t>{</a:t>
            </a:r>
            <a:r>
              <a:rPr b="0" spc="165" dirty="0">
                <a:latin typeface="Arial"/>
                <a:cs typeface="Arial"/>
              </a:rPr>
              <a:t> </a:t>
            </a:r>
            <a:r>
              <a:rPr b="0" spc="90" dirty="0" err="1">
                <a:latin typeface="Arial"/>
                <a:cs typeface="Arial"/>
              </a:rPr>
              <a:t>entry_section</a:t>
            </a:r>
            <a:r>
              <a:rPr b="0" spc="90" dirty="0" smtClean="0">
                <a:latin typeface="Arial"/>
                <a:cs typeface="Arial"/>
              </a:rPr>
              <a:t>();</a:t>
            </a:r>
            <a:r>
              <a:rPr b="0" spc="60" dirty="0" smtClean="0">
                <a:latin typeface="Arial"/>
                <a:cs typeface="Arial"/>
              </a:rPr>
              <a:t> </a:t>
            </a:r>
            <a:r>
              <a:rPr b="0" spc="130" dirty="0" err="1" smtClean="0">
                <a:latin typeface="Arial"/>
                <a:cs typeface="Arial"/>
              </a:rPr>
              <a:t>critical_section</a:t>
            </a:r>
            <a:r>
              <a:rPr b="0" spc="130" dirty="0">
                <a:latin typeface="Arial"/>
                <a:cs typeface="Arial"/>
              </a:rPr>
              <a:t>();</a:t>
            </a:r>
            <a:r>
              <a:rPr b="0" spc="90" dirty="0">
                <a:latin typeface="Arial"/>
                <a:cs typeface="Arial"/>
              </a:rPr>
              <a:t> </a:t>
            </a:r>
            <a:r>
              <a:rPr b="0" spc="110" dirty="0">
                <a:latin typeface="Arial"/>
                <a:cs typeface="Arial"/>
              </a:rPr>
              <a:t>exit_section();</a:t>
            </a:r>
            <a:r>
              <a:rPr b="0" spc="75" dirty="0">
                <a:latin typeface="Arial"/>
                <a:cs typeface="Arial"/>
              </a:rPr>
              <a:t> </a:t>
            </a:r>
            <a:r>
              <a:rPr b="0" spc="65" dirty="0">
                <a:latin typeface="Arial"/>
                <a:cs typeface="Arial"/>
              </a:rPr>
              <a:t>remainder_section();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b="0" spc="200" dirty="0">
                <a:latin typeface="Arial"/>
                <a:cs typeface="Arial"/>
              </a:rPr>
              <a:t>}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ct val="100000"/>
              </a:lnSpc>
            </a:pPr>
            <a:r>
              <a:rPr spc="-5" dirty="0"/>
              <a:t>6 / 28</a:t>
            </a:r>
          </a:p>
        </p:txBody>
      </p:sp>
    </p:spTree>
    <p:extLst>
      <p:ext uri="{BB962C8B-B14F-4D97-AF65-F5344CB8AC3E}">
        <p14:creationId xmlns:p14="http://schemas.microsoft.com/office/powerpoint/2010/main" val="154678185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Only Correct One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358775"/>
            <a:ext cx="6953250" cy="2199833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P0: S0;		     	P1: S1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err="1" smtClean="0"/>
              <a:t>inCS</a:t>
            </a:r>
            <a:r>
              <a:rPr lang="en-IN" sz="800" b="0" spc="60" dirty="0" smtClean="0"/>
              <a:t>[0] = 1;		    	 </a:t>
            </a:r>
            <a:r>
              <a:rPr lang="en-IN" sz="800" b="0" spc="60" dirty="0" err="1" smtClean="0"/>
              <a:t>inCS</a:t>
            </a:r>
            <a:r>
              <a:rPr lang="en-IN" sz="800" b="0" spc="60" dirty="0" smtClean="0"/>
              <a:t>[1] =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US" sz="800" b="0" spc="60" dirty="0" smtClean="0"/>
              <a:t>turn = 1;		    	 turn = 0;</a:t>
            </a:r>
            <a:endParaRPr lang="en-IN" sz="800" b="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while (</a:t>
            </a:r>
            <a:r>
              <a:rPr lang="en-IN" sz="800" b="0" spc="60" dirty="0" err="1" smtClean="0"/>
              <a:t>inCS</a:t>
            </a:r>
            <a:r>
              <a:rPr lang="en-IN" sz="800" b="0" spc="60" dirty="0" smtClean="0"/>
              <a:t>[1] == 1 &amp;&amp; turn == 1);      	while </a:t>
            </a:r>
            <a:r>
              <a:rPr lang="en-IN" sz="800" b="0" spc="60" dirty="0"/>
              <a:t>(</a:t>
            </a:r>
            <a:r>
              <a:rPr lang="en-IN" sz="800" b="0" spc="60" dirty="0" err="1" smtClean="0"/>
              <a:t>inCS</a:t>
            </a:r>
            <a:r>
              <a:rPr lang="en-IN" sz="800" b="0" spc="60" dirty="0" smtClean="0"/>
              <a:t>[0]==1 </a:t>
            </a:r>
            <a:r>
              <a:rPr lang="en-IN" sz="800" b="0" spc="60" dirty="0"/>
              <a:t>&amp;&amp; turn == </a:t>
            </a:r>
            <a:r>
              <a:rPr lang="en-IN" sz="800" b="0" spc="60" dirty="0" smtClean="0"/>
              <a:t>0);      </a:t>
            </a:r>
            <a:endParaRPr lang="en-IN" sz="800" b="0" spc="6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S0;		                 Critical Section	S1;</a:t>
            </a:r>
          </a:p>
          <a:p>
            <a:r>
              <a:rPr lang="en-IN" sz="800" b="0" dirty="0" err="1" smtClean="0"/>
              <a:t>inCS</a:t>
            </a:r>
            <a:r>
              <a:rPr lang="en-IN" sz="800" b="0" dirty="0" smtClean="0"/>
              <a:t>[0] = 0; 		      	</a:t>
            </a:r>
            <a:r>
              <a:rPr lang="en-IN" sz="800" b="0" dirty="0" err="1" smtClean="0"/>
              <a:t>inCS</a:t>
            </a:r>
            <a:r>
              <a:rPr lang="en-IN" sz="800" b="0" dirty="0" smtClean="0"/>
              <a:t>[1] = 0;</a:t>
            </a:r>
          </a:p>
          <a:p>
            <a:endParaRPr lang="en-US" sz="800" b="0" dirty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endParaRPr lang="en-IN" sz="800" b="0" dirty="0" smtClean="0"/>
          </a:p>
          <a:p>
            <a:endParaRPr lang="en-US" sz="100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err="1"/>
              <a:t>inCS</a:t>
            </a:r>
            <a:r>
              <a:rPr lang="en-US" sz="1000" b="0" dirty="0"/>
              <a:t>[0] and </a:t>
            </a:r>
            <a:r>
              <a:rPr lang="en-US" sz="1000" b="0" dirty="0" err="1"/>
              <a:t>inCS</a:t>
            </a:r>
            <a:r>
              <a:rPr lang="en-US" sz="1000" b="0" dirty="0"/>
              <a:t>[1] are initialized to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b="0" dirty="0"/>
          </a:p>
          <a:p>
            <a:endParaRPr lang="en-IN" sz="1000" b="0" dirty="0" smtClean="0"/>
          </a:p>
        </p:txBody>
      </p:sp>
      <p:sp>
        <p:nvSpPr>
          <p:cNvPr id="6" name="Right Brace 5"/>
          <p:cNvSpPr/>
          <p:nvPr/>
        </p:nvSpPr>
        <p:spPr>
          <a:xfrm>
            <a:off x="1847850" y="585961"/>
            <a:ext cx="228600" cy="61101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950538" y="716741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" dirty="0" smtClean="0"/>
              <a:t>Entry Section</a:t>
            </a:r>
            <a:endParaRPr lang="en-IN" sz="600" dirty="0"/>
          </a:p>
        </p:txBody>
      </p:sp>
      <p:sp>
        <p:nvSpPr>
          <p:cNvPr id="8" name="TextBox 7"/>
          <p:cNvSpPr txBox="1"/>
          <p:nvPr/>
        </p:nvSpPr>
        <p:spPr>
          <a:xfrm>
            <a:off x="628650" y="1425575"/>
            <a:ext cx="54534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" dirty="0" smtClean="0"/>
              <a:t>Exit Section</a:t>
            </a:r>
            <a:endParaRPr lang="en-IN" sz="600" dirty="0"/>
          </a:p>
        </p:txBody>
      </p:sp>
      <p:sp>
        <p:nvSpPr>
          <p:cNvPr id="9" name="TextBox 8"/>
          <p:cNvSpPr txBox="1"/>
          <p:nvPr/>
        </p:nvSpPr>
        <p:spPr>
          <a:xfrm>
            <a:off x="2103541" y="1425575"/>
            <a:ext cx="54534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" dirty="0" smtClean="0"/>
              <a:t>Exit Section</a:t>
            </a:r>
            <a:endParaRPr lang="en-IN" sz="600" dirty="0"/>
          </a:p>
        </p:txBody>
      </p:sp>
      <p:sp>
        <p:nvSpPr>
          <p:cNvPr id="4" name="Left Brace 3"/>
          <p:cNvSpPr/>
          <p:nvPr/>
        </p:nvSpPr>
        <p:spPr>
          <a:xfrm>
            <a:off x="2457450" y="585962"/>
            <a:ext cx="141544" cy="6110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457450" y="1349375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00050" y="1349375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35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spc="20" dirty="0"/>
              <a:t>C</a:t>
            </a:r>
            <a:r>
              <a:rPr lang="en-IN" spc="25" dirty="0"/>
              <a:t>r</a:t>
            </a:r>
            <a:r>
              <a:rPr lang="en-IN" spc="5" dirty="0"/>
              <a:t>itical </a:t>
            </a:r>
            <a:r>
              <a:rPr lang="en-IN" spc="10" dirty="0"/>
              <a:t>section</a:t>
            </a:r>
            <a:r>
              <a:rPr lang="en-IN" spc="5" dirty="0"/>
              <a:t> </a:t>
            </a:r>
            <a:r>
              <a:rPr lang="en-IN" spc="10" dirty="0"/>
              <a:t>pro</a:t>
            </a:r>
            <a:r>
              <a:rPr lang="en-IN" spc="-15" dirty="0"/>
              <a:t>b</a:t>
            </a:r>
            <a:r>
              <a:rPr lang="en-IN" spc="15" dirty="0"/>
              <a:t>lem</a:t>
            </a:r>
            <a:r>
              <a:rPr lang="en-IN" spc="5" dirty="0"/>
              <a:t> </a:t>
            </a:r>
            <a:r>
              <a:rPr lang="en-IN" spc="15" dirty="0"/>
              <a:t>(CSP)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1184940"/>
          </a:xfrm>
        </p:spPr>
        <p:txBody>
          <a:bodyPr/>
          <a:lstStyle/>
          <a:p>
            <a:r>
              <a:rPr lang="en-US" b="0" dirty="0" smtClean="0"/>
              <a:t>Entry Section: Setting up auxiliary variables, announcing intent</a:t>
            </a:r>
          </a:p>
          <a:p>
            <a:endParaRPr lang="en-US" b="0" dirty="0" smtClean="0"/>
          </a:p>
          <a:p>
            <a:endParaRPr lang="en-US" b="0" dirty="0"/>
          </a:p>
          <a:p>
            <a:r>
              <a:rPr lang="en-US" b="0" dirty="0" smtClean="0"/>
              <a:t>Critical Section: Region of shared variable manipulation </a:t>
            </a:r>
          </a:p>
          <a:p>
            <a:endParaRPr lang="en-US" b="0" dirty="0"/>
          </a:p>
          <a:p>
            <a:endParaRPr lang="en-US" b="0" dirty="0" smtClean="0"/>
          </a:p>
          <a:p>
            <a:r>
              <a:rPr lang="en-US" b="0" dirty="0" smtClean="0"/>
              <a:t>Exit section: Cleanup </a:t>
            </a: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167186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CSP</a:t>
            </a:r>
            <a:r>
              <a:rPr spc="5" dirty="0"/>
              <a:t> </a:t>
            </a:r>
            <a:r>
              <a:rPr spc="10" dirty="0"/>
              <a:t>solutions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006" y="443348"/>
            <a:ext cx="4581094" cy="2808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 smtClean="0">
                <a:latin typeface="Arial"/>
                <a:cs typeface="Arial"/>
              </a:rPr>
              <a:t>Desira</a:t>
            </a:r>
            <a:r>
              <a:rPr lang="en-US" sz="1000" b="1" spc="-10" dirty="0" smtClean="0">
                <a:latin typeface="Arial"/>
                <a:cs typeface="Arial"/>
              </a:rPr>
              <a:t>ble properties</a:t>
            </a:r>
            <a:r>
              <a:rPr sz="1000" b="1" spc="-10" dirty="0" smtClean="0">
                <a:latin typeface="Arial"/>
                <a:cs typeface="Arial"/>
              </a:rPr>
              <a:t>:</a:t>
            </a:r>
            <a:endParaRPr sz="1000" dirty="0">
              <a:latin typeface="Arial"/>
              <a:cs typeface="Arial"/>
            </a:endParaRPr>
          </a:p>
          <a:p>
            <a:pPr marL="461010" marR="203200" indent="-171450">
              <a:lnSpc>
                <a:spcPct val="102699"/>
              </a:lnSpc>
              <a:buFont typeface="Arial" panose="020B0604020202020204" pitchFamily="34" charset="0"/>
              <a:buChar char="•"/>
            </a:pPr>
            <a:r>
              <a:rPr sz="1000" spc="-10" dirty="0">
                <a:latin typeface="Arial"/>
                <a:cs typeface="Arial"/>
              </a:rPr>
              <a:t>Mutual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e</a:t>
            </a:r>
            <a:r>
              <a:rPr sz="1000" spc="-5" dirty="0">
                <a:latin typeface="Arial"/>
                <a:cs typeface="Arial"/>
              </a:rPr>
              <a:t>xclusion: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lang="en-US" sz="1000" spc="-10" dirty="0" smtClean="0">
                <a:latin typeface="Arial"/>
                <a:cs typeface="Arial"/>
              </a:rPr>
              <a:t>IP of 2 co-op. processes should NEVER point simultaneously to CS instructions</a:t>
            </a:r>
          </a:p>
          <a:p>
            <a:pPr marL="918210" marR="203200" lvl="1" indent="-171450">
              <a:lnSpc>
                <a:spcPct val="102699"/>
              </a:lnSpc>
              <a:buFont typeface="Arial" panose="020B0604020202020204" pitchFamily="34" charset="0"/>
              <a:buChar char="•"/>
            </a:pPr>
            <a:r>
              <a:rPr lang="en-US" sz="1000" spc="-10" dirty="0" smtClean="0">
                <a:latin typeface="Arial"/>
                <a:cs typeface="Arial"/>
              </a:rPr>
              <a:t>Strict alternation solution</a:t>
            </a:r>
            <a:endParaRPr sz="1000" dirty="0">
              <a:latin typeface="Arial"/>
              <a:cs typeface="Arial"/>
            </a:endParaRPr>
          </a:p>
          <a:p>
            <a:pPr marL="461010" marR="7620" indent="-171450">
              <a:lnSpc>
                <a:spcPct val="102699"/>
              </a:lnSpc>
              <a:spcBef>
                <a:spcPts val="395"/>
              </a:spcBef>
              <a:buFont typeface="Arial" panose="020B0604020202020204" pitchFamily="34" charset="0"/>
              <a:buChar char="•"/>
            </a:pPr>
            <a:r>
              <a:rPr sz="1000" spc="-10" dirty="0">
                <a:latin typeface="Arial"/>
                <a:cs typeface="Arial"/>
              </a:rPr>
              <a:t>Pro</a:t>
            </a:r>
            <a:r>
              <a:rPr sz="1000" spc="-25" dirty="0">
                <a:latin typeface="Arial"/>
                <a:cs typeface="Arial"/>
              </a:rPr>
              <a:t>g</a:t>
            </a:r>
            <a:r>
              <a:rPr sz="1000" spc="-5" dirty="0">
                <a:latin typeface="Arial"/>
                <a:cs typeface="Arial"/>
              </a:rPr>
              <a:t>ress: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If </a:t>
            </a:r>
            <a:r>
              <a:rPr sz="1000" spc="-10" dirty="0">
                <a:latin typeface="Arial"/>
                <a:cs typeface="Arial"/>
              </a:rPr>
              <a:t>no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process</a:t>
            </a:r>
            <a:r>
              <a:rPr sz="1000" spc="-5" dirty="0">
                <a:latin typeface="Arial"/>
                <a:cs typeface="Arial"/>
              </a:rPr>
              <a:t> is </a:t>
            </a:r>
            <a:r>
              <a:rPr sz="1000" spc="-45" dirty="0">
                <a:latin typeface="Arial"/>
                <a:cs typeface="Arial"/>
              </a:rPr>
              <a:t>ex</a:t>
            </a:r>
            <a:r>
              <a:rPr sz="1000" spc="-5" dirty="0">
                <a:latin typeface="Arial"/>
                <a:cs typeface="Arial"/>
              </a:rPr>
              <a:t>ecuting in </a:t>
            </a:r>
            <a:r>
              <a:rPr sz="1000" spc="-10" dirty="0">
                <a:latin typeface="Arial"/>
                <a:cs typeface="Arial"/>
              </a:rPr>
              <a:t>CS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some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processes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w</a:t>
            </a:r>
            <a:r>
              <a:rPr sz="1000" spc="-5" dirty="0">
                <a:latin typeface="Arial"/>
                <a:cs typeface="Arial"/>
              </a:rPr>
              <a:t>ant to enter </a:t>
            </a:r>
            <a:r>
              <a:rPr sz="1000" spc="-10" dirty="0">
                <a:latin typeface="Arial"/>
                <a:cs typeface="Arial"/>
              </a:rPr>
              <a:t>C</a:t>
            </a:r>
            <a:r>
              <a:rPr sz="1000" spc="-35" dirty="0">
                <a:latin typeface="Arial"/>
                <a:cs typeface="Arial"/>
              </a:rPr>
              <a:t>S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lang="en-US" sz="1000" spc="-5" dirty="0" smtClean="0">
                <a:latin typeface="Arial"/>
                <a:cs typeface="Arial"/>
              </a:rPr>
              <a:t>at least one process must be allowed to enter. </a:t>
            </a:r>
          </a:p>
          <a:p>
            <a:pPr marL="461010" marR="7620" indent="-171450">
              <a:lnSpc>
                <a:spcPct val="102699"/>
              </a:lnSpc>
              <a:spcBef>
                <a:spcPts val="395"/>
              </a:spcBef>
              <a:buFont typeface="Arial" panose="020B0604020202020204" pitchFamily="34" charset="0"/>
              <a:buChar char="•"/>
            </a:pPr>
            <a:r>
              <a:rPr lang="en-US" sz="1000" spc="-5" dirty="0" smtClean="0">
                <a:latin typeface="Arial"/>
                <a:cs typeface="Arial"/>
              </a:rPr>
              <a:t>Also, decision about which process can enter can </a:t>
            </a:r>
            <a:r>
              <a:rPr sz="1000" spc="-5" dirty="0" smtClean="0">
                <a:latin typeface="Arial"/>
                <a:cs typeface="Arial"/>
              </a:rPr>
              <a:t>only</a:t>
            </a:r>
            <a:r>
              <a:rPr lang="en-US" sz="1000" spc="-5" dirty="0" smtClean="0">
                <a:latin typeface="Arial"/>
                <a:cs typeface="Arial"/>
              </a:rPr>
              <a:t> be taken by</a:t>
            </a:r>
            <a:r>
              <a:rPr sz="1000" spc="-5" dirty="0" smtClean="0">
                <a:latin typeface="Arial"/>
                <a:cs typeface="Arial"/>
              </a:rPr>
              <a:t> </a:t>
            </a:r>
            <a:r>
              <a:rPr sz="1000" spc="-10" dirty="0" smtClean="0">
                <a:latin typeface="Arial"/>
                <a:cs typeface="Arial"/>
              </a:rPr>
              <a:t>processes</a:t>
            </a:r>
            <a:r>
              <a:rPr sz="1000" spc="-5" dirty="0" smtClean="0">
                <a:latin typeface="Arial"/>
                <a:cs typeface="Arial"/>
              </a:rPr>
              <a:t> </a:t>
            </a:r>
            <a:r>
              <a:rPr lang="en-US" sz="1000" spc="-5" dirty="0" smtClean="0">
                <a:latin typeface="Arial"/>
                <a:cs typeface="Arial"/>
              </a:rPr>
              <a:t>waiting to enter CS</a:t>
            </a:r>
            <a:r>
              <a:rPr sz="1000" spc="-5" dirty="0" smtClean="0">
                <a:latin typeface="Arial"/>
                <a:cs typeface="Arial"/>
              </a:rPr>
              <a:t>.</a:t>
            </a:r>
            <a:endParaRPr lang="en-US" sz="1000" spc="-5" dirty="0" smtClean="0">
              <a:latin typeface="Arial"/>
              <a:cs typeface="Arial"/>
            </a:endParaRPr>
          </a:p>
          <a:p>
            <a:pPr marL="918210" marR="7620" lvl="1" indent="-171450">
              <a:lnSpc>
                <a:spcPct val="102699"/>
              </a:lnSpc>
              <a:spcBef>
                <a:spcPts val="395"/>
              </a:spcBef>
              <a:buFont typeface="Arial" panose="020B0604020202020204" pitchFamily="34" charset="0"/>
              <a:buChar char="•"/>
            </a:pPr>
            <a:r>
              <a:rPr lang="en-US" sz="1000" spc="-10" dirty="0">
                <a:latin typeface="Arial"/>
                <a:cs typeface="Arial"/>
              </a:rPr>
              <a:t>Strict alternation </a:t>
            </a:r>
            <a:r>
              <a:rPr lang="en-US" sz="1000" spc="-10" dirty="0" smtClean="0">
                <a:latin typeface="Arial"/>
                <a:cs typeface="Arial"/>
              </a:rPr>
              <a:t>solution?</a:t>
            </a:r>
            <a:endParaRPr sz="1000" dirty="0">
              <a:latin typeface="Arial"/>
              <a:cs typeface="Arial"/>
            </a:endParaRPr>
          </a:p>
          <a:p>
            <a:pPr marL="461010" marR="5080" indent="-171450">
              <a:lnSpc>
                <a:spcPct val="1026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000" spc="-10" dirty="0" smtClean="0">
                <a:latin typeface="Arial"/>
                <a:cs typeface="Arial"/>
              </a:rPr>
              <a:t>Bounded</a:t>
            </a:r>
            <a:r>
              <a:rPr sz="1000" spc="-5" dirty="0" smtClean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w</a:t>
            </a:r>
            <a:r>
              <a:rPr sz="1000" spc="-5" dirty="0">
                <a:latin typeface="Arial"/>
                <a:cs typeface="Arial"/>
              </a:rPr>
              <a:t>aiting: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there </a:t>
            </a:r>
            <a:r>
              <a:rPr sz="1000" spc="-45" dirty="0">
                <a:latin typeface="Arial"/>
                <a:cs typeface="Arial"/>
              </a:rPr>
              <a:t>e</a:t>
            </a:r>
            <a:r>
              <a:rPr sz="1000" spc="-5" dirty="0">
                <a:latin typeface="Arial"/>
                <a:cs typeface="Arial"/>
              </a:rPr>
              <a:t>xists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bound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#</a:t>
            </a:r>
            <a:r>
              <a:rPr sz="1000" spc="-5" dirty="0">
                <a:latin typeface="Arial"/>
                <a:cs typeface="Arial"/>
              </a:rPr>
              <a:t> of </a:t>
            </a:r>
            <a:r>
              <a:rPr sz="1000" spc="-10" dirty="0">
                <a:latin typeface="Arial"/>
                <a:cs typeface="Arial"/>
              </a:rPr>
              <a:t>times</a:t>
            </a:r>
            <a:r>
              <a:rPr sz="1000" spc="-5" dirty="0">
                <a:latin typeface="Arial"/>
                <a:cs typeface="Arial"/>
              </a:rPr>
              <a:t> that other</a:t>
            </a:r>
            <a:r>
              <a:rPr sz="1000" spc="-10" dirty="0">
                <a:latin typeface="Arial"/>
                <a:cs typeface="Arial"/>
              </a:rPr>
              <a:t> processes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are</a:t>
            </a:r>
            <a:r>
              <a:rPr sz="1000" spc="-5" dirty="0">
                <a:latin typeface="Arial"/>
                <a:cs typeface="Arial"/>
              </a:rPr>
              <a:t> all</a:t>
            </a:r>
            <a:r>
              <a:rPr sz="1000" spc="-30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w</a:t>
            </a:r>
            <a:r>
              <a:rPr sz="1000" spc="-10" dirty="0">
                <a:latin typeface="Arial"/>
                <a:cs typeface="Arial"/>
              </a:rPr>
              <a:t>ed</a:t>
            </a:r>
            <a:r>
              <a:rPr sz="1000" spc="-5" dirty="0">
                <a:latin typeface="Arial"/>
                <a:cs typeface="Arial"/>
              </a:rPr>
              <a:t> to enter their </a:t>
            </a:r>
            <a:r>
              <a:rPr sz="1000" spc="-10" dirty="0">
                <a:latin typeface="Arial"/>
                <a:cs typeface="Arial"/>
              </a:rPr>
              <a:t>c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itical sections after </a:t>
            </a:r>
            <a:r>
              <a:rPr sz="1000" spc="-10" dirty="0">
                <a:latin typeface="Arial"/>
                <a:cs typeface="Arial"/>
              </a:rPr>
              <a:t>a process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has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made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request</a:t>
            </a:r>
            <a:r>
              <a:rPr sz="1000" spc="-5" dirty="0">
                <a:latin typeface="Arial"/>
                <a:cs typeface="Arial"/>
              </a:rPr>
              <a:t> to enter its </a:t>
            </a:r>
            <a:r>
              <a:rPr sz="1000" spc="-10" dirty="0">
                <a:latin typeface="Arial"/>
                <a:cs typeface="Arial"/>
              </a:rPr>
              <a:t>c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itical section </a:t>
            </a:r>
            <a:r>
              <a:rPr sz="1000" spc="-1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be</a:t>
            </a:r>
            <a:r>
              <a:rPr sz="1000" spc="-40" dirty="0">
                <a:latin typeface="Arial"/>
                <a:cs typeface="Arial"/>
              </a:rPr>
              <a:t>f</a:t>
            </a:r>
            <a:r>
              <a:rPr sz="1000" spc="-10" dirty="0">
                <a:latin typeface="Arial"/>
                <a:cs typeface="Arial"/>
              </a:rPr>
              <a:t>ore</a:t>
            </a:r>
            <a:r>
              <a:rPr sz="1000" spc="-5" dirty="0">
                <a:latin typeface="Arial"/>
                <a:cs typeface="Arial"/>
              </a:rPr>
              <a:t> that </a:t>
            </a:r>
            <a:r>
              <a:rPr sz="1000" spc="-10" dirty="0">
                <a:latin typeface="Arial"/>
                <a:cs typeface="Arial"/>
              </a:rPr>
              <a:t>request</a:t>
            </a:r>
            <a:r>
              <a:rPr sz="1000" spc="-5" dirty="0">
                <a:latin typeface="Arial"/>
                <a:cs typeface="Arial"/>
              </a:rPr>
              <a:t> is </a:t>
            </a:r>
            <a:r>
              <a:rPr sz="1000" spc="-20" dirty="0">
                <a:latin typeface="Arial"/>
                <a:cs typeface="Arial"/>
              </a:rPr>
              <a:t>gr</a:t>
            </a:r>
            <a:r>
              <a:rPr sz="1000" spc="-10" dirty="0">
                <a:latin typeface="Arial"/>
                <a:cs typeface="Arial"/>
              </a:rPr>
              <a:t>anted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000" b="1" spc="-10" dirty="0">
                <a:latin typeface="Arial"/>
                <a:cs typeface="Arial"/>
              </a:rPr>
              <a:t>Assumptions:</a:t>
            </a:r>
            <a:endParaRPr sz="1000" dirty="0">
              <a:latin typeface="Arial"/>
              <a:cs typeface="Arial"/>
            </a:endParaRPr>
          </a:p>
          <a:p>
            <a:pPr marL="289560" marR="496570">
              <a:lnSpc>
                <a:spcPct val="102699"/>
              </a:lnSpc>
            </a:pPr>
            <a:r>
              <a:rPr sz="1000" spc="-10" dirty="0">
                <a:latin typeface="Arial"/>
                <a:cs typeface="Arial"/>
              </a:rPr>
              <a:t>Basic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machine</a:t>
            </a:r>
            <a:r>
              <a:rPr sz="1000" spc="-5" dirty="0">
                <a:latin typeface="Arial"/>
                <a:cs typeface="Arial"/>
              </a:rPr>
              <a:t> inst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uctions (load, stor</a:t>
            </a:r>
            <a:r>
              <a:rPr sz="1000" spc="-30" dirty="0">
                <a:latin typeface="Arial"/>
                <a:cs typeface="Arial"/>
              </a:rPr>
              <a:t>e</a:t>
            </a:r>
            <a:r>
              <a:rPr sz="1000" spc="-5" dirty="0">
                <a:latin typeface="Arial"/>
                <a:cs typeface="Arial"/>
              </a:rPr>
              <a:t>, test) </a:t>
            </a:r>
            <a:r>
              <a:rPr sz="1000" spc="-10" dirty="0">
                <a:latin typeface="Arial"/>
                <a:cs typeface="Arial"/>
              </a:rPr>
              <a:t>are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ex</a:t>
            </a:r>
            <a:r>
              <a:rPr sz="1000" spc="-10" dirty="0">
                <a:latin typeface="Arial"/>
                <a:cs typeface="Arial"/>
              </a:rPr>
              <a:t>ecuted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lang="en-US" sz="1000" spc="-5" dirty="0" smtClean="0">
                <a:latin typeface="Arial"/>
                <a:cs typeface="Arial"/>
              </a:rPr>
              <a:t>a</a:t>
            </a:r>
            <a:r>
              <a:rPr sz="1000" spc="-5" dirty="0" smtClean="0">
                <a:latin typeface="Arial"/>
                <a:cs typeface="Arial"/>
              </a:rPr>
              <a:t>tomically</a:t>
            </a:r>
            <a:endParaRPr lang="en-US" sz="1000" spc="-5" dirty="0" smtClean="0">
              <a:latin typeface="Arial"/>
              <a:cs typeface="Arial"/>
            </a:endParaRPr>
          </a:p>
          <a:p>
            <a:pPr marL="289560" marR="496570">
              <a:lnSpc>
                <a:spcPct val="102699"/>
              </a:lnSpc>
            </a:pPr>
            <a:endParaRPr lang="en-US" sz="1000" spc="-5" dirty="0">
              <a:latin typeface="Arial"/>
              <a:cs typeface="Arial"/>
            </a:endParaRPr>
          </a:p>
          <a:p>
            <a:pPr marL="289560" marR="496570">
              <a:lnSpc>
                <a:spcPct val="102699"/>
              </a:lnSpc>
            </a:pPr>
            <a:r>
              <a:rPr lang="en-US" sz="1000" spc="-5" dirty="0" smtClean="0">
                <a:latin typeface="Arial"/>
                <a:cs typeface="Arial"/>
              </a:rPr>
              <a:t>To show: All the above properties are satisfied by our final solution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ct val="100000"/>
              </a:lnSpc>
            </a:pPr>
            <a:r>
              <a:rPr spc="-5" dirty="0"/>
              <a:t>7 / 28</a:t>
            </a:r>
          </a:p>
        </p:txBody>
      </p:sp>
    </p:spTree>
    <p:extLst>
      <p:ext uri="{BB962C8B-B14F-4D97-AF65-F5344CB8AC3E}">
        <p14:creationId xmlns:p14="http://schemas.microsoft.com/office/powerpoint/2010/main" val="275808872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Extending this to n co-operating processes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434975"/>
            <a:ext cx="4358386" cy="2954655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Each process signals its intent with the </a:t>
            </a:r>
            <a:r>
              <a:rPr lang="en-US" sz="1000" b="0" dirty="0" err="1" smtClean="0"/>
              <a:t>inCS</a:t>
            </a:r>
            <a:r>
              <a:rPr lang="en-US" sz="1000" b="0" dirty="0" smtClean="0"/>
              <a:t> flag (n-element array)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Turn helps to break 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Using turn to handle n-processes is difficult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Solution: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Centralized token machine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Each process </a:t>
            </a:r>
            <a:r>
              <a:rPr lang="en-US" sz="1000" dirty="0" smtClean="0">
                <a:solidFill>
                  <a:schemeClr val="tx1"/>
                </a:solidFill>
                <a:latin typeface="Arial"/>
                <a:cs typeface="Arial"/>
              </a:rPr>
              <a:t>which wishes to enter CS, applies for a token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/>
                </a:solidFill>
                <a:latin typeface="Arial"/>
                <a:cs typeface="Arial"/>
              </a:rPr>
              <a:t>A process is issued </a:t>
            </a:r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lang="en-US" sz="1000" dirty="0" smtClean="0">
                <a:solidFill>
                  <a:schemeClr val="tx1"/>
                </a:solidFill>
                <a:latin typeface="Arial"/>
                <a:cs typeface="Arial"/>
              </a:rPr>
              <a:t>token number</a:t>
            </a:r>
            <a:endParaRPr lang="en-U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Whoever has </a:t>
            </a:r>
            <a:r>
              <a:rPr lang="en-US" sz="1000" dirty="0" smtClean="0">
                <a:solidFill>
                  <a:schemeClr val="tx1"/>
                </a:solidFill>
                <a:latin typeface="Arial"/>
                <a:cs typeface="Arial"/>
              </a:rPr>
              <a:t>turn</a:t>
            </a:r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, denoted by the token number, enters </a:t>
            </a:r>
            <a:r>
              <a:rPr lang="en-US" sz="1000" dirty="0" smtClean="0">
                <a:solidFill>
                  <a:schemeClr val="tx1"/>
                </a:solidFill>
                <a:latin typeface="Arial"/>
                <a:cs typeface="Arial"/>
              </a:rPr>
              <a:t>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/>
              <a:t>Problem: </a:t>
            </a:r>
            <a:r>
              <a:rPr lang="en-US" sz="1000" b="0" dirty="0" smtClean="0"/>
              <a:t>Token machine can become a bottleneck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Question: Can the processes decide the turn?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Risky since everyone may want to set its own </a:t>
            </a:r>
            <a:r>
              <a:rPr lang="en-US" sz="1000" dirty="0" smtClean="0">
                <a:solidFill>
                  <a:schemeClr val="tx1"/>
                </a:solidFill>
                <a:latin typeface="Arial"/>
                <a:cs typeface="Arial"/>
              </a:rPr>
              <a:t>turn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/>
                </a:solidFill>
                <a:latin typeface="Arial"/>
                <a:cs typeface="Arial"/>
              </a:rPr>
              <a:t>What if everyone chooses the same token number?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/>
                </a:solidFill>
                <a:latin typeface="Arial"/>
                <a:cs typeface="Arial"/>
              </a:rPr>
              <a:t>Note: co-operating processes are being designed by us, so can avoid this situation by writing code appropriately </a:t>
            </a:r>
            <a:endParaRPr lang="en-U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b="0" dirty="0"/>
          </a:p>
        </p:txBody>
      </p:sp>
    </p:spTree>
    <p:extLst>
      <p:ext uri="{BB962C8B-B14F-4D97-AF65-F5344CB8AC3E}">
        <p14:creationId xmlns:p14="http://schemas.microsoft.com/office/powerpoint/2010/main" val="357773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CSP for n-processes: first 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465194" cy="1292662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 smtClean="0"/>
              <a:t>Each process interested to enter CS looks at the token numbers of others, finds the maximum, adds 1 to it, and assigns the number to itself</a:t>
            </a:r>
          </a:p>
          <a:p>
            <a:endParaRPr lang="en-US"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 smtClean="0"/>
              <a:t>Token number is a shared data 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/>
              <a:t>Whoever has turn, denoted by the token number, enters </a:t>
            </a:r>
            <a:r>
              <a:rPr lang="en-US" sz="1050" b="0" dirty="0" smtClean="0"/>
              <a:t>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 smtClean="0"/>
              <a:t>Once completed, passes turn to the next or someone else interested</a:t>
            </a:r>
            <a:endParaRPr lang="en-US" sz="1050" b="0" dirty="0"/>
          </a:p>
        </p:txBody>
      </p:sp>
    </p:spTree>
    <p:extLst>
      <p:ext uri="{BB962C8B-B14F-4D97-AF65-F5344CB8AC3E}">
        <p14:creationId xmlns:p14="http://schemas.microsoft.com/office/powerpoint/2010/main" val="95242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Multiple process solution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434975"/>
            <a:ext cx="5410200" cy="2670859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P[</a:t>
            </a:r>
            <a:r>
              <a:rPr lang="en-IN" sz="800" b="0" spc="60" dirty="0" err="1" smtClean="0"/>
              <a:t>i</a:t>
            </a:r>
            <a:r>
              <a:rPr lang="en-IN" sz="800" b="0" spc="60" dirty="0" smtClean="0"/>
              <a:t>]: 		                </a:t>
            </a:r>
          </a:p>
          <a:p>
            <a:pPr marL="12064" marR="247396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1.  want[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1; 	</a:t>
            </a:r>
          </a:p>
          <a:p>
            <a:pPr marL="12064" marR="2473960">
              <a:lnSpc>
                <a:spcPct val="102600"/>
              </a:lnSpc>
              <a:spcBef>
                <a:spcPts val="894"/>
              </a:spcBef>
            </a:pPr>
            <a:r>
              <a:rPr lang="en-IN" sz="600" b="0" spc="60" dirty="0" smtClean="0"/>
              <a:t>     /*Look </a:t>
            </a:r>
            <a:r>
              <a:rPr lang="en-IN" sz="600" b="0" spc="60" dirty="0"/>
              <a:t>at </a:t>
            </a:r>
            <a:r>
              <a:rPr lang="en-IN" sz="600" b="0" spc="60" dirty="0" smtClean="0"/>
              <a:t>others, </a:t>
            </a:r>
            <a:r>
              <a:rPr lang="en-IN" sz="600" b="0" spc="60" dirty="0"/>
              <a:t>compute MAX, add 1 and assign to itself */ </a:t>
            </a:r>
            <a:endParaRPr lang="en-IN" sz="700" b="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2. </a:t>
            </a:r>
            <a:r>
              <a:rPr lang="en-IN" sz="700" b="0" spc="60" dirty="0" err="1" smtClean="0"/>
              <a:t>chooseTokenNumber</a:t>
            </a:r>
            <a:r>
              <a:rPr lang="en-IN" sz="700" b="0" spc="60" dirty="0" smtClean="0"/>
              <a:t>();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    /*Determine if it has the lowest token number */        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3</a:t>
            </a:r>
            <a:r>
              <a:rPr lang="en-IN" sz="700" b="0" spc="60" dirty="0"/>
              <a:t>. f</a:t>
            </a:r>
            <a:r>
              <a:rPr lang="en-IN" sz="700" b="0" spc="60" dirty="0" smtClean="0"/>
              <a:t>or (j = 0, j &lt; n; </a:t>
            </a:r>
            <a:r>
              <a:rPr lang="en-IN" sz="700" b="0" spc="60" dirty="0" err="1" smtClean="0"/>
              <a:t>j++</a:t>
            </a:r>
            <a:r>
              <a:rPr lang="en-IN" sz="700" b="0" spc="60" dirty="0" smtClean="0"/>
              <a:t>)                // Look at all processes</a:t>
            </a:r>
            <a:endParaRPr lang="en-IN" sz="70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	while (token[j] &lt; (token[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]);    // If P[j] is ahead of P[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in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/>
              <a:t> </a:t>
            </a:r>
            <a:r>
              <a:rPr lang="en-IN" sz="700" b="0" spc="60" dirty="0" smtClean="0"/>
              <a:t>                                               // the queue, P[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must wait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4</a:t>
            </a:r>
            <a:r>
              <a:rPr lang="en-IN" sz="700" b="0" spc="60" dirty="0"/>
              <a:t>. </a:t>
            </a:r>
            <a:r>
              <a:rPr lang="en-IN" sz="700" b="0" spc="60" dirty="0" smtClean="0"/>
              <a:t>CS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endParaRPr lang="en-IN" sz="600" b="0" spc="60" dirty="0"/>
          </a:p>
          <a:p>
            <a:r>
              <a:rPr lang="en-IN" sz="700" b="0" spc="60" dirty="0"/>
              <a:t>5. </a:t>
            </a:r>
            <a:r>
              <a:rPr lang="en-IN" sz="700" b="0" spc="60" dirty="0" smtClean="0"/>
              <a:t>want[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</a:t>
            </a:r>
            <a:r>
              <a:rPr lang="en-IN" sz="700" b="0" spc="60" dirty="0"/>
              <a:t>= 0; </a:t>
            </a:r>
            <a:r>
              <a:rPr lang="en-IN" sz="700" b="0" spc="60" dirty="0" smtClean="0"/>
              <a:t>			</a:t>
            </a:r>
          </a:p>
          <a:p>
            <a:endParaRPr lang="en-US" sz="700" b="0" spc="60" dirty="0"/>
          </a:p>
          <a:p>
            <a:r>
              <a:rPr lang="en-US" sz="700" spc="60" dirty="0" smtClean="0"/>
              <a:t>Notes</a:t>
            </a:r>
            <a:r>
              <a:rPr lang="en-US" sz="700" b="0" spc="60" dirty="0" smtClean="0"/>
              <a:t>: </a:t>
            </a:r>
          </a:p>
          <a:p>
            <a:endParaRPr lang="en-US" sz="700" b="0" spc="6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spc="60" dirty="0" smtClean="0"/>
              <a:t>If token[j] is less, P[j] is ahead of P[</a:t>
            </a:r>
            <a:r>
              <a:rPr lang="en-US" sz="700" b="0" spc="60" dirty="0" err="1" smtClean="0"/>
              <a:t>i</a:t>
            </a:r>
            <a:r>
              <a:rPr lang="en-US" sz="700" b="0" spc="60" dirty="0" smtClean="0"/>
              <a:t>] and P[</a:t>
            </a:r>
            <a:r>
              <a:rPr lang="en-US" sz="700" b="0" spc="60" dirty="0" err="1" smtClean="0"/>
              <a:t>i</a:t>
            </a:r>
            <a:r>
              <a:rPr lang="en-US" sz="700" b="0" spc="60" dirty="0" smtClean="0"/>
              <a:t>] must wait for P[j]</a:t>
            </a:r>
          </a:p>
        </p:txBody>
      </p:sp>
    </p:spTree>
    <p:extLst>
      <p:ext uri="{BB962C8B-B14F-4D97-AF65-F5344CB8AC3E}">
        <p14:creationId xmlns:p14="http://schemas.microsoft.com/office/powerpoint/2010/main" val="34861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CSP for n-processes: first 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465194" cy="2585323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 smtClean="0"/>
              <a:t>Each process interested to enter CS looks at the token numbers of others, finds the maximum, adds 1 to it, and assigns the number to itself</a:t>
            </a:r>
          </a:p>
          <a:p>
            <a:endParaRPr lang="en-US"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 smtClean="0"/>
              <a:t>Token number is a shared data 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/>
              <a:t>Whoever has turn, denoted by the token number, enters </a:t>
            </a:r>
            <a:r>
              <a:rPr lang="en-US" sz="1050" b="0" dirty="0" smtClean="0"/>
              <a:t>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 smtClean="0"/>
              <a:t>Once completed, passes turn to the next or someone else interested</a:t>
            </a:r>
            <a:endParaRPr lang="en-US"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u="sng" dirty="0" smtClean="0"/>
              <a:t>Problem with this approach: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Arial"/>
                <a:cs typeface="Arial"/>
              </a:rPr>
              <a:t>Token number manipulation is a time consuming process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Arial"/>
                <a:cs typeface="Arial"/>
              </a:rPr>
              <a:t>Two or more processes may end up </a:t>
            </a:r>
            <a:r>
              <a:rPr lang="en-US" sz="1050" dirty="0" smtClean="0">
                <a:solidFill>
                  <a:schemeClr val="tx1"/>
                </a:solidFill>
                <a:latin typeface="Arial"/>
                <a:cs typeface="Arial"/>
              </a:rPr>
              <a:t>with </a:t>
            </a:r>
            <a:r>
              <a:rPr lang="en-US" sz="1050" u="sng" dirty="0" smtClean="0">
                <a:solidFill>
                  <a:schemeClr val="tx1"/>
                </a:solidFill>
                <a:latin typeface="Arial"/>
                <a:cs typeface="Arial"/>
              </a:rPr>
              <a:t>same</a:t>
            </a:r>
            <a:r>
              <a:rPr lang="en-US" sz="105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cs typeface="Arial"/>
              </a:rPr>
              <a:t>token </a:t>
            </a:r>
            <a:r>
              <a:rPr lang="en-US" sz="1050" dirty="0" smtClean="0">
                <a:solidFill>
                  <a:schemeClr val="tx1"/>
                </a:solidFill>
                <a:latin typeface="Arial"/>
                <a:cs typeface="Arial"/>
              </a:rPr>
              <a:t>number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i="1" dirty="0" smtClean="0">
                <a:solidFill>
                  <a:schemeClr val="tx1"/>
                </a:solidFill>
                <a:latin typeface="Arial"/>
                <a:cs typeface="Arial"/>
              </a:rPr>
              <a:t>Process of calculating the token number involves 3 steps: read everyone else’s number, find </a:t>
            </a:r>
            <a:r>
              <a:rPr lang="en-US" sz="1000" i="1" dirty="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lang="en-US" sz="1000" i="1" dirty="0" smtClean="0">
                <a:solidFill>
                  <a:schemeClr val="tx1"/>
                </a:solidFill>
                <a:latin typeface="Arial"/>
                <a:cs typeface="Arial"/>
              </a:rPr>
              <a:t>aximum, add 1 and assign to itself</a:t>
            </a:r>
            <a:endParaRPr lang="en-US" sz="1000" i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Arial"/>
                <a:cs typeface="Arial"/>
              </a:rPr>
              <a:t>Solution: Break ties with </a:t>
            </a:r>
            <a:r>
              <a:rPr lang="en-US" sz="1050" dirty="0" err="1">
                <a:solidFill>
                  <a:schemeClr val="tx1"/>
                </a:solidFill>
                <a:latin typeface="Arial"/>
                <a:cs typeface="Arial"/>
              </a:rPr>
              <a:t>pid</a:t>
            </a:r>
            <a:endParaRPr lang="en-IN" sz="105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98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Multiple process solution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434975"/>
            <a:ext cx="5410200" cy="2941896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P[</a:t>
            </a:r>
            <a:r>
              <a:rPr lang="en-IN" sz="800" b="0" spc="60" dirty="0" err="1" smtClean="0"/>
              <a:t>i</a:t>
            </a:r>
            <a:r>
              <a:rPr lang="en-IN" sz="800" b="0" spc="60" dirty="0" smtClean="0"/>
              <a:t>]: 		                </a:t>
            </a:r>
          </a:p>
          <a:p>
            <a:pPr marL="12064" marR="247396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1.  want[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1; 	</a:t>
            </a:r>
          </a:p>
          <a:p>
            <a:pPr marL="12064" marR="2473960">
              <a:lnSpc>
                <a:spcPct val="102600"/>
              </a:lnSpc>
              <a:spcBef>
                <a:spcPts val="894"/>
              </a:spcBef>
            </a:pPr>
            <a:r>
              <a:rPr lang="en-IN" sz="600" b="0" spc="60" dirty="0" smtClean="0"/>
              <a:t>     /*Look </a:t>
            </a:r>
            <a:r>
              <a:rPr lang="en-IN" sz="600" b="0" spc="60" dirty="0"/>
              <a:t>at </a:t>
            </a:r>
            <a:r>
              <a:rPr lang="en-IN" sz="600" b="0" spc="60" dirty="0" smtClean="0"/>
              <a:t>others, </a:t>
            </a:r>
            <a:r>
              <a:rPr lang="en-IN" sz="600" b="0" spc="60" dirty="0"/>
              <a:t>compute MAX, add 1 and assign to itself */ </a:t>
            </a:r>
            <a:endParaRPr lang="en-IN" sz="700" b="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2</a:t>
            </a:r>
            <a:r>
              <a:rPr lang="en-IN" sz="700" b="0" spc="60" dirty="0"/>
              <a:t>. token[</a:t>
            </a:r>
            <a:r>
              <a:rPr lang="en-IN" sz="700" b="0" spc="60" dirty="0" err="1"/>
              <a:t>i</a:t>
            </a:r>
            <a:r>
              <a:rPr lang="en-IN" sz="700" b="0" spc="60" dirty="0"/>
              <a:t>] = MAX (token[0], token[1],…token[n-1]) + 1;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    /*Determine if it has the lowest token number */        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3</a:t>
            </a:r>
            <a:r>
              <a:rPr lang="en-IN" sz="700" b="0" spc="60" dirty="0"/>
              <a:t>. f</a:t>
            </a:r>
            <a:r>
              <a:rPr lang="en-IN" sz="700" b="0" spc="60" dirty="0" smtClean="0"/>
              <a:t>or (j = 0, j &lt; n; </a:t>
            </a:r>
            <a:r>
              <a:rPr lang="en-IN" sz="700" b="0" spc="60" dirty="0" err="1" smtClean="0"/>
              <a:t>j++</a:t>
            </a:r>
            <a:r>
              <a:rPr lang="en-IN" sz="700" b="0" spc="60" dirty="0" smtClean="0"/>
              <a:t>)</a:t>
            </a:r>
            <a:endParaRPr lang="en-IN" sz="70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	while ((token[j],j) &lt; (token[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], 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));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4</a:t>
            </a:r>
            <a:r>
              <a:rPr lang="en-IN" sz="700" b="0" spc="60" dirty="0"/>
              <a:t>. </a:t>
            </a:r>
            <a:r>
              <a:rPr lang="en-IN" sz="700" b="0" spc="60" dirty="0" smtClean="0"/>
              <a:t>CS</a:t>
            </a:r>
            <a:endParaRPr lang="en-IN" sz="700" b="0" spc="60" dirty="0"/>
          </a:p>
          <a:p>
            <a:r>
              <a:rPr lang="en-IN" sz="700" b="0" spc="60" dirty="0"/>
              <a:t>5. </a:t>
            </a:r>
            <a:r>
              <a:rPr lang="en-IN" sz="700" b="0" spc="60" dirty="0" smtClean="0"/>
              <a:t>want[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</a:t>
            </a:r>
            <a:r>
              <a:rPr lang="en-IN" sz="700" b="0" spc="60" dirty="0"/>
              <a:t>= 0; </a:t>
            </a:r>
            <a:r>
              <a:rPr lang="en-IN" sz="700" b="0" spc="60" dirty="0" smtClean="0"/>
              <a:t>			</a:t>
            </a:r>
          </a:p>
          <a:p>
            <a:endParaRPr lang="en-US" sz="700" b="0" spc="60" dirty="0"/>
          </a:p>
          <a:p>
            <a:r>
              <a:rPr lang="en-US" sz="700" spc="60" dirty="0" smtClean="0"/>
              <a:t>Notes</a:t>
            </a:r>
            <a:r>
              <a:rPr lang="en-US" sz="700" b="0" spc="60" dirty="0" smtClean="0"/>
              <a:t>: </a:t>
            </a:r>
          </a:p>
          <a:p>
            <a:endParaRPr lang="en-US" sz="10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/>
              <a:t>If token[j] is less, P[j] is ahead of P[</a:t>
            </a:r>
            <a:r>
              <a:rPr lang="en-US" sz="1000" b="0" dirty="0" err="1"/>
              <a:t>i</a:t>
            </a:r>
            <a:r>
              <a:rPr lang="en-US" sz="1000" b="0" dirty="0"/>
              <a:t>] and P[</a:t>
            </a:r>
            <a:r>
              <a:rPr lang="en-US" sz="1000" b="0" dirty="0" err="1"/>
              <a:t>i</a:t>
            </a:r>
            <a:r>
              <a:rPr lang="en-US" sz="1000" b="0" dirty="0"/>
              <a:t>] must wait for P[j]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/>
              <a:t>If token numbers are same, resolve by </a:t>
            </a:r>
            <a:r>
              <a:rPr lang="en-US" sz="1000" b="0" dirty="0" err="1"/>
              <a:t>pids</a:t>
            </a:r>
            <a:endParaRPr lang="en-US" sz="10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/>
              <a:t>j=</a:t>
            </a:r>
            <a:r>
              <a:rPr lang="en-US" sz="1000" b="0" dirty="0" err="1"/>
              <a:t>i</a:t>
            </a:r>
            <a:r>
              <a:rPr lang="en-US" sz="1000" b="0" dirty="0"/>
              <a:t> is also considered, however, no process waits for itself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0" dirty="0"/>
              <a:t>We assume token numbers are issued in increasing order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b="0" dirty="0"/>
          </a:p>
        </p:txBody>
      </p:sp>
    </p:spTree>
    <p:extLst>
      <p:ext uri="{BB962C8B-B14F-4D97-AF65-F5344CB8AC3E}">
        <p14:creationId xmlns:p14="http://schemas.microsoft.com/office/powerpoint/2010/main" val="277974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Questions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200602"/>
          </a:xfrm>
        </p:spPr>
        <p:txBody>
          <a:bodyPr/>
          <a:lstStyle/>
          <a:p>
            <a:r>
              <a:rPr lang="en-IN" b="0" dirty="0" smtClean="0"/>
              <a:t>What happens after the token is used once?</a:t>
            </a:r>
          </a:p>
          <a:p>
            <a:endParaRPr lang="en-IN" b="0" dirty="0"/>
          </a:p>
          <a:p>
            <a:r>
              <a:rPr lang="en-IN" b="0" dirty="0" smtClean="0"/>
              <a:t>Should we allow reuse of token number in case P[</a:t>
            </a:r>
            <a:r>
              <a:rPr lang="en-IN" b="0" dirty="0" err="1" smtClean="0"/>
              <a:t>i</a:t>
            </a:r>
            <a:r>
              <a:rPr lang="en-IN" b="0" dirty="0" smtClean="0"/>
              <a:t>] wishes to enter again in future? </a:t>
            </a:r>
            <a:endParaRPr lang="en-IN" b="0" dirty="0"/>
          </a:p>
          <a:p>
            <a:endParaRPr lang="en-IN" b="0" dirty="0" smtClean="0"/>
          </a:p>
          <a:p>
            <a:r>
              <a:rPr lang="en-IN" b="0" dirty="0" smtClean="0"/>
              <a:t>Not advisable due to CSP requirements</a:t>
            </a:r>
          </a:p>
          <a:p>
            <a:endParaRPr lang="en-IN" b="0" dirty="0"/>
          </a:p>
          <a:p>
            <a:r>
              <a:rPr lang="en-IN" b="0" dirty="0" smtClean="0"/>
              <a:t>Return the token (token[</a:t>
            </a:r>
            <a:r>
              <a:rPr lang="en-IN" b="0" dirty="0" err="1" smtClean="0"/>
              <a:t>i</a:t>
            </a:r>
            <a:r>
              <a:rPr lang="en-IN" b="0" dirty="0" smtClean="0"/>
              <a:t>] = 0 on exit)</a:t>
            </a:r>
          </a:p>
          <a:p>
            <a:endParaRPr lang="en-IN" b="0" dirty="0"/>
          </a:p>
          <a:p>
            <a:r>
              <a:rPr lang="en-IN" b="0" dirty="0" smtClean="0"/>
              <a:t>Token number 0 can be used to denote that I do not have token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  <a:latin typeface="Arial"/>
                <a:cs typeface="Arial"/>
              </a:rPr>
              <a:t>may create problem in the check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  <a:latin typeface="Arial"/>
                <a:cs typeface="Arial"/>
              </a:rPr>
              <a:t>token[j] </a:t>
            </a:r>
            <a:r>
              <a:rPr lang="en-IN" sz="1100" dirty="0" smtClean="0">
                <a:solidFill>
                  <a:schemeClr val="tx1"/>
                </a:solidFill>
                <a:latin typeface="Arial"/>
                <a:cs typeface="Arial"/>
              </a:rPr>
              <a:t>&lt; </a:t>
            </a:r>
            <a:r>
              <a:rPr lang="en-IN" sz="1100" dirty="0">
                <a:solidFill>
                  <a:schemeClr val="tx1"/>
                </a:solidFill>
                <a:latin typeface="Arial"/>
                <a:cs typeface="Arial"/>
              </a:rPr>
              <a:t>token[</a:t>
            </a:r>
            <a:r>
              <a:rPr lang="en-IN" sz="11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IN" sz="1100" dirty="0">
                <a:solidFill>
                  <a:schemeClr val="tx1"/>
                </a:solidFill>
                <a:latin typeface="Arial"/>
                <a:cs typeface="Arial"/>
              </a:rPr>
              <a:t>] if token[j] = 0</a:t>
            </a:r>
          </a:p>
          <a:p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167252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Multiple process solution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434975"/>
            <a:ext cx="5410200" cy="2664897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P[</a:t>
            </a:r>
            <a:r>
              <a:rPr lang="en-IN" sz="800" b="0" spc="60" dirty="0" err="1" smtClean="0"/>
              <a:t>i</a:t>
            </a:r>
            <a:r>
              <a:rPr lang="en-IN" sz="800" b="0" spc="60" dirty="0" smtClean="0"/>
              <a:t>]: 		                </a:t>
            </a:r>
          </a:p>
          <a:p>
            <a:pPr marL="240664" marR="2473960" indent="-228600">
              <a:lnSpc>
                <a:spcPct val="102600"/>
              </a:lnSpc>
              <a:spcBef>
                <a:spcPts val="894"/>
              </a:spcBef>
              <a:buAutoNum type="arabicPeriod"/>
            </a:pPr>
            <a:r>
              <a:rPr lang="en-IN" sz="700" b="0" spc="60" dirty="0" smtClean="0"/>
              <a:t>want[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1; 	</a:t>
            </a:r>
          </a:p>
          <a:p>
            <a:pPr marL="12064" marR="2473960">
              <a:lnSpc>
                <a:spcPct val="102600"/>
              </a:lnSpc>
              <a:spcBef>
                <a:spcPts val="894"/>
              </a:spcBef>
            </a:pPr>
            <a:r>
              <a:rPr lang="en-IN" sz="600" b="0" spc="60" dirty="0" smtClean="0"/>
              <a:t>/*Look </a:t>
            </a:r>
            <a:r>
              <a:rPr lang="en-IN" sz="600" b="0" spc="60" dirty="0"/>
              <a:t>at </a:t>
            </a:r>
            <a:r>
              <a:rPr lang="en-IN" sz="600" b="0" spc="60" dirty="0" smtClean="0"/>
              <a:t>others, </a:t>
            </a:r>
            <a:r>
              <a:rPr lang="en-IN" sz="600" b="0" spc="60" dirty="0"/>
              <a:t>compute MAX, add 1 and assign to itself */ </a:t>
            </a:r>
            <a:endParaRPr lang="en-IN" sz="700" b="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/>
              <a:t>2. token[</a:t>
            </a:r>
            <a:r>
              <a:rPr lang="en-IN" sz="700" b="0" spc="60" dirty="0" err="1"/>
              <a:t>i</a:t>
            </a:r>
            <a:r>
              <a:rPr lang="en-IN" sz="700" b="0" spc="60" dirty="0"/>
              <a:t>] = MAX (token[0], token[1],…token[n-1]) + 1;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/*Determine if it has the lowest token number */        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3</a:t>
            </a:r>
            <a:r>
              <a:rPr lang="en-IN" sz="700" b="0" spc="60" dirty="0"/>
              <a:t>. f</a:t>
            </a:r>
            <a:r>
              <a:rPr lang="en-IN" sz="700" b="0" spc="60" dirty="0" smtClean="0"/>
              <a:t>or (j = 0, j &lt; n; </a:t>
            </a:r>
            <a:r>
              <a:rPr lang="en-IN" sz="700" b="0" spc="60" dirty="0" err="1" smtClean="0"/>
              <a:t>j++</a:t>
            </a:r>
            <a:r>
              <a:rPr lang="en-IN" sz="700" b="0" spc="60" dirty="0" smtClean="0"/>
              <a:t>)</a:t>
            </a:r>
            <a:endParaRPr lang="en-IN" sz="70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	while (</a:t>
            </a:r>
            <a:r>
              <a:rPr lang="en-IN" sz="700" b="0" u="sng" spc="60" dirty="0" smtClean="0"/>
              <a:t>token[j] !=0</a:t>
            </a:r>
            <a:r>
              <a:rPr lang="en-IN" sz="700" b="0" spc="60" dirty="0" smtClean="0"/>
              <a:t> </a:t>
            </a:r>
            <a:r>
              <a:rPr lang="en-IN" sz="700" spc="60" dirty="0" smtClean="0"/>
              <a:t>&amp;&amp;</a:t>
            </a:r>
            <a:r>
              <a:rPr lang="en-IN" sz="700" b="0" spc="60" dirty="0" smtClean="0"/>
              <a:t> ((token[j],j) &lt; (token[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], 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))); 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4</a:t>
            </a:r>
            <a:r>
              <a:rPr lang="en-IN" sz="700" b="0" spc="60" dirty="0"/>
              <a:t>. </a:t>
            </a:r>
            <a:r>
              <a:rPr lang="en-IN" sz="700" b="0" spc="60" dirty="0" smtClean="0"/>
              <a:t>CS</a:t>
            </a:r>
            <a:endParaRPr lang="en-IN" sz="700" b="0" spc="60" dirty="0"/>
          </a:p>
          <a:p>
            <a:r>
              <a:rPr lang="en-IN" sz="700" b="0" spc="60" dirty="0"/>
              <a:t>5. </a:t>
            </a:r>
            <a:r>
              <a:rPr lang="en-IN" sz="700" b="0" spc="60" dirty="0" smtClean="0"/>
              <a:t>want[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</a:t>
            </a:r>
            <a:r>
              <a:rPr lang="en-IN" sz="700" b="0" spc="60" dirty="0"/>
              <a:t>= 0; </a:t>
            </a:r>
            <a:r>
              <a:rPr lang="en-IN" sz="700" b="0" spc="60" dirty="0" smtClean="0"/>
              <a:t>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0; 	</a:t>
            </a:r>
          </a:p>
          <a:p>
            <a:endParaRPr lang="en-US" sz="700" b="0" spc="60" dirty="0"/>
          </a:p>
          <a:p>
            <a:r>
              <a:rPr lang="en-US" sz="700" spc="60" dirty="0" smtClean="0"/>
              <a:t>Notes</a:t>
            </a:r>
            <a:r>
              <a:rPr lang="en-US" sz="700" b="0" spc="60" dirty="0" smtClean="0"/>
              <a:t>: </a:t>
            </a:r>
          </a:p>
          <a:p>
            <a:endParaRPr lang="en-US" sz="700" b="0" spc="6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spc="60" dirty="0" smtClean="0"/>
              <a:t>Token assignment begins from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700" b="0" spc="6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spc="60" dirty="0" smtClean="0"/>
              <a:t>Optimize: check against </a:t>
            </a:r>
            <a:r>
              <a:rPr lang="en-US" sz="700" b="0" u="sng" spc="60" dirty="0" smtClean="0"/>
              <a:t>only those processes who wish to enter 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700" b="0" spc="6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spc="60" dirty="0" smtClean="0"/>
              <a:t>Before the while loop, add a condition that P[j] wishes to enter CS</a:t>
            </a:r>
          </a:p>
        </p:txBody>
      </p:sp>
    </p:spTree>
    <p:extLst>
      <p:ext uri="{BB962C8B-B14F-4D97-AF65-F5344CB8AC3E}">
        <p14:creationId xmlns:p14="http://schemas.microsoft.com/office/powerpoint/2010/main" val="338064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Multiple process solution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434975"/>
            <a:ext cx="5943600" cy="2557175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P[</a:t>
            </a:r>
            <a:r>
              <a:rPr lang="en-IN" sz="800" b="0" spc="60" dirty="0" err="1" smtClean="0"/>
              <a:t>i</a:t>
            </a:r>
            <a:r>
              <a:rPr lang="en-IN" sz="800" b="0" spc="60" dirty="0" smtClean="0"/>
              <a:t>]: 		                </a:t>
            </a:r>
          </a:p>
          <a:p>
            <a:pPr marL="240664" marR="2473960" indent="-228600">
              <a:lnSpc>
                <a:spcPct val="102600"/>
              </a:lnSpc>
              <a:spcBef>
                <a:spcPts val="894"/>
              </a:spcBef>
              <a:buAutoNum type="arabicPeriod"/>
            </a:pPr>
            <a:r>
              <a:rPr lang="en-IN" sz="700" b="0" spc="60" dirty="0" smtClean="0"/>
              <a:t>want[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1; 	</a:t>
            </a:r>
          </a:p>
          <a:p>
            <a:pPr marL="12064" marR="2473960">
              <a:lnSpc>
                <a:spcPct val="102600"/>
              </a:lnSpc>
              <a:spcBef>
                <a:spcPts val="894"/>
              </a:spcBef>
            </a:pPr>
            <a:r>
              <a:rPr lang="en-IN" sz="600" b="0" spc="60" dirty="0" smtClean="0"/>
              <a:t>/*Look </a:t>
            </a:r>
            <a:r>
              <a:rPr lang="en-IN" sz="600" b="0" spc="60" dirty="0"/>
              <a:t>at </a:t>
            </a:r>
            <a:r>
              <a:rPr lang="en-IN" sz="600" b="0" spc="60" dirty="0" smtClean="0"/>
              <a:t>others, </a:t>
            </a:r>
            <a:r>
              <a:rPr lang="en-IN" sz="600" b="0" spc="60" dirty="0"/>
              <a:t>compute MAX, add 1 and assign to itself */ </a:t>
            </a:r>
            <a:endParaRPr lang="en-IN" sz="700" b="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2. 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MAX (token[0], token[1],…token[n-1]) + 1;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/*Determine if it has the lowest token number */        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3</a:t>
            </a:r>
            <a:r>
              <a:rPr lang="en-IN" sz="700" b="0" spc="60" dirty="0"/>
              <a:t>. f</a:t>
            </a:r>
            <a:r>
              <a:rPr lang="en-IN" sz="700" b="0" spc="60" dirty="0" smtClean="0"/>
              <a:t>or (j = 0, j &lt; n; </a:t>
            </a:r>
            <a:r>
              <a:rPr lang="en-IN" sz="700" b="0" spc="60" dirty="0" err="1" smtClean="0"/>
              <a:t>j++</a:t>
            </a:r>
            <a:r>
              <a:rPr lang="en-IN" sz="700" b="0" spc="60" dirty="0" smtClean="0"/>
              <a:t>)</a:t>
            </a:r>
            <a:endParaRPr lang="en-IN" sz="70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	while (</a:t>
            </a:r>
            <a:r>
              <a:rPr lang="en-IN" sz="700" b="0" u="sng" spc="60" dirty="0" smtClean="0"/>
              <a:t>want[j] != 0</a:t>
            </a:r>
            <a:r>
              <a:rPr lang="en-IN" sz="700" b="0" spc="60" dirty="0" smtClean="0"/>
              <a:t> </a:t>
            </a:r>
            <a:r>
              <a:rPr lang="en-IN" sz="700" spc="60" dirty="0" smtClean="0"/>
              <a:t>&amp;&amp;</a:t>
            </a:r>
            <a:r>
              <a:rPr lang="en-IN" sz="700" b="0" spc="60" dirty="0" smtClean="0"/>
              <a:t> token[j] !=0 </a:t>
            </a:r>
            <a:r>
              <a:rPr lang="en-IN" sz="700" spc="60" dirty="0" smtClean="0"/>
              <a:t>&amp;&amp;</a:t>
            </a:r>
            <a:r>
              <a:rPr lang="en-IN" sz="700" b="0" spc="60" dirty="0" smtClean="0"/>
              <a:t> (((token[j],j) &lt; (token[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], 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))); 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4</a:t>
            </a:r>
            <a:r>
              <a:rPr lang="en-IN" sz="700" b="0" spc="60" dirty="0"/>
              <a:t>. </a:t>
            </a:r>
            <a:r>
              <a:rPr lang="en-IN" sz="700" b="0" spc="60" dirty="0" smtClean="0"/>
              <a:t>CS</a:t>
            </a:r>
            <a:endParaRPr lang="en-IN" sz="700" b="0" spc="60" dirty="0"/>
          </a:p>
          <a:p>
            <a:r>
              <a:rPr lang="en-IN" sz="700" b="0" spc="60" dirty="0"/>
              <a:t>5. </a:t>
            </a:r>
            <a:r>
              <a:rPr lang="en-IN" sz="700" b="0" spc="60" dirty="0" smtClean="0"/>
              <a:t>want[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</a:t>
            </a:r>
            <a:r>
              <a:rPr lang="en-IN" sz="700" b="0" spc="60" dirty="0"/>
              <a:t>= 0; </a:t>
            </a:r>
            <a:r>
              <a:rPr lang="en-IN" sz="700" b="0" spc="60" dirty="0" smtClean="0"/>
              <a:t>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0; 	</a:t>
            </a:r>
          </a:p>
          <a:p>
            <a:endParaRPr lang="en-US" sz="700" b="0" spc="60" dirty="0"/>
          </a:p>
          <a:p>
            <a:r>
              <a:rPr lang="en-US" sz="700" spc="60" dirty="0" smtClean="0"/>
              <a:t>Notes</a:t>
            </a:r>
            <a:r>
              <a:rPr lang="en-US" sz="700" b="0" spc="60" dirty="0" smtClean="0"/>
              <a:t>: </a:t>
            </a:r>
          </a:p>
          <a:p>
            <a:endParaRPr lang="en-US" sz="700" b="0" spc="6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spc="60" dirty="0" smtClean="0"/>
              <a:t>want and token occur in pairs, values nearly in tandem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spc="60" dirty="0" smtClean="0"/>
              <a:t>Lines 1 and 2 assign a non-zero value to both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spc="60" dirty="0" smtClean="0"/>
              <a:t>The exit section assigns 0 to both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spc="60" dirty="0" smtClean="0"/>
              <a:t>The while loop checks for non-zeros value of both</a:t>
            </a:r>
          </a:p>
        </p:txBody>
      </p:sp>
    </p:spTree>
    <p:extLst>
      <p:ext uri="{BB962C8B-B14F-4D97-AF65-F5344CB8AC3E}">
        <p14:creationId xmlns:p14="http://schemas.microsoft.com/office/powerpoint/2010/main" val="332136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Multiple process solution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434975"/>
            <a:ext cx="5715000" cy="2707601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P[</a:t>
            </a:r>
            <a:r>
              <a:rPr lang="en-IN" sz="800" b="0" spc="60" dirty="0" err="1" smtClean="0"/>
              <a:t>i</a:t>
            </a:r>
            <a:r>
              <a:rPr lang="en-IN" sz="800" b="0" spc="60" dirty="0" smtClean="0"/>
              <a:t>]: Get rid of want and use token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/>
              <a:t>t</a:t>
            </a:r>
            <a:r>
              <a:rPr lang="en-IN" sz="800" b="0" spc="60" dirty="0" smtClean="0"/>
              <a:t>oken non-zero indicates wishes to enter CS, acquire token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token 0 indicates no valid token</a:t>
            </a:r>
            <a:endParaRPr lang="en-IN" sz="700" b="0" spc="60" dirty="0" smtClean="0"/>
          </a:p>
          <a:p>
            <a:pPr marL="12064" marR="2473960">
              <a:lnSpc>
                <a:spcPct val="102600"/>
              </a:lnSpc>
              <a:spcBef>
                <a:spcPts val="894"/>
              </a:spcBef>
            </a:pPr>
            <a:r>
              <a:rPr lang="en-IN" sz="600" b="0" spc="60" dirty="0" smtClean="0"/>
              <a:t>/*Look </a:t>
            </a:r>
            <a:r>
              <a:rPr lang="en-IN" sz="600" b="0" spc="60" dirty="0"/>
              <a:t>at </a:t>
            </a:r>
            <a:r>
              <a:rPr lang="en-IN" sz="600" b="0" spc="60" dirty="0" smtClean="0"/>
              <a:t>others, </a:t>
            </a:r>
            <a:r>
              <a:rPr lang="en-IN" sz="600" b="0" spc="60" dirty="0"/>
              <a:t>compute MAX, add 1 and assign to itself */ </a:t>
            </a:r>
            <a:endParaRPr lang="en-IN" sz="700" b="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/>
              <a:t>1</a:t>
            </a:r>
            <a:r>
              <a:rPr lang="en-IN" sz="700" b="0" spc="60" dirty="0" smtClean="0"/>
              <a:t>. 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MAX (token[0], token[1],…token[n-1]) + 1;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/*Determine if it has the lowest token number */        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2. </a:t>
            </a:r>
            <a:r>
              <a:rPr lang="en-IN" sz="700" b="0" spc="60" dirty="0"/>
              <a:t>f</a:t>
            </a:r>
            <a:r>
              <a:rPr lang="en-IN" sz="700" b="0" spc="60" dirty="0" smtClean="0"/>
              <a:t>or (j = 1; j &lt; n; </a:t>
            </a:r>
            <a:r>
              <a:rPr lang="en-IN" sz="700" b="0" spc="60" dirty="0" err="1" smtClean="0"/>
              <a:t>j++</a:t>
            </a:r>
            <a:r>
              <a:rPr lang="en-IN" sz="700" b="0" spc="60" dirty="0" smtClean="0"/>
              <a:t>)</a:t>
            </a:r>
            <a:endParaRPr lang="en-IN" sz="70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	while (token[j] !=0 </a:t>
            </a:r>
            <a:r>
              <a:rPr lang="en-IN" sz="700" spc="60" dirty="0" smtClean="0"/>
              <a:t>&amp;&amp;</a:t>
            </a:r>
            <a:r>
              <a:rPr lang="en-IN" sz="700" b="0" spc="60" dirty="0" smtClean="0"/>
              <a:t> (token[j],j) &lt; (token[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], 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)); 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4</a:t>
            </a:r>
            <a:r>
              <a:rPr lang="en-IN" sz="700" b="0" spc="60" dirty="0"/>
              <a:t>. </a:t>
            </a:r>
            <a:r>
              <a:rPr lang="en-IN" sz="700" b="0" spc="60" dirty="0" smtClean="0"/>
              <a:t>CS</a:t>
            </a:r>
            <a:endParaRPr lang="en-IN" sz="700" b="0" spc="60" dirty="0"/>
          </a:p>
          <a:p>
            <a:r>
              <a:rPr lang="en-IN" sz="700" b="0" spc="60" dirty="0"/>
              <a:t>5. </a:t>
            </a:r>
            <a:r>
              <a:rPr lang="en-IN" sz="700" b="0" spc="60" dirty="0" smtClean="0"/>
              <a:t>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0; 	</a:t>
            </a:r>
          </a:p>
          <a:p>
            <a:endParaRPr lang="en-US" sz="700" b="0" spc="60" dirty="0"/>
          </a:p>
          <a:p>
            <a:r>
              <a:rPr lang="en-US" sz="700" spc="60" dirty="0" smtClean="0"/>
              <a:t>Notes</a:t>
            </a:r>
            <a:r>
              <a:rPr lang="en-US" sz="700" b="0" spc="60" dirty="0" smtClean="0"/>
              <a:t>: </a:t>
            </a:r>
          </a:p>
          <a:p>
            <a:endParaRPr lang="en-US" sz="700" b="0" spc="6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spc="60" dirty="0" smtClean="0"/>
              <a:t>Check every process in 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spc="60" dirty="0" smtClean="0"/>
              <a:t>If </a:t>
            </a:r>
            <a:r>
              <a:rPr lang="en-IN" sz="700" b="0" spc="60" dirty="0"/>
              <a:t>(token[j],j) &lt; (token[</a:t>
            </a:r>
            <a:r>
              <a:rPr lang="en-IN" sz="700" b="0" spc="60" dirty="0" err="1"/>
              <a:t>i</a:t>
            </a:r>
            <a:r>
              <a:rPr lang="en-IN" sz="700" b="0" spc="60" dirty="0"/>
              <a:t>], </a:t>
            </a:r>
            <a:r>
              <a:rPr lang="en-IN" sz="700" b="0" spc="60" dirty="0" err="1"/>
              <a:t>i</a:t>
            </a:r>
            <a:r>
              <a:rPr lang="en-IN" sz="700" b="0" spc="60" dirty="0" smtClean="0"/>
              <a:t>)) is true, P[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waits for P[j] to return the token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b="0" spc="60" dirty="0" smtClean="0"/>
              <a:t>P[j] sets token to 0 at exit of CS</a:t>
            </a:r>
            <a:endParaRPr lang="en-US" sz="700" b="0" spc="60" dirty="0" smtClean="0"/>
          </a:p>
        </p:txBody>
      </p:sp>
    </p:spTree>
    <p:extLst>
      <p:ext uri="{BB962C8B-B14F-4D97-AF65-F5344CB8AC3E}">
        <p14:creationId xmlns:p14="http://schemas.microsoft.com/office/powerpoint/2010/main" val="22353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Questions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539157"/>
          </a:xfrm>
        </p:spPr>
        <p:txBody>
          <a:bodyPr/>
          <a:lstStyle/>
          <a:p>
            <a:r>
              <a:rPr lang="en-IN" b="0" dirty="0"/>
              <a:t>C</a:t>
            </a:r>
            <a:r>
              <a:rPr lang="en-IN" b="0" dirty="0" smtClean="0"/>
              <a:t>an 2 processes wait for the same process simultaneously?</a:t>
            </a:r>
          </a:p>
          <a:p>
            <a:endParaRPr lang="en-IN" b="0" dirty="0" smtClean="0"/>
          </a:p>
          <a:p>
            <a:r>
              <a:rPr lang="en-IN" b="0" dirty="0" smtClean="0"/>
              <a:t>Trace an execution with P[1], P[2], P[5]</a:t>
            </a:r>
          </a:p>
          <a:p>
            <a:endParaRPr lang="en-IN" b="0" dirty="0" smtClean="0"/>
          </a:p>
          <a:p>
            <a:r>
              <a:rPr lang="en-IN" b="0" dirty="0" smtClean="0"/>
              <a:t>Arrival order is P[2], P[5], P[1]</a:t>
            </a:r>
          </a:p>
          <a:p>
            <a:endParaRPr lang="en-IN" b="0" dirty="0" smtClean="0"/>
          </a:p>
          <a:p>
            <a:r>
              <a:rPr lang="en-IN" b="0" dirty="0" smtClean="0"/>
              <a:t>P[2] enters CS</a:t>
            </a:r>
          </a:p>
          <a:p>
            <a:r>
              <a:rPr lang="en-IN" b="0" dirty="0" smtClean="0"/>
              <a:t>P[5] waits for P[2] – Once it goes past P[2], checks once only</a:t>
            </a:r>
          </a:p>
          <a:p>
            <a:r>
              <a:rPr lang="en-IN" b="0" dirty="0" smtClean="0"/>
              <a:t>P[1] waits for P[2] and so does P[5]</a:t>
            </a:r>
          </a:p>
          <a:p>
            <a:r>
              <a:rPr lang="en-IN" b="0" dirty="0" smtClean="0"/>
              <a:t>P[2] comes out</a:t>
            </a:r>
          </a:p>
          <a:p>
            <a:r>
              <a:rPr lang="en-IN" b="0" dirty="0" smtClean="0"/>
              <a:t>P[5] checks for other processes after 2, and does not check P[1]</a:t>
            </a:r>
          </a:p>
          <a:p>
            <a:r>
              <a:rPr lang="en-IN" b="0" dirty="0" smtClean="0"/>
              <a:t>P[5] enters</a:t>
            </a:r>
          </a:p>
          <a:p>
            <a:r>
              <a:rPr lang="en-IN" b="0" dirty="0" smtClean="0"/>
              <a:t>P[1] checks for P[5] and waits</a:t>
            </a:r>
          </a:p>
          <a:p>
            <a:endParaRPr lang="en-IN" b="0" dirty="0"/>
          </a:p>
          <a:p>
            <a:r>
              <a:rPr lang="en-IN" b="0" dirty="0" smtClean="0"/>
              <a:t>Implicit agreement ensures who enters after whom!!</a:t>
            </a: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325753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All is Well?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434975"/>
            <a:ext cx="5715000" cy="2384435"/>
          </a:xfrm>
        </p:spPr>
        <p:txBody>
          <a:bodyPr/>
          <a:lstStyle/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P[</a:t>
            </a:r>
            <a:r>
              <a:rPr lang="en-IN" sz="800" b="0" spc="60" dirty="0" err="1" smtClean="0"/>
              <a:t>i</a:t>
            </a:r>
            <a:r>
              <a:rPr lang="en-IN" sz="800" b="0" spc="60" dirty="0" smtClean="0"/>
              <a:t>]: Get rid of want and use token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/>
              <a:t>t</a:t>
            </a:r>
            <a:r>
              <a:rPr lang="en-IN" sz="800" b="0" spc="60" dirty="0" smtClean="0"/>
              <a:t>oken non-zero indicates wishes to enter CS, acquire token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800" b="0" spc="60" dirty="0" smtClean="0"/>
              <a:t>token 0 indicates no valid token</a:t>
            </a:r>
            <a:endParaRPr lang="en-IN" sz="700" b="0" spc="60" dirty="0" smtClean="0"/>
          </a:p>
          <a:p>
            <a:pPr marL="12064" marR="2473960">
              <a:lnSpc>
                <a:spcPct val="102600"/>
              </a:lnSpc>
              <a:spcBef>
                <a:spcPts val="894"/>
              </a:spcBef>
            </a:pPr>
            <a:r>
              <a:rPr lang="en-IN" sz="600" b="0" spc="60" dirty="0" smtClean="0"/>
              <a:t>/*Look </a:t>
            </a:r>
            <a:r>
              <a:rPr lang="en-IN" sz="600" b="0" spc="60" dirty="0"/>
              <a:t>at </a:t>
            </a:r>
            <a:r>
              <a:rPr lang="en-IN" sz="600" b="0" spc="60" dirty="0" smtClean="0"/>
              <a:t>others, </a:t>
            </a:r>
            <a:r>
              <a:rPr lang="en-IN" sz="600" b="0" spc="60" dirty="0"/>
              <a:t>compute MAX, add 1 and assign to </a:t>
            </a:r>
            <a:r>
              <a:rPr lang="en-IN" sz="600" b="0" spc="60" dirty="0" smtClean="0"/>
              <a:t>itself, token[</a:t>
            </a:r>
            <a:r>
              <a:rPr lang="en-IN" sz="600" b="0" spc="60" dirty="0" err="1" smtClean="0"/>
              <a:t>i</a:t>
            </a:r>
            <a:r>
              <a:rPr lang="en-IN" sz="600" b="0" spc="60" dirty="0" smtClean="0"/>
              <a:t>] is still 0 </a:t>
            </a:r>
            <a:r>
              <a:rPr lang="en-IN" sz="600" b="0" spc="60" dirty="0"/>
              <a:t>*/ </a:t>
            </a:r>
            <a:endParaRPr lang="en-IN" sz="700" b="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/>
              <a:t>1</a:t>
            </a:r>
            <a:r>
              <a:rPr lang="en-IN" sz="700" b="0" spc="60" dirty="0" smtClean="0"/>
              <a:t>. 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MAX (token[0], token[1],…token[n-1]) + 1;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/*Determine if it has the lowest token number */        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2. </a:t>
            </a:r>
            <a:r>
              <a:rPr lang="en-IN" sz="700" b="0" spc="60" dirty="0"/>
              <a:t>f</a:t>
            </a:r>
            <a:r>
              <a:rPr lang="en-IN" sz="700" b="0" spc="60" dirty="0" smtClean="0"/>
              <a:t>or (j = 0, j &lt; n; </a:t>
            </a:r>
            <a:r>
              <a:rPr lang="en-IN" sz="700" b="0" spc="60" dirty="0" err="1" smtClean="0"/>
              <a:t>j++</a:t>
            </a:r>
            <a:r>
              <a:rPr lang="en-IN" sz="700" b="0" spc="60" dirty="0" smtClean="0"/>
              <a:t>)</a:t>
            </a:r>
            <a:endParaRPr lang="en-IN" sz="700" spc="60" dirty="0" smtClean="0"/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	while (token[j] !=0 </a:t>
            </a:r>
            <a:r>
              <a:rPr lang="en-IN" sz="700" spc="60" dirty="0" smtClean="0"/>
              <a:t>&amp;&amp;</a:t>
            </a:r>
            <a:r>
              <a:rPr lang="en-IN" sz="700" b="0" spc="60" dirty="0" smtClean="0"/>
              <a:t> (token[j],j) &lt; (token[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], 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));     </a:t>
            </a:r>
          </a:p>
          <a:p>
            <a:pPr marL="230504" marR="2473960" indent="-218440">
              <a:lnSpc>
                <a:spcPct val="102600"/>
              </a:lnSpc>
              <a:spcBef>
                <a:spcPts val="894"/>
              </a:spcBef>
            </a:pPr>
            <a:r>
              <a:rPr lang="en-IN" sz="700" b="0" spc="60" dirty="0" smtClean="0"/>
              <a:t>4</a:t>
            </a:r>
            <a:r>
              <a:rPr lang="en-IN" sz="700" b="0" spc="60" dirty="0"/>
              <a:t>. </a:t>
            </a:r>
            <a:r>
              <a:rPr lang="en-IN" sz="700" b="0" spc="60" dirty="0" smtClean="0"/>
              <a:t>CS</a:t>
            </a:r>
            <a:endParaRPr lang="en-IN" sz="700" b="0" spc="60" dirty="0"/>
          </a:p>
          <a:p>
            <a:r>
              <a:rPr lang="en-IN" sz="700" b="0" spc="60" dirty="0"/>
              <a:t>5. </a:t>
            </a:r>
            <a:r>
              <a:rPr lang="en-IN" sz="700" b="0" spc="60" dirty="0" smtClean="0"/>
              <a:t>token[</a:t>
            </a:r>
            <a:r>
              <a:rPr lang="en-IN" sz="700" b="0" spc="60" dirty="0" err="1" smtClean="0"/>
              <a:t>i</a:t>
            </a:r>
            <a:r>
              <a:rPr lang="en-IN" sz="700" b="0" spc="60" dirty="0" smtClean="0"/>
              <a:t>] = 0; 	</a:t>
            </a:r>
          </a:p>
          <a:p>
            <a:endParaRPr lang="en-US" sz="700" b="0" spc="60" dirty="0"/>
          </a:p>
          <a:p>
            <a:endParaRPr lang="en-US" sz="700" b="0" spc="6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700" b="0" spc="60" dirty="0" smtClean="0"/>
          </a:p>
        </p:txBody>
      </p:sp>
    </p:spTree>
    <p:extLst>
      <p:ext uri="{BB962C8B-B14F-4D97-AF65-F5344CB8AC3E}">
        <p14:creationId xmlns:p14="http://schemas.microsoft.com/office/powerpoint/2010/main" val="88489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All is Well?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34" y="511175"/>
            <a:ext cx="4447615" cy="2023631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Progress</a:t>
            </a:r>
            <a:r>
              <a:rPr lang="en-US" b="0" dirty="0" smtClean="0"/>
              <a:t>: Token choosing process will only be executed if a process wishes to enter CS </a:t>
            </a:r>
            <a:r>
              <a:rPr lang="en-US" b="0" dirty="0" smtClean="0">
                <a:sym typeface="Wingdings" panose="05000000000000000000" pitchFamily="2" charset="2"/>
              </a:rPr>
              <a:t> </a:t>
            </a:r>
            <a:r>
              <a:rPr lang="en-US" sz="1050" b="0" dirty="0" smtClean="0">
                <a:sym typeface="Wingdings" panose="05000000000000000000" pitchFamily="2" charset="2"/>
              </a:rPr>
              <a:t>Progress is </a:t>
            </a:r>
            <a:r>
              <a:rPr lang="en-US" sz="1050" b="0" i="1" u="sng" dirty="0" smtClean="0">
                <a:sym typeface="Wingdings" panose="05000000000000000000" pitchFamily="2" charset="2"/>
              </a:rPr>
              <a:t>satisfied</a:t>
            </a:r>
            <a:r>
              <a:rPr lang="en-US" sz="1050" b="0" dirty="0" smtClean="0">
                <a:sym typeface="Wingdings" panose="05000000000000000000" pitchFamily="2" charset="2"/>
              </a:rPr>
              <a:t> since the decision about who enters CS is taken by processes who wish to enter CS</a:t>
            </a:r>
            <a:endParaRPr lang="en-US" sz="1050" b="0" dirty="0" smtClean="0"/>
          </a:p>
          <a:p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Bounded wait</a:t>
            </a:r>
            <a:r>
              <a:rPr lang="en-US" b="0" dirty="0" smtClean="0"/>
              <a:t>: Token number tie breaking with </a:t>
            </a:r>
            <a:r>
              <a:rPr lang="en-US" b="0" dirty="0" err="1" smtClean="0"/>
              <a:t>pid</a:t>
            </a:r>
            <a:r>
              <a:rPr lang="en-US" b="0" dirty="0" smtClean="0"/>
              <a:t>, which are assigned when a process is created and is fixed throughout the lifetime of a process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/>
                <a:cs typeface="Arial"/>
              </a:rPr>
              <a:t>Lower </a:t>
            </a:r>
            <a:r>
              <a:rPr lang="en-US" sz="1100" dirty="0" err="1">
                <a:solidFill>
                  <a:schemeClr val="tx1"/>
                </a:solidFill>
                <a:latin typeface="Arial"/>
                <a:cs typeface="Arial"/>
              </a:rPr>
              <a:t>pid</a:t>
            </a:r>
            <a:r>
              <a:rPr lang="en-US" sz="1100" dirty="0">
                <a:solidFill>
                  <a:schemeClr val="tx1"/>
                </a:solidFill>
                <a:latin typeface="Arial"/>
                <a:cs typeface="Arial"/>
              </a:rPr>
              <a:t> process will always win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/>
                <a:cs typeface="Arial"/>
              </a:rPr>
              <a:t>Starvation – Need to guard against </a:t>
            </a:r>
            <a:r>
              <a:rPr lang="en-US" sz="1100" dirty="0" smtClean="0">
                <a:solidFill>
                  <a:schemeClr val="tx1"/>
                </a:solidFill>
                <a:latin typeface="Arial"/>
                <a:cs typeface="Arial"/>
              </a:rPr>
              <a:t>that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Mutual </a:t>
            </a:r>
            <a:r>
              <a:rPr lang="en-US" dirty="0" smtClean="0"/>
              <a:t>Exclusion: </a:t>
            </a:r>
            <a:r>
              <a:rPr lang="en-US" b="0" dirty="0" smtClean="0"/>
              <a:t>Can 2 processes both enter CS together?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2521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Questions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954655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u="sng" spc="60" dirty="0"/>
              <a:t>Progress</a:t>
            </a:r>
            <a:r>
              <a:rPr lang="en-IN" sz="1200" b="0" spc="60" dirty="0"/>
              <a:t> satisfied, token[j] != 0 ensures that the deciders are interested </a:t>
            </a:r>
            <a:r>
              <a:rPr lang="en-IN" sz="1200" b="0" spc="60" dirty="0" smtClean="0"/>
              <a:t>processes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u="sng" spc="60" dirty="0"/>
              <a:t>Bounded Wait / </a:t>
            </a:r>
            <a:r>
              <a:rPr lang="en-IN" sz="1200" u="sng" spc="60" dirty="0" smtClean="0"/>
              <a:t>No-Starvation / Fairness </a:t>
            </a:r>
            <a:r>
              <a:rPr lang="en-IN" sz="1200" b="0" spc="60" dirty="0" smtClean="0"/>
              <a:t>satisfied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b="0" spc="6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spc="60" dirty="0"/>
              <a:t>Can the same process enter CS twice in succession, with someone else waiting to enter</a:t>
            </a:r>
            <a:r>
              <a:rPr lang="en-IN" sz="1200" b="0" spc="60" dirty="0" smtClean="0"/>
              <a:t>?</a:t>
            </a:r>
          </a:p>
          <a:p>
            <a:endParaRPr lang="en-IN" sz="120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spc="60" dirty="0" smtClean="0"/>
              <a:t>No</a:t>
            </a:r>
          </a:p>
          <a:p>
            <a:endParaRPr lang="en-IN" sz="120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spc="60" dirty="0"/>
              <a:t>Consider P0 and </a:t>
            </a:r>
            <a:r>
              <a:rPr lang="en-IN" sz="1200" b="0" spc="60" dirty="0" smtClean="0"/>
              <a:t>P1 with same token number: </a:t>
            </a:r>
            <a:r>
              <a:rPr lang="en-IN" sz="1200" b="0" spc="60" dirty="0"/>
              <a:t>In the first contention, one of them will win, but before it enters again, the other process must be able to 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spc="60" dirty="0"/>
              <a:t>Any process in the worst case will have to wait for at most n-1 processes to enter </a:t>
            </a:r>
            <a:r>
              <a:rPr lang="en-IN" sz="1200" b="0" spc="60" dirty="0" smtClean="0"/>
              <a:t>CS</a:t>
            </a:r>
            <a:endParaRPr lang="en-IN" sz="2000" b="0" dirty="0"/>
          </a:p>
        </p:txBody>
      </p:sp>
    </p:spTree>
    <p:extLst>
      <p:ext uri="{BB962C8B-B14F-4D97-AF65-F5344CB8AC3E}">
        <p14:creationId xmlns:p14="http://schemas.microsoft.com/office/powerpoint/2010/main" val="319004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What about Mutual Exclusion?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1" y="358775"/>
            <a:ext cx="4648200" cy="3031599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Violated</a:t>
            </a:r>
          </a:p>
          <a:p>
            <a:endParaRPr lang="en-IN" sz="1050" b="0" spc="6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Consider P[</a:t>
            </a:r>
            <a:r>
              <a:rPr lang="en-IN" sz="1050" b="0" spc="60" dirty="0" err="1" smtClean="0"/>
              <a:t>i</a:t>
            </a:r>
            <a:r>
              <a:rPr lang="en-IN" sz="1050" b="0" spc="60" dirty="0" smtClean="0"/>
              <a:t>] and P[j] with </a:t>
            </a:r>
            <a:r>
              <a:rPr lang="en-IN" sz="1050" b="0" spc="60" dirty="0" err="1" smtClean="0"/>
              <a:t>i</a:t>
            </a:r>
            <a:r>
              <a:rPr lang="en-IN" sz="1050" b="0" spc="60" dirty="0" smtClean="0"/>
              <a:t> &lt; j, both want to enter CS, and no other process wishes to enter 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0" spc="60" dirty="0"/>
              <a:t>token[</a:t>
            </a:r>
            <a:r>
              <a:rPr lang="en-IN" sz="800" b="0" spc="60" dirty="0" err="1"/>
              <a:t>i</a:t>
            </a:r>
            <a:r>
              <a:rPr lang="en-IN" sz="800" b="0" spc="60" dirty="0"/>
              <a:t>] = MAX (token[0], token[1],…token[n-1]) + 1;</a:t>
            </a:r>
          </a:p>
          <a:p>
            <a:r>
              <a:rPr lang="en-IN" sz="1050" b="0" spc="60" dirty="0"/>
              <a:t> </a:t>
            </a:r>
            <a:r>
              <a:rPr lang="en-IN" sz="1050" b="0" spc="60" dirty="0" smtClean="0"/>
              <a:t>   The choose token number involves a FOR loop to iterate over  </a:t>
            </a:r>
          </a:p>
          <a:p>
            <a:r>
              <a:rPr lang="en-IN" sz="1050" b="0" spc="60" dirty="0"/>
              <a:t> </a:t>
            </a:r>
            <a:r>
              <a:rPr lang="en-IN" sz="1050" b="0" spc="60" dirty="0" smtClean="0"/>
              <a:t>   the token array – need non-zero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Both P[</a:t>
            </a:r>
            <a:r>
              <a:rPr lang="en-IN" sz="1050" b="0" spc="60" dirty="0" err="1" smtClean="0"/>
              <a:t>i</a:t>
            </a:r>
            <a:r>
              <a:rPr lang="en-IN" sz="1050" b="0" spc="60" dirty="0" smtClean="0"/>
              <a:t>] and P[j] read the value 0 in the RHS, add 1 and are now waiting to update the LHS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P[j] gets CPU, assigns 1 to token[j], checks everyone else and sees nobody else has a valid token (including P[</a:t>
            </a:r>
            <a:r>
              <a:rPr lang="en-IN" sz="1050" b="0" spc="60" dirty="0" err="1" smtClean="0"/>
              <a:t>i</a:t>
            </a:r>
            <a:r>
              <a:rPr lang="en-IN" sz="1050" b="0" spc="60" dirty="0" smtClean="0"/>
              <a:t>]) and enters 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P[</a:t>
            </a:r>
            <a:r>
              <a:rPr lang="en-IN" sz="1050" b="0" spc="60" dirty="0" err="1" smtClean="0"/>
              <a:t>i</a:t>
            </a:r>
            <a:r>
              <a:rPr lang="en-IN" sz="1050" b="0" spc="60" dirty="0" smtClean="0"/>
              <a:t>] completes it assignment, comes along and checks P[j] has the same token, but enters CS since </a:t>
            </a:r>
            <a:r>
              <a:rPr lang="en-IN" sz="1050" b="0" spc="60" dirty="0" err="1"/>
              <a:t>i</a:t>
            </a:r>
            <a:r>
              <a:rPr lang="en-IN" sz="1050" b="0" spc="60" dirty="0"/>
              <a:t> &lt; </a:t>
            </a:r>
            <a:r>
              <a:rPr lang="en-IN" sz="1050" b="0" spc="60" dirty="0" smtClean="0"/>
              <a:t>j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Mutual exclusion violation!!</a:t>
            </a:r>
            <a:endParaRPr lang="en-IN" sz="1600" b="0" dirty="0"/>
          </a:p>
        </p:txBody>
      </p:sp>
    </p:spTree>
    <p:extLst>
      <p:ext uri="{BB962C8B-B14F-4D97-AF65-F5344CB8AC3E}">
        <p14:creationId xmlns:p14="http://schemas.microsoft.com/office/powerpoint/2010/main" val="352452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What went wrong?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1523494"/>
          </a:xfrm>
        </p:spPr>
        <p:txBody>
          <a:bodyPr/>
          <a:lstStyle/>
          <a:p>
            <a:r>
              <a:rPr lang="en-IN" b="0" dirty="0" smtClean="0"/>
              <a:t>When P[j] checked P[</a:t>
            </a:r>
            <a:r>
              <a:rPr lang="en-IN" b="0" dirty="0" err="1" smtClean="0"/>
              <a:t>i</a:t>
            </a:r>
            <a:r>
              <a:rPr lang="en-IN" b="0" dirty="0" smtClean="0"/>
              <a:t>] in the for loop, P[</a:t>
            </a:r>
            <a:r>
              <a:rPr lang="en-IN" b="0" dirty="0" err="1" smtClean="0"/>
              <a:t>i</a:t>
            </a:r>
            <a:r>
              <a:rPr lang="en-IN" b="0" dirty="0" smtClean="0"/>
              <a:t>] was also in the process of choosing a token number</a:t>
            </a:r>
          </a:p>
          <a:p>
            <a:endParaRPr lang="en-IN" b="0" dirty="0"/>
          </a:p>
          <a:p>
            <a:r>
              <a:rPr lang="en-IN" b="0" dirty="0" smtClean="0"/>
              <a:t>This led to the anomaly</a:t>
            </a:r>
          </a:p>
          <a:p>
            <a:endParaRPr lang="en-IN" b="0" dirty="0"/>
          </a:p>
          <a:p>
            <a:r>
              <a:rPr lang="en-IN" b="0" dirty="0" smtClean="0"/>
              <a:t>Somehow we have to ensure that a process only examines processes in the for loop which already have chosen a token number</a:t>
            </a:r>
          </a:p>
          <a:p>
            <a:endParaRPr lang="en-IN" b="0" dirty="0"/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10545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Multiple-process</a:t>
            </a:r>
            <a:r>
              <a:rPr spc="5" dirty="0"/>
              <a:t> </a:t>
            </a:r>
            <a:r>
              <a:rPr spc="1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273938" y="738251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7"/>
                </a:moveTo>
                <a:lnTo>
                  <a:pt x="72517" y="72517"/>
                </a:lnTo>
                <a:lnTo>
                  <a:pt x="72517" y="0"/>
                </a:lnTo>
                <a:lnTo>
                  <a:pt x="0" y="0"/>
                </a:lnTo>
                <a:lnTo>
                  <a:pt x="0" y="7251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3938" y="961009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7"/>
                </a:moveTo>
                <a:lnTo>
                  <a:pt x="72517" y="72517"/>
                </a:lnTo>
                <a:lnTo>
                  <a:pt x="72517" y="0"/>
                </a:lnTo>
                <a:lnTo>
                  <a:pt x="0" y="0"/>
                </a:lnTo>
                <a:lnTo>
                  <a:pt x="0" y="7251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3938" y="1183640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7"/>
                </a:moveTo>
                <a:lnTo>
                  <a:pt x="72517" y="72517"/>
                </a:lnTo>
                <a:lnTo>
                  <a:pt x="72517" y="0"/>
                </a:lnTo>
                <a:lnTo>
                  <a:pt x="0" y="0"/>
                </a:lnTo>
                <a:lnTo>
                  <a:pt x="0" y="7251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25856" y="521302"/>
            <a:ext cx="4358386" cy="959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(Lampo</a:t>
            </a:r>
            <a:r>
              <a:rPr spc="10" dirty="0"/>
              <a:t>r</a:t>
            </a:r>
            <a:r>
              <a:rPr spc="-5" dirty="0"/>
              <a:t>t</a:t>
            </a:r>
            <a:r>
              <a:rPr spc="-70" dirty="0"/>
              <a:t>’</a:t>
            </a:r>
            <a:r>
              <a:rPr spc="-5" dirty="0"/>
              <a:t>s) </a:t>
            </a:r>
            <a:r>
              <a:rPr spc="-10" dirty="0"/>
              <a:t>bake</a:t>
            </a:r>
            <a:r>
              <a:rPr spc="0" dirty="0"/>
              <a:t>r</a:t>
            </a:r>
            <a:r>
              <a:rPr spc="-10" dirty="0"/>
              <a:t>y</a:t>
            </a:r>
            <a:r>
              <a:rPr spc="-5" dirty="0"/>
              <a:t> </a:t>
            </a:r>
            <a:r>
              <a:rPr spc="-10" dirty="0" smtClean="0"/>
              <a:t>algorithm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b="0" spc="-10" dirty="0">
                <a:latin typeface="Arial"/>
                <a:cs typeface="Arial"/>
              </a:rPr>
              <a:t>Each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process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spc="-30" dirty="0">
                <a:latin typeface="Arial"/>
                <a:cs typeface="Arial"/>
              </a:rPr>
              <a:t>w</a:t>
            </a:r>
            <a:r>
              <a:rPr b="0" spc="-5" dirty="0">
                <a:latin typeface="Arial"/>
                <a:cs typeface="Arial"/>
              </a:rPr>
              <a:t>anting to enter </a:t>
            </a:r>
            <a:r>
              <a:rPr b="0" spc="-10" dirty="0">
                <a:latin typeface="Arial"/>
                <a:cs typeface="Arial"/>
              </a:rPr>
              <a:t>CS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gets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a</a:t>
            </a:r>
            <a:r>
              <a:rPr b="0" spc="-5" dirty="0">
                <a:latin typeface="Arial"/>
                <a:cs typeface="Arial"/>
              </a:rPr>
              <a:t> to</a:t>
            </a:r>
            <a:r>
              <a:rPr b="0" spc="-35" dirty="0">
                <a:latin typeface="Arial"/>
                <a:cs typeface="Arial"/>
              </a:rPr>
              <a:t>k</a:t>
            </a:r>
            <a:r>
              <a:rPr b="0" spc="-10" dirty="0">
                <a:latin typeface="Arial"/>
                <a:cs typeface="Arial"/>
              </a:rPr>
              <a:t>en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spc="-20" dirty="0">
                <a:latin typeface="Arial"/>
                <a:cs typeface="Arial"/>
              </a:rPr>
              <a:t>n</a:t>
            </a:r>
            <a:r>
              <a:rPr b="0" spc="-10" dirty="0">
                <a:latin typeface="Arial"/>
                <a:cs typeface="Arial"/>
              </a:rPr>
              <a:t>umber</a:t>
            </a:r>
          </a:p>
          <a:p>
            <a:pPr marL="289560">
              <a:lnSpc>
                <a:spcPct val="100000"/>
              </a:lnSpc>
              <a:spcBef>
                <a:spcPts val="430"/>
              </a:spcBef>
            </a:pPr>
            <a:r>
              <a:rPr b="0" spc="-10" dirty="0">
                <a:latin typeface="Arial"/>
                <a:cs typeface="Arial"/>
              </a:rPr>
              <a:t>Process</a:t>
            </a:r>
            <a:r>
              <a:rPr b="0" spc="-5" dirty="0">
                <a:latin typeface="Arial"/>
                <a:cs typeface="Arial"/>
              </a:rPr>
              <a:t> with l</a:t>
            </a:r>
            <a:r>
              <a:rPr b="0" spc="-30" dirty="0">
                <a:latin typeface="Arial"/>
                <a:cs typeface="Arial"/>
              </a:rPr>
              <a:t>o</a:t>
            </a:r>
            <a:r>
              <a:rPr b="0" spc="-25" dirty="0">
                <a:latin typeface="Arial"/>
                <a:cs typeface="Arial"/>
              </a:rPr>
              <a:t>w</a:t>
            </a:r>
            <a:r>
              <a:rPr b="0" spc="-5" dirty="0">
                <a:latin typeface="Arial"/>
                <a:cs typeface="Arial"/>
              </a:rPr>
              <a:t>est to</a:t>
            </a:r>
            <a:r>
              <a:rPr b="0" spc="-35" dirty="0">
                <a:latin typeface="Arial"/>
                <a:cs typeface="Arial"/>
              </a:rPr>
              <a:t>k</a:t>
            </a:r>
            <a:r>
              <a:rPr b="0" spc="-10" dirty="0">
                <a:latin typeface="Arial"/>
                <a:cs typeface="Arial"/>
              </a:rPr>
              <a:t>en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spc="-20" dirty="0">
                <a:latin typeface="Arial"/>
                <a:cs typeface="Arial"/>
              </a:rPr>
              <a:t>n</a:t>
            </a:r>
            <a:r>
              <a:rPr b="0" spc="-10" dirty="0">
                <a:latin typeface="Arial"/>
                <a:cs typeface="Arial"/>
              </a:rPr>
              <a:t>umber</a:t>
            </a:r>
            <a:r>
              <a:rPr b="0" spc="-5" dirty="0">
                <a:latin typeface="Arial"/>
                <a:cs typeface="Arial"/>
              </a:rPr>
              <a:t> enters </a:t>
            </a:r>
            <a:r>
              <a:rPr b="0" spc="-10" dirty="0">
                <a:latin typeface="Arial"/>
                <a:cs typeface="Arial"/>
              </a:rPr>
              <a:t>CS</a:t>
            </a:r>
          </a:p>
          <a:p>
            <a:pPr marL="289560" marR="5080">
              <a:lnSpc>
                <a:spcPct val="102699"/>
              </a:lnSpc>
              <a:spcBef>
                <a:spcPts val="395"/>
              </a:spcBef>
            </a:pPr>
            <a:r>
              <a:rPr b="0" spc="-5" dirty="0">
                <a:latin typeface="Arial"/>
                <a:cs typeface="Arial"/>
              </a:rPr>
              <a:t>If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5" dirty="0">
                <a:latin typeface="Arial"/>
                <a:cs typeface="Arial"/>
              </a:rPr>
              <a:t>t</a:t>
            </a:r>
            <a:r>
              <a:rPr b="0" spc="-20" dirty="0">
                <a:latin typeface="Arial"/>
                <a:cs typeface="Arial"/>
              </a:rPr>
              <a:t>w</a:t>
            </a:r>
            <a:r>
              <a:rPr b="0" spc="-10" dirty="0">
                <a:latin typeface="Arial"/>
                <a:cs typeface="Arial"/>
              </a:rPr>
              <a:t>o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processes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h</a:t>
            </a:r>
            <a:r>
              <a:rPr b="0" spc="-35" dirty="0">
                <a:latin typeface="Arial"/>
                <a:cs typeface="Arial"/>
              </a:rPr>
              <a:t>a</a:t>
            </a:r>
            <a:r>
              <a:rPr b="0" spc="-40" dirty="0">
                <a:latin typeface="Arial"/>
                <a:cs typeface="Arial"/>
              </a:rPr>
              <a:t>v</a:t>
            </a:r>
            <a:r>
              <a:rPr b="0" spc="-10" dirty="0">
                <a:latin typeface="Arial"/>
                <a:cs typeface="Arial"/>
              </a:rPr>
              <a:t>e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same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5" dirty="0">
                <a:latin typeface="Arial"/>
                <a:cs typeface="Arial"/>
              </a:rPr>
              <a:t>to</a:t>
            </a:r>
            <a:r>
              <a:rPr b="0" spc="-35" dirty="0">
                <a:latin typeface="Arial"/>
                <a:cs typeface="Arial"/>
              </a:rPr>
              <a:t>k</a:t>
            </a:r>
            <a:r>
              <a:rPr b="0" spc="-10" dirty="0">
                <a:latin typeface="Arial"/>
                <a:cs typeface="Arial"/>
              </a:rPr>
              <a:t>en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20" dirty="0">
                <a:latin typeface="Arial"/>
                <a:cs typeface="Arial"/>
              </a:rPr>
              <a:t>n</a:t>
            </a:r>
            <a:r>
              <a:rPr b="0" spc="-10" dirty="0">
                <a:latin typeface="Arial"/>
                <a:cs typeface="Arial"/>
              </a:rPr>
              <a:t>umbe</a:t>
            </a:r>
            <a:r>
              <a:rPr b="0" spc="-60" dirty="0">
                <a:latin typeface="Arial"/>
                <a:cs typeface="Arial"/>
              </a:rPr>
              <a:t>r</a:t>
            </a:r>
            <a:r>
              <a:rPr b="0" spc="-5" dirty="0">
                <a:latin typeface="Arial"/>
                <a:cs typeface="Arial"/>
              </a:rPr>
              <a:t>,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process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5" dirty="0">
                <a:latin typeface="Arial"/>
                <a:cs typeface="Arial"/>
              </a:rPr>
              <a:t>with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5" dirty="0">
                <a:latin typeface="Arial"/>
                <a:cs typeface="Arial"/>
              </a:rPr>
              <a:t>l</a:t>
            </a:r>
            <a:r>
              <a:rPr b="0" spc="-30" dirty="0">
                <a:latin typeface="Arial"/>
                <a:cs typeface="Arial"/>
              </a:rPr>
              <a:t>o</a:t>
            </a:r>
            <a:r>
              <a:rPr b="0" spc="-25" dirty="0">
                <a:latin typeface="Arial"/>
                <a:cs typeface="Arial"/>
              </a:rPr>
              <a:t>w</a:t>
            </a:r>
            <a:r>
              <a:rPr b="0" spc="-5" dirty="0">
                <a:latin typeface="Arial"/>
                <a:cs typeface="Arial"/>
              </a:rPr>
              <a:t>er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PID</a:t>
            </a:r>
            <a:r>
              <a:rPr b="0" spc="-5" dirty="0">
                <a:latin typeface="Arial"/>
                <a:cs typeface="Arial"/>
              </a:rPr>
              <a:t> enters </a:t>
            </a:r>
            <a:r>
              <a:rPr b="0" spc="-10" dirty="0">
                <a:latin typeface="Arial"/>
                <a:cs typeface="Arial"/>
              </a:rPr>
              <a:t>CS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355389928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Ba</a:t>
            </a:r>
            <a:r>
              <a:rPr spc="-20" dirty="0"/>
              <a:t>k</a:t>
            </a:r>
            <a:r>
              <a:rPr spc="15" dirty="0"/>
              <a:t>e</a:t>
            </a:r>
            <a:r>
              <a:rPr spc="45" dirty="0"/>
              <a:t>r</a:t>
            </a:r>
            <a:r>
              <a:rPr spc="10" dirty="0"/>
              <a:t>y</a:t>
            </a:r>
            <a:r>
              <a:rPr spc="5" dirty="0"/>
              <a:t> </a:t>
            </a:r>
            <a:r>
              <a:rPr spc="10" dirty="0"/>
              <a:t>algo</a:t>
            </a:r>
            <a:r>
              <a:rPr spc="25" dirty="0"/>
              <a:t>r</a:t>
            </a:r>
            <a:r>
              <a:rPr spc="10" dirty="0"/>
              <a:t>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56" y="659611"/>
            <a:ext cx="3851275" cy="2101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75" dirty="0">
                <a:latin typeface="Times New Roman"/>
                <a:cs typeface="Times New Roman"/>
              </a:rPr>
              <a:t>shared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80" dirty="0">
                <a:latin typeface="Times New Roman"/>
                <a:cs typeface="Times New Roman"/>
              </a:rPr>
              <a:t>char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choosing[N]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{0,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45" dirty="0">
                <a:latin typeface="Times New Roman"/>
                <a:cs typeface="Times New Roman"/>
              </a:rPr>
              <a:t>...,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0};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75" dirty="0">
                <a:latin typeface="Times New Roman"/>
                <a:cs typeface="Times New Roman"/>
              </a:rPr>
              <a:t>shared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150" dirty="0">
                <a:latin typeface="Times New Roman"/>
                <a:cs typeface="Times New Roman"/>
              </a:rPr>
              <a:t>int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number[N]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{0,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45" dirty="0">
                <a:latin typeface="Times New Roman"/>
                <a:cs typeface="Times New Roman"/>
              </a:rPr>
              <a:t>...,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0};</a:t>
            </a: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spc="15" dirty="0">
                <a:latin typeface="Times New Roman"/>
                <a:cs typeface="Times New Roman"/>
              </a:rPr>
              <a:t>do 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endParaRPr sz="900" dirty="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sz="900" b="1" spc="9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choosing[i]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-4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=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114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1;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//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why??</a:t>
            </a:r>
          </a:p>
          <a:p>
            <a:pPr marL="191770" marR="65405">
              <a:lnSpc>
                <a:spcPct val="101499"/>
              </a:lnSpc>
            </a:pPr>
            <a:r>
              <a:rPr sz="900" spc="65" dirty="0">
                <a:latin typeface="Times New Roman"/>
                <a:cs typeface="Times New Roman"/>
              </a:rPr>
              <a:t>number[i]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5" dirty="0">
                <a:latin typeface="Times New Roman"/>
                <a:cs typeface="Times New Roman"/>
              </a:rPr>
              <a:t>MAX(number[0],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number[1],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45" dirty="0">
                <a:latin typeface="Times New Roman"/>
                <a:cs typeface="Times New Roman"/>
              </a:rPr>
              <a:t>...,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number[n-1])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+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1;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b="1" spc="9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choosing[i]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-4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=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114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0;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//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why??</a:t>
            </a:r>
          </a:p>
          <a:p>
            <a:pPr marL="430530" marR="2156460" indent="-239395">
              <a:lnSpc>
                <a:spcPct val="101499"/>
              </a:lnSpc>
            </a:pPr>
            <a:r>
              <a:rPr sz="900" spc="114" dirty="0">
                <a:latin typeface="Times New Roman"/>
                <a:cs typeface="Times New Roman"/>
              </a:rPr>
              <a:t>for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95" dirty="0">
                <a:latin typeface="Times New Roman"/>
                <a:cs typeface="Times New Roman"/>
              </a:rPr>
              <a:t>(j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0;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j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&lt;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n;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75" dirty="0">
                <a:latin typeface="Times New Roman"/>
                <a:cs typeface="Times New Roman"/>
              </a:rPr>
              <a:t>j++)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b="1" spc="6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while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10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(choosing[j])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spc="220" dirty="0" smtClean="0">
                <a:latin typeface="Times New Roman"/>
                <a:cs typeface="Times New Roman"/>
              </a:rPr>
              <a:t>;</a:t>
            </a:r>
            <a:endParaRPr sz="900" dirty="0">
              <a:latin typeface="Times New Roman"/>
              <a:cs typeface="Times New Roman"/>
            </a:endParaRP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sz="900" spc="65" dirty="0">
                <a:latin typeface="Times New Roman"/>
                <a:cs typeface="Times New Roman"/>
              </a:rPr>
              <a:t>while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85" dirty="0">
                <a:latin typeface="Times New Roman"/>
                <a:cs typeface="Times New Roman"/>
              </a:rPr>
              <a:t>((number[j]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!=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-235" dirty="0">
                <a:latin typeface="Times New Roman"/>
                <a:cs typeface="Times New Roman"/>
              </a:rPr>
              <a:t>&amp;&amp;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05" dirty="0">
                <a:latin typeface="Times New Roman"/>
                <a:cs typeface="Times New Roman"/>
              </a:rPr>
              <a:t>(number[j],j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&lt;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05" dirty="0">
                <a:latin typeface="Times New Roman"/>
                <a:cs typeface="Times New Roman"/>
              </a:rPr>
              <a:t>number[i],i))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;</a:t>
            </a:r>
            <a:endParaRPr sz="900" dirty="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sz="900" spc="30" dirty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sz="900" spc="130" dirty="0">
                <a:latin typeface="Times New Roman"/>
                <a:cs typeface="Times New Roman"/>
              </a:rPr>
              <a:t>critical_section(); </a:t>
            </a:r>
            <a:r>
              <a:rPr sz="900" spc="65" dirty="0">
                <a:latin typeface="Times New Roman"/>
                <a:cs typeface="Times New Roman"/>
              </a:rPr>
              <a:t>number[i]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0;</a:t>
            </a:r>
            <a:r>
              <a:rPr sz="900" spc="75" dirty="0">
                <a:latin typeface="Times New Roman"/>
                <a:cs typeface="Times New Roman"/>
              </a:rPr>
              <a:t> remainder_section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ts val="1055"/>
              </a:lnSpc>
            </a:pPr>
            <a:r>
              <a:rPr sz="900" spc="30" dirty="0">
                <a:latin typeface="Times New Roman"/>
                <a:cs typeface="Times New Roman"/>
              </a:rPr>
              <a:t>}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65" dirty="0">
                <a:latin typeface="Times New Roman"/>
                <a:cs typeface="Times New Roman"/>
              </a:rPr>
              <a:t>while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40" dirty="0">
                <a:latin typeface="Times New Roman"/>
                <a:cs typeface="Times New Roman"/>
              </a:rPr>
              <a:t>(1);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322803612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Remarks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382984"/>
            <a:ext cx="4514850" cy="2993127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Somehow, we have to keep track of the fact that the processes I am looking at, none of them must be in the token choosing state at that point of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If so, I should wait – it takes a while to assign </a:t>
            </a:r>
            <a:r>
              <a:rPr lang="en-IN" sz="1050" b="0" spc="60" dirty="0" err="1" smtClean="0"/>
              <a:t>tokenNo</a:t>
            </a:r>
            <a:r>
              <a:rPr lang="en-IN" sz="1050" b="0" spc="60" dirty="0" smtClean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Add 3 statements, each assumed to be 1 machine instruction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Considered as memory location updates, state of the memory just before the instruction choosing[</a:t>
            </a:r>
            <a:r>
              <a:rPr lang="en-IN" sz="1050" b="0" spc="60" dirty="0" err="1" smtClean="0"/>
              <a:t>i</a:t>
            </a:r>
            <a:r>
              <a:rPr lang="en-IN" sz="1050" b="0" spc="60" dirty="0" smtClean="0"/>
              <a:t>] and just after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Memory state update can be assumed to be atomic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/>
              <a:t>c</a:t>
            </a:r>
            <a:r>
              <a:rPr lang="en-IN" sz="1050" b="0" spc="60" dirty="0" smtClean="0"/>
              <a:t>hoosing[</a:t>
            </a:r>
            <a:r>
              <a:rPr lang="en-IN" sz="1050" b="0" spc="60" dirty="0" err="1" smtClean="0"/>
              <a:t>i</a:t>
            </a:r>
            <a:r>
              <a:rPr lang="en-IN" sz="1050" b="0" spc="60" dirty="0" smtClean="0"/>
              <a:t>] = 1 -- in the process of token assignment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/>
              <a:t>choosing[</a:t>
            </a:r>
            <a:r>
              <a:rPr lang="en-IN" sz="1050" b="0" spc="60" dirty="0" err="1"/>
              <a:t>i</a:t>
            </a:r>
            <a:r>
              <a:rPr lang="en-IN" sz="1050" b="0" spc="60" dirty="0"/>
              <a:t>] = </a:t>
            </a:r>
            <a:r>
              <a:rPr lang="en-IN" sz="1050" b="0" spc="60" dirty="0" smtClean="0"/>
              <a:t>0 – done with token assignment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/>
              <a:t>w</a:t>
            </a:r>
            <a:r>
              <a:rPr lang="en-IN" sz="1050" b="0" spc="60" dirty="0" smtClean="0"/>
              <a:t>hile (choosing[j]); – any process checks whether P[j] is waiting for a token to be assigned and waits for it</a:t>
            </a:r>
            <a:endParaRPr lang="en-IN" sz="1050" b="0" spc="60" dirty="0"/>
          </a:p>
          <a:p>
            <a:endParaRPr lang="en-IN" sz="1600" b="0" dirty="0"/>
          </a:p>
        </p:txBody>
      </p:sp>
    </p:spTree>
    <p:extLst>
      <p:ext uri="{BB962C8B-B14F-4D97-AF65-F5344CB8AC3E}">
        <p14:creationId xmlns:p14="http://schemas.microsoft.com/office/powerpoint/2010/main" val="119893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Questions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382984"/>
            <a:ext cx="4514850" cy="923330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spc="60" dirty="0" smtClean="0"/>
              <a:t>What happens if P[</a:t>
            </a:r>
            <a:r>
              <a:rPr lang="en-IN" sz="1200" b="0" spc="60" dirty="0" err="1" smtClean="0"/>
              <a:t>i</a:t>
            </a:r>
            <a:r>
              <a:rPr lang="en-IN" sz="1200" b="0" spc="60" dirty="0" smtClean="0"/>
              <a:t>] just misses the fact that P[k] is choosing?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b="0" spc="6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spc="60" dirty="0" smtClean="0">
                <a:solidFill>
                  <a:schemeClr val="tx1"/>
                </a:solidFill>
                <a:latin typeface="Arial"/>
                <a:cs typeface="Arial"/>
              </a:rPr>
              <a:t>When </a:t>
            </a:r>
            <a:r>
              <a:rPr lang="en-IN" sz="1200" b="0" spc="60" dirty="0">
                <a:solidFill>
                  <a:schemeClr val="tx1"/>
                </a:solidFill>
                <a:latin typeface="Arial"/>
                <a:cs typeface="Arial"/>
              </a:rPr>
              <a:t>P[</a:t>
            </a:r>
            <a:r>
              <a:rPr lang="en-IN" sz="1200" b="0" spc="6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IN" sz="1200" b="0" spc="60" dirty="0">
                <a:solidFill>
                  <a:schemeClr val="tx1"/>
                </a:solidFill>
                <a:latin typeface="Arial"/>
                <a:cs typeface="Arial"/>
              </a:rPr>
              <a:t>] is checking, </a:t>
            </a:r>
            <a:r>
              <a:rPr lang="en-IN" sz="1200" b="0" spc="60" dirty="0" smtClean="0">
                <a:solidFill>
                  <a:schemeClr val="tx1"/>
                </a:solidFill>
                <a:latin typeface="Arial"/>
                <a:cs typeface="Arial"/>
              </a:rPr>
              <a:t>P[k] </a:t>
            </a:r>
            <a:r>
              <a:rPr lang="en-IN" sz="1200" b="0" spc="60" dirty="0">
                <a:solidFill>
                  <a:schemeClr val="tx1"/>
                </a:solidFill>
                <a:latin typeface="Arial"/>
                <a:cs typeface="Arial"/>
              </a:rPr>
              <a:t>is just before </a:t>
            </a:r>
            <a:r>
              <a:rPr lang="en-IN" sz="1200" b="0" spc="60" dirty="0" smtClean="0">
                <a:solidFill>
                  <a:schemeClr val="tx1"/>
                </a:solidFill>
                <a:latin typeface="Arial"/>
                <a:cs typeface="Arial"/>
              </a:rPr>
              <a:t>choosing[k]=</a:t>
            </a:r>
            <a:r>
              <a:rPr lang="en-IN" sz="1200" b="0" spc="60" dirty="0"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b="0" spc="60" dirty="0" smtClean="0"/>
          </a:p>
        </p:txBody>
      </p:sp>
    </p:spTree>
    <p:extLst>
      <p:ext uri="{BB962C8B-B14F-4D97-AF65-F5344CB8AC3E}">
        <p14:creationId xmlns:p14="http://schemas.microsoft.com/office/powerpoint/2010/main" val="306244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15" dirty="0" smtClean="0"/>
              <a:t>P[</a:t>
            </a:r>
            <a:r>
              <a:rPr lang="en-IN" spc="15" dirty="0" err="1" smtClean="0"/>
              <a:t>i</a:t>
            </a:r>
            <a:r>
              <a:rPr lang="en-IN" spc="15" dirty="0" smtClean="0"/>
              <a:t>]</a:t>
            </a:r>
            <a:endParaRPr spc="10" dirty="0"/>
          </a:p>
        </p:txBody>
      </p:sp>
      <p:sp>
        <p:nvSpPr>
          <p:cNvPr id="3" name="object 3"/>
          <p:cNvSpPr txBox="1"/>
          <p:nvPr/>
        </p:nvSpPr>
        <p:spPr>
          <a:xfrm>
            <a:off x="125856" y="659611"/>
            <a:ext cx="3851275" cy="2239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75" dirty="0">
                <a:latin typeface="Times New Roman"/>
                <a:cs typeface="Times New Roman"/>
              </a:rPr>
              <a:t>shared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80" dirty="0">
                <a:latin typeface="Times New Roman"/>
                <a:cs typeface="Times New Roman"/>
              </a:rPr>
              <a:t>char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choosing[N]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{0,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45" dirty="0">
                <a:latin typeface="Times New Roman"/>
                <a:cs typeface="Times New Roman"/>
              </a:rPr>
              <a:t>...,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0};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75" dirty="0">
                <a:latin typeface="Times New Roman"/>
                <a:cs typeface="Times New Roman"/>
              </a:rPr>
              <a:t>shared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150" dirty="0">
                <a:latin typeface="Times New Roman"/>
                <a:cs typeface="Times New Roman"/>
              </a:rPr>
              <a:t>int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number[N]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{0,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45" dirty="0">
                <a:latin typeface="Times New Roman"/>
                <a:cs typeface="Times New Roman"/>
              </a:rPr>
              <a:t>...,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0};</a:t>
            </a: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spc="15" dirty="0">
                <a:latin typeface="Times New Roman"/>
                <a:cs typeface="Times New Roman"/>
              </a:rPr>
              <a:t>do 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endParaRPr sz="900" dirty="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sz="900" b="1" spc="9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choosing[i]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-4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=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114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1;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//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why??</a:t>
            </a:r>
          </a:p>
          <a:p>
            <a:pPr marL="191770" marR="65405">
              <a:lnSpc>
                <a:spcPct val="101499"/>
              </a:lnSpc>
            </a:pPr>
            <a:r>
              <a:rPr sz="900" spc="65" dirty="0">
                <a:latin typeface="Times New Roman"/>
                <a:cs typeface="Times New Roman"/>
              </a:rPr>
              <a:t>number[i]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5" dirty="0">
                <a:latin typeface="Times New Roman"/>
                <a:cs typeface="Times New Roman"/>
              </a:rPr>
              <a:t>MAX(number[0],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number[1],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45" dirty="0">
                <a:latin typeface="Times New Roman"/>
                <a:cs typeface="Times New Roman"/>
              </a:rPr>
              <a:t>...,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number[n-1])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+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1;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b="1" spc="9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choosing[i]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-4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=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114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0;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//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why??</a:t>
            </a:r>
          </a:p>
          <a:p>
            <a:pPr marL="430530" marR="2156460" indent="-239395">
              <a:lnSpc>
                <a:spcPct val="101499"/>
              </a:lnSpc>
            </a:pPr>
            <a:r>
              <a:rPr sz="900" spc="114" dirty="0">
                <a:latin typeface="Times New Roman"/>
                <a:cs typeface="Times New Roman"/>
              </a:rPr>
              <a:t>for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95" dirty="0">
                <a:latin typeface="Times New Roman"/>
                <a:cs typeface="Times New Roman"/>
              </a:rPr>
              <a:t>(j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0;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j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&lt;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n;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75" dirty="0">
                <a:latin typeface="Times New Roman"/>
                <a:cs typeface="Times New Roman"/>
              </a:rPr>
              <a:t>j++)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b="1" spc="6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while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10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(choosing[j])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spc="220" dirty="0" smtClean="0">
                <a:latin typeface="Times New Roman"/>
                <a:cs typeface="Times New Roman"/>
              </a:rPr>
              <a:t>;</a:t>
            </a:r>
            <a:endParaRPr sz="900" dirty="0">
              <a:latin typeface="Times New Roman"/>
              <a:cs typeface="Times New Roman"/>
            </a:endParaRP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endParaRPr lang="en-IN" sz="900" spc="65" dirty="0" smtClean="0">
              <a:latin typeface="Times New Roman"/>
              <a:cs typeface="Times New Roman"/>
            </a:endParaRP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sz="900" spc="65" dirty="0" smtClean="0">
                <a:latin typeface="Times New Roman"/>
                <a:cs typeface="Times New Roman"/>
              </a:rPr>
              <a:t>while 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85" dirty="0">
                <a:latin typeface="Times New Roman"/>
                <a:cs typeface="Times New Roman"/>
              </a:rPr>
              <a:t>((number[j]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!=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-235" dirty="0">
                <a:latin typeface="Times New Roman"/>
                <a:cs typeface="Times New Roman"/>
              </a:rPr>
              <a:t>&amp;&amp;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05" dirty="0">
                <a:latin typeface="Times New Roman"/>
                <a:cs typeface="Times New Roman"/>
              </a:rPr>
              <a:t>(number[j],j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&lt;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05" dirty="0">
                <a:latin typeface="Times New Roman"/>
                <a:cs typeface="Times New Roman"/>
              </a:rPr>
              <a:t>number[i],i))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;</a:t>
            </a:r>
            <a:endParaRPr sz="900" dirty="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sz="900" spc="30" dirty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sz="900" spc="130" dirty="0">
                <a:latin typeface="Times New Roman"/>
                <a:cs typeface="Times New Roman"/>
              </a:rPr>
              <a:t>critical_section(); </a:t>
            </a:r>
            <a:r>
              <a:rPr sz="900" spc="65" dirty="0">
                <a:latin typeface="Times New Roman"/>
                <a:cs typeface="Times New Roman"/>
              </a:rPr>
              <a:t>number[i]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0;</a:t>
            </a:r>
            <a:r>
              <a:rPr sz="900" spc="75" dirty="0">
                <a:latin typeface="Times New Roman"/>
                <a:cs typeface="Times New Roman"/>
              </a:rPr>
              <a:t> remainder_section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ts val="1055"/>
              </a:lnSpc>
            </a:pPr>
            <a:r>
              <a:rPr sz="900" spc="30" dirty="0">
                <a:latin typeface="Times New Roman"/>
                <a:cs typeface="Times New Roman"/>
              </a:rPr>
              <a:t>}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65" dirty="0">
                <a:latin typeface="Times New Roman"/>
                <a:cs typeface="Times New Roman"/>
              </a:rPr>
              <a:t>while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40" dirty="0">
                <a:latin typeface="Times New Roman"/>
                <a:cs typeface="Times New Roman"/>
              </a:rPr>
              <a:t>(1);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13 / 28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25856" y="1958975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76281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15" dirty="0" smtClean="0"/>
              <a:t>P[k]</a:t>
            </a:r>
            <a:endParaRPr spc="10" dirty="0"/>
          </a:p>
        </p:txBody>
      </p:sp>
      <p:sp>
        <p:nvSpPr>
          <p:cNvPr id="3" name="object 3"/>
          <p:cNvSpPr txBox="1"/>
          <p:nvPr/>
        </p:nvSpPr>
        <p:spPr>
          <a:xfrm>
            <a:off x="125856" y="659611"/>
            <a:ext cx="3931794" cy="2239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75" dirty="0">
                <a:latin typeface="Times New Roman"/>
                <a:cs typeface="Times New Roman"/>
              </a:rPr>
              <a:t>shared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80" dirty="0">
                <a:latin typeface="Times New Roman"/>
                <a:cs typeface="Times New Roman"/>
              </a:rPr>
              <a:t>char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choosing[N]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{0,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45" dirty="0">
                <a:latin typeface="Times New Roman"/>
                <a:cs typeface="Times New Roman"/>
              </a:rPr>
              <a:t>...,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0};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75" dirty="0">
                <a:latin typeface="Times New Roman"/>
                <a:cs typeface="Times New Roman"/>
              </a:rPr>
              <a:t>shared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150" dirty="0">
                <a:latin typeface="Times New Roman"/>
                <a:cs typeface="Times New Roman"/>
              </a:rPr>
              <a:t>int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number[N]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{0,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45" dirty="0">
                <a:latin typeface="Times New Roman"/>
                <a:cs typeface="Times New Roman"/>
              </a:rPr>
              <a:t>...,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0};</a:t>
            </a: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spc="15" dirty="0">
                <a:latin typeface="Times New Roman"/>
                <a:cs typeface="Times New Roman"/>
              </a:rPr>
              <a:t>do 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endParaRPr sz="900" dirty="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sz="900" b="1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choosing[</a:t>
            </a:r>
            <a:r>
              <a:rPr lang="en-IN" sz="900" b="1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k</a:t>
            </a:r>
            <a:r>
              <a:rPr sz="900" b="1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] </a:t>
            </a:r>
            <a:r>
              <a:rPr sz="900" b="1" spc="2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-4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=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114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1;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//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why??</a:t>
            </a:r>
          </a:p>
          <a:p>
            <a:pPr marL="191770" marR="65405">
              <a:lnSpc>
                <a:spcPct val="101499"/>
              </a:lnSpc>
            </a:pPr>
            <a:r>
              <a:rPr sz="900" spc="65" dirty="0" smtClean="0">
                <a:latin typeface="Times New Roman"/>
                <a:cs typeface="Times New Roman"/>
              </a:rPr>
              <a:t>number[</a:t>
            </a:r>
            <a:r>
              <a:rPr lang="en-IN" sz="900" spc="65" dirty="0" smtClean="0">
                <a:latin typeface="Times New Roman"/>
                <a:cs typeface="Times New Roman"/>
              </a:rPr>
              <a:t>k</a:t>
            </a:r>
            <a:r>
              <a:rPr sz="900" spc="65" dirty="0" smtClean="0">
                <a:latin typeface="Times New Roman"/>
                <a:cs typeface="Times New Roman"/>
              </a:rPr>
              <a:t>] 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5" dirty="0">
                <a:latin typeface="Times New Roman"/>
                <a:cs typeface="Times New Roman"/>
              </a:rPr>
              <a:t>MAX(number[0],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number[1],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45" dirty="0">
                <a:latin typeface="Times New Roman"/>
                <a:cs typeface="Times New Roman"/>
              </a:rPr>
              <a:t>...,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number[n-1])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+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1;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b="1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choosing[</a:t>
            </a:r>
            <a:r>
              <a:rPr lang="en-IN" sz="900" b="1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k</a:t>
            </a:r>
            <a:r>
              <a:rPr sz="900" b="1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]</a:t>
            </a:r>
            <a:r>
              <a:rPr sz="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-4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=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114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0;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//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why??</a:t>
            </a:r>
          </a:p>
          <a:p>
            <a:pPr marL="430530" marR="2156460" indent="-239395">
              <a:lnSpc>
                <a:spcPct val="101499"/>
              </a:lnSpc>
            </a:pPr>
            <a:r>
              <a:rPr sz="900" spc="114" dirty="0">
                <a:latin typeface="Times New Roman"/>
                <a:cs typeface="Times New Roman"/>
              </a:rPr>
              <a:t>for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95" dirty="0">
                <a:latin typeface="Times New Roman"/>
                <a:cs typeface="Times New Roman"/>
              </a:rPr>
              <a:t>(j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0;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j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&lt;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n;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75" dirty="0">
                <a:latin typeface="Times New Roman"/>
                <a:cs typeface="Times New Roman"/>
              </a:rPr>
              <a:t>j++)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b="1" spc="6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while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2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b="1" spc="10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(choosing[j])</a:t>
            </a:r>
            <a:r>
              <a:rPr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900" spc="220" dirty="0" smtClean="0">
                <a:latin typeface="Times New Roman"/>
                <a:cs typeface="Times New Roman"/>
              </a:rPr>
              <a:t>;</a:t>
            </a:r>
            <a:endParaRPr sz="900" dirty="0">
              <a:latin typeface="Times New Roman"/>
              <a:cs typeface="Times New Roman"/>
            </a:endParaRP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endParaRPr lang="en-IN" sz="900" spc="65" dirty="0" smtClean="0">
              <a:latin typeface="Times New Roman"/>
              <a:cs typeface="Times New Roman"/>
            </a:endParaRP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sz="900" spc="65" dirty="0" smtClean="0">
                <a:latin typeface="Times New Roman"/>
                <a:cs typeface="Times New Roman"/>
              </a:rPr>
              <a:t>while 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85" dirty="0">
                <a:latin typeface="Times New Roman"/>
                <a:cs typeface="Times New Roman"/>
              </a:rPr>
              <a:t>((number[j]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!=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-235" dirty="0">
                <a:latin typeface="Times New Roman"/>
                <a:cs typeface="Times New Roman"/>
              </a:rPr>
              <a:t>&amp;&amp;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05" dirty="0">
                <a:latin typeface="Times New Roman"/>
                <a:cs typeface="Times New Roman"/>
              </a:rPr>
              <a:t>(number[j],j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&lt;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05" dirty="0" smtClean="0">
                <a:latin typeface="Times New Roman"/>
                <a:cs typeface="Times New Roman"/>
              </a:rPr>
              <a:t>number[</a:t>
            </a:r>
            <a:r>
              <a:rPr lang="en-IN" sz="900" spc="105" dirty="0" smtClean="0">
                <a:latin typeface="Times New Roman"/>
                <a:cs typeface="Times New Roman"/>
              </a:rPr>
              <a:t>k</a:t>
            </a:r>
            <a:r>
              <a:rPr sz="900" spc="105" dirty="0" smtClean="0">
                <a:latin typeface="Times New Roman"/>
                <a:cs typeface="Times New Roman"/>
              </a:rPr>
              <a:t>],</a:t>
            </a:r>
            <a:r>
              <a:rPr lang="en-IN" sz="900" spc="105" dirty="0" smtClean="0">
                <a:latin typeface="Times New Roman"/>
                <a:cs typeface="Times New Roman"/>
              </a:rPr>
              <a:t>k</a:t>
            </a:r>
            <a:r>
              <a:rPr sz="900" spc="105" dirty="0" smtClean="0">
                <a:latin typeface="Times New Roman"/>
                <a:cs typeface="Times New Roman"/>
              </a:rPr>
              <a:t>))</a:t>
            </a:r>
            <a:r>
              <a:rPr sz="900" dirty="0" smtClean="0">
                <a:latin typeface="Times New Roman"/>
                <a:cs typeface="Times New Roman"/>
              </a:rPr>
              <a:t> 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;</a:t>
            </a:r>
            <a:endParaRPr sz="900" dirty="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sz="900" spc="30" dirty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sz="900" spc="130" dirty="0">
                <a:latin typeface="Times New Roman"/>
                <a:cs typeface="Times New Roman"/>
              </a:rPr>
              <a:t>critical_section(); </a:t>
            </a:r>
            <a:r>
              <a:rPr sz="900" spc="65" dirty="0" smtClean="0">
                <a:latin typeface="Times New Roman"/>
                <a:cs typeface="Times New Roman"/>
              </a:rPr>
              <a:t>number[</a:t>
            </a:r>
            <a:r>
              <a:rPr lang="en-IN" sz="900" spc="65" dirty="0" smtClean="0">
                <a:latin typeface="Times New Roman"/>
                <a:cs typeface="Times New Roman"/>
              </a:rPr>
              <a:t>k</a:t>
            </a:r>
            <a:r>
              <a:rPr sz="900" spc="65" dirty="0" smtClean="0">
                <a:latin typeface="Times New Roman"/>
                <a:cs typeface="Times New Roman"/>
              </a:rPr>
              <a:t>] 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0;</a:t>
            </a:r>
            <a:r>
              <a:rPr sz="900" spc="75" dirty="0">
                <a:latin typeface="Times New Roman"/>
                <a:cs typeface="Times New Roman"/>
              </a:rPr>
              <a:t> remainder_section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ts val="1055"/>
              </a:lnSpc>
            </a:pPr>
            <a:r>
              <a:rPr sz="900" spc="30" dirty="0">
                <a:latin typeface="Times New Roman"/>
                <a:cs typeface="Times New Roman"/>
              </a:rPr>
              <a:t>}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65" dirty="0">
                <a:latin typeface="Times New Roman"/>
                <a:cs typeface="Times New Roman"/>
              </a:rPr>
              <a:t>while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40" dirty="0">
                <a:latin typeface="Times New Roman"/>
                <a:cs typeface="Times New Roman"/>
              </a:rPr>
              <a:t>(1);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13 / 28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0" y="1196975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12426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Questions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382984"/>
            <a:ext cx="4514850" cy="2585323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What happens if P[</a:t>
            </a:r>
            <a:r>
              <a:rPr lang="en-IN" sz="1050" b="0" spc="60" dirty="0" err="1" smtClean="0"/>
              <a:t>i</a:t>
            </a:r>
            <a:r>
              <a:rPr lang="en-IN" sz="1050" b="0" spc="60" dirty="0" smtClean="0"/>
              <a:t>] just misses the fact that P[k] is choosing?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050" spc="60" dirty="0">
                <a:solidFill>
                  <a:schemeClr val="tx1"/>
                </a:solidFill>
                <a:latin typeface="Arial"/>
                <a:cs typeface="Arial"/>
              </a:rPr>
              <a:t>When P[</a:t>
            </a:r>
            <a:r>
              <a:rPr lang="en-IN" sz="1050" spc="6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IN" sz="1050" spc="60" dirty="0">
                <a:solidFill>
                  <a:schemeClr val="tx1"/>
                </a:solidFill>
                <a:latin typeface="Arial"/>
                <a:cs typeface="Arial"/>
              </a:rPr>
              <a:t>] is checking, </a:t>
            </a: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P[k] </a:t>
            </a:r>
            <a:r>
              <a:rPr lang="en-IN" sz="1050" spc="60" dirty="0">
                <a:solidFill>
                  <a:schemeClr val="tx1"/>
                </a:solidFill>
                <a:latin typeface="Arial"/>
                <a:cs typeface="Arial"/>
              </a:rPr>
              <a:t>is just before </a:t>
            </a: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choosing[k]=</a:t>
            </a:r>
            <a:r>
              <a:rPr lang="en-IN" sz="1050" spc="60" dirty="0"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0" spc="6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 smtClean="0"/>
              <a:t>Case 1: At line between for and while, P[</a:t>
            </a:r>
            <a:r>
              <a:rPr lang="en-IN" sz="1050" b="0" spc="60" dirty="0" err="1" smtClean="0"/>
              <a:t>i</a:t>
            </a:r>
            <a:r>
              <a:rPr lang="en-IN" sz="1050" b="0" spc="60" dirty="0" smtClean="0"/>
              <a:t>] finds choosing [k] =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050" spc="60" dirty="0">
                <a:solidFill>
                  <a:schemeClr val="tx1"/>
                </a:solidFill>
                <a:latin typeface="Arial"/>
                <a:cs typeface="Arial"/>
              </a:rPr>
              <a:t>P[</a:t>
            </a:r>
            <a:r>
              <a:rPr lang="en-IN" sz="1050" spc="6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IN" sz="1050" spc="60" dirty="0">
                <a:solidFill>
                  <a:schemeClr val="tx1"/>
                </a:solidFill>
                <a:latin typeface="Arial"/>
                <a:cs typeface="Arial"/>
              </a:rPr>
              <a:t>] compares with </a:t>
            </a: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P[k] </a:t>
            </a:r>
            <a:r>
              <a:rPr lang="en-IN" sz="1050" spc="60" dirty="0">
                <a:solidFill>
                  <a:schemeClr val="tx1"/>
                </a:solidFill>
                <a:latin typeface="Arial"/>
                <a:cs typeface="Arial"/>
              </a:rPr>
              <a:t>after both tokens are non-zero and therefore, both processes are in agreement as to who enters </a:t>
            </a: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first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IN" sz="1050" spc="6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0" spc="60" dirty="0"/>
              <a:t>Case </a:t>
            </a:r>
            <a:r>
              <a:rPr lang="en-IN" sz="1050" b="0" spc="60" dirty="0" smtClean="0"/>
              <a:t>2: </a:t>
            </a:r>
            <a:r>
              <a:rPr lang="en-IN" sz="1050" b="0" spc="60" dirty="0"/>
              <a:t>At line between for and while, P[</a:t>
            </a:r>
            <a:r>
              <a:rPr lang="en-IN" sz="1050" b="0" spc="60" dirty="0" err="1"/>
              <a:t>i</a:t>
            </a:r>
            <a:r>
              <a:rPr lang="en-IN" sz="1050" b="0" spc="60" dirty="0"/>
              <a:t>] finds choosing [k] = </a:t>
            </a:r>
            <a:r>
              <a:rPr lang="en-IN" sz="1050" b="0" spc="60" dirty="0" smtClean="0"/>
              <a:t>0</a:t>
            </a:r>
            <a:endParaRPr lang="en-IN" sz="1050" b="0" spc="6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There is a context switch and now, P[k] sets </a:t>
            </a:r>
            <a:r>
              <a:rPr lang="en-IN" sz="1050" spc="60" dirty="0" smtClean="0"/>
              <a:t>choosing[k]= 1</a:t>
            </a:r>
            <a:endParaRPr lang="en-IN" sz="1050" spc="6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P[k] gets a token number greater than P[</a:t>
            </a:r>
            <a:r>
              <a:rPr lang="en-IN" sz="1050" spc="60" dirty="0" err="1" smtClean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]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P[k] goes ahead and executes lines 1, 2, 3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Finds P[</a:t>
            </a:r>
            <a:r>
              <a:rPr lang="en-IN" sz="1050" spc="60" dirty="0" err="1" smtClean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] has a lower token number and gets stuck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P[</a:t>
            </a:r>
            <a:r>
              <a:rPr lang="en-IN" sz="1050" spc="60" dirty="0" err="1" smtClean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IN" sz="1050" spc="60" dirty="0" smtClean="0">
                <a:solidFill>
                  <a:schemeClr val="tx1"/>
                </a:solidFill>
                <a:latin typeface="Arial"/>
                <a:cs typeface="Arial"/>
              </a:rPr>
              <a:t>] checks in the loop and notes that either P[k] has no token (token[k] = 0), or a greater token, and goes in</a:t>
            </a:r>
            <a:endParaRPr lang="en-IN" sz="1050" spc="60" dirty="0">
              <a:solidFill>
                <a:schemeClr val="tx1"/>
              </a:solidFill>
              <a:latin typeface="Arial"/>
              <a:cs typeface="Arial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IN" sz="1050" spc="6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2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Question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539157"/>
          </a:xfrm>
        </p:spPr>
        <p:txBody>
          <a:bodyPr/>
          <a:lstStyle/>
          <a:p>
            <a:r>
              <a:rPr lang="en-IN" b="0" dirty="0" smtClean="0"/>
              <a:t>Why do we not use the system time on the machine?</a:t>
            </a:r>
          </a:p>
          <a:p>
            <a:endParaRPr lang="en-IN" b="0" dirty="0"/>
          </a:p>
          <a:p>
            <a:r>
              <a:rPr lang="en-IN" b="0" dirty="0" smtClean="0"/>
              <a:t>Equivalent to a centralized token machine</a:t>
            </a:r>
          </a:p>
          <a:p>
            <a:endParaRPr lang="en-IN" b="0" dirty="0"/>
          </a:p>
          <a:p>
            <a:r>
              <a:rPr lang="en-IN" b="0" dirty="0" smtClean="0"/>
              <a:t>Can change system time</a:t>
            </a:r>
          </a:p>
          <a:p>
            <a:endParaRPr lang="en-IN" b="0" dirty="0"/>
          </a:p>
          <a:p>
            <a:r>
              <a:rPr lang="en-IN" b="0" dirty="0" smtClean="0"/>
              <a:t>The way it is done now eliminates the need for clocks</a:t>
            </a:r>
          </a:p>
          <a:p>
            <a:endParaRPr lang="en-IN" b="0" dirty="0"/>
          </a:p>
          <a:p>
            <a:r>
              <a:rPr lang="en-IN" b="0" dirty="0" smtClean="0"/>
              <a:t>As long as we have different processors with shared memory, the scheme works</a:t>
            </a:r>
          </a:p>
          <a:p>
            <a:endParaRPr lang="en-IN" b="0" dirty="0"/>
          </a:p>
          <a:p>
            <a:r>
              <a:rPr lang="en-IN" b="0" dirty="0" smtClean="0"/>
              <a:t>For distributed systems, totally ordered reads and writes are difficult</a:t>
            </a:r>
          </a:p>
          <a:p>
            <a:endParaRPr lang="en-IN" b="0" dirty="0"/>
          </a:p>
          <a:p>
            <a:r>
              <a:rPr lang="en-IN" b="0" dirty="0" smtClean="0"/>
              <a:t>For a single machine with different processors running different OS, if we have a shared clock, we can formulate a simpler solution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508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2579</TotalTime>
  <Words>2427</Words>
  <Application>Microsoft Office PowerPoint</Application>
  <PresentationFormat>Custom</PresentationFormat>
  <Paragraphs>470</Paragraphs>
  <Slides>36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Century</vt:lpstr>
      <vt:lpstr>Times New Roman</vt:lpstr>
      <vt:lpstr>Wingdings</vt:lpstr>
      <vt:lpstr>Office Theme</vt:lpstr>
      <vt:lpstr>PowerPoint Presentation</vt:lpstr>
      <vt:lpstr>Towards a better solution</vt:lpstr>
      <vt:lpstr>Using ideas from both solutions</vt:lpstr>
      <vt:lpstr>Two-process solutions</vt:lpstr>
      <vt:lpstr>Using ideas from both solutions: turn breaks ties</vt:lpstr>
      <vt:lpstr>Using ideas from both solutions: turn breaks ties</vt:lpstr>
      <vt:lpstr>Using ideas from both solutions: turn breaks ties</vt:lpstr>
      <vt:lpstr>Only Correct One</vt:lpstr>
      <vt:lpstr>Alternatives</vt:lpstr>
      <vt:lpstr>Critical section problem (CSP)</vt:lpstr>
      <vt:lpstr>Only Correct One</vt:lpstr>
      <vt:lpstr>Critical section problem (CSP)</vt:lpstr>
      <vt:lpstr>CSP solutions</vt:lpstr>
      <vt:lpstr>Extending this to n co-operating processes</vt:lpstr>
      <vt:lpstr>CSP for n-processes: first attempt</vt:lpstr>
      <vt:lpstr>Multiple process solution</vt:lpstr>
      <vt:lpstr>CSP for n-processes: first attempt</vt:lpstr>
      <vt:lpstr>Multiple process solution</vt:lpstr>
      <vt:lpstr>Questions</vt:lpstr>
      <vt:lpstr>Multiple process solution</vt:lpstr>
      <vt:lpstr>Multiple process solution</vt:lpstr>
      <vt:lpstr>Multiple process solution</vt:lpstr>
      <vt:lpstr>Questions</vt:lpstr>
      <vt:lpstr>All is Well?</vt:lpstr>
      <vt:lpstr>All is Well?</vt:lpstr>
      <vt:lpstr>Questions</vt:lpstr>
      <vt:lpstr>What about Mutual Exclusion?</vt:lpstr>
      <vt:lpstr>What went wrong?</vt:lpstr>
      <vt:lpstr>Multiple-process solution</vt:lpstr>
      <vt:lpstr>Bakery algorithm</vt:lpstr>
      <vt:lpstr>Remarks</vt:lpstr>
      <vt:lpstr>Questions</vt:lpstr>
      <vt:lpstr>P[i]</vt:lpstr>
      <vt:lpstr>P[k]</vt:lpstr>
      <vt:lpstr>Questions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Synchronization</dc:title>
  <dc:creator>Mandar Mitra</dc:creator>
  <cp:lastModifiedBy>PC</cp:lastModifiedBy>
  <cp:revision>193</cp:revision>
  <dcterms:created xsi:type="dcterms:W3CDTF">2020-03-13T20:49:06Z</dcterms:created>
  <dcterms:modified xsi:type="dcterms:W3CDTF">2026-02-05T13:17:42Z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2017-04-14T00:00:00Z</vt:filetime>
  </property>
  <property fmtid="{D5CDD505-2E9C-101B-9397-08002B2CF9AE}" pid="3" name="LastSaved">
    <vt:filetime>2020-03-13T00:00:00Z</vt:filetime>
  </property>
</Properties>
</file>
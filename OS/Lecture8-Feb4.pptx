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300" r:id="rId3"/>
    <p:sldId id="258" r:id="rId4"/>
    <p:sldId id="259" r:id="rId5"/>
    <p:sldId id="260" r:id="rId6"/>
    <p:sldId id="261" r:id="rId7"/>
    <p:sldId id="309" r:id="rId8"/>
    <p:sldId id="262" r:id="rId9"/>
    <p:sldId id="287" r:id="rId10"/>
    <p:sldId id="286" r:id="rId11"/>
    <p:sldId id="288" r:id="rId12"/>
    <p:sldId id="307" r:id="rId13"/>
    <p:sldId id="289" r:id="rId14"/>
    <p:sldId id="290" r:id="rId15"/>
    <p:sldId id="301" r:id="rId16"/>
    <p:sldId id="291" r:id="rId17"/>
    <p:sldId id="292" r:id="rId18"/>
    <p:sldId id="293" r:id="rId19"/>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p:cViewPr varScale="1">
        <p:scale>
          <a:sx n="210" d="100"/>
          <a:sy n="210" d="100"/>
        </p:scale>
        <p:origin x="1986" y="168"/>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2577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2917904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2775816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4100529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2095852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2861794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933665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a:p>
        </p:txBody>
      </p:sp>
    </p:spTree>
    <p:extLst>
      <p:ext uri="{BB962C8B-B14F-4D97-AF65-F5344CB8AC3E}">
        <p14:creationId xmlns:p14="http://schemas.microsoft.com/office/powerpoint/2010/main" val="632871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69"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a:cs typeface="Arial"/>
              </a:defRPr>
            </a:lvl1pPr>
          </a:lstStyle>
          <a:p>
            <a:pPr marL="12700">
              <a:lnSpc>
                <a:spcPct val="100000"/>
              </a:lnSpc>
            </a:pPr>
            <a:r>
              <a:rPr lang="en-IN" spc="-5" dirty="0" smtClean="0"/>
              <a:t>M.Tech.</a:t>
            </a:r>
            <a:r>
              <a:rPr dirty="0" smtClean="0"/>
              <a:t> </a:t>
            </a:r>
            <a:r>
              <a:rPr spc="-5" dirty="0" smtClean="0"/>
              <a:t> </a:t>
            </a:r>
            <a:r>
              <a:rPr spc="-5" dirty="0"/>
              <a:t>(ISI)</a:t>
            </a:r>
          </a:p>
        </p:txBody>
      </p:sp>
      <p:sp>
        <p:nvSpPr>
          <p:cNvPr id="5" name="Holder 5"/>
          <p:cNvSpPr>
            <a:spLocks noGrp="1"/>
          </p:cNvSpPr>
          <p:nvPr>
            <p:ph type="dt" sz="half" idx="6"/>
          </p:nvPr>
        </p:nvSpPr>
        <p:spPr/>
        <p:txBody>
          <a:bodyPr lIns="0" tIns="0" rIns="0" bIns="0"/>
          <a:lstStyle>
            <a:lvl1pPr>
              <a:defRPr sz="600" b="0" i="0">
                <a:solidFill>
                  <a:schemeClr val="bg1"/>
                </a:solidFill>
                <a:latin typeface="Arial"/>
                <a:cs typeface="Arial"/>
              </a:defRPr>
            </a:lvl1pPr>
          </a:lstStyle>
          <a:p>
            <a:pPr marL="12700">
              <a:lnSpc>
                <a:spcPct val="100000"/>
              </a:lnSpc>
            </a:pPr>
            <a:r>
              <a:rPr spc="-5" dirty="0"/>
              <a:t>Process Synchronization</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a:cs typeface="Arial"/>
              </a:defRPr>
            </a:lvl1pPr>
          </a:lstStyle>
          <a:p>
            <a:pPr marL="67310">
              <a:lnSpc>
                <a:spcPct val="100000"/>
              </a:lnSpc>
            </a:pPr>
            <a:fld id="{81D60167-4931-47E6-BA6A-407CBD079E47}" type="slidenum">
              <a:rPr spc="-5" dirty="0"/>
              <a:t>‹#›</a:t>
            </a:fld>
            <a:r>
              <a:rPr spc="-5" dirty="0"/>
              <a:t> / 28</a:t>
            </a: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10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600" b="0" i="0">
                <a:solidFill>
                  <a:schemeClr val="bg1"/>
                </a:solidFill>
                <a:latin typeface="Arial"/>
                <a:cs typeface="Arial"/>
              </a:defRPr>
            </a:lvl1pPr>
          </a:lstStyle>
          <a:p>
            <a:pPr marL="12700">
              <a:lnSpc>
                <a:spcPct val="100000"/>
              </a:lnSpc>
            </a:pPr>
            <a:r>
              <a:rPr lang="en-IN" spc="-5" dirty="0" smtClean="0"/>
              <a:t>M.Tech.</a:t>
            </a:r>
            <a:r>
              <a:rPr dirty="0" smtClean="0"/>
              <a:t> </a:t>
            </a:r>
            <a:r>
              <a:rPr spc="-5" dirty="0" smtClean="0"/>
              <a:t> </a:t>
            </a:r>
            <a:r>
              <a:rPr spc="-5" dirty="0"/>
              <a:t>(ISI)</a:t>
            </a:r>
          </a:p>
        </p:txBody>
      </p:sp>
      <p:sp>
        <p:nvSpPr>
          <p:cNvPr id="5" name="Holder 5"/>
          <p:cNvSpPr>
            <a:spLocks noGrp="1"/>
          </p:cNvSpPr>
          <p:nvPr>
            <p:ph type="dt" sz="half" idx="6"/>
          </p:nvPr>
        </p:nvSpPr>
        <p:spPr/>
        <p:txBody>
          <a:bodyPr lIns="0" tIns="0" rIns="0" bIns="0"/>
          <a:lstStyle>
            <a:lvl1pPr>
              <a:defRPr sz="600" b="0" i="0">
                <a:solidFill>
                  <a:schemeClr val="bg1"/>
                </a:solidFill>
                <a:latin typeface="Arial"/>
                <a:cs typeface="Arial"/>
              </a:defRPr>
            </a:lvl1pPr>
          </a:lstStyle>
          <a:p>
            <a:pPr marL="12700">
              <a:lnSpc>
                <a:spcPct val="100000"/>
              </a:lnSpc>
            </a:pPr>
            <a:r>
              <a:rPr spc="-5" dirty="0"/>
              <a:t>Process Synchronization</a:t>
            </a:r>
          </a:p>
        </p:txBody>
      </p:sp>
      <p:sp>
        <p:nvSpPr>
          <p:cNvPr id="6" name="Holder 6"/>
          <p:cNvSpPr>
            <a:spLocks noGrp="1"/>
          </p:cNvSpPr>
          <p:nvPr>
            <p:ph type="sldNum" sz="quarter" idx="7"/>
          </p:nvPr>
        </p:nvSpPr>
        <p:spPr/>
        <p:txBody>
          <a:bodyPr lIns="0" tIns="0" rIns="0" bIns="0"/>
          <a:lstStyle>
            <a:lvl1pPr>
              <a:defRPr sz="600" b="0" i="0">
                <a:solidFill>
                  <a:schemeClr val="bg1"/>
                </a:solidFill>
                <a:latin typeface="Arial"/>
                <a:cs typeface="Arial"/>
              </a:defRPr>
            </a:lvl1pPr>
          </a:lstStyle>
          <a:p>
            <a:pPr marL="67310">
              <a:lnSpc>
                <a:spcPct val="100000"/>
              </a:lnSpc>
            </a:pPr>
            <a:fld id="{81D60167-4931-47E6-BA6A-407CBD079E47}" type="slidenum">
              <a:rPr spc="-5" dirty="0"/>
              <a:t>‹#›</a:t>
            </a:fld>
            <a:r>
              <a:rPr spc="-5" dirty="0"/>
              <a:t> / 28</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600" b="0" i="0">
                <a:solidFill>
                  <a:schemeClr val="bg1"/>
                </a:solidFill>
                <a:latin typeface="Arial"/>
                <a:cs typeface="Arial"/>
              </a:defRPr>
            </a:lvl1pPr>
          </a:lstStyle>
          <a:p>
            <a:pPr marL="12700">
              <a:lnSpc>
                <a:spcPct val="100000"/>
              </a:lnSpc>
            </a:pPr>
            <a:r>
              <a:rPr lang="en-IN" spc="-5" dirty="0" smtClean="0"/>
              <a:t>M.Tech.</a:t>
            </a:r>
            <a:r>
              <a:rPr dirty="0" smtClean="0"/>
              <a:t> </a:t>
            </a:r>
            <a:r>
              <a:rPr spc="-5" dirty="0" smtClean="0"/>
              <a:t> </a:t>
            </a:r>
            <a:r>
              <a:rPr spc="-5" dirty="0"/>
              <a:t>(ISI)</a:t>
            </a:r>
          </a:p>
        </p:txBody>
      </p:sp>
      <p:sp>
        <p:nvSpPr>
          <p:cNvPr id="6" name="Holder 6"/>
          <p:cNvSpPr>
            <a:spLocks noGrp="1"/>
          </p:cNvSpPr>
          <p:nvPr>
            <p:ph type="dt" sz="half" idx="6"/>
          </p:nvPr>
        </p:nvSpPr>
        <p:spPr/>
        <p:txBody>
          <a:bodyPr lIns="0" tIns="0" rIns="0" bIns="0"/>
          <a:lstStyle>
            <a:lvl1pPr>
              <a:defRPr sz="600" b="0" i="0">
                <a:solidFill>
                  <a:schemeClr val="bg1"/>
                </a:solidFill>
                <a:latin typeface="Arial"/>
                <a:cs typeface="Arial"/>
              </a:defRPr>
            </a:lvl1pPr>
          </a:lstStyle>
          <a:p>
            <a:pPr marL="12700">
              <a:lnSpc>
                <a:spcPct val="100000"/>
              </a:lnSpc>
            </a:pPr>
            <a:r>
              <a:rPr spc="-5" dirty="0"/>
              <a:t>Process Synchronization</a:t>
            </a:r>
          </a:p>
        </p:txBody>
      </p:sp>
      <p:sp>
        <p:nvSpPr>
          <p:cNvPr id="7" name="Holder 7"/>
          <p:cNvSpPr>
            <a:spLocks noGrp="1"/>
          </p:cNvSpPr>
          <p:nvPr>
            <p:ph type="sldNum" sz="quarter" idx="7"/>
          </p:nvPr>
        </p:nvSpPr>
        <p:spPr/>
        <p:txBody>
          <a:bodyPr lIns="0" tIns="0" rIns="0" bIns="0"/>
          <a:lstStyle>
            <a:lvl1pPr>
              <a:defRPr sz="600" b="0" i="0">
                <a:solidFill>
                  <a:schemeClr val="bg1"/>
                </a:solidFill>
                <a:latin typeface="Arial"/>
                <a:cs typeface="Arial"/>
              </a:defRPr>
            </a:lvl1pPr>
          </a:lstStyle>
          <a:p>
            <a:pPr marL="67310">
              <a:lnSpc>
                <a:spcPct val="100000"/>
              </a:lnSpc>
            </a:pPr>
            <a:fld id="{81D60167-4931-47E6-BA6A-407CBD079E47}" type="slidenum">
              <a:rPr spc="-5" dirty="0"/>
              <a:t>‹#›</a:t>
            </a:fld>
            <a:r>
              <a:rPr spc="-5" dirty="0"/>
              <a:t> / 28</a:t>
            </a: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600" b="0" i="0">
                <a:solidFill>
                  <a:schemeClr val="bg1"/>
                </a:solidFill>
                <a:latin typeface="Arial"/>
                <a:cs typeface="Arial"/>
              </a:defRPr>
            </a:lvl1pPr>
          </a:lstStyle>
          <a:p>
            <a:pPr marL="12700">
              <a:lnSpc>
                <a:spcPct val="100000"/>
              </a:lnSpc>
            </a:pPr>
            <a:r>
              <a:rPr lang="en-IN" spc="-5" dirty="0" smtClean="0"/>
              <a:t>M.Tech.</a:t>
            </a:r>
            <a:r>
              <a:rPr dirty="0" smtClean="0"/>
              <a:t> </a:t>
            </a:r>
            <a:r>
              <a:rPr spc="-5" dirty="0" smtClean="0"/>
              <a:t> </a:t>
            </a:r>
            <a:r>
              <a:rPr spc="-5" dirty="0"/>
              <a:t>(ISI)</a:t>
            </a:r>
          </a:p>
        </p:txBody>
      </p:sp>
      <p:sp>
        <p:nvSpPr>
          <p:cNvPr id="4" name="Holder 4"/>
          <p:cNvSpPr>
            <a:spLocks noGrp="1"/>
          </p:cNvSpPr>
          <p:nvPr>
            <p:ph type="dt" sz="half" idx="6"/>
          </p:nvPr>
        </p:nvSpPr>
        <p:spPr/>
        <p:txBody>
          <a:bodyPr lIns="0" tIns="0" rIns="0" bIns="0"/>
          <a:lstStyle>
            <a:lvl1pPr>
              <a:defRPr sz="600" b="0" i="0">
                <a:solidFill>
                  <a:schemeClr val="bg1"/>
                </a:solidFill>
                <a:latin typeface="Arial"/>
                <a:cs typeface="Arial"/>
              </a:defRPr>
            </a:lvl1pPr>
          </a:lstStyle>
          <a:p>
            <a:pPr marL="12700">
              <a:lnSpc>
                <a:spcPct val="100000"/>
              </a:lnSpc>
            </a:pPr>
            <a:r>
              <a:rPr spc="-5" dirty="0"/>
              <a:t>Process Synchronization</a:t>
            </a:r>
          </a:p>
        </p:txBody>
      </p:sp>
      <p:sp>
        <p:nvSpPr>
          <p:cNvPr id="5" name="Holder 5"/>
          <p:cNvSpPr>
            <a:spLocks noGrp="1"/>
          </p:cNvSpPr>
          <p:nvPr>
            <p:ph type="sldNum" sz="quarter" idx="7"/>
          </p:nvPr>
        </p:nvSpPr>
        <p:spPr/>
        <p:txBody>
          <a:bodyPr lIns="0" tIns="0" rIns="0" bIns="0"/>
          <a:lstStyle>
            <a:lvl1pPr>
              <a:defRPr sz="600" b="0" i="0">
                <a:solidFill>
                  <a:schemeClr val="bg1"/>
                </a:solidFill>
                <a:latin typeface="Arial"/>
                <a:cs typeface="Arial"/>
              </a:defRPr>
            </a:lvl1pPr>
          </a:lstStyle>
          <a:p>
            <a:pPr marL="67310">
              <a:lnSpc>
                <a:spcPct val="100000"/>
              </a:lnSpc>
            </a:pPr>
            <a:fld id="{81D60167-4931-47E6-BA6A-407CBD079E47}" type="slidenum">
              <a:rPr spc="-5" dirty="0"/>
              <a:t>‹#›</a:t>
            </a:fld>
            <a:r>
              <a:rPr spc="-5" dirty="0"/>
              <a:t> / 28</a:t>
            </a: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600" b="0" i="0">
                <a:solidFill>
                  <a:schemeClr val="bg1"/>
                </a:solidFill>
                <a:latin typeface="Arial"/>
                <a:cs typeface="Arial"/>
              </a:defRPr>
            </a:lvl1pPr>
          </a:lstStyle>
          <a:p>
            <a:pPr marL="12700">
              <a:lnSpc>
                <a:spcPct val="100000"/>
              </a:lnSpc>
            </a:pPr>
            <a:r>
              <a:rPr lang="en-IN" spc="-5" dirty="0" smtClean="0"/>
              <a:t>M.Tech.</a:t>
            </a:r>
            <a:r>
              <a:rPr dirty="0" smtClean="0"/>
              <a:t> </a:t>
            </a:r>
            <a:r>
              <a:rPr spc="-5" dirty="0" smtClean="0"/>
              <a:t> </a:t>
            </a:r>
            <a:r>
              <a:rPr spc="-5" dirty="0"/>
              <a:t>(ISI)</a:t>
            </a:r>
          </a:p>
        </p:txBody>
      </p:sp>
      <p:sp>
        <p:nvSpPr>
          <p:cNvPr id="3" name="Holder 3"/>
          <p:cNvSpPr>
            <a:spLocks noGrp="1"/>
          </p:cNvSpPr>
          <p:nvPr>
            <p:ph type="dt" sz="half" idx="6"/>
          </p:nvPr>
        </p:nvSpPr>
        <p:spPr/>
        <p:txBody>
          <a:bodyPr lIns="0" tIns="0" rIns="0" bIns="0"/>
          <a:lstStyle>
            <a:lvl1pPr>
              <a:defRPr sz="600" b="0" i="0">
                <a:solidFill>
                  <a:schemeClr val="bg1"/>
                </a:solidFill>
                <a:latin typeface="Arial"/>
                <a:cs typeface="Arial"/>
              </a:defRPr>
            </a:lvl1pPr>
          </a:lstStyle>
          <a:p>
            <a:pPr marL="12700">
              <a:lnSpc>
                <a:spcPct val="100000"/>
              </a:lnSpc>
            </a:pPr>
            <a:r>
              <a:rPr spc="-5" dirty="0"/>
              <a:t>Process Synchronization</a:t>
            </a:r>
          </a:p>
        </p:txBody>
      </p:sp>
      <p:sp>
        <p:nvSpPr>
          <p:cNvPr id="4" name="Holder 4"/>
          <p:cNvSpPr>
            <a:spLocks noGrp="1"/>
          </p:cNvSpPr>
          <p:nvPr>
            <p:ph type="sldNum" sz="quarter" idx="7"/>
          </p:nvPr>
        </p:nvSpPr>
        <p:spPr/>
        <p:txBody>
          <a:bodyPr lIns="0" tIns="0" rIns="0" bIns="0"/>
          <a:lstStyle>
            <a:lvl1pPr>
              <a:defRPr sz="600" b="0" i="0">
                <a:solidFill>
                  <a:schemeClr val="bg1"/>
                </a:solidFill>
                <a:latin typeface="Arial"/>
                <a:cs typeface="Arial"/>
              </a:defRPr>
            </a:lvl1pPr>
          </a:lstStyle>
          <a:p>
            <a:pPr marL="67310">
              <a:lnSpc>
                <a:spcPct val="100000"/>
              </a:lnSpc>
            </a:pPr>
            <a:fld id="{81D60167-4931-47E6-BA6A-407CBD079E47}" type="slidenum">
              <a:rPr spc="-5" dirty="0"/>
              <a:t>‹#›</a:t>
            </a:fld>
            <a:r>
              <a:rPr spc="-5" dirty="0"/>
              <a:t> / 28</a:t>
            </a: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4608195" cy="360045"/>
          </a:xfrm>
          <a:custGeom>
            <a:avLst/>
            <a:gdLst/>
            <a:ahLst/>
            <a:cxnLst/>
            <a:rect l="l" t="t" r="r" b="b"/>
            <a:pathLst>
              <a:path w="4608195" h="360045">
                <a:moveTo>
                  <a:pt x="0" y="360045"/>
                </a:moveTo>
                <a:lnTo>
                  <a:pt x="4607940" y="360045"/>
                </a:lnTo>
                <a:lnTo>
                  <a:pt x="4607940" y="0"/>
                </a:lnTo>
                <a:lnTo>
                  <a:pt x="0" y="0"/>
                </a:lnTo>
                <a:lnTo>
                  <a:pt x="0" y="360045"/>
                </a:lnTo>
              </a:path>
            </a:pathLst>
          </a:custGeom>
          <a:solidFill>
            <a:srgbClr val="337F7F"/>
          </a:solidFill>
        </p:spPr>
        <p:txBody>
          <a:bodyPr wrap="square" lIns="0" tIns="0" rIns="0" bIns="0" rtlCol="0"/>
          <a:lstStyle/>
          <a:p>
            <a:endParaRPr/>
          </a:p>
        </p:txBody>
      </p:sp>
      <p:sp>
        <p:nvSpPr>
          <p:cNvPr id="2" name="Holder 2"/>
          <p:cNvSpPr>
            <a:spLocks noGrp="1"/>
          </p:cNvSpPr>
          <p:nvPr>
            <p:ph type="title"/>
          </p:nvPr>
        </p:nvSpPr>
        <p:spPr>
          <a:xfrm>
            <a:off x="95250" y="71457"/>
            <a:ext cx="4419600" cy="207645"/>
          </a:xfrm>
          <a:prstGeom prst="rect">
            <a:avLst/>
          </a:prstGeom>
        </p:spPr>
        <p:txBody>
          <a:bodyPr wrap="square" lIns="0" tIns="0" rIns="0" bIns="0">
            <a:spAutoFit/>
          </a:bodyPr>
          <a:lstStyle>
            <a:lvl1pPr>
              <a:defRPr sz="1400" b="0" i="0">
                <a:solidFill>
                  <a:schemeClr val="bg1"/>
                </a:solidFill>
                <a:latin typeface="Arial"/>
                <a:cs typeface="Arial"/>
              </a:defRPr>
            </a:lvl1pPr>
          </a:lstStyle>
          <a:p>
            <a:endParaRPr/>
          </a:p>
        </p:txBody>
      </p:sp>
      <p:sp>
        <p:nvSpPr>
          <p:cNvPr id="3" name="Holder 3"/>
          <p:cNvSpPr>
            <a:spLocks noGrp="1"/>
          </p:cNvSpPr>
          <p:nvPr>
            <p:ph type="body" idx="1"/>
          </p:nvPr>
        </p:nvSpPr>
        <p:spPr>
          <a:xfrm>
            <a:off x="125856" y="521302"/>
            <a:ext cx="4358386" cy="2075814"/>
          </a:xfrm>
          <a:prstGeom prst="rect">
            <a:avLst/>
          </a:prstGeom>
        </p:spPr>
        <p:txBody>
          <a:bodyPr wrap="square" lIns="0" tIns="0" rIns="0" bIns="0">
            <a:spAutoFit/>
          </a:bodyPr>
          <a:lstStyle>
            <a:lvl1pPr>
              <a:defRPr sz="1100" b="1" i="0">
                <a:solidFill>
                  <a:schemeClr val="tx1"/>
                </a:solidFill>
                <a:latin typeface="Arial"/>
                <a:cs typeface="Arial"/>
              </a:defRPr>
            </a:lvl1pPr>
          </a:lstStyle>
          <a:p>
            <a:endParaRPr/>
          </a:p>
        </p:txBody>
      </p:sp>
      <p:sp>
        <p:nvSpPr>
          <p:cNvPr id="4" name="Holder 4"/>
          <p:cNvSpPr>
            <a:spLocks noGrp="1"/>
          </p:cNvSpPr>
          <p:nvPr>
            <p:ph type="ftr" sz="quarter" idx="5"/>
          </p:nvPr>
        </p:nvSpPr>
        <p:spPr>
          <a:xfrm>
            <a:off x="525780" y="3345157"/>
            <a:ext cx="484505" cy="92333"/>
          </a:xfrm>
          <a:prstGeom prst="rect">
            <a:avLst/>
          </a:prstGeom>
        </p:spPr>
        <p:txBody>
          <a:bodyPr wrap="square" lIns="0" tIns="0" rIns="0" bIns="0">
            <a:spAutoFit/>
          </a:bodyPr>
          <a:lstStyle>
            <a:lvl1pPr>
              <a:defRPr sz="600" b="0" i="0">
                <a:solidFill>
                  <a:schemeClr val="bg1"/>
                </a:solidFill>
                <a:latin typeface="Arial"/>
                <a:cs typeface="Arial"/>
              </a:defRPr>
            </a:lvl1pPr>
          </a:lstStyle>
          <a:p>
            <a:pPr marL="12700">
              <a:lnSpc>
                <a:spcPct val="100000"/>
              </a:lnSpc>
            </a:pPr>
            <a:r>
              <a:rPr lang="en-IN" spc="-5" dirty="0" smtClean="0"/>
              <a:t>M.Tech.</a:t>
            </a:r>
            <a:r>
              <a:rPr dirty="0" smtClean="0"/>
              <a:t> </a:t>
            </a:r>
            <a:r>
              <a:rPr spc="-5" dirty="0" smtClean="0"/>
              <a:t> </a:t>
            </a:r>
            <a:r>
              <a:rPr spc="-5" dirty="0"/>
              <a:t>(ISI)</a:t>
            </a:r>
          </a:p>
        </p:txBody>
      </p:sp>
      <p:sp>
        <p:nvSpPr>
          <p:cNvPr id="5" name="Holder 5"/>
          <p:cNvSpPr>
            <a:spLocks noGrp="1"/>
          </p:cNvSpPr>
          <p:nvPr>
            <p:ph type="dt" sz="half" idx="6"/>
          </p:nvPr>
        </p:nvSpPr>
        <p:spPr>
          <a:xfrm>
            <a:off x="1873630" y="3345157"/>
            <a:ext cx="861060" cy="101600"/>
          </a:xfrm>
          <a:prstGeom prst="rect">
            <a:avLst/>
          </a:prstGeom>
        </p:spPr>
        <p:txBody>
          <a:bodyPr wrap="square" lIns="0" tIns="0" rIns="0" bIns="0">
            <a:spAutoFit/>
          </a:bodyPr>
          <a:lstStyle>
            <a:lvl1pPr>
              <a:defRPr sz="600" b="0" i="0">
                <a:solidFill>
                  <a:schemeClr val="bg1"/>
                </a:solidFill>
                <a:latin typeface="Arial"/>
                <a:cs typeface="Arial"/>
              </a:defRPr>
            </a:lvl1pPr>
          </a:lstStyle>
          <a:p>
            <a:pPr marL="12700">
              <a:lnSpc>
                <a:spcPct val="100000"/>
              </a:lnSpc>
            </a:pPr>
            <a:r>
              <a:rPr spc="-5" dirty="0"/>
              <a:t>Process Synchronization</a:t>
            </a:r>
          </a:p>
        </p:txBody>
      </p:sp>
      <p:sp>
        <p:nvSpPr>
          <p:cNvPr id="6" name="Holder 6"/>
          <p:cNvSpPr>
            <a:spLocks noGrp="1"/>
          </p:cNvSpPr>
          <p:nvPr>
            <p:ph type="sldNum" sz="quarter" idx="7"/>
          </p:nvPr>
        </p:nvSpPr>
        <p:spPr>
          <a:xfrm>
            <a:off x="4271009" y="3345157"/>
            <a:ext cx="270510" cy="101600"/>
          </a:xfrm>
          <a:prstGeom prst="rect">
            <a:avLst/>
          </a:prstGeom>
        </p:spPr>
        <p:txBody>
          <a:bodyPr wrap="square" lIns="0" tIns="0" rIns="0" bIns="0">
            <a:spAutoFit/>
          </a:bodyPr>
          <a:lstStyle>
            <a:lvl1pPr>
              <a:defRPr sz="600" b="0" i="0">
                <a:solidFill>
                  <a:schemeClr val="bg1"/>
                </a:solidFill>
                <a:latin typeface="Arial"/>
                <a:cs typeface="Arial"/>
              </a:defRPr>
            </a:lvl1pPr>
          </a:lstStyle>
          <a:p>
            <a:pPr marL="67310">
              <a:lnSpc>
                <a:spcPct val="100000"/>
              </a:lnSpc>
            </a:pPr>
            <a:fld id="{81D60167-4931-47E6-BA6A-407CBD079E47}" type="slidenum">
              <a:rPr spc="-5" dirty="0"/>
              <a:t>‹#›</a:t>
            </a:fld>
            <a:r>
              <a:rPr spc="-5" dirty="0"/>
              <a:t> / 28</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iming>
    <p:tnLst>
      <p:par>
        <p:cTn id="1" dur="indefinite" restart="never" nodeType="tmRoot"/>
      </p:par>
    </p:tnLst>
  </p:timing>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8556" y="1034161"/>
            <a:ext cx="4331335" cy="375920"/>
          </a:xfrm>
          <a:prstGeom prst="rect">
            <a:avLst/>
          </a:prstGeom>
          <a:solidFill>
            <a:srgbClr val="337F7F"/>
          </a:solidFill>
        </p:spPr>
        <p:txBody>
          <a:bodyPr vert="horz" wrap="square" lIns="0" tIns="0" rIns="0" bIns="0" rtlCol="0">
            <a:spAutoFit/>
          </a:bodyPr>
          <a:lstStyle/>
          <a:p>
            <a:pPr marL="1162685">
              <a:lnSpc>
                <a:spcPct val="100000"/>
              </a:lnSpc>
            </a:pPr>
            <a:r>
              <a:rPr sz="1400" spc="10" dirty="0">
                <a:solidFill>
                  <a:srgbClr val="FFFFFF"/>
                </a:solidFill>
                <a:latin typeface="Arial"/>
                <a:cs typeface="Arial"/>
              </a:rPr>
              <a:t>Process</a:t>
            </a:r>
            <a:r>
              <a:rPr sz="1400" spc="5" dirty="0">
                <a:solidFill>
                  <a:srgbClr val="FFFFFF"/>
                </a:solidFill>
                <a:latin typeface="Arial"/>
                <a:cs typeface="Arial"/>
              </a:rPr>
              <a:t> </a:t>
            </a:r>
            <a:r>
              <a:rPr sz="1400" spc="10" dirty="0">
                <a:solidFill>
                  <a:srgbClr val="FFFFFF"/>
                </a:solidFill>
                <a:latin typeface="Arial"/>
                <a:cs typeface="Arial"/>
              </a:rPr>
              <a:t>Synchronization</a:t>
            </a:r>
            <a:endParaRPr sz="1400">
              <a:latin typeface="Arial"/>
              <a:cs typeface="Arial"/>
            </a:endParaRPr>
          </a:p>
        </p:txBody>
      </p:sp>
      <p:sp>
        <p:nvSpPr>
          <p:cNvPr id="4" name="object 4"/>
          <p:cNvSpPr/>
          <p:nvPr/>
        </p:nvSpPr>
        <p:spPr>
          <a:xfrm>
            <a:off x="0" y="3327019"/>
            <a:ext cx="1536065" cy="129539"/>
          </a:xfrm>
          <a:custGeom>
            <a:avLst/>
            <a:gdLst/>
            <a:ahLst/>
            <a:cxnLst/>
            <a:rect l="l" t="t" r="r" b="b"/>
            <a:pathLst>
              <a:path w="1536065" h="129539">
                <a:moveTo>
                  <a:pt x="0" y="129031"/>
                </a:moveTo>
                <a:lnTo>
                  <a:pt x="1535938" y="129031"/>
                </a:lnTo>
                <a:lnTo>
                  <a:pt x="1535938" y="0"/>
                </a:lnTo>
                <a:lnTo>
                  <a:pt x="0" y="0"/>
                </a:lnTo>
                <a:lnTo>
                  <a:pt x="0" y="129031"/>
                </a:lnTo>
                <a:close/>
              </a:path>
            </a:pathLst>
          </a:custGeom>
          <a:solidFill>
            <a:srgbClr val="193F3F"/>
          </a:solidFill>
        </p:spPr>
        <p:txBody>
          <a:bodyPr wrap="square" lIns="0" tIns="0" rIns="0" bIns="0" rtlCol="0"/>
          <a:lstStyle/>
          <a:p>
            <a:endParaRPr/>
          </a:p>
        </p:txBody>
      </p:sp>
      <p:sp>
        <p:nvSpPr>
          <p:cNvPr id="5" name="object 5"/>
          <p:cNvSpPr/>
          <p:nvPr/>
        </p:nvSpPr>
        <p:spPr>
          <a:xfrm>
            <a:off x="1535938" y="3327019"/>
            <a:ext cx="1536065" cy="129539"/>
          </a:xfrm>
          <a:custGeom>
            <a:avLst/>
            <a:gdLst/>
            <a:ahLst/>
            <a:cxnLst/>
            <a:rect l="l" t="t" r="r" b="b"/>
            <a:pathLst>
              <a:path w="1536064" h="129539">
                <a:moveTo>
                  <a:pt x="0" y="129031"/>
                </a:moveTo>
                <a:lnTo>
                  <a:pt x="1535938" y="129031"/>
                </a:lnTo>
                <a:lnTo>
                  <a:pt x="1535938" y="0"/>
                </a:lnTo>
                <a:lnTo>
                  <a:pt x="0" y="0"/>
                </a:lnTo>
                <a:lnTo>
                  <a:pt x="0" y="129031"/>
                </a:lnTo>
                <a:close/>
              </a:path>
            </a:pathLst>
          </a:custGeom>
          <a:solidFill>
            <a:srgbClr val="265F5F"/>
          </a:solidFill>
        </p:spPr>
        <p:txBody>
          <a:bodyPr wrap="square" lIns="0" tIns="0" rIns="0" bIns="0" rtlCol="0"/>
          <a:lstStyle/>
          <a:p>
            <a:endParaRPr/>
          </a:p>
        </p:txBody>
      </p:sp>
      <p:sp>
        <p:nvSpPr>
          <p:cNvPr id="6" name="object 6"/>
          <p:cNvSpPr/>
          <p:nvPr/>
        </p:nvSpPr>
        <p:spPr>
          <a:xfrm>
            <a:off x="3072002" y="3327019"/>
            <a:ext cx="1536065" cy="129539"/>
          </a:xfrm>
          <a:custGeom>
            <a:avLst/>
            <a:gdLst/>
            <a:ahLst/>
            <a:cxnLst/>
            <a:rect l="l" t="t" r="r" b="b"/>
            <a:pathLst>
              <a:path w="1536064" h="129539">
                <a:moveTo>
                  <a:pt x="0" y="129031"/>
                </a:moveTo>
                <a:lnTo>
                  <a:pt x="1535937" y="129031"/>
                </a:lnTo>
                <a:lnTo>
                  <a:pt x="1535937" y="0"/>
                </a:lnTo>
                <a:lnTo>
                  <a:pt x="0" y="0"/>
                </a:lnTo>
                <a:lnTo>
                  <a:pt x="0" y="129031"/>
                </a:lnTo>
              </a:path>
            </a:pathLst>
          </a:custGeom>
          <a:solidFill>
            <a:srgbClr val="337F7F"/>
          </a:solidFill>
        </p:spPr>
        <p:txBody>
          <a:bodyPr wrap="square" lIns="0" tIns="0" rIns="0" bIns="0" rtlCol="0"/>
          <a:lstStyle/>
          <a:p>
            <a:endParaRPr/>
          </a:p>
        </p:txBody>
      </p:sp>
      <p:sp>
        <p:nvSpPr>
          <p:cNvPr id="7" name="object 7"/>
          <p:cNvSpPr txBox="1">
            <a:spLocks noGrp="1"/>
          </p:cNvSpPr>
          <p:nvPr>
            <p:ph type="ftr" sz="quarter" idx="5"/>
          </p:nvPr>
        </p:nvSpPr>
        <p:spPr>
          <a:xfrm>
            <a:off x="525780" y="3345157"/>
            <a:ext cx="484505" cy="92333"/>
          </a:xfrm>
          <a:prstGeom prst="rect">
            <a:avLst/>
          </a:prstGeom>
        </p:spPr>
        <p:txBody>
          <a:bodyPr vert="horz" wrap="square" lIns="0" tIns="0" rIns="0" bIns="0" rtlCol="0">
            <a:spAutoFit/>
          </a:bodyPr>
          <a:lstStyle/>
          <a:p>
            <a:pPr marL="12700">
              <a:lnSpc>
                <a:spcPct val="100000"/>
              </a:lnSpc>
            </a:pPr>
            <a:r>
              <a:rPr lang="en-IN" spc="-5" dirty="0" smtClean="0"/>
              <a:t>M.Tech.</a:t>
            </a:r>
            <a:r>
              <a:rPr dirty="0" smtClean="0"/>
              <a:t> </a:t>
            </a:r>
            <a:r>
              <a:rPr spc="-5" dirty="0" smtClean="0"/>
              <a:t> </a:t>
            </a:r>
            <a:r>
              <a:rPr spc="-5" dirty="0"/>
              <a:t>(ISI)</a:t>
            </a:r>
          </a:p>
        </p:txBody>
      </p:sp>
      <p:sp>
        <p:nvSpPr>
          <p:cNvPr id="8" name="object 8"/>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spc="-5" dirty="0"/>
              <a:t>Process Synchronization</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67310">
              <a:lnSpc>
                <a:spcPct val="100000"/>
              </a:lnSpc>
            </a:pPr>
            <a:fld id="{81D60167-4931-47E6-BA6A-407CBD079E47}" type="slidenum">
              <a:rPr spc="-5" dirty="0"/>
              <a:t>1</a:t>
            </a:fld>
            <a:r>
              <a:rPr spc="-5" dirty="0"/>
              <a:t> / 28</a:t>
            </a:r>
          </a:p>
        </p:txBody>
      </p:sp>
      <p:sp>
        <p:nvSpPr>
          <p:cNvPr id="3" name="TextBox 2"/>
          <p:cNvSpPr txBox="1"/>
          <p:nvPr/>
        </p:nvSpPr>
        <p:spPr>
          <a:xfrm>
            <a:off x="2883598" y="2680688"/>
            <a:ext cx="1575816" cy="646331"/>
          </a:xfrm>
          <a:prstGeom prst="rect">
            <a:avLst/>
          </a:prstGeom>
          <a:noFill/>
        </p:spPr>
        <p:txBody>
          <a:bodyPr wrap="none" rtlCol="0">
            <a:spAutoFit/>
          </a:bodyPr>
          <a:lstStyle/>
          <a:p>
            <a:r>
              <a:rPr lang="en-US" dirty="0" smtClean="0"/>
              <a:t>Slide Courtesy:</a:t>
            </a:r>
          </a:p>
          <a:p>
            <a:r>
              <a:rPr lang="en-US" dirty="0" err="1" smtClean="0"/>
              <a:t>Mandar</a:t>
            </a:r>
            <a:r>
              <a:rPr lang="en-US" dirty="0" smtClean="0"/>
              <a:t> </a:t>
            </a:r>
            <a:r>
              <a:rPr lang="en-US" dirty="0" err="1" smtClean="0"/>
              <a:t>Mitra</a:t>
            </a:r>
            <a:endParaRPr lang="en-IN" dirty="0"/>
          </a:p>
        </p:txBody>
      </p:sp>
    </p:spTree>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US" dirty="0" smtClean="0"/>
              <a:t>Process Synchronization</a:t>
            </a:r>
            <a:endParaRPr lang="en-IN" dirty="0"/>
          </a:p>
        </p:txBody>
      </p:sp>
      <p:sp>
        <p:nvSpPr>
          <p:cNvPr id="3" name="Text Placeholder 2"/>
          <p:cNvSpPr>
            <a:spLocks noGrp="1"/>
          </p:cNvSpPr>
          <p:nvPr>
            <p:ph type="body" idx="1"/>
          </p:nvPr>
        </p:nvSpPr>
        <p:spPr>
          <a:xfrm>
            <a:off x="95250" y="1954649"/>
            <a:ext cx="4358386" cy="1354217"/>
          </a:xfrm>
        </p:spPr>
        <p:txBody>
          <a:bodyPr/>
          <a:lstStyle/>
          <a:p>
            <a:pPr marL="171450" indent="-171450">
              <a:buFont typeface="Arial" panose="020B0604020202020204" pitchFamily="34" charset="0"/>
              <a:buChar char="•"/>
            </a:pPr>
            <a:r>
              <a:rPr lang="en-US" b="0" dirty="0" smtClean="0"/>
              <a:t>Independent Processes: </a:t>
            </a:r>
            <a:r>
              <a:rPr lang="en-US" b="0" spc="-10" dirty="0" smtClean="0"/>
              <a:t>do</a:t>
            </a:r>
            <a:r>
              <a:rPr lang="en-US" b="0" spc="-5" dirty="0" smtClean="0"/>
              <a:t> </a:t>
            </a:r>
            <a:r>
              <a:rPr lang="en-US" b="0" spc="-5" dirty="0"/>
              <a:t>not </a:t>
            </a:r>
            <a:r>
              <a:rPr lang="en-US" b="0" spc="-10" dirty="0"/>
              <a:t>share</a:t>
            </a:r>
            <a:r>
              <a:rPr lang="en-US" b="0" spc="-5" dirty="0"/>
              <a:t> </a:t>
            </a:r>
            <a:r>
              <a:rPr lang="en-US" b="0" spc="-10" dirty="0"/>
              <a:t>data</a:t>
            </a:r>
            <a:r>
              <a:rPr lang="en-US" b="0" spc="-5" dirty="0"/>
              <a:t> with </a:t>
            </a:r>
            <a:r>
              <a:rPr lang="en-US" b="0" spc="-5" dirty="0" smtClean="0"/>
              <a:t>others</a:t>
            </a:r>
            <a:endParaRPr lang="en-US" b="0" dirty="0" smtClean="0"/>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0" dirty="0" smtClean="0"/>
              <a:t>Co-operating Process: </a:t>
            </a:r>
            <a:r>
              <a:rPr lang="en-US" b="0" spc="-10" dirty="0" smtClean="0"/>
              <a:t>share</a:t>
            </a:r>
            <a:r>
              <a:rPr lang="en-US" b="0" spc="-5" dirty="0" smtClean="0"/>
              <a:t> </a:t>
            </a:r>
            <a:r>
              <a:rPr lang="en-US" b="0" spc="-10" dirty="0"/>
              <a:t>data</a:t>
            </a:r>
            <a:r>
              <a:rPr lang="en-US" b="0" spc="-5" dirty="0"/>
              <a:t> with </a:t>
            </a:r>
            <a:r>
              <a:rPr lang="en-US" b="0" spc="-5" dirty="0" smtClean="0"/>
              <a:t>each other</a:t>
            </a:r>
            <a:endParaRPr lang="en-US" b="0" dirty="0"/>
          </a:p>
          <a:p>
            <a:pPr marL="171450" indent="-171450">
              <a:buFont typeface="Arial" panose="020B0604020202020204" pitchFamily="34" charset="0"/>
              <a:buChar char="•"/>
            </a:pPr>
            <a:endParaRPr lang="en-US" b="0" dirty="0" smtClean="0"/>
          </a:p>
          <a:p>
            <a:pPr marL="628650" lvl="1" indent="-171450">
              <a:buFont typeface="Wingdings" panose="05000000000000000000" pitchFamily="2" charset="2"/>
              <a:buChar char="Ø"/>
            </a:pPr>
            <a:r>
              <a:rPr lang="en-US" sz="1100" dirty="0" smtClean="0">
                <a:solidFill>
                  <a:schemeClr val="tx1"/>
                </a:solidFill>
                <a:latin typeface="Arial"/>
                <a:cs typeface="Arial"/>
              </a:rPr>
              <a:t>Inter-process Communication</a:t>
            </a:r>
          </a:p>
          <a:p>
            <a:pPr marL="628650" lvl="1" indent="-171450">
              <a:buFont typeface="Arial" panose="020B0604020202020204" pitchFamily="34" charset="0"/>
              <a:buChar char="•"/>
            </a:pPr>
            <a:endParaRPr lang="en-US" sz="1100" dirty="0">
              <a:solidFill>
                <a:schemeClr val="tx1"/>
              </a:solidFill>
              <a:latin typeface="Arial"/>
              <a:cs typeface="Arial"/>
            </a:endParaRPr>
          </a:p>
          <a:p>
            <a:pPr marL="1085850" lvl="2" indent="-171450">
              <a:buFont typeface="Wingdings" panose="05000000000000000000" pitchFamily="2" charset="2"/>
              <a:buChar char="v"/>
            </a:pPr>
            <a:r>
              <a:rPr lang="en-US" sz="1100" dirty="0">
                <a:solidFill>
                  <a:schemeClr val="tx1"/>
                </a:solidFill>
                <a:latin typeface="Arial"/>
                <a:cs typeface="Arial"/>
              </a:rPr>
              <a:t>Shared </a:t>
            </a:r>
            <a:r>
              <a:rPr lang="en-US" sz="1100" dirty="0" smtClean="0">
                <a:solidFill>
                  <a:schemeClr val="tx1"/>
                </a:solidFill>
                <a:latin typeface="Arial"/>
                <a:cs typeface="Arial"/>
              </a:rPr>
              <a:t>Memory</a:t>
            </a:r>
          </a:p>
          <a:p>
            <a:pPr marL="1085850" lvl="2" indent="-171450">
              <a:buFont typeface="Wingdings" panose="05000000000000000000" pitchFamily="2" charset="2"/>
              <a:buChar char="v"/>
            </a:pPr>
            <a:r>
              <a:rPr lang="en-US" sz="1100" dirty="0" smtClean="0">
                <a:solidFill>
                  <a:schemeClr val="tx1"/>
                </a:solidFill>
                <a:latin typeface="Arial"/>
                <a:cs typeface="Arial"/>
              </a:rPr>
              <a:t>..</a:t>
            </a:r>
            <a:endParaRPr lang="en-IN" sz="1100" dirty="0">
              <a:solidFill>
                <a:schemeClr val="tx1"/>
              </a:solidFill>
              <a:latin typeface="Arial"/>
              <a:cs typeface="Arial"/>
            </a:endParaRPr>
          </a:p>
        </p:txBody>
      </p:sp>
      <p:sp>
        <p:nvSpPr>
          <p:cNvPr id="7" name="Rectangle 6"/>
          <p:cNvSpPr/>
          <p:nvPr/>
        </p:nvSpPr>
        <p:spPr>
          <a:xfrm>
            <a:off x="3600450" y="587375"/>
            <a:ext cx="7620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9" name="Straight Connector 8"/>
          <p:cNvCxnSpPr/>
          <p:nvPr/>
        </p:nvCxnSpPr>
        <p:spPr>
          <a:xfrm>
            <a:off x="3600450" y="739775"/>
            <a:ext cx="76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600450" y="1356632"/>
            <a:ext cx="76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600450" y="892175"/>
            <a:ext cx="76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600450" y="1196975"/>
            <a:ext cx="76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600450" y="968375"/>
            <a:ext cx="76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600450" y="1120775"/>
            <a:ext cx="76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295650" y="1044575"/>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592230" y="845754"/>
            <a:ext cx="731995" cy="461665"/>
          </a:xfrm>
          <a:prstGeom prst="rect">
            <a:avLst/>
          </a:prstGeom>
          <a:noFill/>
        </p:spPr>
        <p:txBody>
          <a:bodyPr wrap="none" rtlCol="0">
            <a:spAutoFit/>
          </a:bodyPr>
          <a:lstStyle/>
          <a:p>
            <a:r>
              <a:rPr lang="en-US" sz="1200" b="1" dirty="0" smtClean="0"/>
              <a:t>Shared </a:t>
            </a:r>
          </a:p>
          <a:p>
            <a:r>
              <a:rPr lang="en-US" sz="1200" b="1" dirty="0" smtClean="0"/>
              <a:t>Memory</a:t>
            </a:r>
            <a:endParaRPr lang="en-IN" sz="1200" b="1" dirty="0"/>
          </a:p>
        </p:txBody>
      </p:sp>
      <p:sp>
        <p:nvSpPr>
          <p:cNvPr id="22" name="TextBox 21"/>
          <p:cNvSpPr txBox="1"/>
          <p:nvPr/>
        </p:nvSpPr>
        <p:spPr>
          <a:xfrm>
            <a:off x="4323886" y="739775"/>
            <a:ext cx="343364" cy="276999"/>
          </a:xfrm>
          <a:prstGeom prst="rect">
            <a:avLst/>
          </a:prstGeom>
          <a:noFill/>
        </p:spPr>
        <p:txBody>
          <a:bodyPr wrap="none" rtlCol="0">
            <a:spAutoFit/>
          </a:bodyPr>
          <a:lstStyle/>
          <a:p>
            <a:r>
              <a:rPr lang="en-US" sz="1200" b="1" dirty="0" smtClean="0"/>
              <a:t>P1</a:t>
            </a:r>
            <a:endParaRPr lang="en-IN" sz="1200" b="1" dirty="0"/>
          </a:p>
        </p:txBody>
      </p:sp>
      <p:sp>
        <p:nvSpPr>
          <p:cNvPr id="23" name="TextBox 22"/>
          <p:cNvSpPr txBox="1"/>
          <p:nvPr/>
        </p:nvSpPr>
        <p:spPr>
          <a:xfrm>
            <a:off x="4323886" y="1072376"/>
            <a:ext cx="344966" cy="276999"/>
          </a:xfrm>
          <a:prstGeom prst="rect">
            <a:avLst/>
          </a:prstGeom>
          <a:noFill/>
        </p:spPr>
        <p:txBody>
          <a:bodyPr wrap="none" rtlCol="0">
            <a:spAutoFit/>
          </a:bodyPr>
          <a:lstStyle/>
          <a:p>
            <a:r>
              <a:rPr lang="en-US" sz="1200" b="1" dirty="0" smtClean="0"/>
              <a:t>P2</a:t>
            </a:r>
            <a:endParaRPr lang="en-IN" sz="1200" b="1" dirty="0"/>
          </a:p>
        </p:txBody>
      </p:sp>
      <p:cxnSp>
        <p:nvCxnSpPr>
          <p:cNvPr id="5" name="Straight Connector 4"/>
          <p:cNvCxnSpPr>
            <a:endCxn id="7" idx="1"/>
          </p:cNvCxnSpPr>
          <p:nvPr/>
        </p:nvCxnSpPr>
        <p:spPr>
          <a:xfrm flipH="1">
            <a:off x="3600450" y="968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3676650" y="968375"/>
            <a:ext cx="762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829050" y="968375"/>
            <a:ext cx="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905250" y="968375"/>
            <a:ext cx="762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057650" y="968375"/>
            <a:ext cx="762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210050" y="96837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1408270" y="587375"/>
            <a:ext cx="7620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29" name="Straight Connector 28"/>
          <p:cNvCxnSpPr/>
          <p:nvPr/>
        </p:nvCxnSpPr>
        <p:spPr>
          <a:xfrm>
            <a:off x="1408270" y="739775"/>
            <a:ext cx="76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408270" y="1356632"/>
            <a:ext cx="76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1408270" y="968375"/>
            <a:ext cx="76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1408270" y="1120775"/>
            <a:ext cx="762000"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2152650" y="691376"/>
            <a:ext cx="343364" cy="276999"/>
          </a:xfrm>
          <a:prstGeom prst="rect">
            <a:avLst/>
          </a:prstGeom>
          <a:noFill/>
        </p:spPr>
        <p:txBody>
          <a:bodyPr wrap="none" rtlCol="0">
            <a:spAutoFit/>
          </a:bodyPr>
          <a:lstStyle/>
          <a:p>
            <a:r>
              <a:rPr lang="en-US" sz="1200" b="1" dirty="0" smtClean="0"/>
              <a:t>P1</a:t>
            </a:r>
            <a:endParaRPr lang="en-IN" sz="1200" b="1" dirty="0"/>
          </a:p>
        </p:txBody>
      </p:sp>
      <p:sp>
        <p:nvSpPr>
          <p:cNvPr id="44" name="TextBox 43"/>
          <p:cNvSpPr txBox="1"/>
          <p:nvPr/>
        </p:nvSpPr>
        <p:spPr>
          <a:xfrm>
            <a:off x="2158832" y="1110007"/>
            <a:ext cx="344966" cy="276999"/>
          </a:xfrm>
          <a:prstGeom prst="rect">
            <a:avLst/>
          </a:prstGeom>
          <a:noFill/>
        </p:spPr>
        <p:txBody>
          <a:bodyPr wrap="none" rtlCol="0">
            <a:spAutoFit/>
          </a:bodyPr>
          <a:lstStyle/>
          <a:p>
            <a:r>
              <a:rPr lang="en-US" sz="1200" b="1" dirty="0" smtClean="0"/>
              <a:t>P2</a:t>
            </a:r>
            <a:endParaRPr lang="en-IN" sz="1200" b="1" dirty="0"/>
          </a:p>
        </p:txBody>
      </p:sp>
    </p:spTree>
    <p:extLst>
      <p:ext uri="{BB962C8B-B14F-4D97-AF65-F5344CB8AC3E}">
        <p14:creationId xmlns:p14="http://schemas.microsoft.com/office/powerpoint/2010/main" val="6146028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1" grpId="0"/>
      <p:bldP spid="22" grpId="0"/>
      <p:bldP spid="23" grpId="0"/>
      <p:bldP spid="28" grpId="0" animBg="1"/>
      <p:bldP spid="43" grpId="0"/>
      <p:bldP spid="4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250" y="71457"/>
            <a:ext cx="4419600" cy="215444"/>
          </a:xfrm>
          <a:prstGeom prst="rect">
            <a:avLst/>
          </a:prstGeom>
        </p:spPr>
        <p:txBody>
          <a:bodyPr vert="horz" wrap="square" lIns="0" tIns="0" rIns="0" bIns="0" rtlCol="0">
            <a:spAutoFit/>
          </a:bodyPr>
          <a:lstStyle/>
          <a:p>
            <a:pPr marL="12700">
              <a:lnSpc>
                <a:spcPct val="100000"/>
              </a:lnSpc>
            </a:pPr>
            <a:r>
              <a:rPr lang="en-US" spc="10" dirty="0" smtClean="0"/>
              <a:t>Example: </a:t>
            </a:r>
            <a:r>
              <a:rPr spc="10" dirty="0" smtClean="0"/>
              <a:t>Producer-consumer</a:t>
            </a:r>
            <a:r>
              <a:rPr spc="5" dirty="0" smtClean="0"/>
              <a:t> </a:t>
            </a:r>
            <a:r>
              <a:rPr spc="10" dirty="0" smtClean="0"/>
              <a:t>pro</a:t>
            </a:r>
            <a:r>
              <a:rPr spc="-15" dirty="0" smtClean="0"/>
              <a:t>b</a:t>
            </a:r>
            <a:r>
              <a:rPr spc="15" dirty="0" smtClean="0"/>
              <a:t>lem</a:t>
            </a:r>
            <a:endParaRPr spc="15" dirty="0"/>
          </a:p>
        </p:txBody>
      </p:sp>
      <p:sp>
        <p:nvSpPr>
          <p:cNvPr id="11" name="object 11"/>
          <p:cNvSpPr txBox="1"/>
          <p:nvPr/>
        </p:nvSpPr>
        <p:spPr>
          <a:xfrm>
            <a:off x="315468" y="500989"/>
            <a:ext cx="3977004" cy="2545080"/>
          </a:xfrm>
          <a:prstGeom prst="rect">
            <a:avLst/>
          </a:prstGeom>
        </p:spPr>
        <p:txBody>
          <a:bodyPr vert="horz" wrap="square" lIns="0" tIns="0" rIns="0" bIns="0" rtlCol="0">
            <a:spAutoFit/>
          </a:bodyPr>
          <a:lstStyle/>
          <a:p>
            <a:pPr marL="12700">
              <a:lnSpc>
                <a:spcPct val="100000"/>
              </a:lnSpc>
            </a:pPr>
            <a:r>
              <a:rPr sz="1100" b="1" spc="-10" dirty="0">
                <a:latin typeface="Arial"/>
                <a:cs typeface="Arial"/>
              </a:rPr>
              <a:t>P</a:t>
            </a:r>
            <a:r>
              <a:rPr sz="1100" b="1" spc="-30" dirty="0">
                <a:latin typeface="Arial"/>
                <a:cs typeface="Arial"/>
              </a:rPr>
              <a:t>r</a:t>
            </a:r>
            <a:r>
              <a:rPr sz="1100" b="1" spc="-10" dirty="0">
                <a:latin typeface="Arial"/>
                <a:cs typeface="Arial"/>
              </a:rPr>
              <a:t>o</a:t>
            </a:r>
            <a:r>
              <a:rPr sz="1100" b="1" spc="-25" dirty="0">
                <a:latin typeface="Arial"/>
                <a:cs typeface="Arial"/>
              </a:rPr>
              <a:t>b</a:t>
            </a:r>
            <a:r>
              <a:rPr sz="1100" b="1" spc="-10" dirty="0">
                <a:latin typeface="Arial"/>
                <a:cs typeface="Arial"/>
              </a:rPr>
              <a:t>lem:</a:t>
            </a:r>
            <a:r>
              <a:rPr sz="1100" b="1" spc="65" dirty="0">
                <a:latin typeface="Arial"/>
                <a:cs typeface="Arial"/>
              </a:rPr>
              <a:t> </a:t>
            </a:r>
            <a:r>
              <a:rPr sz="1100" spc="-10" dirty="0">
                <a:latin typeface="Arial"/>
                <a:cs typeface="Arial"/>
              </a:rPr>
              <a:t>a</a:t>
            </a:r>
            <a:r>
              <a:rPr sz="1100" spc="-5" dirty="0">
                <a:latin typeface="Arial"/>
                <a:cs typeface="Arial"/>
              </a:rPr>
              <a:t> </a:t>
            </a:r>
            <a:r>
              <a:rPr sz="1100" i="1" spc="-10" dirty="0">
                <a:solidFill>
                  <a:srgbClr val="0000FF"/>
                </a:solidFill>
                <a:latin typeface="Arial"/>
                <a:cs typeface="Arial"/>
              </a:rPr>
              <a:t>producer</a:t>
            </a:r>
            <a:r>
              <a:rPr sz="1100" i="1" spc="-5" dirty="0">
                <a:solidFill>
                  <a:srgbClr val="0000FF"/>
                </a:solidFill>
                <a:latin typeface="Arial"/>
                <a:cs typeface="Arial"/>
              </a:rPr>
              <a:t> </a:t>
            </a:r>
            <a:r>
              <a:rPr sz="1100" spc="-10" dirty="0">
                <a:latin typeface="Arial"/>
                <a:cs typeface="Arial"/>
              </a:rPr>
              <a:t>process</a:t>
            </a:r>
            <a:r>
              <a:rPr sz="1100" spc="-5" dirty="0">
                <a:latin typeface="Arial"/>
                <a:cs typeface="Arial"/>
              </a:rPr>
              <a:t> </a:t>
            </a:r>
            <a:r>
              <a:rPr sz="1100" spc="-10" dirty="0">
                <a:latin typeface="Arial"/>
                <a:cs typeface="Arial"/>
              </a:rPr>
              <a:t>gene</a:t>
            </a:r>
            <a:r>
              <a:rPr sz="1100" spc="-15" dirty="0">
                <a:latin typeface="Arial"/>
                <a:cs typeface="Arial"/>
              </a:rPr>
              <a:t>r</a:t>
            </a:r>
            <a:r>
              <a:rPr sz="1100" spc="-10" dirty="0">
                <a:latin typeface="Arial"/>
                <a:cs typeface="Arial"/>
              </a:rPr>
              <a:t>ates</a:t>
            </a:r>
            <a:r>
              <a:rPr sz="1100" spc="-5" dirty="0">
                <a:latin typeface="Arial"/>
                <a:cs typeface="Arial"/>
              </a:rPr>
              <a:t> output that is </a:t>
            </a:r>
            <a:r>
              <a:rPr sz="1100" spc="-10" dirty="0">
                <a:latin typeface="Arial"/>
                <a:cs typeface="Arial"/>
              </a:rPr>
              <a:t>used</a:t>
            </a:r>
            <a:r>
              <a:rPr sz="1100" spc="-5" dirty="0">
                <a:latin typeface="Arial"/>
                <a:cs typeface="Arial"/>
              </a:rPr>
              <a:t> </a:t>
            </a:r>
            <a:r>
              <a:rPr sz="1100" spc="-35" dirty="0">
                <a:latin typeface="Arial"/>
                <a:cs typeface="Arial"/>
              </a:rPr>
              <a:t>b</a:t>
            </a:r>
            <a:r>
              <a:rPr sz="1100" spc="-10" dirty="0">
                <a:latin typeface="Arial"/>
                <a:cs typeface="Arial"/>
              </a:rPr>
              <a:t>y</a:t>
            </a:r>
            <a:r>
              <a:rPr sz="1100" spc="-5" dirty="0">
                <a:latin typeface="Arial"/>
                <a:cs typeface="Arial"/>
              </a:rPr>
              <a:t> </a:t>
            </a:r>
            <a:r>
              <a:rPr sz="1100" spc="-10" dirty="0">
                <a:latin typeface="Arial"/>
                <a:cs typeface="Arial"/>
              </a:rPr>
              <a:t>a</a:t>
            </a:r>
            <a:endParaRPr sz="1100" dirty="0">
              <a:latin typeface="Arial"/>
              <a:cs typeface="Arial"/>
            </a:endParaRPr>
          </a:p>
          <a:p>
            <a:pPr marL="12700">
              <a:lnSpc>
                <a:spcPct val="100000"/>
              </a:lnSpc>
              <a:spcBef>
                <a:spcPts val="35"/>
              </a:spcBef>
            </a:pPr>
            <a:r>
              <a:rPr sz="1100" i="1" spc="-10" dirty="0">
                <a:solidFill>
                  <a:srgbClr val="0000FF"/>
                </a:solidFill>
                <a:latin typeface="Arial"/>
                <a:cs typeface="Arial"/>
              </a:rPr>
              <a:t>consumer</a:t>
            </a:r>
            <a:r>
              <a:rPr sz="1100" i="1" spc="-5" dirty="0">
                <a:solidFill>
                  <a:srgbClr val="0000FF"/>
                </a:solidFill>
                <a:latin typeface="Arial"/>
                <a:cs typeface="Arial"/>
              </a:rPr>
              <a:t> </a:t>
            </a:r>
            <a:r>
              <a:rPr sz="1100" spc="-10" dirty="0">
                <a:latin typeface="Arial"/>
                <a:cs typeface="Arial"/>
              </a:rPr>
              <a:t>process</a:t>
            </a:r>
            <a:r>
              <a:rPr sz="1100" spc="-5" dirty="0">
                <a:latin typeface="Arial"/>
                <a:cs typeface="Arial"/>
              </a:rPr>
              <a:t> </a:t>
            </a:r>
            <a:r>
              <a:rPr sz="1100" spc="-10" dirty="0">
                <a:latin typeface="Arial"/>
                <a:cs typeface="Arial"/>
              </a:rPr>
              <a:t>as</a:t>
            </a:r>
            <a:r>
              <a:rPr sz="1100" spc="-5" dirty="0">
                <a:latin typeface="Arial"/>
                <a:cs typeface="Arial"/>
              </a:rPr>
              <a:t> input</a:t>
            </a:r>
            <a:endParaRPr sz="1100" dirty="0">
              <a:latin typeface="Arial"/>
              <a:cs typeface="Arial"/>
            </a:endParaRPr>
          </a:p>
          <a:p>
            <a:pPr marL="12700">
              <a:lnSpc>
                <a:spcPct val="100000"/>
              </a:lnSpc>
              <a:spcBef>
                <a:spcPts val="630"/>
              </a:spcBef>
            </a:pPr>
            <a:r>
              <a:rPr sz="1100" spc="-10" dirty="0">
                <a:latin typeface="Arial"/>
                <a:cs typeface="Arial"/>
              </a:rPr>
              <a:t>Examples:</a:t>
            </a:r>
            <a:endParaRPr sz="1100" dirty="0">
              <a:latin typeface="Arial"/>
              <a:cs typeface="Arial"/>
            </a:endParaRPr>
          </a:p>
          <a:p>
            <a:pPr marL="289560">
              <a:lnSpc>
                <a:spcPct val="100000"/>
              </a:lnSpc>
              <a:spcBef>
                <a:spcPts val="35"/>
              </a:spcBef>
            </a:pPr>
            <a:r>
              <a:rPr sz="1100" spc="-10" dirty="0">
                <a:latin typeface="Arial"/>
                <a:cs typeface="Arial"/>
              </a:rPr>
              <a:t>p</a:t>
            </a:r>
            <a:r>
              <a:rPr sz="1100" spc="5" dirty="0">
                <a:latin typeface="Arial"/>
                <a:cs typeface="Arial"/>
              </a:rPr>
              <a:t>r</a:t>
            </a:r>
            <a:r>
              <a:rPr sz="1100" spc="-5" dirty="0">
                <a:latin typeface="Arial"/>
                <a:cs typeface="Arial"/>
              </a:rPr>
              <a:t>int </a:t>
            </a:r>
            <a:r>
              <a:rPr sz="1100" spc="-10" dirty="0">
                <a:latin typeface="Arial"/>
                <a:cs typeface="Arial"/>
              </a:rPr>
              <a:t>pro</a:t>
            </a:r>
            <a:r>
              <a:rPr sz="1100" spc="-20" dirty="0">
                <a:latin typeface="Arial"/>
                <a:cs typeface="Arial"/>
              </a:rPr>
              <a:t>gr</a:t>
            </a:r>
            <a:r>
              <a:rPr sz="1100" spc="-10" dirty="0">
                <a:latin typeface="Arial"/>
                <a:cs typeface="Arial"/>
              </a:rPr>
              <a:t>am</a:t>
            </a:r>
            <a:r>
              <a:rPr sz="1100" spc="-5" dirty="0">
                <a:latin typeface="Arial"/>
                <a:cs typeface="Arial"/>
              </a:rPr>
              <a:t> (producer) </a:t>
            </a:r>
            <a:r>
              <a:rPr sz="1100" spc="-10" dirty="0">
                <a:latin typeface="Arial"/>
                <a:cs typeface="Arial"/>
              </a:rPr>
              <a:t>+</a:t>
            </a:r>
            <a:r>
              <a:rPr sz="1100" spc="-5" dirty="0">
                <a:latin typeface="Arial"/>
                <a:cs typeface="Arial"/>
              </a:rPr>
              <a:t> </a:t>
            </a:r>
            <a:r>
              <a:rPr sz="1100" spc="-10" dirty="0">
                <a:latin typeface="Arial"/>
                <a:cs typeface="Arial"/>
              </a:rPr>
              <a:t>p</a:t>
            </a:r>
            <a:r>
              <a:rPr sz="1100" spc="5" dirty="0">
                <a:latin typeface="Arial"/>
                <a:cs typeface="Arial"/>
              </a:rPr>
              <a:t>r</a:t>
            </a:r>
            <a:r>
              <a:rPr sz="1100" spc="-5" dirty="0">
                <a:latin typeface="Arial"/>
                <a:cs typeface="Arial"/>
              </a:rPr>
              <a:t>inter </a:t>
            </a:r>
            <a:r>
              <a:rPr sz="1100" spc="-10" dirty="0">
                <a:latin typeface="Arial"/>
                <a:cs typeface="Arial"/>
              </a:rPr>
              <a:t>d</a:t>
            </a:r>
            <a:r>
              <a:rPr sz="1100" spc="5" dirty="0">
                <a:latin typeface="Arial"/>
                <a:cs typeface="Arial"/>
              </a:rPr>
              <a:t>r</a:t>
            </a:r>
            <a:r>
              <a:rPr sz="1100" spc="-5" dirty="0">
                <a:latin typeface="Arial"/>
                <a:cs typeface="Arial"/>
              </a:rPr>
              <a:t>i</a:t>
            </a:r>
            <a:r>
              <a:rPr sz="1100" spc="-40" dirty="0">
                <a:latin typeface="Arial"/>
                <a:cs typeface="Arial"/>
              </a:rPr>
              <a:t>v</a:t>
            </a:r>
            <a:r>
              <a:rPr sz="1100" spc="-5" dirty="0">
                <a:latin typeface="Arial"/>
                <a:cs typeface="Arial"/>
              </a:rPr>
              <a:t>er </a:t>
            </a:r>
            <a:r>
              <a:rPr sz="1100" spc="-10" dirty="0">
                <a:latin typeface="Arial"/>
                <a:cs typeface="Arial"/>
              </a:rPr>
              <a:t>(consumer)</a:t>
            </a:r>
            <a:endParaRPr sz="1100" dirty="0">
              <a:latin typeface="Arial"/>
              <a:cs typeface="Arial"/>
            </a:endParaRPr>
          </a:p>
          <a:p>
            <a:pPr marL="12700" indent="276860">
              <a:lnSpc>
                <a:spcPct val="100000"/>
              </a:lnSpc>
              <a:spcBef>
                <a:spcPts val="430"/>
              </a:spcBef>
            </a:pPr>
            <a:r>
              <a:rPr sz="1100" spc="-45" dirty="0">
                <a:latin typeface="Arial"/>
                <a:cs typeface="Arial"/>
              </a:rPr>
              <a:t>$ </a:t>
            </a:r>
            <a:r>
              <a:rPr sz="1100" spc="-40" dirty="0">
                <a:latin typeface="Arial"/>
                <a:cs typeface="Arial"/>
              </a:rPr>
              <a:t> </a:t>
            </a:r>
            <a:r>
              <a:rPr sz="1100" spc="170" dirty="0">
                <a:latin typeface="Arial"/>
                <a:cs typeface="Arial"/>
              </a:rPr>
              <a:t>ls</a:t>
            </a:r>
            <a:r>
              <a:rPr sz="1100" dirty="0">
                <a:latin typeface="Arial"/>
                <a:cs typeface="Arial"/>
              </a:rPr>
              <a:t> </a:t>
            </a:r>
            <a:r>
              <a:rPr sz="1100" spc="-40" dirty="0">
                <a:latin typeface="Arial"/>
                <a:cs typeface="Arial"/>
              </a:rPr>
              <a:t> </a:t>
            </a:r>
            <a:r>
              <a:rPr sz="1100" spc="265" dirty="0">
                <a:latin typeface="Arial"/>
                <a:cs typeface="Arial"/>
              </a:rPr>
              <a:t>-l</a:t>
            </a:r>
            <a:r>
              <a:rPr sz="1100" dirty="0">
                <a:latin typeface="Arial"/>
                <a:cs typeface="Arial"/>
              </a:rPr>
              <a:t> </a:t>
            </a:r>
            <a:r>
              <a:rPr sz="1100" spc="-40" dirty="0">
                <a:latin typeface="Arial"/>
                <a:cs typeface="Arial"/>
              </a:rPr>
              <a:t> </a:t>
            </a:r>
            <a:r>
              <a:rPr sz="1100" spc="285" dirty="0">
                <a:latin typeface="Arial"/>
                <a:cs typeface="Arial"/>
              </a:rPr>
              <a:t>|</a:t>
            </a:r>
            <a:r>
              <a:rPr sz="1100" dirty="0">
                <a:latin typeface="Arial"/>
                <a:cs typeface="Arial"/>
              </a:rPr>
              <a:t> </a:t>
            </a:r>
            <a:r>
              <a:rPr sz="1100" spc="-40" dirty="0">
                <a:latin typeface="Arial"/>
                <a:cs typeface="Arial"/>
              </a:rPr>
              <a:t> </a:t>
            </a:r>
            <a:r>
              <a:rPr sz="1100" spc="-60" dirty="0">
                <a:latin typeface="Arial"/>
                <a:cs typeface="Arial"/>
              </a:rPr>
              <a:t>more</a:t>
            </a:r>
            <a:endParaRPr sz="1100" dirty="0">
              <a:latin typeface="Arial"/>
              <a:cs typeface="Arial"/>
            </a:endParaRPr>
          </a:p>
          <a:p>
            <a:pPr>
              <a:lnSpc>
                <a:spcPct val="100000"/>
              </a:lnSpc>
              <a:spcBef>
                <a:spcPts val="23"/>
              </a:spcBef>
            </a:pPr>
            <a:endParaRPr sz="1050" dirty="0">
              <a:latin typeface="Times New Roman"/>
              <a:cs typeface="Times New Roman"/>
            </a:endParaRPr>
          </a:p>
          <a:p>
            <a:pPr marL="12700">
              <a:lnSpc>
                <a:spcPct val="100000"/>
              </a:lnSpc>
            </a:pPr>
            <a:r>
              <a:rPr sz="1100" b="1" spc="-10" dirty="0">
                <a:latin typeface="Arial"/>
                <a:cs typeface="Arial"/>
              </a:rPr>
              <a:t>Implementation:</a:t>
            </a:r>
            <a:endParaRPr sz="1100" dirty="0">
              <a:latin typeface="Arial"/>
              <a:cs typeface="Arial"/>
            </a:endParaRPr>
          </a:p>
          <a:p>
            <a:pPr marL="289560">
              <a:lnSpc>
                <a:spcPct val="100000"/>
              </a:lnSpc>
              <a:spcBef>
                <a:spcPts val="35"/>
              </a:spcBef>
            </a:pPr>
            <a:r>
              <a:rPr sz="1100" spc="-10" dirty="0">
                <a:latin typeface="Arial"/>
                <a:cs typeface="Arial"/>
              </a:rPr>
              <a:t>Producer</a:t>
            </a:r>
            <a:r>
              <a:rPr sz="1100" spc="-5" dirty="0">
                <a:latin typeface="Arial"/>
                <a:cs typeface="Arial"/>
              </a:rPr>
              <a:t> </a:t>
            </a:r>
            <a:r>
              <a:rPr sz="1100" spc="-10" dirty="0">
                <a:latin typeface="Arial"/>
                <a:cs typeface="Arial"/>
              </a:rPr>
              <a:t>and</a:t>
            </a:r>
            <a:r>
              <a:rPr sz="1100" spc="-5" dirty="0">
                <a:latin typeface="Arial"/>
                <a:cs typeface="Arial"/>
              </a:rPr>
              <a:t> </a:t>
            </a:r>
            <a:r>
              <a:rPr sz="1100" spc="-10" dirty="0">
                <a:latin typeface="Arial"/>
                <a:cs typeface="Arial"/>
              </a:rPr>
              <a:t>consumer</a:t>
            </a:r>
            <a:r>
              <a:rPr sz="1100" spc="-5" dirty="0">
                <a:latin typeface="Arial"/>
                <a:cs typeface="Arial"/>
              </a:rPr>
              <a:t> </a:t>
            </a:r>
            <a:r>
              <a:rPr sz="1100" spc="-10" dirty="0">
                <a:latin typeface="Arial"/>
                <a:cs typeface="Arial"/>
              </a:rPr>
              <a:t>access</a:t>
            </a:r>
            <a:r>
              <a:rPr sz="1100" spc="-5" dirty="0">
                <a:latin typeface="Arial"/>
                <a:cs typeface="Arial"/>
              </a:rPr>
              <a:t> </a:t>
            </a:r>
            <a:r>
              <a:rPr sz="1100" spc="-10" dirty="0">
                <a:latin typeface="Arial"/>
                <a:cs typeface="Arial"/>
              </a:rPr>
              <a:t>a</a:t>
            </a:r>
            <a:r>
              <a:rPr sz="1100" spc="-5" dirty="0">
                <a:latin typeface="Arial"/>
                <a:cs typeface="Arial"/>
              </a:rPr>
              <a:t> </a:t>
            </a:r>
            <a:r>
              <a:rPr sz="1100" spc="-10" dirty="0">
                <a:latin typeface="Arial"/>
                <a:cs typeface="Arial"/>
              </a:rPr>
              <a:t>shared</a:t>
            </a:r>
            <a:r>
              <a:rPr sz="1100" spc="-5" dirty="0">
                <a:latin typeface="Arial"/>
                <a:cs typeface="Arial"/>
              </a:rPr>
              <a:t> </a:t>
            </a:r>
            <a:r>
              <a:rPr sz="1100" spc="-35" dirty="0">
                <a:latin typeface="Arial"/>
                <a:cs typeface="Arial"/>
              </a:rPr>
              <a:t>b</a:t>
            </a:r>
            <a:r>
              <a:rPr sz="1100" spc="-5" dirty="0">
                <a:latin typeface="Arial"/>
                <a:cs typeface="Arial"/>
              </a:rPr>
              <a:t>uf</a:t>
            </a:r>
            <a:r>
              <a:rPr sz="1100" spc="-40" dirty="0">
                <a:latin typeface="Arial"/>
                <a:cs typeface="Arial"/>
              </a:rPr>
              <a:t>f</a:t>
            </a:r>
            <a:r>
              <a:rPr sz="1100" spc="-5" dirty="0">
                <a:latin typeface="Arial"/>
                <a:cs typeface="Arial"/>
              </a:rPr>
              <a:t>er</a:t>
            </a:r>
            <a:endParaRPr sz="1100" dirty="0">
              <a:latin typeface="Arial"/>
              <a:cs typeface="Arial"/>
            </a:endParaRPr>
          </a:p>
          <a:p>
            <a:pPr marL="289560" marR="1372235">
              <a:lnSpc>
                <a:spcPct val="132800"/>
              </a:lnSpc>
            </a:pPr>
            <a:r>
              <a:rPr sz="1100" spc="-10" dirty="0">
                <a:latin typeface="Arial"/>
                <a:cs typeface="Arial"/>
              </a:rPr>
              <a:t>Concurrent</a:t>
            </a:r>
            <a:r>
              <a:rPr sz="1100" spc="-5" dirty="0">
                <a:latin typeface="Arial"/>
                <a:cs typeface="Arial"/>
              </a:rPr>
              <a:t> </a:t>
            </a:r>
            <a:r>
              <a:rPr sz="1100" spc="-10" dirty="0">
                <a:latin typeface="Arial"/>
                <a:cs typeface="Arial"/>
              </a:rPr>
              <a:t>access</a:t>
            </a:r>
            <a:r>
              <a:rPr sz="1100" spc="-5" dirty="0">
                <a:latin typeface="Arial"/>
                <a:cs typeface="Arial"/>
              </a:rPr>
              <a:t> is all</a:t>
            </a:r>
            <a:r>
              <a:rPr sz="1100" spc="-30" dirty="0">
                <a:latin typeface="Arial"/>
                <a:cs typeface="Arial"/>
              </a:rPr>
              <a:t>o</a:t>
            </a:r>
            <a:r>
              <a:rPr sz="1100" spc="-25" dirty="0">
                <a:latin typeface="Arial"/>
                <a:cs typeface="Arial"/>
              </a:rPr>
              <a:t>w</a:t>
            </a:r>
            <a:r>
              <a:rPr sz="1100" spc="-10" dirty="0">
                <a:latin typeface="Arial"/>
                <a:cs typeface="Arial"/>
              </a:rPr>
              <a:t>ed Consumer</a:t>
            </a:r>
            <a:r>
              <a:rPr sz="1100" spc="-5" dirty="0">
                <a:latin typeface="Arial"/>
                <a:cs typeface="Arial"/>
              </a:rPr>
              <a:t> </a:t>
            </a:r>
            <a:r>
              <a:rPr sz="1100" spc="-20" dirty="0">
                <a:latin typeface="Arial"/>
                <a:cs typeface="Arial"/>
              </a:rPr>
              <a:t>m</a:t>
            </a:r>
            <a:r>
              <a:rPr sz="1100" spc="-5" dirty="0">
                <a:latin typeface="Arial"/>
                <a:cs typeface="Arial"/>
              </a:rPr>
              <a:t>ust </a:t>
            </a:r>
            <a:r>
              <a:rPr sz="1100" spc="-30" dirty="0">
                <a:latin typeface="Arial"/>
                <a:cs typeface="Arial"/>
              </a:rPr>
              <a:t>w</a:t>
            </a:r>
            <a:r>
              <a:rPr sz="1100" spc="-5" dirty="0">
                <a:latin typeface="Arial"/>
                <a:cs typeface="Arial"/>
              </a:rPr>
              <a:t>ait if </a:t>
            </a:r>
            <a:r>
              <a:rPr sz="1100" spc="-35" dirty="0">
                <a:latin typeface="Arial"/>
                <a:cs typeface="Arial"/>
              </a:rPr>
              <a:t>b</a:t>
            </a:r>
            <a:r>
              <a:rPr sz="1100" spc="-5" dirty="0">
                <a:latin typeface="Arial"/>
                <a:cs typeface="Arial"/>
              </a:rPr>
              <a:t>uf</a:t>
            </a:r>
            <a:r>
              <a:rPr sz="1100" spc="-40" dirty="0">
                <a:latin typeface="Arial"/>
                <a:cs typeface="Arial"/>
              </a:rPr>
              <a:t>f</a:t>
            </a:r>
            <a:r>
              <a:rPr sz="1100" spc="-5" dirty="0">
                <a:latin typeface="Arial"/>
                <a:cs typeface="Arial"/>
              </a:rPr>
              <a:t>er is </a:t>
            </a:r>
            <a:r>
              <a:rPr sz="1100" spc="-10" dirty="0">
                <a:latin typeface="Arial"/>
                <a:cs typeface="Arial"/>
              </a:rPr>
              <a:t>empty</a:t>
            </a:r>
            <a:endParaRPr sz="1100" dirty="0">
              <a:latin typeface="Arial"/>
              <a:cs typeface="Arial"/>
            </a:endParaRPr>
          </a:p>
          <a:p>
            <a:pPr marL="289560">
              <a:lnSpc>
                <a:spcPct val="100000"/>
              </a:lnSpc>
              <a:spcBef>
                <a:spcPts val="434"/>
              </a:spcBef>
            </a:pPr>
            <a:r>
              <a:rPr sz="1100" b="1" spc="-10" dirty="0">
                <a:latin typeface="Arial"/>
                <a:cs typeface="Arial"/>
              </a:rPr>
              <a:t>Unbounded</a:t>
            </a:r>
            <a:r>
              <a:rPr sz="1100" b="1" spc="-5" dirty="0">
                <a:latin typeface="Arial"/>
                <a:cs typeface="Arial"/>
              </a:rPr>
              <a:t> </a:t>
            </a:r>
            <a:r>
              <a:rPr sz="1100" b="1" spc="-35" dirty="0">
                <a:latin typeface="Arial"/>
                <a:cs typeface="Arial"/>
              </a:rPr>
              <a:t>b</a:t>
            </a:r>
            <a:r>
              <a:rPr sz="1100" b="1" spc="-10" dirty="0">
                <a:latin typeface="Arial"/>
                <a:cs typeface="Arial"/>
              </a:rPr>
              <a:t>uf</a:t>
            </a:r>
            <a:r>
              <a:rPr sz="1100" b="1" spc="-20" dirty="0">
                <a:latin typeface="Arial"/>
                <a:cs typeface="Arial"/>
              </a:rPr>
              <a:t>f</a:t>
            </a:r>
            <a:r>
              <a:rPr sz="1100" b="1" spc="-5" dirty="0">
                <a:latin typeface="Arial"/>
                <a:cs typeface="Arial"/>
              </a:rPr>
              <a:t>er:</a:t>
            </a:r>
            <a:r>
              <a:rPr sz="1100" b="1" spc="65" dirty="0">
                <a:latin typeface="Arial"/>
                <a:cs typeface="Arial"/>
              </a:rPr>
              <a:t> </a:t>
            </a:r>
            <a:r>
              <a:rPr sz="1100" spc="-10" dirty="0">
                <a:latin typeface="Arial"/>
                <a:cs typeface="Arial"/>
              </a:rPr>
              <a:t>no</a:t>
            </a:r>
            <a:r>
              <a:rPr sz="1100" spc="-5" dirty="0">
                <a:latin typeface="Arial"/>
                <a:cs typeface="Arial"/>
              </a:rPr>
              <a:t> limit </a:t>
            </a:r>
            <a:r>
              <a:rPr sz="1100" spc="-10" dirty="0">
                <a:latin typeface="Arial"/>
                <a:cs typeface="Arial"/>
              </a:rPr>
              <a:t>on</a:t>
            </a:r>
            <a:r>
              <a:rPr sz="1100" spc="-5" dirty="0">
                <a:latin typeface="Arial"/>
                <a:cs typeface="Arial"/>
              </a:rPr>
              <a:t> si</a:t>
            </a:r>
            <a:r>
              <a:rPr sz="1100" spc="-30" dirty="0">
                <a:latin typeface="Arial"/>
                <a:cs typeface="Arial"/>
              </a:rPr>
              <a:t>z</a:t>
            </a:r>
            <a:r>
              <a:rPr sz="1100" spc="-10" dirty="0">
                <a:latin typeface="Arial"/>
                <a:cs typeface="Arial"/>
              </a:rPr>
              <a:t>e</a:t>
            </a:r>
            <a:r>
              <a:rPr sz="1100" spc="-5" dirty="0">
                <a:latin typeface="Arial"/>
                <a:cs typeface="Arial"/>
              </a:rPr>
              <a:t> of </a:t>
            </a:r>
            <a:r>
              <a:rPr sz="1100" spc="-35" dirty="0">
                <a:latin typeface="Arial"/>
                <a:cs typeface="Arial"/>
              </a:rPr>
              <a:t>b</a:t>
            </a:r>
            <a:r>
              <a:rPr sz="1100" spc="-5" dirty="0">
                <a:latin typeface="Arial"/>
                <a:cs typeface="Arial"/>
              </a:rPr>
              <a:t>uf</a:t>
            </a:r>
            <a:r>
              <a:rPr sz="1100" spc="-40" dirty="0">
                <a:latin typeface="Arial"/>
                <a:cs typeface="Arial"/>
              </a:rPr>
              <a:t>f</a:t>
            </a:r>
            <a:r>
              <a:rPr sz="1100" spc="-5" dirty="0">
                <a:latin typeface="Arial"/>
                <a:cs typeface="Arial"/>
              </a:rPr>
              <a:t>er</a:t>
            </a:r>
            <a:endParaRPr sz="1100" dirty="0">
              <a:latin typeface="Arial"/>
              <a:cs typeface="Arial"/>
            </a:endParaRPr>
          </a:p>
          <a:p>
            <a:pPr marL="289560">
              <a:lnSpc>
                <a:spcPct val="100000"/>
              </a:lnSpc>
              <a:spcBef>
                <a:spcPts val="270"/>
              </a:spcBef>
            </a:pPr>
            <a:r>
              <a:rPr sz="1100" b="1" spc="-10" dirty="0">
                <a:latin typeface="Arial"/>
                <a:cs typeface="Arial"/>
              </a:rPr>
              <a:t>Bounded</a:t>
            </a:r>
            <a:r>
              <a:rPr sz="1100" b="1" spc="-5" dirty="0">
                <a:latin typeface="Arial"/>
                <a:cs typeface="Arial"/>
              </a:rPr>
              <a:t> </a:t>
            </a:r>
            <a:r>
              <a:rPr sz="1100" b="1" spc="-35" dirty="0">
                <a:latin typeface="Arial"/>
                <a:cs typeface="Arial"/>
              </a:rPr>
              <a:t>b</a:t>
            </a:r>
            <a:r>
              <a:rPr sz="1100" b="1" spc="-10" dirty="0">
                <a:latin typeface="Arial"/>
                <a:cs typeface="Arial"/>
              </a:rPr>
              <a:t>uf</a:t>
            </a:r>
            <a:r>
              <a:rPr sz="1100" b="1" spc="-20" dirty="0">
                <a:latin typeface="Arial"/>
                <a:cs typeface="Arial"/>
              </a:rPr>
              <a:t>f</a:t>
            </a:r>
            <a:r>
              <a:rPr sz="1100" b="1" spc="-5" dirty="0">
                <a:latin typeface="Arial"/>
                <a:cs typeface="Arial"/>
              </a:rPr>
              <a:t>er:</a:t>
            </a:r>
            <a:r>
              <a:rPr sz="1100" b="1" spc="65" dirty="0">
                <a:latin typeface="Arial"/>
                <a:cs typeface="Arial"/>
              </a:rPr>
              <a:t> </a:t>
            </a:r>
            <a:r>
              <a:rPr sz="1100" spc="-35" dirty="0">
                <a:latin typeface="Arial"/>
                <a:cs typeface="Arial"/>
              </a:rPr>
              <a:t>b</a:t>
            </a:r>
            <a:r>
              <a:rPr sz="1100" spc="-5" dirty="0">
                <a:latin typeface="Arial"/>
                <a:cs typeface="Arial"/>
              </a:rPr>
              <a:t>uf</a:t>
            </a:r>
            <a:r>
              <a:rPr sz="1100" spc="-40" dirty="0">
                <a:latin typeface="Arial"/>
                <a:cs typeface="Arial"/>
              </a:rPr>
              <a:t>f</a:t>
            </a:r>
            <a:r>
              <a:rPr sz="1100" spc="-5" dirty="0">
                <a:latin typeface="Arial"/>
                <a:cs typeface="Arial"/>
              </a:rPr>
              <a:t>er is of fi</a:t>
            </a:r>
            <a:r>
              <a:rPr sz="1100" spc="-45" dirty="0">
                <a:latin typeface="Arial"/>
                <a:cs typeface="Arial"/>
              </a:rPr>
              <a:t>x</a:t>
            </a:r>
            <a:r>
              <a:rPr sz="1100" spc="-10" dirty="0">
                <a:latin typeface="Arial"/>
                <a:cs typeface="Arial"/>
              </a:rPr>
              <a:t>ed</a:t>
            </a:r>
            <a:r>
              <a:rPr sz="1100" spc="-5" dirty="0">
                <a:latin typeface="Arial"/>
                <a:cs typeface="Arial"/>
              </a:rPr>
              <a:t> si</a:t>
            </a:r>
            <a:r>
              <a:rPr sz="1100" spc="-30" dirty="0">
                <a:latin typeface="Arial"/>
                <a:cs typeface="Arial"/>
              </a:rPr>
              <a:t>z</a:t>
            </a:r>
            <a:r>
              <a:rPr sz="1100" spc="-10" dirty="0">
                <a:latin typeface="Arial"/>
                <a:cs typeface="Arial"/>
              </a:rPr>
              <a:t>e</a:t>
            </a:r>
            <a:endParaRPr sz="1100" dirty="0">
              <a:latin typeface="Arial"/>
              <a:cs typeface="Arial"/>
            </a:endParaRPr>
          </a:p>
          <a:p>
            <a:pPr marR="995044" algn="ctr">
              <a:lnSpc>
                <a:spcPct val="100000"/>
              </a:lnSpc>
              <a:spcBef>
                <a:spcPts val="375"/>
              </a:spcBef>
            </a:pPr>
            <a:r>
              <a:rPr sz="1000" spc="-5" dirty="0">
                <a:latin typeface="Arial"/>
                <a:cs typeface="Arial"/>
              </a:rPr>
              <a:t>producer </a:t>
            </a:r>
            <a:r>
              <a:rPr sz="1000" spc="-20" dirty="0">
                <a:latin typeface="Arial"/>
                <a:cs typeface="Arial"/>
              </a:rPr>
              <a:t>m</a:t>
            </a:r>
            <a:r>
              <a:rPr sz="1000" spc="-5" dirty="0">
                <a:latin typeface="Arial"/>
                <a:cs typeface="Arial"/>
              </a:rPr>
              <a:t>ust </a:t>
            </a:r>
            <a:r>
              <a:rPr sz="1000" spc="-25" dirty="0">
                <a:latin typeface="Arial"/>
                <a:cs typeface="Arial"/>
              </a:rPr>
              <a:t>w</a:t>
            </a:r>
            <a:r>
              <a:rPr sz="1000" spc="-5" dirty="0">
                <a:latin typeface="Arial"/>
                <a:cs typeface="Arial"/>
              </a:rPr>
              <a:t>ait if </a:t>
            </a:r>
            <a:r>
              <a:rPr sz="1000" spc="-30" dirty="0">
                <a:latin typeface="Arial"/>
                <a:cs typeface="Arial"/>
              </a:rPr>
              <a:t>b</a:t>
            </a:r>
            <a:r>
              <a:rPr sz="1000" spc="-5" dirty="0">
                <a:latin typeface="Arial"/>
                <a:cs typeface="Arial"/>
              </a:rPr>
              <a:t>uf</a:t>
            </a:r>
            <a:r>
              <a:rPr sz="1000" spc="-35" dirty="0">
                <a:latin typeface="Arial"/>
                <a:cs typeface="Arial"/>
              </a:rPr>
              <a:t>f</a:t>
            </a:r>
            <a:r>
              <a:rPr sz="1000" spc="-5" dirty="0">
                <a:latin typeface="Arial"/>
                <a:cs typeface="Arial"/>
              </a:rPr>
              <a:t>er is full</a:t>
            </a:r>
            <a:endParaRPr sz="1000" dirty="0">
              <a:latin typeface="Arial"/>
              <a:cs typeface="Arial"/>
            </a:endParaRPr>
          </a:p>
        </p:txBody>
      </p:sp>
      <p:sp>
        <p:nvSpPr>
          <p:cNvPr id="12" name="object 12"/>
          <p:cNvSpPr/>
          <p:nvPr/>
        </p:nvSpPr>
        <p:spPr>
          <a:xfrm>
            <a:off x="0" y="3327019"/>
            <a:ext cx="1536065" cy="129539"/>
          </a:xfrm>
          <a:custGeom>
            <a:avLst/>
            <a:gdLst/>
            <a:ahLst/>
            <a:cxnLst/>
            <a:rect l="l" t="t" r="r" b="b"/>
            <a:pathLst>
              <a:path w="1536065" h="129539">
                <a:moveTo>
                  <a:pt x="0" y="129031"/>
                </a:moveTo>
                <a:lnTo>
                  <a:pt x="1535938" y="129031"/>
                </a:lnTo>
                <a:lnTo>
                  <a:pt x="1535938" y="0"/>
                </a:lnTo>
                <a:lnTo>
                  <a:pt x="0" y="0"/>
                </a:lnTo>
                <a:lnTo>
                  <a:pt x="0" y="129031"/>
                </a:lnTo>
                <a:close/>
              </a:path>
            </a:pathLst>
          </a:custGeom>
          <a:solidFill>
            <a:srgbClr val="193F3F"/>
          </a:solidFill>
        </p:spPr>
        <p:txBody>
          <a:bodyPr wrap="square" lIns="0" tIns="0" rIns="0" bIns="0" rtlCol="0"/>
          <a:lstStyle/>
          <a:p>
            <a:endParaRPr/>
          </a:p>
        </p:txBody>
      </p:sp>
      <p:sp>
        <p:nvSpPr>
          <p:cNvPr id="13" name="object 13"/>
          <p:cNvSpPr/>
          <p:nvPr/>
        </p:nvSpPr>
        <p:spPr>
          <a:xfrm>
            <a:off x="1535938" y="3327019"/>
            <a:ext cx="1536065" cy="129539"/>
          </a:xfrm>
          <a:custGeom>
            <a:avLst/>
            <a:gdLst/>
            <a:ahLst/>
            <a:cxnLst/>
            <a:rect l="l" t="t" r="r" b="b"/>
            <a:pathLst>
              <a:path w="1536064" h="129539">
                <a:moveTo>
                  <a:pt x="0" y="129031"/>
                </a:moveTo>
                <a:lnTo>
                  <a:pt x="1535938" y="129031"/>
                </a:lnTo>
                <a:lnTo>
                  <a:pt x="1535938" y="0"/>
                </a:lnTo>
                <a:lnTo>
                  <a:pt x="0" y="0"/>
                </a:lnTo>
                <a:lnTo>
                  <a:pt x="0" y="129031"/>
                </a:lnTo>
                <a:close/>
              </a:path>
            </a:pathLst>
          </a:custGeom>
          <a:solidFill>
            <a:srgbClr val="265F5F"/>
          </a:solidFill>
        </p:spPr>
        <p:txBody>
          <a:bodyPr wrap="square" lIns="0" tIns="0" rIns="0" bIns="0" rtlCol="0"/>
          <a:lstStyle/>
          <a:p>
            <a:endParaRPr/>
          </a:p>
        </p:txBody>
      </p:sp>
      <p:sp>
        <p:nvSpPr>
          <p:cNvPr id="14" name="object 14"/>
          <p:cNvSpPr/>
          <p:nvPr/>
        </p:nvSpPr>
        <p:spPr>
          <a:xfrm>
            <a:off x="3072002" y="3327019"/>
            <a:ext cx="1536065" cy="129539"/>
          </a:xfrm>
          <a:custGeom>
            <a:avLst/>
            <a:gdLst/>
            <a:ahLst/>
            <a:cxnLst/>
            <a:rect l="l" t="t" r="r" b="b"/>
            <a:pathLst>
              <a:path w="1536064" h="129539">
                <a:moveTo>
                  <a:pt x="0" y="129031"/>
                </a:moveTo>
                <a:lnTo>
                  <a:pt x="1535937" y="129031"/>
                </a:lnTo>
                <a:lnTo>
                  <a:pt x="1535937" y="0"/>
                </a:lnTo>
                <a:lnTo>
                  <a:pt x="0" y="0"/>
                </a:lnTo>
                <a:lnTo>
                  <a:pt x="0" y="129031"/>
                </a:lnTo>
              </a:path>
            </a:pathLst>
          </a:custGeom>
          <a:solidFill>
            <a:srgbClr val="337F7F"/>
          </a:solidFill>
        </p:spPr>
        <p:txBody>
          <a:bodyPr wrap="square" lIns="0" tIns="0" rIns="0" bIns="0" rtlCol="0"/>
          <a:lstStyle/>
          <a:p>
            <a:endParaRPr/>
          </a:p>
        </p:txBody>
      </p:sp>
      <p:sp>
        <p:nvSpPr>
          <p:cNvPr id="15" name="object 15"/>
          <p:cNvSpPr txBox="1">
            <a:spLocks noGrp="1"/>
          </p:cNvSpPr>
          <p:nvPr>
            <p:ph type="ftr" sz="quarter" idx="5"/>
          </p:nvPr>
        </p:nvSpPr>
        <p:spPr>
          <a:xfrm>
            <a:off x="525780" y="3345157"/>
            <a:ext cx="484505" cy="92333"/>
          </a:xfrm>
          <a:prstGeom prst="rect">
            <a:avLst/>
          </a:prstGeom>
        </p:spPr>
        <p:txBody>
          <a:bodyPr vert="horz" wrap="square" lIns="0" tIns="0" rIns="0" bIns="0" rtlCol="0">
            <a:spAutoFit/>
          </a:bodyPr>
          <a:lstStyle/>
          <a:p>
            <a:pPr marL="12700">
              <a:lnSpc>
                <a:spcPct val="100000"/>
              </a:lnSpc>
            </a:pPr>
            <a:r>
              <a:rPr lang="en-IN" spc="-5" dirty="0" smtClean="0"/>
              <a:t>M.Tech.</a:t>
            </a:r>
            <a:r>
              <a:rPr dirty="0" smtClean="0"/>
              <a:t> </a:t>
            </a:r>
            <a:r>
              <a:rPr spc="-5" dirty="0" smtClean="0"/>
              <a:t> </a:t>
            </a:r>
            <a:r>
              <a:rPr spc="-5" dirty="0"/>
              <a:t>(ISI)</a:t>
            </a:r>
          </a:p>
        </p:txBody>
      </p:sp>
      <p:sp>
        <p:nvSpPr>
          <p:cNvPr id="16" name="object 16"/>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spc="-5" dirty="0"/>
              <a:t>Process Synchronization</a:t>
            </a: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67310">
              <a:lnSpc>
                <a:spcPct val="100000"/>
              </a:lnSpc>
            </a:pPr>
            <a:fld id="{81D60167-4931-47E6-BA6A-407CBD079E47}" type="slidenum">
              <a:rPr spc="-5" dirty="0"/>
              <a:t>3</a:t>
            </a:fld>
            <a:r>
              <a:rPr spc="-5" dirty="0"/>
              <a:t> / 28</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10" dirty="0"/>
              <a:t>Producer-consumer</a:t>
            </a:r>
            <a:r>
              <a:rPr spc="5" dirty="0"/>
              <a:t> </a:t>
            </a:r>
            <a:r>
              <a:rPr spc="10" dirty="0"/>
              <a:t>implementation</a:t>
            </a:r>
          </a:p>
        </p:txBody>
      </p:sp>
      <p:sp>
        <p:nvSpPr>
          <p:cNvPr id="3" name="object 3"/>
          <p:cNvSpPr/>
          <p:nvPr/>
        </p:nvSpPr>
        <p:spPr>
          <a:xfrm>
            <a:off x="273938" y="699516"/>
            <a:ext cx="73025" cy="73025"/>
          </a:xfrm>
          <a:custGeom>
            <a:avLst/>
            <a:gdLst/>
            <a:ahLst/>
            <a:cxnLst/>
            <a:rect l="l" t="t" r="r" b="b"/>
            <a:pathLst>
              <a:path w="73025" h="73025">
                <a:moveTo>
                  <a:pt x="0" y="72517"/>
                </a:moveTo>
                <a:lnTo>
                  <a:pt x="72517" y="72517"/>
                </a:lnTo>
                <a:lnTo>
                  <a:pt x="72517" y="0"/>
                </a:lnTo>
                <a:lnTo>
                  <a:pt x="0" y="0"/>
                </a:lnTo>
                <a:lnTo>
                  <a:pt x="0" y="72517"/>
                </a:lnTo>
                <a:close/>
              </a:path>
            </a:pathLst>
          </a:custGeom>
          <a:solidFill>
            <a:srgbClr val="337F7F"/>
          </a:solidFill>
        </p:spPr>
        <p:txBody>
          <a:bodyPr wrap="square" lIns="0" tIns="0" rIns="0" bIns="0" rtlCol="0"/>
          <a:lstStyle/>
          <a:p>
            <a:endParaRPr/>
          </a:p>
        </p:txBody>
      </p:sp>
      <p:sp>
        <p:nvSpPr>
          <p:cNvPr id="4" name="object 4"/>
          <p:cNvSpPr/>
          <p:nvPr/>
        </p:nvSpPr>
        <p:spPr>
          <a:xfrm>
            <a:off x="273938" y="922147"/>
            <a:ext cx="73025" cy="73025"/>
          </a:xfrm>
          <a:custGeom>
            <a:avLst/>
            <a:gdLst/>
            <a:ahLst/>
            <a:cxnLst/>
            <a:rect l="l" t="t" r="r" b="b"/>
            <a:pathLst>
              <a:path w="73025" h="73025">
                <a:moveTo>
                  <a:pt x="0" y="72516"/>
                </a:moveTo>
                <a:lnTo>
                  <a:pt x="72517" y="72516"/>
                </a:lnTo>
                <a:lnTo>
                  <a:pt x="72517" y="0"/>
                </a:lnTo>
                <a:lnTo>
                  <a:pt x="0" y="0"/>
                </a:lnTo>
                <a:lnTo>
                  <a:pt x="0" y="72516"/>
                </a:lnTo>
                <a:close/>
              </a:path>
            </a:pathLst>
          </a:custGeom>
          <a:solidFill>
            <a:srgbClr val="337F7F"/>
          </a:solidFill>
        </p:spPr>
        <p:txBody>
          <a:bodyPr wrap="square" lIns="0" tIns="0" rIns="0" bIns="0" rtlCol="0"/>
          <a:lstStyle/>
          <a:p>
            <a:endParaRPr/>
          </a:p>
        </p:txBody>
      </p:sp>
      <p:sp>
        <p:nvSpPr>
          <p:cNvPr id="6" name="object 6"/>
          <p:cNvSpPr txBox="1"/>
          <p:nvPr/>
        </p:nvSpPr>
        <p:spPr>
          <a:xfrm>
            <a:off x="402970" y="652683"/>
            <a:ext cx="2054225" cy="559127"/>
          </a:xfrm>
          <a:prstGeom prst="rect">
            <a:avLst/>
          </a:prstGeom>
        </p:spPr>
        <p:txBody>
          <a:bodyPr vert="horz" wrap="square" lIns="0" tIns="0" rIns="0" bIns="0" rtlCol="0">
            <a:spAutoFit/>
          </a:bodyPr>
          <a:lstStyle/>
          <a:p>
            <a:pPr marL="12700">
              <a:lnSpc>
                <a:spcPct val="100000"/>
              </a:lnSpc>
            </a:pPr>
            <a:r>
              <a:rPr sz="1100" spc="-5" dirty="0">
                <a:latin typeface="Arial"/>
                <a:cs typeface="Arial"/>
              </a:rPr>
              <a:t>Initiall</a:t>
            </a:r>
            <a:r>
              <a:rPr sz="1100" spc="-120" dirty="0">
                <a:latin typeface="Arial"/>
                <a:cs typeface="Arial"/>
              </a:rPr>
              <a:t>y</a:t>
            </a:r>
            <a:r>
              <a:rPr sz="1100" spc="-5" dirty="0">
                <a:latin typeface="Arial"/>
                <a:cs typeface="Arial"/>
              </a:rPr>
              <a:t>, </a:t>
            </a:r>
            <a:r>
              <a:rPr sz="1100" spc="140" dirty="0">
                <a:latin typeface="Arial"/>
                <a:cs typeface="Arial"/>
              </a:rPr>
              <a:t>in</a:t>
            </a:r>
            <a:r>
              <a:rPr sz="1100" dirty="0">
                <a:latin typeface="Arial"/>
                <a:cs typeface="Arial"/>
              </a:rPr>
              <a:t> </a:t>
            </a:r>
            <a:r>
              <a:rPr sz="1100" spc="-40" dirty="0">
                <a:latin typeface="Arial"/>
                <a:cs typeface="Arial"/>
              </a:rPr>
              <a:t> </a:t>
            </a:r>
            <a:r>
              <a:rPr sz="1100" spc="-75" dirty="0">
                <a:latin typeface="Arial"/>
                <a:cs typeface="Arial"/>
              </a:rPr>
              <a:t>=</a:t>
            </a:r>
            <a:r>
              <a:rPr sz="1100" dirty="0">
                <a:latin typeface="Arial"/>
                <a:cs typeface="Arial"/>
              </a:rPr>
              <a:t> </a:t>
            </a:r>
            <a:r>
              <a:rPr sz="1100" spc="-40" dirty="0">
                <a:latin typeface="Arial"/>
                <a:cs typeface="Arial"/>
              </a:rPr>
              <a:t> </a:t>
            </a:r>
            <a:r>
              <a:rPr sz="1100" spc="60" dirty="0">
                <a:latin typeface="Arial"/>
                <a:cs typeface="Arial"/>
              </a:rPr>
              <a:t>out</a:t>
            </a:r>
            <a:r>
              <a:rPr sz="1100" dirty="0">
                <a:latin typeface="Arial"/>
                <a:cs typeface="Arial"/>
              </a:rPr>
              <a:t> </a:t>
            </a:r>
            <a:r>
              <a:rPr sz="1100" spc="-40" dirty="0">
                <a:latin typeface="Arial"/>
                <a:cs typeface="Arial"/>
              </a:rPr>
              <a:t> </a:t>
            </a:r>
            <a:r>
              <a:rPr sz="1100" spc="-75" dirty="0">
                <a:latin typeface="Arial"/>
                <a:cs typeface="Arial"/>
              </a:rPr>
              <a:t>=</a:t>
            </a:r>
            <a:r>
              <a:rPr sz="1100" dirty="0">
                <a:latin typeface="Arial"/>
                <a:cs typeface="Arial"/>
              </a:rPr>
              <a:t> </a:t>
            </a:r>
            <a:r>
              <a:rPr sz="1100" spc="-40" dirty="0">
                <a:latin typeface="Arial"/>
                <a:cs typeface="Arial"/>
              </a:rPr>
              <a:t> </a:t>
            </a:r>
            <a:r>
              <a:rPr sz="1100" spc="-45" dirty="0">
                <a:latin typeface="Arial"/>
                <a:cs typeface="Arial"/>
              </a:rPr>
              <a:t>0</a:t>
            </a:r>
            <a:endParaRPr sz="1100" dirty="0">
              <a:latin typeface="Arial"/>
              <a:cs typeface="Arial"/>
            </a:endParaRPr>
          </a:p>
          <a:p>
            <a:pPr marL="12700">
              <a:lnSpc>
                <a:spcPct val="100000"/>
              </a:lnSpc>
              <a:spcBef>
                <a:spcPts val="430"/>
              </a:spcBef>
            </a:pPr>
            <a:r>
              <a:rPr sz="1100" spc="-10" dirty="0">
                <a:latin typeface="Arial"/>
                <a:cs typeface="Arial"/>
              </a:rPr>
              <a:t>Empty</a:t>
            </a:r>
            <a:r>
              <a:rPr sz="1100" spc="-5" dirty="0">
                <a:latin typeface="Arial"/>
                <a:cs typeface="Arial"/>
              </a:rPr>
              <a:t> </a:t>
            </a:r>
            <a:r>
              <a:rPr sz="1100" spc="-10" dirty="0">
                <a:latin typeface="Arial"/>
                <a:cs typeface="Arial"/>
              </a:rPr>
              <a:t>queue:</a:t>
            </a:r>
            <a:r>
              <a:rPr sz="1100" spc="70" dirty="0">
                <a:latin typeface="Arial"/>
                <a:cs typeface="Arial"/>
              </a:rPr>
              <a:t> </a:t>
            </a:r>
            <a:r>
              <a:rPr sz="1100" spc="140" dirty="0">
                <a:latin typeface="Arial"/>
                <a:cs typeface="Arial"/>
              </a:rPr>
              <a:t>in</a:t>
            </a:r>
            <a:r>
              <a:rPr sz="1100" dirty="0">
                <a:latin typeface="Arial"/>
                <a:cs typeface="Arial"/>
              </a:rPr>
              <a:t> </a:t>
            </a:r>
            <a:r>
              <a:rPr sz="1100" spc="-40" dirty="0">
                <a:latin typeface="Arial"/>
                <a:cs typeface="Arial"/>
              </a:rPr>
              <a:t> </a:t>
            </a:r>
            <a:r>
              <a:rPr sz="1100" spc="-75" dirty="0">
                <a:latin typeface="Arial"/>
                <a:cs typeface="Arial"/>
              </a:rPr>
              <a:t>==</a:t>
            </a:r>
            <a:r>
              <a:rPr sz="1100" dirty="0">
                <a:latin typeface="Arial"/>
                <a:cs typeface="Arial"/>
              </a:rPr>
              <a:t> </a:t>
            </a:r>
            <a:r>
              <a:rPr sz="1100" spc="-40" dirty="0">
                <a:latin typeface="Arial"/>
                <a:cs typeface="Arial"/>
              </a:rPr>
              <a:t> </a:t>
            </a:r>
            <a:r>
              <a:rPr sz="1100" spc="60" dirty="0">
                <a:latin typeface="Arial"/>
                <a:cs typeface="Arial"/>
              </a:rPr>
              <a:t>out</a:t>
            </a:r>
            <a:endParaRPr sz="1100" dirty="0">
              <a:latin typeface="Arial"/>
              <a:cs typeface="Arial"/>
            </a:endParaRPr>
          </a:p>
          <a:p>
            <a:pPr marL="12700">
              <a:lnSpc>
                <a:spcPct val="100000"/>
              </a:lnSpc>
              <a:spcBef>
                <a:spcPts val="35"/>
              </a:spcBef>
            </a:pPr>
            <a:r>
              <a:rPr sz="1100" spc="-5" dirty="0">
                <a:latin typeface="Arial"/>
                <a:cs typeface="Arial"/>
              </a:rPr>
              <a:t>full </a:t>
            </a:r>
            <a:r>
              <a:rPr sz="1100" spc="-10" dirty="0">
                <a:latin typeface="Arial"/>
                <a:cs typeface="Arial"/>
              </a:rPr>
              <a:t>queue:</a:t>
            </a:r>
            <a:r>
              <a:rPr sz="1100" spc="65" dirty="0">
                <a:latin typeface="Arial"/>
                <a:cs typeface="Arial"/>
              </a:rPr>
              <a:t> </a:t>
            </a:r>
            <a:r>
              <a:rPr sz="1100" spc="40" dirty="0">
                <a:latin typeface="Arial"/>
                <a:cs typeface="Arial"/>
              </a:rPr>
              <a:t>in+1</a:t>
            </a:r>
            <a:r>
              <a:rPr sz="1100" dirty="0">
                <a:latin typeface="Arial"/>
                <a:cs typeface="Arial"/>
              </a:rPr>
              <a:t> </a:t>
            </a:r>
            <a:r>
              <a:rPr sz="1100" spc="-40" dirty="0">
                <a:latin typeface="Arial"/>
                <a:cs typeface="Arial"/>
              </a:rPr>
              <a:t> </a:t>
            </a:r>
            <a:r>
              <a:rPr sz="1100" spc="-415" dirty="0">
                <a:latin typeface="Arial"/>
                <a:cs typeface="Arial"/>
              </a:rPr>
              <a:t>%</a:t>
            </a:r>
            <a:r>
              <a:rPr sz="1100" dirty="0">
                <a:latin typeface="Arial"/>
                <a:cs typeface="Arial"/>
              </a:rPr>
              <a:t> </a:t>
            </a:r>
            <a:r>
              <a:rPr sz="1100" spc="-40" dirty="0">
                <a:latin typeface="Arial"/>
                <a:cs typeface="Arial"/>
              </a:rPr>
              <a:t> </a:t>
            </a:r>
            <a:r>
              <a:rPr sz="1100" spc="-45" dirty="0">
                <a:latin typeface="Arial"/>
                <a:cs typeface="Arial"/>
              </a:rPr>
              <a:t>n</a:t>
            </a:r>
            <a:r>
              <a:rPr sz="1100" dirty="0">
                <a:latin typeface="Arial"/>
                <a:cs typeface="Arial"/>
              </a:rPr>
              <a:t> </a:t>
            </a:r>
            <a:r>
              <a:rPr sz="1100" spc="-40" dirty="0">
                <a:latin typeface="Arial"/>
                <a:cs typeface="Arial"/>
              </a:rPr>
              <a:t> </a:t>
            </a:r>
            <a:r>
              <a:rPr sz="1100" spc="-75" dirty="0">
                <a:latin typeface="Arial"/>
                <a:cs typeface="Arial"/>
              </a:rPr>
              <a:t>==</a:t>
            </a:r>
            <a:r>
              <a:rPr sz="1100" dirty="0">
                <a:latin typeface="Arial"/>
                <a:cs typeface="Arial"/>
              </a:rPr>
              <a:t> </a:t>
            </a:r>
            <a:r>
              <a:rPr sz="1100" spc="-40" dirty="0">
                <a:latin typeface="Arial"/>
                <a:cs typeface="Arial"/>
              </a:rPr>
              <a:t> </a:t>
            </a:r>
            <a:r>
              <a:rPr sz="1100" spc="60" dirty="0" smtClean="0">
                <a:latin typeface="Arial"/>
                <a:cs typeface="Arial"/>
              </a:rPr>
              <a:t>out</a:t>
            </a:r>
            <a:endParaRPr sz="1100" dirty="0">
              <a:latin typeface="Arial"/>
              <a:cs typeface="Arial"/>
            </a:endParaRPr>
          </a:p>
        </p:txBody>
      </p:sp>
      <p:sp>
        <p:nvSpPr>
          <p:cNvPr id="7" name="object 7"/>
          <p:cNvSpPr/>
          <p:nvPr/>
        </p:nvSpPr>
        <p:spPr>
          <a:xfrm>
            <a:off x="3368359" y="582670"/>
            <a:ext cx="592430" cy="408011"/>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3368359" y="582670"/>
            <a:ext cx="592455" cy="408305"/>
          </a:xfrm>
          <a:custGeom>
            <a:avLst/>
            <a:gdLst/>
            <a:ahLst/>
            <a:cxnLst/>
            <a:rect l="l" t="t" r="r" b="b"/>
            <a:pathLst>
              <a:path w="592454" h="408305">
                <a:moveTo>
                  <a:pt x="0" y="59779"/>
                </a:moveTo>
                <a:lnTo>
                  <a:pt x="33767" y="40607"/>
                </a:lnTo>
                <a:lnTo>
                  <a:pt x="69083" y="25020"/>
                </a:lnTo>
                <a:lnTo>
                  <a:pt x="105671" y="13100"/>
                </a:lnTo>
                <a:lnTo>
                  <a:pt x="143257" y="4927"/>
                </a:lnTo>
                <a:lnTo>
                  <a:pt x="181563" y="583"/>
                </a:lnTo>
                <a:lnTo>
                  <a:pt x="194445" y="0"/>
                </a:lnTo>
                <a:lnTo>
                  <a:pt x="227738" y="1285"/>
                </a:lnTo>
                <a:lnTo>
                  <a:pt x="291650" y="11403"/>
                </a:lnTo>
                <a:lnTo>
                  <a:pt x="351389" y="30906"/>
                </a:lnTo>
                <a:lnTo>
                  <a:pt x="406222" y="58980"/>
                </a:lnTo>
                <a:lnTo>
                  <a:pt x="455415" y="94813"/>
                </a:lnTo>
                <a:lnTo>
                  <a:pt x="498236" y="137592"/>
                </a:lnTo>
                <a:lnTo>
                  <a:pt x="533953" y="186503"/>
                </a:lnTo>
                <a:lnTo>
                  <a:pt x="561831" y="240733"/>
                </a:lnTo>
                <a:lnTo>
                  <a:pt x="581140" y="299470"/>
                </a:lnTo>
                <a:lnTo>
                  <a:pt x="591145" y="361900"/>
                </a:lnTo>
                <a:lnTo>
                  <a:pt x="592430" y="394247"/>
                </a:lnTo>
                <a:lnTo>
                  <a:pt x="592430" y="398833"/>
                </a:lnTo>
                <a:lnTo>
                  <a:pt x="592351" y="403424"/>
                </a:lnTo>
                <a:lnTo>
                  <a:pt x="592196" y="408011"/>
                </a:lnTo>
              </a:path>
            </a:pathLst>
          </a:custGeom>
          <a:ln w="7170">
            <a:solidFill>
              <a:srgbClr val="000000"/>
            </a:solidFill>
          </a:ln>
        </p:spPr>
        <p:txBody>
          <a:bodyPr wrap="square" lIns="0" tIns="0" rIns="0" bIns="0" rtlCol="0"/>
          <a:lstStyle/>
          <a:p>
            <a:endParaRPr/>
          </a:p>
        </p:txBody>
      </p:sp>
      <p:sp>
        <p:nvSpPr>
          <p:cNvPr id="9" name="object 9"/>
          <p:cNvSpPr/>
          <p:nvPr/>
        </p:nvSpPr>
        <p:spPr>
          <a:xfrm>
            <a:off x="3365606" y="647056"/>
            <a:ext cx="86360" cy="114935"/>
          </a:xfrm>
          <a:custGeom>
            <a:avLst/>
            <a:gdLst/>
            <a:ahLst/>
            <a:cxnLst/>
            <a:rect l="l" t="t" r="r" b="b"/>
            <a:pathLst>
              <a:path w="86360" h="114934">
                <a:moveTo>
                  <a:pt x="0" y="0"/>
                </a:moveTo>
                <a:lnTo>
                  <a:pt x="86050" y="114734"/>
                </a:lnTo>
              </a:path>
            </a:pathLst>
          </a:custGeom>
          <a:ln w="7170">
            <a:solidFill>
              <a:srgbClr val="000000"/>
            </a:solidFill>
          </a:ln>
        </p:spPr>
        <p:txBody>
          <a:bodyPr wrap="square" lIns="0" tIns="0" rIns="0" bIns="0" rtlCol="0"/>
          <a:lstStyle/>
          <a:p>
            <a:endParaRPr/>
          </a:p>
        </p:txBody>
      </p:sp>
      <p:sp>
        <p:nvSpPr>
          <p:cNvPr id="10" name="object 10"/>
          <p:cNvSpPr/>
          <p:nvPr/>
        </p:nvSpPr>
        <p:spPr>
          <a:xfrm>
            <a:off x="3795859" y="991259"/>
            <a:ext cx="172720" cy="0"/>
          </a:xfrm>
          <a:custGeom>
            <a:avLst/>
            <a:gdLst/>
            <a:ahLst/>
            <a:cxnLst/>
            <a:rect l="l" t="t" r="r" b="b"/>
            <a:pathLst>
              <a:path w="172720">
                <a:moveTo>
                  <a:pt x="0" y="0"/>
                </a:moveTo>
                <a:lnTo>
                  <a:pt x="172101" y="0"/>
                </a:lnTo>
              </a:path>
            </a:pathLst>
          </a:custGeom>
          <a:ln w="7170">
            <a:solidFill>
              <a:srgbClr val="000000"/>
            </a:solidFill>
          </a:ln>
        </p:spPr>
        <p:txBody>
          <a:bodyPr wrap="square" lIns="0" tIns="0" rIns="0" bIns="0" rtlCol="0"/>
          <a:lstStyle/>
          <a:p>
            <a:endParaRPr/>
          </a:p>
        </p:txBody>
      </p:sp>
      <p:sp>
        <p:nvSpPr>
          <p:cNvPr id="11" name="object 11"/>
          <p:cNvSpPr/>
          <p:nvPr/>
        </p:nvSpPr>
        <p:spPr>
          <a:xfrm>
            <a:off x="3455142" y="733107"/>
            <a:ext cx="340995" cy="255270"/>
          </a:xfrm>
          <a:custGeom>
            <a:avLst/>
            <a:gdLst/>
            <a:ahLst/>
            <a:cxnLst/>
            <a:rect l="l" t="t" r="r" b="b"/>
            <a:pathLst>
              <a:path w="340995" h="255269">
                <a:moveTo>
                  <a:pt x="110629" y="0"/>
                </a:moveTo>
                <a:lnTo>
                  <a:pt x="72269" y="3335"/>
                </a:lnTo>
                <a:lnTo>
                  <a:pt x="35129" y="12994"/>
                </a:lnTo>
                <a:lnTo>
                  <a:pt x="0" y="28771"/>
                </a:lnTo>
                <a:lnTo>
                  <a:pt x="111248" y="229467"/>
                </a:lnTo>
                <a:lnTo>
                  <a:pt x="339313" y="254831"/>
                </a:lnTo>
                <a:lnTo>
                  <a:pt x="340365" y="242167"/>
                </a:lnTo>
                <a:lnTo>
                  <a:pt x="340717" y="229467"/>
                </a:lnTo>
                <a:lnTo>
                  <a:pt x="339956" y="210648"/>
                </a:lnTo>
                <a:lnTo>
                  <a:pt x="329014" y="156938"/>
                </a:lnTo>
                <a:lnTo>
                  <a:pt x="306311" y="108594"/>
                </a:lnTo>
                <a:lnTo>
                  <a:pt x="273429" y="67209"/>
                </a:lnTo>
                <a:lnTo>
                  <a:pt x="231952" y="34379"/>
                </a:lnTo>
                <a:lnTo>
                  <a:pt x="183461" y="11698"/>
                </a:lnTo>
                <a:lnTo>
                  <a:pt x="129537" y="760"/>
                </a:lnTo>
                <a:lnTo>
                  <a:pt x="110629" y="0"/>
                </a:lnTo>
                <a:close/>
              </a:path>
            </a:pathLst>
          </a:custGeom>
          <a:solidFill>
            <a:srgbClr val="FFFFFF"/>
          </a:solidFill>
        </p:spPr>
        <p:txBody>
          <a:bodyPr wrap="square" lIns="0" tIns="0" rIns="0" bIns="0" rtlCol="0"/>
          <a:lstStyle/>
          <a:p>
            <a:endParaRPr/>
          </a:p>
        </p:txBody>
      </p:sp>
      <p:sp>
        <p:nvSpPr>
          <p:cNvPr id="12" name="object 12"/>
          <p:cNvSpPr/>
          <p:nvPr/>
        </p:nvSpPr>
        <p:spPr>
          <a:xfrm>
            <a:off x="3455142" y="733107"/>
            <a:ext cx="340995" cy="255270"/>
          </a:xfrm>
          <a:custGeom>
            <a:avLst/>
            <a:gdLst/>
            <a:ahLst/>
            <a:cxnLst/>
            <a:rect l="l" t="t" r="r" b="b"/>
            <a:pathLst>
              <a:path w="340995" h="255269">
                <a:moveTo>
                  <a:pt x="0" y="28771"/>
                </a:moveTo>
                <a:lnTo>
                  <a:pt x="35129" y="12994"/>
                </a:lnTo>
                <a:lnTo>
                  <a:pt x="72269" y="3335"/>
                </a:lnTo>
                <a:lnTo>
                  <a:pt x="110629" y="0"/>
                </a:lnTo>
                <a:lnTo>
                  <a:pt x="129537" y="760"/>
                </a:lnTo>
                <a:lnTo>
                  <a:pt x="183461" y="11698"/>
                </a:lnTo>
                <a:lnTo>
                  <a:pt x="231952" y="34379"/>
                </a:lnTo>
                <a:lnTo>
                  <a:pt x="273429" y="67209"/>
                </a:lnTo>
                <a:lnTo>
                  <a:pt x="306311" y="108594"/>
                </a:lnTo>
                <a:lnTo>
                  <a:pt x="329014" y="156938"/>
                </a:lnTo>
                <a:lnTo>
                  <a:pt x="339956" y="210648"/>
                </a:lnTo>
                <a:lnTo>
                  <a:pt x="340717" y="229467"/>
                </a:lnTo>
                <a:lnTo>
                  <a:pt x="340365" y="242167"/>
                </a:lnTo>
                <a:lnTo>
                  <a:pt x="339313" y="254831"/>
                </a:lnTo>
              </a:path>
            </a:pathLst>
          </a:custGeom>
          <a:ln w="7170">
            <a:solidFill>
              <a:srgbClr val="000000"/>
            </a:solidFill>
          </a:ln>
        </p:spPr>
        <p:txBody>
          <a:bodyPr wrap="square" lIns="0" tIns="0" rIns="0" bIns="0" rtlCol="0"/>
          <a:lstStyle/>
          <a:p>
            <a:endParaRPr/>
          </a:p>
        </p:txBody>
      </p:sp>
      <p:sp>
        <p:nvSpPr>
          <p:cNvPr id="13" name="object 13"/>
          <p:cNvSpPr/>
          <p:nvPr/>
        </p:nvSpPr>
        <p:spPr>
          <a:xfrm>
            <a:off x="3164820" y="589688"/>
            <a:ext cx="803275" cy="803275"/>
          </a:xfrm>
          <a:custGeom>
            <a:avLst/>
            <a:gdLst/>
            <a:ahLst/>
            <a:cxnLst/>
            <a:rect l="l" t="t" r="r" b="b"/>
            <a:pathLst>
              <a:path w="803275" h="803275">
                <a:moveTo>
                  <a:pt x="803140" y="401570"/>
                </a:moveTo>
                <a:lnTo>
                  <a:pt x="797884" y="466706"/>
                </a:lnTo>
                <a:lnTo>
                  <a:pt x="782668" y="528497"/>
                </a:lnTo>
                <a:lnTo>
                  <a:pt x="758317" y="586114"/>
                </a:lnTo>
                <a:lnTo>
                  <a:pt x="725660" y="638731"/>
                </a:lnTo>
                <a:lnTo>
                  <a:pt x="685522" y="685522"/>
                </a:lnTo>
                <a:lnTo>
                  <a:pt x="638731" y="725660"/>
                </a:lnTo>
                <a:lnTo>
                  <a:pt x="586114" y="758317"/>
                </a:lnTo>
                <a:lnTo>
                  <a:pt x="528497" y="782668"/>
                </a:lnTo>
                <a:lnTo>
                  <a:pt x="466706" y="797884"/>
                </a:lnTo>
                <a:lnTo>
                  <a:pt x="401570" y="803140"/>
                </a:lnTo>
                <a:lnTo>
                  <a:pt x="368635" y="801809"/>
                </a:lnTo>
                <a:lnTo>
                  <a:pt x="305068" y="791469"/>
                </a:lnTo>
                <a:lnTo>
                  <a:pt x="245261" y="771582"/>
                </a:lnTo>
                <a:lnTo>
                  <a:pt x="190040" y="742975"/>
                </a:lnTo>
                <a:lnTo>
                  <a:pt x="140232" y="706474"/>
                </a:lnTo>
                <a:lnTo>
                  <a:pt x="96665" y="662907"/>
                </a:lnTo>
                <a:lnTo>
                  <a:pt x="60164" y="613099"/>
                </a:lnTo>
                <a:lnTo>
                  <a:pt x="31557" y="557879"/>
                </a:lnTo>
                <a:lnTo>
                  <a:pt x="11670" y="498071"/>
                </a:lnTo>
                <a:lnTo>
                  <a:pt x="1331" y="434505"/>
                </a:lnTo>
                <a:lnTo>
                  <a:pt x="0" y="401570"/>
                </a:lnTo>
                <a:lnTo>
                  <a:pt x="1331" y="368635"/>
                </a:lnTo>
                <a:lnTo>
                  <a:pt x="11670" y="305068"/>
                </a:lnTo>
                <a:lnTo>
                  <a:pt x="31557" y="245261"/>
                </a:lnTo>
                <a:lnTo>
                  <a:pt x="60164" y="190040"/>
                </a:lnTo>
                <a:lnTo>
                  <a:pt x="96665" y="140232"/>
                </a:lnTo>
                <a:lnTo>
                  <a:pt x="140232" y="96665"/>
                </a:lnTo>
                <a:lnTo>
                  <a:pt x="190040" y="60164"/>
                </a:lnTo>
                <a:lnTo>
                  <a:pt x="245261" y="31557"/>
                </a:lnTo>
                <a:lnTo>
                  <a:pt x="305068" y="11670"/>
                </a:lnTo>
                <a:lnTo>
                  <a:pt x="368635" y="1331"/>
                </a:lnTo>
                <a:lnTo>
                  <a:pt x="401570" y="0"/>
                </a:lnTo>
                <a:lnTo>
                  <a:pt x="434505" y="1331"/>
                </a:lnTo>
                <a:lnTo>
                  <a:pt x="498071" y="11670"/>
                </a:lnTo>
                <a:lnTo>
                  <a:pt x="557879" y="31557"/>
                </a:lnTo>
                <a:lnTo>
                  <a:pt x="613099" y="60164"/>
                </a:lnTo>
                <a:lnTo>
                  <a:pt x="662907" y="96665"/>
                </a:lnTo>
                <a:lnTo>
                  <a:pt x="706474" y="140232"/>
                </a:lnTo>
                <a:lnTo>
                  <a:pt x="742975" y="190040"/>
                </a:lnTo>
                <a:lnTo>
                  <a:pt x="771582" y="245261"/>
                </a:lnTo>
                <a:lnTo>
                  <a:pt x="791469" y="305068"/>
                </a:lnTo>
                <a:lnTo>
                  <a:pt x="801809" y="368635"/>
                </a:lnTo>
                <a:lnTo>
                  <a:pt x="803140" y="401570"/>
                </a:lnTo>
              </a:path>
            </a:pathLst>
          </a:custGeom>
          <a:ln w="7170">
            <a:solidFill>
              <a:srgbClr val="000000"/>
            </a:solidFill>
          </a:ln>
        </p:spPr>
        <p:txBody>
          <a:bodyPr wrap="square" lIns="0" tIns="0" rIns="0" bIns="0" rtlCol="0"/>
          <a:lstStyle/>
          <a:p>
            <a:endParaRPr/>
          </a:p>
        </p:txBody>
      </p:sp>
      <p:sp>
        <p:nvSpPr>
          <p:cNvPr id="14" name="object 14"/>
          <p:cNvSpPr/>
          <p:nvPr/>
        </p:nvSpPr>
        <p:spPr>
          <a:xfrm>
            <a:off x="3336922" y="733106"/>
            <a:ext cx="459105" cy="516890"/>
          </a:xfrm>
          <a:custGeom>
            <a:avLst/>
            <a:gdLst/>
            <a:ahLst/>
            <a:cxnLst/>
            <a:rect l="l" t="t" r="r" b="b"/>
            <a:pathLst>
              <a:path w="459104" h="516890">
                <a:moveTo>
                  <a:pt x="458937" y="258152"/>
                </a:moveTo>
                <a:lnTo>
                  <a:pt x="455933" y="300025"/>
                </a:lnTo>
                <a:lnTo>
                  <a:pt x="447238" y="339747"/>
                </a:lnTo>
                <a:lnTo>
                  <a:pt x="433324" y="376787"/>
                </a:lnTo>
                <a:lnTo>
                  <a:pt x="414662" y="410612"/>
                </a:lnTo>
                <a:lnTo>
                  <a:pt x="378803" y="454161"/>
                </a:lnTo>
                <a:lnTo>
                  <a:pt x="334922" y="487489"/>
                </a:lnTo>
                <a:lnTo>
                  <a:pt x="284612" y="508801"/>
                </a:lnTo>
                <a:lnTo>
                  <a:pt x="229468" y="516304"/>
                </a:lnTo>
                <a:lnTo>
                  <a:pt x="210648" y="515448"/>
                </a:lnTo>
                <a:lnTo>
                  <a:pt x="156939" y="503143"/>
                </a:lnTo>
                <a:lnTo>
                  <a:pt x="108595" y="477626"/>
                </a:lnTo>
                <a:lnTo>
                  <a:pt x="67210" y="440692"/>
                </a:lnTo>
                <a:lnTo>
                  <a:pt x="34380" y="394134"/>
                </a:lnTo>
                <a:lnTo>
                  <a:pt x="18033" y="358635"/>
                </a:lnTo>
                <a:lnTo>
                  <a:pt x="6669" y="320188"/>
                </a:lnTo>
                <a:lnTo>
                  <a:pt x="760" y="279324"/>
                </a:lnTo>
                <a:lnTo>
                  <a:pt x="0" y="258152"/>
                </a:lnTo>
                <a:lnTo>
                  <a:pt x="760" y="236980"/>
                </a:lnTo>
                <a:lnTo>
                  <a:pt x="6669" y="196115"/>
                </a:lnTo>
                <a:lnTo>
                  <a:pt x="18033" y="157668"/>
                </a:lnTo>
                <a:lnTo>
                  <a:pt x="34380" y="122169"/>
                </a:lnTo>
                <a:lnTo>
                  <a:pt x="55237" y="90150"/>
                </a:lnTo>
                <a:lnTo>
                  <a:pt x="93948" y="49809"/>
                </a:lnTo>
                <a:lnTo>
                  <a:pt x="140149" y="20287"/>
                </a:lnTo>
                <a:lnTo>
                  <a:pt x="192248" y="3378"/>
                </a:lnTo>
                <a:lnTo>
                  <a:pt x="229468" y="0"/>
                </a:lnTo>
                <a:lnTo>
                  <a:pt x="248288" y="855"/>
                </a:lnTo>
                <a:lnTo>
                  <a:pt x="301997" y="13160"/>
                </a:lnTo>
                <a:lnTo>
                  <a:pt x="350342" y="38677"/>
                </a:lnTo>
                <a:lnTo>
                  <a:pt x="391726" y="75611"/>
                </a:lnTo>
                <a:lnTo>
                  <a:pt x="424557" y="122169"/>
                </a:lnTo>
                <a:lnTo>
                  <a:pt x="440904" y="157668"/>
                </a:lnTo>
                <a:lnTo>
                  <a:pt x="452268" y="196115"/>
                </a:lnTo>
                <a:lnTo>
                  <a:pt x="458176" y="236980"/>
                </a:lnTo>
                <a:lnTo>
                  <a:pt x="458937" y="258152"/>
                </a:lnTo>
              </a:path>
            </a:pathLst>
          </a:custGeom>
          <a:ln w="7170">
            <a:solidFill>
              <a:srgbClr val="000000"/>
            </a:solidFill>
          </a:ln>
        </p:spPr>
        <p:txBody>
          <a:bodyPr wrap="square" lIns="0" tIns="0" rIns="0" bIns="0" rtlCol="0"/>
          <a:lstStyle/>
          <a:p>
            <a:endParaRPr/>
          </a:p>
        </p:txBody>
      </p:sp>
      <p:sp>
        <p:nvSpPr>
          <p:cNvPr id="15" name="object 15"/>
          <p:cNvSpPr/>
          <p:nvPr/>
        </p:nvSpPr>
        <p:spPr>
          <a:xfrm>
            <a:off x="3566391" y="589688"/>
            <a:ext cx="0" cy="143510"/>
          </a:xfrm>
          <a:custGeom>
            <a:avLst/>
            <a:gdLst/>
            <a:ahLst/>
            <a:cxnLst/>
            <a:rect l="l" t="t" r="r" b="b"/>
            <a:pathLst>
              <a:path h="143509">
                <a:moveTo>
                  <a:pt x="0" y="0"/>
                </a:moveTo>
                <a:lnTo>
                  <a:pt x="0" y="143417"/>
                </a:lnTo>
              </a:path>
            </a:pathLst>
          </a:custGeom>
          <a:ln w="7170">
            <a:solidFill>
              <a:srgbClr val="000000"/>
            </a:solidFill>
          </a:ln>
        </p:spPr>
        <p:txBody>
          <a:bodyPr wrap="square" lIns="0" tIns="0" rIns="0" bIns="0" rtlCol="0"/>
          <a:lstStyle/>
          <a:p>
            <a:endParaRPr/>
          </a:p>
        </p:txBody>
      </p:sp>
      <p:sp>
        <p:nvSpPr>
          <p:cNvPr id="16" name="object 16"/>
          <p:cNvSpPr/>
          <p:nvPr/>
        </p:nvSpPr>
        <p:spPr>
          <a:xfrm>
            <a:off x="3164820" y="991259"/>
            <a:ext cx="172720" cy="0"/>
          </a:xfrm>
          <a:custGeom>
            <a:avLst/>
            <a:gdLst/>
            <a:ahLst/>
            <a:cxnLst/>
            <a:rect l="l" t="t" r="r" b="b"/>
            <a:pathLst>
              <a:path w="172720">
                <a:moveTo>
                  <a:pt x="0" y="0"/>
                </a:moveTo>
                <a:lnTo>
                  <a:pt x="172101" y="0"/>
                </a:lnTo>
              </a:path>
            </a:pathLst>
          </a:custGeom>
          <a:ln w="7170">
            <a:solidFill>
              <a:srgbClr val="000000"/>
            </a:solidFill>
          </a:ln>
        </p:spPr>
        <p:txBody>
          <a:bodyPr wrap="square" lIns="0" tIns="0" rIns="0" bIns="0" rtlCol="0"/>
          <a:lstStyle/>
          <a:p>
            <a:endParaRPr/>
          </a:p>
        </p:txBody>
      </p:sp>
      <p:sp>
        <p:nvSpPr>
          <p:cNvPr id="17" name="object 17"/>
          <p:cNvSpPr/>
          <p:nvPr/>
        </p:nvSpPr>
        <p:spPr>
          <a:xfrm>
            <a:off x="3767176" y="790474"/>
            <a:ext cx="143510" cy="86360"/>
          </a:xfrm>
          <a:custGeom>
            <a:avLst/>
            <a:gdLst/>
            <a:ahLst/>
            <a:cxnLst/>
            <a:rect l="l" t="t" r="r" b="b"/>
            <a:pathLst>
              <a:path w="143510" h="86359">
                <a:moveTo>
                  <a:pt x="0" y="86050"/>
                </a:moveTo>
                <a:lnTo>
                  <a:pt x="0" y="86050"/>
                </a:lnTo>
                <a:lnTo>
                  <a:pt x="143417" y="0"/>
                </a:lnTo>
              </a:path>
            </a:pathLst>
          </a:custGeom>
          <a:ln w="7170">
            <a:solidFill>
              <a:srgbClr val="000000"/>
            </a:solidFill>
          </a:ln>
        </p:spPr>
        <p:txBody>
          <a:bodyPr wrap="square" lIns="0" tIns="0" rIns="0" bIns="0" rtlCol="0"/>
          <a:lstStyle/>
          <a:p>
            <a:endParaRPr/>
          </a:p>
        </p:txBody>
      </p:sp>
      <p:sp>
        <p:nvSpPr>
          <p:cNvPr id="18" name="object 18"/>
          <p:cNvSpPr/>
          <p:nvPr/>
        </p:nvSpPr>
        <p:spPr>
          <a:xfrm>
            <a:off x="3222188" y="790474"/>
            <a:ext cx="143510" cy="86360"/>
          </a:xfrm>
          <a:custGeom>
            <a:avLst/>
            <a:gdLst/>
            <a:ahLst/>
            <a:cxnLst/>
            <a:rect l="l" t="t" r="r" b="b"/>
            <a:pathLst>
              <a:path w="143510" h="86359">
                <a:moveTo>
                  <a:pt x="0" y="0"/>
                </a:moveTo>
                <a:lnTo>
                  <a:pt x="143417" y="86050"/>
                </a:lnTo>
                <a:lnTo>
                  <a:pt x="143417" y="86050"/>
                </a:lnTo>
              </a:path>
            </a:pathLst>
          </a:custGeom>
          <a:ln w="7170">
            <a:solidFill>
              <a:srgbClr val="000000"/>
            </a:solidFill>
          </a:ln>
        </p:spPr>
        <p:txBody>
          <a:bodyPr wrap="square" lIns="0" tIns="0" rIns="0" bIns="0" rtlCol="0"/>
          <a:lstStyle/>
          <a:p>
            <a:endParaRPr/>
          </a:p>
        </p:txBody>
      </p:sp>
      <p:sp>
        <p:nvSpPr>
          <p:cNvPr id="19" name="object 19"/>
          <p:cNvSpPr/>
          <p:nvPr/>
        </p:nvSpPr>
        <p:spPr>
          <a:xfrm>
            <a:off x="3681125" y="647056"/>
            <a:ext cx="86360" cy="114935"/>
          </a:xfrm>
          <a:custGeom>
            <a:avLst/>
            <a:gdLst/>
            <a:ahLst/>
            <a:cxnLst/>
            <a:rect l="l" t="t" r="r" b="b"/>
            <a:pathLst>
              <a:path w="86360" h="114934">
                <a:moveTo>
                  <a:pt x="0" y="114734"/>
                </a:moveTo>
                <a:lnTo>
                  <a:pt x="86050" y="0"/>
                </a:lnTo>
              </a:path>
            </a:pathLst>
          </a:custGeom>
          <a:ln w="7170">
            <a:solidFill>
              <a:srgbClr val="000000"/>
            </a:solidFill>
          </a:ln>
        </p:spPr>
        <p:txBody>
          <a:bodyPr wrap="square" lIns="0" tIns="0" rIns="0" bIns="0" rtlCol="0"/>
          <a:lstStyle/>
          <a:p>
            <a:endParaRPr/>
          </a:p>
        </p:txBody>
      </p:sp>
      <p:sp>
        <p:nvSpPr>
          <p:cNvPr id="20" name="object 20"/>
          <p:cNvSpPr/>
          <p:nvPr/>
        </p:nvSpPr>
        <p:spPr>
          <a:xfrm>
            <a:off x="3365606" y="647056"/>
            <a:ext cx="86360" cy="114935"/>
          </a:xfrm>
          <a:custGeom>
            <a:avLst/>
            <a:gdLst/>
            <a:ahLst/>
            <a:cxnLst/>
            <a:rect l="l" t="t" r="r" b="b"/>
            <a:pathLst>
              <a:path w="86360" h="114934">
                <a:moveTo>
                  <a:pt x="0" y="0"/>
                </a:moveTo>
                <a:lnTo>
                  <a:pt x="86050" y="114734"/>
                </a:lnTo>
              </a:path>
            </a:pathLst>
          </a:custGeom>
          <a:ln w="7170">
            <a:solidFill>
              <a:srgbClr val="000000"/>
            </a:solidFill>
          </a:ln>
        </p:spPr>
        <p:txBody>
          <a:bodyPr wrap="square" lIns="0" tIns="0" rIns="0" bIns="0" rtlCol="0"/>
          <a:lstStyle/>
          <a:p>
            <a:endParaRPr/>
          </a:p>
        </p:txBody>
      </p:sp>
      <p:sp>
        <p:nvSpPr>
          <p:cNvPr id="21" name="object 21"/>
          <p:cNvSpPr/>
          <p:nvPr/>
        </p:nvSpPr>
        <p:spPr>
          <a:xfrm>
            <a:off x="3445045" y="876524"/>
            <a:ext cx="218440" cy="229870"/>
          </a:xfrm>
          <a:custGeom>
            <a:avLst/>
            <a:gdLst/>
            <a:ahLst/>
            <a:cxnLst/>
            <a:rect l="l" t="t" r="r" b="b"/>
            <a:pathLst>
              <a:path w="218439" h="229869">
                <a:moveTo>
                  <a:pt x="118178" y="70"/>
                </a:moveTo>
                <a:lnTo>
                  <a:pt x="116848" y="25"/>
                </a:lnTo>
                <a:lnTo>
                  <a:pt x="115503" y="0"/>
                </a:lnTo>
                <a:lnTo>
                  <a:pt x="114174" y="0"/>
                </a:lnTo>
                <a:lnTo>
                  <a:pt x="72032" y="7987"/>
                </a:lnTo>
                <a:lnTo>
                  <a:pt x="36917" y="29910"/>
                </a:lnTo>
                <a:lnTo>
                  <a:pt x="11886" y="62709"/>
                </a:lnTo>
                <a:lnTo>
                  <a:pt x="0" y="103326"/>
                </a:lnTo>
                <a:lnTo>
                  <a:pt x="719" y="119596"/>
                </a:lnTo>
                <a:lnTo>
                  <a:pt x="12218" y="163067"/>
                </a:lnTo>
                <a:lnTo>
                  <a:pt x="35663" y="197080"/>
                </a:lnTo>
                <a:lnTo>
                  <a:pt x="68400" y="219775"/>
                </a:lnTo>
                <a:lnTo>
                  <a:pt x="107772" y="229292"/>
                </a:lnTo>
                <a:lnTo>
                  <a:pt x="122629" y="228576"/>
                </a:lnTo>
                <a:lnTo>
                  <a:pt x="162914" y="217813"/>
                </a:lnTo>
                <a:lnTo>
                  <a:pt x="195285" y="195621"/>
                </a:lnTo>
                <a:lnTo>
                  <a:pt x="211525" y="175426"/>
                </a:lnTo>
                <a:lnTo>
                  <a:pt x="217832" y="163922"/>
                </a:lnTo>
              </a:path>
            </a:pathLst>
          </a:custGeom>
          <a:ln w="7170">
            <a:solidFill>
              <a:srgbClr val="000000"/>
            </a:solidFill>
          </a:ln>
        </p:spPr>
        <p:txBody>
          <a:bodyPr wrap="square" lIns="0" tIns="0" rIns="0" bIns="0" rtlCol="0"/>
          <a:lstStyle/>
          <a:p>
            <a:endParaRPr/>
          </a:p>
        </p:txBody>
      </p:sp>
      <p:sp>
        <p:nvSpPr>
          <p:cNvPr id="22" name="object 22"/>
          <p:cNvSpPr/>
          <p:nvPr/>
        </p:nvSpPr>
        <p:spPr>
          <a:xfrm>
            <a:off x="3654244" y="991259"/>
            <a:ext cx="43180" cy="58419"/>
          </a:xfrm>
          <a:custGeom>
            <a:avLst/>
            <a:gdLst/>
            <a:ahLst/>
            <a:cxnLst/>
            <a:rect l="l" t="t" r="r" b="b"/>
            <a:pathLst>
              <a:path w="43179" h="58419">
                <a:moveTo>
                  <a:pt x="19710" y="0"/>
                </a:moveTo>
                <a:lnTo>
                  <a:pt x="0" y="58009"/>
                </a:lnTo>
                <a:lnTo>
                  <a:pt x="43004" y="56664"/>
                </a:lnTo>
                <a:lnTo>
                  <a:pt x="19710" y="0"/>
                </a:lnTo>
                <a:close/>
              </a:path>
            </a:pathLst>
          </a:custGeom>
          <a:solidFill>
            <a:srgbClr val="FFFFFF"/>
          </a:solidFill>
        </p:spPr>
        <p:txBody>
          <a:bodyPr wrap="square" lIns="0" tIns="0" rIns="0" bIns="0" rtlCol="0"/>
          <a:lstStyle/>
          <a:p>
            <a:endParaRPr/>
          </a:p>
        </p:txBody>
      </p:sp>
      <p:sp>
        <p:nvSpPr>
          <p:cNvPr id="23" name="object 23"/>
          <p:cNvSpPr/>
          <p:nvPr/>
        </p:nvSpPr>
        <p:spPr>
          <a:xfrm>
            <a:off x="3654244" y="991259"/>
            <a:ext cx="43180" cy="58419"/>
          </a:xfrm>
          <a:custGeom>
            <a:avLst/>
            <a:gdLst/>
            <a:ahLst/>
            <a:cxnLst/>
            <a:rect l="l" t="t" r="r" b="b"/>
            <a:pathLst>
              <a:path w="43179" h="58419">
                <a:moveTo>
                  <a:pt x="19710" y="0"/>
                </a:moveTo>
                <a:lnTo>
                  <a:pt x="0" y="58009"/>
                </a:lnTo>
                <a:lnTo>
                  <a:pt x="43004" y="56664"/>
                </a:lnTo>
                <a:lnTo>
                  <a:pt x="19710" y="0"/>
                </a:lnTo>
                <a:close/>
              </a:path>
            </a:pathLst>
          </a:custGeom>
          <a:solidFill>
            <a:srgbClr val="000000"/>
          </a:solidFill>
        </p:spPr>
        <p:txBody>
          <a:bodyPr wrap="square" lIns="0" tIns="0" rIns="0" bIns="0" rtlCol="0"/>
          <a:lstStyle/>
          <a:p>
            <a:endParaRPr/>
          </a:p>
        </p:txBody>
      </p:sp>
      <p:sp>
        <p:nvSpPr>
          <p:cNvPr id="24" name="object 24"/>
          <p:cNvSpPr/>
          <p:nvPr/>
        </p:nvSpPr>
        <p:spPr>
          <a:xfrm>
            <a:off x="4023615" y="876524"/>
            <a:ext cx="59690" cy="15240"/>
          </a:xfrm>
          <a:custGeom>
            <a:avLst/>
            <a:gdLst/>
            <a:ahLst/>
            <a:cxnLst/>
            <a:rect l="l" t="t" r="r" b="b"/>
            <a:pathLst>
              <a:path w="59689" h="15240">
                <a:moveTo>
                  <a:pt x="59080" y="0"/>
                </a:moveTo>
                <a:lnTo>
                  <a:pt x="0" y="14770"/>
                </a:lnTo>
              </a:path>
            </a:pathLst>
          </a:custGeom>
          <a:ln w="7170">
            <a:solidFill>
              <a:srgbClr val="000000"/>
            </a:solidFill>
          </a:ln>
        </p:spPr>
        <p:txBody>
          <a:bodyPr wrap="square" lIns="0" tIns="0" rIns="0" bIns="0" rtlCol="0"/>
          <a:lstStyle/>
          <a:p>
            <a:endParaRPr/>
          </a:p>
        </p:txBody>
      </p:sp>
      <p:sp>
        <p:nvSpPr>
          <p:cNvPr id="25" name="object 25"/>
          <p:cNvSpPr/>
          <p:nvPr/>
        </p:nvSpPr>
        <p:spPr>
          <a:xfrm>
            <a:off x="3967961" y="870424"/>
            <a:ext cx="60960" cy="41910"/>
          </a:xfrm>
          <a:custGeom>
            <a:avLst/>
            <a:gdLst/>
            <a:ahLst/>
            <a:cxnLst/>
            <a:rect l="l" t="t" r="r" b="b"/>
            <a:pathLst>
              <a:path w="60960" h="41909">
                <a:moveTo>
                  <a:pt x="50435" y="0"/>
                </a:moveTo>
                <a:lnTo>
                  <a:pt x="0" y="34783"/>
                </a:lnTo>
                <a:lnTo>
                  <a:pt x="60872" y="41740"/>
                </a:lnTo>
                <a:lnTo>
                  <a:pt x="50435" y="0"/>
                </a:lnTo>
                <a:close/>
              </a:path>
            </a:pathLst>
          </a:custGeom>
          <a:solidFill>
            <a:srgbClr val="FFFFFF"/>
          </a:solidFill>
        </p:spPr>
        <p:txBody>
          <a:bodyPr wrap="square" lIns="0" tIns="0" rIns="0" bIns="0" rtlCol="0"/>
          <a:lstStyle/>
          <a:p>
            <a:endParaRPr/>
          </a:p>
        </p:txBody>
      </p:sp>
      <p:sp>
        <p:nvSpPr>
          <p:cNvPr id="26" name="object 26"/>
          <p:cNvSpPr/>
          <p:nvPr/>
        </p:nvSpPr>
        <p:spPr>
          <a:xfrm>
            <a:off x="3967961" y="870424"/>
            <a:ext cx="60960" cy="41910"/>
          </a:xfrm>
          <a:custGeom>
            <a:avLst/>
            <a:gdLst/>
            <a:ahLst/>
            <a:cxnLst/>
            <a:rect l="l" t="t" r="r" b="b"/>
            <a:pathLst>
              <a:path w="60960" h="41909">
                <a:moveTo>
                  <a:pt x="50435" y="0"/>
                </a:moveTo>
                <a:lnTo>
                  <a:pt x="0" y="34783"/>
                </a:lnTo>
                <a:lnTo>
                  <a:pt x="60872" y="41740"/>
                </a:lnTo>
                <a:lnTo>
                  <a:pt x="50435" y="0"/>
                </a:lnTo>
                <a:close/>
              </a:path>
            </a:pathLst>
          </a:custGeom>
          <a:solidFill>
            <a:srgbClr val="000000"/>
          </a:solidFill>
        </p:spPr>
        <p:txBody>
          <a:bodyPr wrap="square" lIns="0" tIns="0" rIns="0" bIns="0" rtlCol="0"/>
          <a:lstStyle/>
          <a:p>
            <a:endParaRPr/>
          </a:p>
        </p:txBody>
      </p:sp>
      <p:sp>
        <p:nvSpPr>
          <p:cNvPr id="27" name="object 27"/>
          <p:cNvSpPr/>
          <p:nvPr/>
        </p:nvSpPr>
        <p:spPr>
          <a:xfrm>
            <a:off x="3193504" y="618372"/>
            <a:ext cx="45720" cy="45720"/>
          </a:xfrm>
          <a:custGeom>
            <a:avLst/>
            <a:gdLst/>
            <a:ahLst/>
            <a:cxnLst/>
            <a:rect l="l" t="t" r="r" b="b"/>
            <a:pathLst>
              <a:path w="45719" h="45720">
                <a:moveTo>
                  <a:pt x="0" y="0"/>
                </a:moveTo>
                <a:lnTo>
                  <a:pt x="45485" y="45485"/>
                </a:lnTo>
              </a:path>
            </a:pathLst>
          </a:custGeom>
          <a:ln w="7170">
            <a:solidFill>
              <a:srgbClr val="000000"/>
            </a:solidFill>
          </a:ln>
        </p:spPr>
        <p:txBody>
          <a:bodyPr wrap="square" lIns="0" tIns="0" rIns="0" bIns="0" rtlCol="0"/>
          <a:lstStyle/>
          <a:p>
            <a:endParaRPr/>
          </a:p>
        </p:txBody>
      </p:sp>
      <p:sp>
        <p:nvSpPr>
          <p:cNvPr id="28" name="object 28"/>
          <p:cNvSpPr/>
          <p:nvPr/>
        </p:nvSpPr>
        <p:spPr>
          <a:xfrm>
            <a:off x="3223776" y="648644"/>
            <a:ext cx="55880" cy="55880"/>
          </a:xfrm>
          <a:custGeom>
            <a:avLst/>
            <a:gdLst/>
            <a:ahLst/>
            <a:cxnLst/>
            <a:rect l="l" t="t" r="r" b="b"/>
            <a:pathLst>
              <a:path w="55879" h="55879">
                <a:moveTo>
                  <a:pt x="30426" y="0"/>
                </a:moveTo>
                <a:lnTo>
                  <a:pt x="0" y="30426"/>
                </a:lnTo>
                <a:lnTo>
                  <a:pt x="55778" y="55778"/>
                </a:lnTo>
                <a:lnTo>
                  <a:pt x="30426" y="0"/>
                </a:lnTo>
                <a:close/>
              </a:path>
            </a:pathLst>
          </a:custGeom>
          <a:solidFill>
            <a:srgbClr val="FFFFFF"/>
          </a:solidFill>
        </p:spPr>
        <p:txBody>
          <a:bodyPr wrap="square" lIns="0" tIns="0" rIns="0" bIns="0" rtlCol="0"/>
          <a:lstStyle/>
          <a:p>
            <a:endParaRPr/>
          </a:p>
        </p:txBody>
      </p:sp>
      <p:sp>
        <p:nvSpPr>
          <p:cNvPr id="29" name="object 29"/>
          <p:cNvSpPr/>
          <p:nvPr/>
        </p:nvSpPr>
        <p:spPr>
          <a:xfrm>
            <a:off x="3223776" y="648644"/>
            <a:ext cx="55880" cy="55880"/>
          </a:xfrm>
          <a:custGeom>
            <a:avLst/>
            <a:gdLst/>
            <a:ahLst/>
            <a:cxnLst/>
            <a:rect l="l" t="t" r="r" b="b"/>
            <a:pathLst>
              <a:path w="55879" h="55879">
                <a:moveTo>
                  <a:pt x="30426" y="0"/>
                </a:moveTo>
                <a:lnTo>
                  <a:pt x="0" y="30426"/>
                </a:lnTo>
                <a:lnTo>
                  <a:pt x="55778" y="55778"/>
                </a:lnTo>
                <a:lnTo>
                  <a:pt x="30426" y="0"/>
                </a:lnTo>
                <a:close/>
              </a:path>
            </a:pathLst>
          </a:custGeom>
          <a:solidFill>
            <a:srgbClr val="000000"/>
          </a:solidFill>
        </p:spPr>
        <p:txBody>
          <a:bodyPr wrap="square" lIns="0" tIns="0" rIns="0" bIns="0" rtlCol="0"/>
          <a:lstStyle/>
          <a:p>
            <a:endParaRPr/>
          </a:p>
        </p:txBody>
      </p:sp>
      <p:sp>
        <p:nvSpPr>
          <p:cNvPr id="30" name="object 30"/>
          <p:cNvSpPr txBox="1"/>
          <p:nvPr/>
        </p:nvSpPr>
        <p:spPr>
          <a:xfrm>
            <a:off x="3069233" y="489458"/>
            <a:ext cx="1227455" cy="1126490"/>
          </a:xfrm>
          <a:prstGeom prst="rect">
            <a:avLst/>
          </a:prstGeom>
        </p:spPr>
        <p:txBody>
          <a:bodyPr vert="horz" wrap="square" lIns="0" tIns="0" rIns="0" bIns="0" rtlCol="0">
            <a:spAutoFit/>
          </a:bodyPr>
          <a:lstStyle/>
          <a:p>
            <a:pPr marL="12700">
              <a:lnSpc>
                <a:spcPct val="100000"/>
              </a:lnSpc>
            </a:pPr>
            <a:r>
              <a:rPr sz="1100" spc="5" dirty="0">
                <a:latin typeface="Arial"/>
                <a:cs typeface="Arial"/>
              </a:rPr>
              <a:t>in</a:t>
            </a:r>
            <a:endParaRPr sz="1100">
              <a:latin typeface="Arial"/>
              <a:cs typeface="Arial"/>
            </a:endParaRPr>
          </a:p>
          <a:p>
            <a:pPr marR="5080" algn="r">
              <a:lnSpc>
                <a:spcPts val="1165"/>
              </a:lnSpc>
              <a:spcBef>
                <a:spcPts val="710"/>
              </a:spcBef>
            </a:pPr>
            <a:r>
              <a:rPr sz="1100" spc="10" dirty="0">
                <a:latin typeface="Arial"/>
                <a:cs typeface="Arial"/>
              </a:rPr>
              <a:t>out</a:t>
            </a:r>
            <a:endParaRPr sz="1100">
              <a:latin typeface="Arial"/>
              <a:cs typeface="Arial"/>
            </a:endParaRPr>
          </a:p>
          <a:p>
            <a:pPr marL="121285">
              <a:lnSpc>
                <a:spcPts val="2125"/>
              </a:lnSpc>
            </a:pPr>
            <a:r>
              <a:rPr sz="1900" b="1" spc="-695" dirty="0">
                <a:latin typeface="Courier New"/>
                <a:cs typeface="Courier New"/>
              </a:rPr>
              <a:t>.</a:t>
            </a:r>
            <a:r>
              <a:rPr sz="2850" b="1" spc="-359" baseline="-26315" dirty="0">
                <a:latin typeface="Courier New"/>
                <a:cs typeface="Courier New"/>
              </a:rPr>
              <a:t>.</a:t>
            </a:r>
            <a:r>
              <a:rPr sz="2850" b="1" spc="15" baseline="-46783" dirty="0">
                <a:latin typeface="Courier New"/>
                <a:cs typeface="Courier New"/>
              </a:rPr>
              <a:t>.</a:t>
            </a:r>
            <a:r>
              <a:rPr sz="2850" b="1" spc="-1410" baseline="-46783" dirty="0">
                <a:latin typeface="Courier New"/>
                <a:cs typeface="Courier New"/>
              </a:rPr>
              <a:t> </a:t>
            </a:r>
            <a:r>
              <a:rPr sz="2850" b="1" spc="315" baseline="-52631" dirty="0">
                <a:latin typeface="Courier New"/>
                <a:cs typeface="Courier New"/>
              </a:rPr>
              <a:t>.</a:t>
            </a:r>
            <a:r>
              <a:rPr sz="2850" b="1" spc="15" baseline="-33625" dirty="0">
                <a:latin typeface="Courier New"/>
                <a:cs typeface="Courier New"/>
              </a:rPr>
              <a:t>.</a:t>
            </a:r>
            <a:endParaRPr sz="2850" baseline="-33625">
              <a:latin typeface="Courier New"/>
              <a:cs typeface="Courier New"/>
            </a:endParaRPr>
          </a:p>
          <a:p>
            <a:pPr marL="152400">
              <a:lnSpc>
                <a:spcPct val="100000"/>
              </a:lnSpc>
              <a:spcBef>
                <a:spcPts val="2130"/>
              </a:spcBef>
            </a:pPr>
            <a:r>
              <a:rPr sz="1100" spc="10" dirty="0">
                <a:latin typeface="Courier New"/>
                <a:cs typeface="Courier New"/>
              </a:rPr>
              <a:t>buffer[n]</a:t>
            </a:r>
            <a:endParaRPr sz="1100">
              <a:latin typeface="Courier New"/>
              <a:cs typeface="Courier New"/>
            </a:endParaRPr>
          </a:p>
        </p:txBody>
      </p:sp>
      <p:sp>
        <p:nvSpPr>
          <p:cNvPr id="31" name="object 31"/>
          <p:cNvSpPr/>
          <p:nvPr/>
        </p:nvSpPr>
        <p:spPr>
          <a:xfrm>
            <a:off x="0" y="3327019"/>
            <a:ext cx="1536065" cy="129539"/>
          </a:xfrm>
          <a:custGeom>
            <a:avLst/>
            <a:gdLst/>
            <a:ahLst/>
            <a:cxnLst/>
            <a:rect l="l" t="t" r="r" b="b"/>
            <a:pathLst>
              <a:path w="1536065" h="129539">
                <a:moveTo>
                  <a:pt x="0" y="129031"/>
                </a:moveTo>
                <a:lnTo>
                  <a:pt x="1535938" y="129031"/>
                </a:lnTo>
                <a:lnTo>
                  <a:pt x="1535938" y="0"/>
                </a:lnTo>
                <a:lnTo>
                  <a:pt x="0" y="0"/>
                </a:lnTo>
                <a:lnTo>
                  <a:pt x="0" y="129031"/>
                </a:lnTo>
              </a:path>
            </a:pathLst>
          </a:custGeom>
          <a:solidFill>
            <a:srgbClr val="193F3F"/>
          </a:solidFill>
        </p:spPr>
        <p:txBody>
          <a:bodyPr wrap="square" lIns="0" tIns="0" rIns="0" bIns="0" rtlCol="0"/>
          <a:lstStyle/>
          <a:p>
            <a:endParaRPr/>
          </a:p>
        </p:txBody>
      </p:sp>
      <p:sp>
        <p:nvSpPr>
          <p:cNvPr id="32" name="object 32"/>
          <p:cNvSpPr/>
          <p:nvPr/>
        </p:nvSpPr>
        <p:spPr>
          <a:xfrm>
            <a:off x="1535938" y="3327019"/>
            <a:ext cx="1536065" cy="129539"/>
          </a:xfrm>
          <a:custGeom>
            <a:avLst/>
            <a:gdLst/>
            <a:ahLst/>
            <a:cxnLst/>
            <a:rect l="l" t="t" r="r" b="b"/>
            <a:pathLst>
              <a:path w="1536064" h="129539">
                <a:moveTo>
                  <a:pt x="0" y="129031"/>
                </a:moveTo>
                <a:lnTo>
                  <a:pt x="1535938" y="129031"/>
                </a:lnTo>
                <a:lnTo>
                  <a:pt x="1535938" y="0"/>
                </a:lnTo>
                <a:lnTo>
                  <a:pt x="0" y="0"/>
                </a:lnTo>
                <a:lnTo>
                  <a:pt x="0" y="129031"/>
                </a:lnTo>
              </a:path>
            </a:pathLst>
          </a:custGeom>
          <a:solidFill>
            <a:srgbClr val="265F5F"/>
          </a:solidFill>
        </p:spPr>
        <p:txBody>
          <a:bodyPr wrap="square" lIns="0" tIns="0" rIns="0" bIns="0" rtlCol="0"/>
          <a:lstStyle/>
          <a:p>
            <a:endParaRPr/>
          </a:p>
        </p:txBody>
      </p:sp>
      <p:sp>
        <p:nvSpPr>
          <p:cNvPr id="33" name="object 33"/>
          <p:cNvSpPr/>
          <p:nvPr/>
        </p:nvSpPr>
        <p:spPr>
          <a:xfrm>
            <a:off x="3072002" y="3327019"/>
            <a:ext cx="1536065" cy="129539"/>
          </a:xfrm>
          <a:custGeom>
            <a:avLst/>
            <a:gdLst/>
            <a:ahLst/>
            <a:cxnLst/>
            <a:rect l="l" t="t" r="r" b="b"/>
            <a:pathLst>
              <a:path w="1536064" h="129539">
                <a:moveTo>
                  <a:pt x="0" y="129031"/>
                </a:moveTo>
                <a:lnTo>
                  <a:pt x="1535937" y="129031"/>
                </a:lnTo>
                <a:lnTo>
                  <a:pt x="1535937" y="0"/>
                </a:lnTo>
                <a:lnTo>
                  <a:pt x="0" y="0"/>
                </a:lnTo>
                <a:lnTo>
                  <a:pt x="0" y="129031"/>
                </a:lnTo>
              </a:path>
            </a:pathLst>
          </a:custGeom>
          <a:solidFill>
            <a:srgbClr val="337F7F"/>
          </a:solidFill>
        </p:spPr>
        <p:txBody>
          <a:bodyPr wrap="square" lIns="0" tIns="0" rIns="0" bIns="0" rtlCol="0"/>
          <a:lstStyle/>
          <a:p>
            <a:endParaRPr/>
          </a:p>
        </p:txBody>
      </p:sp>
      <p:sp>
        <p:nvSpPr>
          <p:cNvPr id="34" name="object 34"/>
          <p:cNvSpPr txBox="1">
            <a:spLocks noGrp="1"/>
          </p:cNvSpPr>
          <p:nvPr>
            <p:ph type="ftr" sz="quarter" idx="5"/>
          </p:nvPr>
        </p:nvSpPr>
        <p:spPr>
          <a:xfrm>
            <a:off x="525780" y="3345157"/>
            <a:ext cx="484505" cy="92333"/>
          </a:xfrm>
          <a:prstGeom prst="rect">
            <a:avLst/>
          </a:prstGeom>
        </p:spPr>
        <p:txBody>
          <a:bodyPr vert="horz" wrap="square" lIns="0" tIns="0" rIns="0" bIns="0" rtlCol="0">
            <a:spAutoFit/>
          </a:bodyPr>
          <a:lstStyle/>
          <a:p>
            <a:pPr marL="12700">
              <a:lnSpc>
                <a:spcPct val="100000"/>
              </a:lnSpc>
            </a:pPr>
            <a:r>
              <a:rPr lang="en-IN" spc="-5" dirty="0" smtClean="0"/>
              <a:t>M.Tech.</a:t>
            </a:r>
            <a:r>
              <a:rPr dirty="0" smtClean="0"/>
              <a:t> </a:t>
            </a:r>
            <a:r>
              <a:rPr spc="-5" dirty="0" smtClean="0"/>
              <a:t> </a:t>
            </a:r>
            <a:r>
              <a:rPr spc="-5" dirty="0"/>
              <a:t>(ISI)</a:t>
            </a:r>
          </a:p>
        </p:txBody>
      </p:sp>
      <p:sp>
        <p:nvSpPr>
          <p:cNvPr id="35" name="object 35"/>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spc="-5" dirty="0"/>
              <a:t>Process Synchronization</a:t>
            </a:r>
          </a:p>
        </p:txBody>
      </p:sp>
      <p:sp>
        <p:nvSpPr>
          <p:cNvPr id="36" name="object 36"/>
          <p:cNvSpPr txBox="1"/>
          <p:nvPr/>
        </p:nvSpPr>
        <p:spPr>
          <a:xfrm>
            <a:off x="4325873" y="3345157"/>
            <a:ext cx="215900" cy="101600"/>
          </a:xfrm>
          <a:prstGeom prst="rect">
            <a:avLst/>
          </a:prstGeom>
        </p:spPr>
        <p:txBody>
          <a:bodyPr vert="horz" wrap="square" lIns="0" tIns="0" rIns="0" bIns="0" rtlCol="0">
            <a:spAutoFit/>
          </a:bodyPr>
          <a:lstStyle/>
          <a:p>
            <a:pPr marL="12700">
              <a:lnSpc>
                <a:spcPct val="100000"/>
              </a:lnSpc>
            </a:pPr>
            <a:r>
              <a:rPr sz="600" spc="-5" dirty="0">
                <a:solidFill>
                  <a:srgbClr val="FFFFFF"/>
                </a:solidFill>
                <a:latin typeface="Arial"/>
                <a:cs typeface="Arial"/>
              </a:rPr>
              <a:t>4 / 28</a:t>
            </a:r>
            <a:endParaRPr sz="600">
              <a:latin typeface="Arial"/>
              <a:cs typeface="Arial"/>
            </a:endParaRPr>
          </a:p>
        </p:txBody>
      </p:sp>
    </p:spTree>
  </p:cSld>
  <p:clrMapOvr>
    <a:masterClrMapping/>
  </p:clrMapOvr>
  <p:transition>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10" dirty="0"/>
              <a:t>Producer-consumer</a:t>
            </a:r>
            <a:r>
              <a:rPr spc="5" dirty="0"/>
              <a:t> </a:t>
            </a:r>
            <a:r>
              <a:rPr spc="10" dirty="0"/>
              <a:t>implementation</a:t>
            </a:r>
          </a:p>
        </p:txBody>
      </p:sp>
      <p:sp>
        <p:nvSpPr>
          <p:cNvPr id="3" name="object 3"/>
          <p:cNvSpPr/>
          <p:nvPr/>
        </p:nvSpPr>
        <p:spPr>
          <a:xfrm>
            <a:off x="273938" y="699516"/>
            <a:ext cx="73025" cy="73025"/>
          </a:xfrm>
          <a:custGeom>
            <a:avLst/>
            <a:gdLst/>
            <a:ahLst/>
            <a:cxnLst/>
            <a:rect l="l" t="t" r="r" b="b"/>
            <a:pathLst>
              <a:path w="73025" h="73025">
                <a:moveTo>
                  <a:pt x="0" y="72517"/>
                </a:moveTo>
                <a:lnTo>
                  <a:pt x="72517" y="72517"/>
                </a:lnTo>
                <a:lnTo>
                  <a:pt x="72517" y="0"/>
                </a:lnTo>
                <a:lnTo>
                  <a:pt x="0" y="0"/>
                </a:lnTo>
                <a:lnTo>
                  <a:pt x="0" y="72517"/>
                </a:lnTo>
                <a:close/>
              </a:path>
            </a:pathLst>
          </a:custGeom>
          <a:solidFill>
            <a:srgbClr val="337F7F"/>
          </a:solidFill>
        </p:spPr>
        <p:txBody>
          <a:bodyPr wrap="square" lIns="0" tIns="0" rIns="0" bIns="0" rtlCol="0"/>
          <a:lstStyle/>
          <a:p>
            <a:endParaRPr/>
          </a:p>
        </p:txBody>
      </p:sp>
      <p:sp>
        <p:nvSpPr>
          <p:cNvPr id="4" name="object 4"/>
          <p:cNvSpPr/>
          <p:nvPr/>
        </p:nvSpPr>
        <p:spPr>
          <a:xfrm>
            <a:off x="273938" y="922147"/>
            <a:ext cx="73025" cy="73025"/>
          </a:xfrm>
          <a:custGeom>
            <a:avLst/>
            <a:gdLst/>
            <a:ahLst/>
            <a:cxnLst/>
            <a:rect l="l" t="t" r="r" b="b"/>
            <a:pathLst>
              <a:path w="73025" h="73025">
                <a:moveTo>
                  <a:pt x="0" y="72516"/>
                </a:moveTo>
                <a:lnTo>
                  <a:pt x="72517" y="72516"/>
                </a:lnTo>
                <a:lnTo>
                  <a:pt x="72517" y="0"/>
                </a:lnTo>
                <a:lnTo>
                  <a:pt x="0" y="0"/>
                </a:lnTo>
                <a:lnTo>
                  <a:pt x="0" y="72516"/>
                </a:lnTo>
                <a:close/>
              </a:path>
            </a:pathLst>
          </a:custGeom>
          <a:solidFill>
            <a:srgbClr val="337F7F"/>
          </a:solidFill>
        </p:spPr>
        <p:txBody>
          <a:bodyPr wrap="square" lIns="0" tIns="0" rIns="0" bIns="0" rtlCol="0"/>
          <a:lstStyle/>
          <a:p>
            <a:endParaRPr/>
          </a:p>
        </p:txBody>
      </p:sp>
      <p:sp>
        <p:nvSpPr>
          <p:cNvPr id="6" name="object 6"/>
          <p:cNvSpPr txBox="1"/>
          <p:nvPr/>
        </p:nvSpPr>
        <p:spPr>
          <a:xfrm>
            <a:off x="402970" y="652683"/>
            <a:ext cx="2054225" cy="559127"/>
          </a:xfrm>
          <a:prstGeom prst="rect">
            <a:avLst/>
          </a:prstGeom>
        </p:spPr>
        <p:txBody>
          <a:bodyPr vert="horz" wrap="square" lIns="0" tIns="0" rIns="0" bIns="0" rtlCol="0">
            <a:spAutoFit/>
          </a:bodyPr>
          <a:lstStyle/>
          <a:p>
            <a:pPr marL="12700">
              <a:lnSpc>
                <a:spcPct val="100000"/>
              </a:lnSpc>
            </a:pPr>
            <a:r>
              <a:rPr sz="1100" spc="-5" dirty="0">
                <a:latin typeface="Arial"/>
                <a:cs typeface="Arial"/>
              </a:rPr>
              <a:t>Initiall</a:t>
            </a:r>
            <a:r>
              <a:rPr sz="1100" spc="-120" dirty="0">
                <a:latin typeface="Arial"/>
                <a:cs typeface="Arial"/>
              </a:rPr>
              <a:t>y</a:t>
            </a:r>
            <a:r>
              <a:rPr sz="1100" spc="-5" dirty="0">
                <a:latin typeface="Arial"/>
                <a:cs typeface="Arial"/>
              </a:rPr>
              <a:t>, </a:t>
            </a:r>
            <a:r>
              <a:rPr sz="1100" spc="140" dirty="0">
                <a:latin typeface="Arial"/>
                <a:cs typeface="Arial"/>
              </a:rPr>
              <a:t>in</a:t>
            </a:r>
            <a:r>
              <a:rPr sz="1100" dirty="0">
                <a:latin typeface="Arial"/>
                <a:cs typeface="Arial"/>
              </a:rPr>
              <a:t> </a:t>
            </a:r>
            <a:r>
              <a:rPr sz="1100" spc="-40" dirty="0">
                <a:latin typeface="Arial"/>
                <a:cs typeface="Arial"/>
              </a:rPr>
              <a:t> </a:t>
            </a:r>
            <a:r>
              <a:rPr sz="1100" spc="-75" dirty="0">
                <a:latin typeface="Arial"/>
                <a:cs typeface="Arial"/>
              </a:rPr>
              <a:t>=</a:t>
            </a:r>
            <a:r>
              <a:rPr sz="1100" dirty="0">
                <a:latin typeface="Arial"/>
                <a:cs typeface="Arial"/>
              </a:rPr>
              <a:t> </a:t>
            </a:r>
            <a:r>
              <a:rPr sz="1100" spc="-40" dirty="0">
                <a:latin typeface="Arial"/>
                <a:cs typeface="Arial"/>
              </a:rPr>
              <a:t> </a:t>
            </a:r>
            <a:r>
              <a:rPr sz="1100" spc="60" dirty="0">
                <a:latin typeface="Arial"/>
                <a:cs typeface="Arial"/>
              </a:rPr>
              <a:t>out</a:t>
            </a:r>
            <a:r>
              <a:rPr sz="1100" dirty="0">
                <a:latin typeface="Arial"/>
                <a:cs typeface="Arial"/>
              </a:rPr>
              <a:t> </a:t>
            </a:r>
            <a:r>
              <a:rPr sz="1100" spc="-40" dirty="0">
                <a:latin typeface="Arial"/>
                <a:cs typeface="Arial"/>
              </a:rPr>
              <a:t> </a:t>
            </a:r>
            <a:r>
              <a:rPr sz="1100" spc="-75" dirty="0">
                <a:latin typeface="Arial"/>
                <a:cs typeface="Arial"/>
              </a:rPr>
              <a:t>=</a:t>
            </a:r>
            <a:r>
              <a:rPr sz="1100" dirty="0">
                <a:latin typeface="Arial"/>
                <a:cs typeface="Arial"/>
              </a:rPr>
              <a:t> </a:t>
            </a:r>
            <a:r>
              <a:rPr sz="1100" spc="-40" dirty="0">
                <a:latin typeface="Arial"/>
                <a:cs typeface="Arial"/>
              </a:rPr>
              <a:t> </a:t>
            </a:r>
            <a:r>
              <a:rPr sz="1100" spc="-45" dirty="0">
                <a:latin typeface="Arial"/>
                <a:cs typeface="Arial"/>
              </a:rPr>
              <a:t>0</a:t>
            </a:r>
            <a:endParaRPr sz="1100" dirty="0">
              <a:latin typeface="Arial"/>
              <a:cs typeface="Arial"/>
            </a:endParaRPr>
          </a:p>
          <a:p>
            <a:pPr marL="12700">
              <a:lnSpc>
                <a:spcPct val="100000"/>
              </a:lnSpc>
              <a:spcBef>
                <a:spcPts val="430"/>
              </a:spcBef>
            </a:pPr>
            <a:r>
              <a:rPr sz="1100" spc="-10" dirty="0">
                <a:latin typeface="Arial"/>
                <a:cs typeface="Arial"/>
              </a:rPr>
              <a:t>Empty</a:t>
            </a:r>
            <a:r>
              <a:rPr sz="1100" spc="-5" dirty="0">
                <a:latin typeface="Arial"/>
                <a:cs typeface="Arial"/>
              </a:rPr>
              <a:t> </a:t>
            </a:r>
            <a:r>
              <a:rPr sz="1100" spc="-10" dirty="0">
                <a:latin typeface="Arial"/>
                <a:cs typeface="Arial"/>
              </a:rPr>
              <a:t>queue:</a:t>
            </a:r>
            <a:r>
              <a:rPr sz="1100" spc="70" dirty="0">
                <a:latin typeface="Arial"/>
                <a:cs typeface="Arial"/>
              </a:rPr>
              <a:t> </a:t>
            </a:r>
            <a:r>
              <a:rPr sz="1100" spc="140" dirty="0">
                <a:latin typeface="Arial"/>
                <a:cs typeface="Arial"/>
              </a:rPr>
              <a:t>in</a:t>
            </a:r>
            <a:r>
              <a:rPr sz="1100" dirty="0">
                <a:latin typeface="Arial"/>
                <a:cs typeface="Arial"/>
              </a:rPr>
              <a:t> </a:t>
            </a:r>
            <a:r>
              <a:rPr sz="1100" spc="-40" dirty="0">
                <a:latin typeface="Arial"/>
                <a:cs typeface="Arial"/>
              </a:rPr>
              <a:t> </a:t>
            </a:r>
            <a:r>
              <a:rPr sz="1100" spc="-75" dirty="0">
                <a:latin typeface="Arial"/>
                <a:cs typeface="Arial"/>
              </a:rPr>
              <a:t>==</a:t>
            </a:r>
            <a:r>
              <a:rPr sz="1100" dirty="0">
                <a:latin typeface="Arial"/>
                <a:cs typeface="Arial"/>
              </a:rPr>
              <a:t> </a:t>
            </a:r>
            <a:r>
              <a:rPr sz="1100" spc="-40" dirty="0">
                <a:latin typeface="Arial"/>
                <a:cs typeface="Arial"/>
              </a:rPr>
              <a:t> </a:t>
            </a:r>
            <a:r>
              <a:rPr sz="1100" spc="60" dirty="0">
                <a:latin typeface="Arial"/>
                <a:cs typeface="Arial"/>
              </a:rPr>
              <a:t>out</a:t>
            </a:r>
            <a:endParaRPr sz="1100" dirty="0">
              <a:latin typeface="Arial"/>
              <a:cs typeface="Arial"/>
            </a:endParaRPr>
          </a:p>
          <a:p>
            <a:pPr marL="12700">
              <a:lnSpc>
                <a:spcPct val="100000"/>
              </a:lnSpc>
              <a:spcBef>
                <a:spcPts val="35"/>
              </a:spcBef>
            </a:pPr>
            <a:r>
              <a:rPr sz="1100" spc="-5" dirty="0">
                <a:latin typeface="Arial"/>
                <a:cs typeface="Arial"/>
              </a:rPr>
              <a:t>full </a:t>
            </a:r>
            <a:r>
              <a:rPr sz="1100" spc="-10" dirty="0">
                <a:latin typeface="Arial"/>
                <a:cs typeface="Arial"/>
              </a:rPr>
              <a:t>queue:</a:t>
            </a:r>
            <a:r>
              <a:rPr sz="1100" spc="65" dirty="0">
                <a:latin typeface="Arial"/>
                <a:cs typeface="Arial"/>
              </a:rPr>
              <a:t> </a:t>
            </a:r>
            <a:r>
              <a:rPr sz="1100" spc="40" dirty="0">
                <a:latin typeface="Arial"/>
                <a:cs typeface="Arial"/>
              </a:rPr>
              <a:t>in+1</a:t>
            </a:r>
            <a:r>
              <a:rPr sz="1100" dirty="0">
                <a:latin typeface="Arial"/>
                <a:cs typeface="Arial"/>
              </a:rPr>
              <a:t> </a:t>
            </a:r>
            <a:r>
              <a:rPr sz="1100" spc="-40" dirty="0">
                <a:latin typeface="Arial"/>
                <a:cs typeface="Arial"/>
              </a:rPr>
              <a:t> </a:t>
            </a:r>
            <a:r>
              <a:rPr sz="1100" spc="-415" dirty="0">
                <a:latin typeface="Arial"/>
                <a:cs typeface="Arial"/>
              </a:rPr>
              <a:t>%</a:t>
            </a:r>
            <a:r>
              <a:rPr sz="1100" dirty="0">
                <a:latin typeface="Arial"/>
                <a:cs typeface="Arial"/>
              </a:rPr>
              <a:t> </a:t>
            </a:r>
            <a:r>
              <a:rPr sz="1100" spc="-40" dirty="0">
                <a:latin typeface="Arial"/>
                <a:cs typeface="Arial"/>
              </a:rPr>
              <a:t> </a:t>
            </a:r>
            <a:r>
              <a:rPr sz="1100" spc="-45" dirty="0">
                <a:latin typeface="Arial"/>
                <a:cs typeface="Arial"/>
              </a:rPr>
              <a:t>n</a:t>
            </a:r>
            <a:r>
              <a:rPr sz="1100" dirty="0">
                <a:latin typeface="Arial"/>
                <a:cs typeface="Arial"/>
              </a:rPr>
              <a:t> </a:t>
            </a:r>
            <a:r>
              <a:rPr sz="1100" spc="-40" dirty="0">
                <a:latin typeface="Arial"/>
                <a:cs typeface="Arial"/>
              </a:rPr>
              <a:t> </a:t>
            </a:r>
            <a:r>
              <a:rPr sz="1100" spc="-75" dirty="0">
                <a:latin typeface="Arial"/>
                <a:cs typeface="Arial"/>
              </a:rPr>
              <a:t>==</a:t>
            </a:r>
            <a:r>
              <a:rPr sz="1100" dirty="0">
                <a:latin typeface="Arial"/>
                <a:cs typeface="Arial"/>
              </a:rPr>
              <a:t> </a:t>
            </a:r>
            <a:r>
              <a:rPr sz="1100" spc="-40" dirty="0">
                <a:latin typeface="Arial"/>
                <a:cs typeface="Arial"/>
              </a:rPr>
              <a:t> </a:t>
            </a:r>
            <a:r>
              <a:rPr sz="1100" spc="60" dirty="0" smtClean="0">
                <a:latin typeface="Arial"/>
                <a:cs typeface="Arial"/>
              </a:rPr>
              <a:t>ou</a:t>
            </a:r>
            <a:r>
              <a:rPr lang="en-US" sz="1100" spc="60" dirty="0" smtClean="0">
                <a:latin typeface="Arial"/>
                <a:cs typeface="Arial"/>
              </a:rPr>
              <a:t>t</a:t>
            </a:r>
            <a:endParaRPr sz="1100" dirty="0">
              <a:latin typeface="Arial"/>
              <a:cs typeface="Arial"/>
            </a:endParaRPr>
          </a:p>
        </p:txBody>
      </p:sp>
      <p:sp>
        <p:nvSpPr>
          <p:cNvPr id="7" name="object 7"/>
          <p:cNvSpPr/>
          <p:nvPr/>
        </p:nvSpPr>
        <p:spPr>
          <a:xfrm>
            <a:off x="3368359" y="582670"/>
            <a:ext cx="592430" cy="408011"/>
          </a:xfrm>
          <a:prstGeom prst="rect">
            <a:avLst/>
          </a:prstGeom>
          <a:blipFill>
            <a:blip r:embed="rId3" cstate="print"/>
            <a:stretch>
              <a:fillRect/>
            </a:stretch>
          </a:blipFill>
        </p:spPr>
        <p:txBody>
          <a:bodyPr wrap="square" lIns="0" tIns="0" rIns="0" bIns="0" rtlCol="0"/>
          <a:lstStyle/>
          <a:p>
            <a:endParaRPr/>
          </a:p>
        </p:txBody>
      </p:sp>
      <p:sp>
        <p:nvSpPr>
          <p:cNvPr id="8" name="object 8"/>
          <p:cNvSpPr/>
          <p:nvPr/>
        </p:nvSpPr>
        <p:spPr>
          <a:xfrm>
            <a:off x="3368359" y="582670"/>
            <a:ext cx="592455" cy="408305"/>
          </a:xfrm>
          <a:custGeom>
            <a:avLst/>
            <a:gdLst/>
            <a:ahLst/>
            <a:cxnLst/>
            <a:rect l="l" t="t" r="r" b="b"/>
            <a:pathLst>
              <a:path w="592454" h="408305">
                <a:moveTo>
                  <a:pt x="0" y="59779"/>
                </a:moveTo>
                <a:lnTo>
                  <a:pt x="33767" y="40607"/>
                </a:lnTo>
                <a:lnTo>
                  <a:pt x="69083" y="25020"/>
                </a:lnTo>
                <a:lnTo>
                  <a:pt x="105671" y="13100"/>
                </a:lnTo>
                <a:lnTo>
                  <a:pt x="143257" y="4927"/>
                </a:lnTo>
                <a:lnTo>
                  <a:pt x="181563" y="583"/>
                </a:lnTo>
                <a:lnTo>
                  <a:pt x="194445" y="0"/>
                </a:lnTo>
                <a:lnTo>
                  <a:pt x="227738" y="1285"/>
                </a:lnTo>
                <a:lnTo>
                  <a:pt x="291650" y="11403"/>
                </a:lnTo>
                <a:lnTo>
                  <a:pt x="351389" y="30906"/>
                </a:lnTo>
                <a:lnTo>
                  <a:pt x="406222" y="58980"/>
                </a:lnTo>
                <a:lnTo>
                  <a:pt x="455415" y="94813"/>
                </a:lnTo>
                <a:lnTo>
                  <a:pt x="498236" y="137592"/>
                </a:lnTo>
                <a:lnTo>
                  <a:pt x="533953" y="186503"/>
                </a:lnTo>
                <a:lnTo>
                  <a:pt x="561831" y="240733"/>
                </a:lnTo>
                <a:lnTo>
                  <a:pt x="581140" y="299470"/>
                </a:lnTo>
                <a:lnTo>
                  <a:pt x="591145" y="361900"/>
                </a:lnTo>
                <a:lnTo>
                  <a:pt x="592430" y="394247"/>
                </a:lnTo>
                <a:lnTo>
                  <a:pt x="592430" y="398833"/>
                </a:lnTo>
                <a:lnTo>
                  <a:pt x="592351" y="403424"/>
                </a:lnTo>
                <a:lnTo>
                  <a:pt x="592196" y="408011"/>
                </a:lnTo>
              </a:path>
            </a:pathLst>
          </a:custGeom>
          <a:ln w="7170">
            <a:solidFill>
              <a:srgbClr val="000000"/>
            </a:solidFill>
          </a:ln>
        </p:spPr>
        <p:txBody>
          <a:bodyPr wrap="square" lIns="0" tIns="0" rIns="0" bIns="0" rtlCol="0"/>
          <a:lstStyle/>
          <a:p>
            <a:endParaRPr/>
          </a:p>
        </p:txBody>
      </p:sp>
      <p:sp>
        <p:nvSpPr>
          <p:cNvPr id="9" name="object 9"/>
          <p:cNvSpPr/>
          <p:nvPr/>
        </p:nvSpPr>
        <p:spPr>
          <a:xfrm>
            <a:off x="3365606" y="647056"/>
            <a:ext cx="86360" cy="114935"/>
          </a:xfrm>
          <a:custGeom>
            <a:avLst/>
            <a:gdLst/>
            <a:ahLst/>
            <a:cxnLst/>
            <a:rect l="l" t="t" r="r" b="b"/>
            <a:pathLst>
              <a:path w="86360" h="114934">
                <a:moveTo>
                  <a:pt x="0" y="0"/>
                </a:moveTo>
                <a:lnTo>
                  <a:pt x="86050" y="114734"/>
                </a:lnTo>
              </a:path>
            </a:pathLst>
          </a:custGeom>
          <a:ln w="7170">
            <a:solidFill>
              <a:srgbClr val="000000"/>
            </a:solidFill>
          </a:ln>
        </p:spPr>
        <p:txBody>
          <a:bodyPr wrap="square" lIns="0" tIns="0" rIns="0" bIns="0" rtlCol="0"/>
          <a:lstStyle/>
          <a:p>
            <a:endParaRPr/>
          </a:p>
        </p:txBody>
      </p:sp>
      <p:sp>
        <p:nvSpPr>
          <p:cNvPr id="10" name="object 10"/>
          <p:cNvSpPr/>
          <p:nvPr/>
        </p:nvSpPr>
        <p:spPr>
          <a:xfrm>
            <a:off x="3795859" y="991259"/>
            <a:ext cx="172720" cy="0"/>
          </a:xfrm>
          <a:custGeom>
            <a:avLst/>
            <a:gdLst/>
            <a:ahLst/>
            <a:cxnLst/>
            <a:rect l="l" t="t" r="r" b="b"/>
            <a:pathLst>
              <a:path w="172720">
                <a:moveTo>
                  <a:pt x="0" y="0"/>
                </a:moveTo>
                <a:lnTo>
                  <a:pt x="172101" y="0"/>
                </a:lnTo>
              </a:path>
            </a:pathLst>
          </a:custGeom>
          <a:ln w="7170">
            <a:solidFill>
              <a:srgbClr val="000000"/>
            </a:solidFill>
          </a:ln>
        </p:spPr>
        <p:txBody>
          <a:bodyPr wrap="square" lIns="0" tIns="0" rIns="0" bIns="0" rtlCol="0"/>
          <a:lstStyle/>
          <a:p>
            <a:endParaRPr/>
          </a:p>
        </p:txBody>
      </p:sp>
      <p:sp>
        <p:nvSpPr>
          <p:cNvPr id="11" name="object 11"/>
          <p:cNvSpPr/>
          <p:nvPr/>
        </p:nvSpPr>
        <p:spPr>
          <a:xfrm>
            <a:off x="3455142" y="733107"/>
            <a:ext cx="340995" cy="255270"/>
          </a:xfrm>
          <a:custGeom>
            <a:avLst/>
            <a:gdLst/>
            <a:ahLst/>
            <a:cxnLst/>
            <a:rect l="l" t="t" r="r" b="b"/>
            <a:pathLst>
              <a:path w="340995" h="255269">
                <a:moveTo>
                  <a:pt x="110629" y="0"/>
                </a:moveTo>
                <a:lnTo>
                  <a:pt x="72269" y="3335"/>
                </a:lnTo>
                <a:lnTo>
                  <a:pt x="35129" y="12994"/>
                </a:lnTo>
                <a:lnTo>
                  <a:pt x="0" y="28771"/>
                </a:lnTo>
                <a:lnTo>
                  <a:pt x="111248" y="229467"/>
                </a:lnTo>
                <a:lnTo>
                  <a:pt x="339313" y="254831"/>
                </a:lnTo>
                <a:lnTo>
                  <a:pt x="340365" y="242167"/>
                </a:lnTo>
                <a:lnTo>
                  <a:pt x="340717" y="229467"/>
                </a:lnTo>
                <a:lnTo>
                  <a:pt x="339956" y="210648"/>
                </a:lnTo>
                <a:lnTo>
                  <a:pt x="329014" y="156938"/>
                </a:lnTo>
                <a:lnTo>
                  <a:pt x="306311" y="108594"/>
                </a:lnTo>
                <a:lnTo>
                  <a:pt x="273429" y="67209"/>
                </a:lnTo>
                <a:lnTo>
                  <a:pt x="231952" y="34379"/>
                </a:lnTo>
                <a:lnTo>
                  <a:pt x="183461" y="11698"/>
                </a:lnTo>
                <a:lnTo>
                  <a:pt x="129537" y="760"/>
                </a:lnTo>
                <a:lnTo>
                  <a:pt x="110629" y="0"/>
                </a:lnTo>
                <a:close/>
              </a:path>
            </a:pathLst>
          </a:custGeom>
          <a:solidFill>
            <a:srgbClr val="FFFFFF"/>
          </a:solidFill>
        </p:spPr>
        <p:txBody>
          <a:bodyPr wrap="square" lIns="0" tIns="0" rIns="0" bIns="0" rtlCol="0"/>
          <a:lstStyle/>
          <a:p>
            <a:endParaRPr/>
          </a:p>
        </p:txBody>
      </p:sp>
      <p:sp>
        <p:nvSpPr>
          <p:cNvPr id="12" name="object 12"/>
          <p:cNvSpPr/>
          <p:nvPr/>
        </p:nvSpPr>
        <p:spPr>
          <a:xfrm>
            <a:off x="3455142" y="733107"/>
            <a:ext cx="340995" cy="255270"/>
          </a:xfrm>
          <a:custGeom>
            <a:avLst/>
            <a:gdLst/>
            <a:ahLst/>
            <a:cxnLst/>
            <a:rect l="l" t="t" r="r" b="b"/>
            <a:pathLst>
              <a:path w="340995" h="255269">
                <a:moveTo>
                  <a:pt x="0" y="28771"/>
                </a:moveTo>
                <a:lnTo>
                  <a:pt x="35129" y="12994"/>
                </a:lnTo>
                <a:lnTo>
                  <a:pt x="72269" y="3335"/>
                </a:lnTo>
                <a:lnTo>
                  <a:pt x="110629" y="0"/>
                </a:lnTo>
                <a:lnTo>
                  <a:pt x="129537" y="760"/>
                </a:lnTo>
                <a:lnTo>
                  <a:pt x="183461" y="11698"/>
                </a:lnTo>
                <a:lnTo>
                  <a:pt x="231952" y="34379"/>
                </a:lnTo>
                <a:lnTo>
                  <a:pt x="273429" y="67209"/>
                </a:lnTo>
                <a:lnTo>
                  <a:pt x="306311" y="108594"/>
                </a:lnTo>
                <a:lnTo>
                  <a:pt x="329014" y="156938"/>
                </a:lnTo>
                <a:lnTo>
                  <a:pt x="339956" y="210648"/>
                </a:lnTo>
                <a:lnTo>
                  <a:pt x="340717" y="229467"/>
                </a:lnTo>
                <a:lnTo>
                  <a:pt x="340365" y="242167"/>
                </a:lnTo>
                <a:lnTo>
                  <a:pt x="339313" y="254831"/>
                </a:lnTo>
              </a:path>
            </a:pathLst>
          </a:custGeom>
          <a:ln w="7170">
            <a:solidFill>
              <a:srgbClr val="000000"/>
            </a:solidFill>
          </a:ln>
        </p:spPr>
        <p:txBody>
          <a:bodyPr wrap="square" lIns="0" tIns="0" rIns="0" bIns="0" rtlCol="0"/>
          <a:lstStyle/>
          <a:p>
            <a:endParaRPr/>
          </a:p>
        </p:txBody>
      </p:sp>
      <p:sp>
        <p:nvSpPr>
          <p:cNvPr id="13" name="object 13"/>
          <p:cNvSpPr/>
          <p:nvPr/>
        </p:nvSpPr>
        <p:spPr>
          <a:xfrm>
            <a:off x="3164820" y="589688"/>
            <a:ext cx="803275" cy="803275"/>
          </a:xfrm>
          <a:custGeom>
            <a:avLst/>
            <a:gdLst/>
            <a:ahLst/>
            <a:cxnLst/>
            <a:rect l="l" t="t" r="r" b="b"/>
            <a:pathLst>
              <a:path w="803275" h="803275">
                <a:moveTo>
                  <a:pt x="803140" y="401570"/>
                </a:moveTo>
                <a:lnTo>
                  <a:pt x="797884" y="466706"/>
                </a:lnTo>
                <a:lnTo>
                  <a:pt x="782668" y="528497"/>
                </a:lnTo>
                <a:lnTo>
                  <a:pt x="758317" y="586114"/>
                </a:lnTo>
                <a:lnTo>
                  <a:pt x="725660" y="638731"/>
                </a:lnTo>
                <a:lnTo>
                  <a:pt x="685522" y="685522"/>
                </a:lnTo>
                <a:lnTo>
                  <a:pt x="638731" y="725660"/>
                </a:lnTo>
                <a:lnTo>
                  <a:pt x="586114" y="758317"/>
                </a:lnTo>
                <a:lnTo>
                  <a:pt x="528497" y="782668"/>
                </a:lnTo>
                <a:lnTo>
                  <a:pt x="466706" y="797884"/>
                </a:lnTo>
                <a:lnTo>
                  <a:pt x="401570" y="803140"/>
                </a:lnTo>
                <a:lnTo>
                  <a:pt x="368635" y="801809"/>
                </a:lnTo>
                <a:lnTo>
                  <a:pt x="305068" y="791469"/>
                </a:lnTo>
                <a:lnTo>
                  <a:pt x="245261" y="771582"/>
                </a:lnTo>
                <a:lnTo>
                  <a:pt x="190040" y="742975"/>
                </a:lnTo>
                <a:lnTo>
                  <a:pt x="140232" y="706474"/>
                </a:lnTo>
                <a:lnTo>
                  <a:pt x="96665" y="662907"/>
                </a:lnTo>
                <a:lnTo>
                  <a:pt x="60164" y="613099"/>
                </a:lnTo>
                <a:lnTo>
                  <a:pt x="31557" y="557879"/>
                </a:lnTo>
                <a:lnTo>
                  <a:pt x="11670" y="498071"/>
                </a:lnTo>
                <a:lnTo>
                  <a:pt x="1331" y="434505"/>
                </a:lnTo>
                <a:lnTo>
                  <a:pt x="0" y="401570"/>
                </a:lnTo>
                <a:lnTo>
                  <a:pt x="1331" y="368635"/>
                </a:lnTo>
                <a:lnTo>
                  <a:pt x="11670" y="305068"/>
                </a:lnTo>
                <a:lnTo>
                  <a:pt x="31557" y="245261"/>
                </a:lnTo>
                <a:lnTo>
                  <a:pt x="60164" y="190040"/>
                </a:lnTo>
                <a:lnTo>
                  <a:pt x="96665" y="140232"/>
                </a:lnTo>
                <a:lnTo>
                  <a:pt x="140232" y="96665"/>
                </a:lnTo>
                <a:lnTo>
                  <a:pt x="190040" y="60164"/>
                </a:lnTo>
                <a:lnTo>
                  <a:pt x="245261" y="31557"/>
                </a:lnTo>
                <a:lnTo>
                  <a:pt x="305068" y="11670"/>
                </a:lnTo>
                <a:lnTo>
                  <a:pt x="368635" y="1331"/>
                </a:lnTo>
                <a:lnTo>
                  <a:pt x="401570" y="0"/>
                </a:lnTo>
                <a:lnTo>
                  <a:pt x="434505" y="1331"/>
                </a:lnTo>
                <a:lnTo>
                  <a:pt x="498071" y="11670"/>
                </a:lnTo>
                <a:lnTo>
                  <a:pt x="557879" y="31557"/>
                </a:lnTo>
                <a:lnTo>
                  <a:pt x="613099" y="60164"/>
                </a:lnTo>
                <a:lnTo>
                  <a:pt x="662907" y="96665"/>
                </a:lnTo>
                <a:lnTo>
                  <a:pt x="706474" y="140232"/>
                </a:lnTo>
                <a:lnTo>
                  <a:pt x="742975" y="190040"/>
                </a:lnTo>
                <a:lnTo>
                  <a:pt x="771582" y="245261"/>
                </a:lnTo>
                <a:lnTo>
                  <a:pt x="791469" y="305068"/>
                </a:lnTo>
                <a:lnTo>
                  <a:pt x="801809" y="368635"/>
                </a:lnTo>
                <a:lnTo>
                  <a:pt x="803140" y="401570"/>
                </a:lnTo>
              </a:path>
            </a:pathLst>
          </a:custGeom>
          <a:ln w="7170">
            <a:solidFill>
              <a:srgbClr val="000000"/>
            </a:solidFill>
          </a:ln>
        </p:spPr>
        <p:txBody>
          <a:bodyPr wrap="square" lIns="0" tIns="0" rIns="0" bIns="0" rtlCol="0"/>
          <a:lstStyle/>
          <a:p>
            <a:endParaRPr/>
          </a:p>
        </p:txBody>
      </p:sp>
      <p:sp>
        <p:nvSpPr>
          <p:cNvPr id="14" name="object 14"/>
          <p:cNvSpPr/>
          <p:nvPr/>
        </p:nvSpPr>
        <p:spPr>
          <a:xfrm>
            <a:off x="3336922" y="733106"/>
            <a:ext cx="459105" cy="516890"/>
          </a:xfrm>
          <a:custGeom>
            <a:avLst/>
            <a:gdLst/>
            <a:ahLst/>
            <a:cxnLst/>
            <a:rect l="l" t="t" r="r" b="b"/>
            <a:pathLst>
              <a:path w="459104" h="516890">
                <a:moveTo>
                  <a:pt x="458937" y="258152"/>
                </a:moveTo>
                <a:lnTo>
                  <a:pt x="455933" y="300025"/>
                </a:lnTo>
                <a:lnTo>
                  <a:pt x="447238" y="339747"/>
                </a:lnTo>
                <a:lnTo>
                  <a:pt x="433324" y="376787"/>
                </a:lnTo>
                <a:lnTo>
                  <a:pt x="414662" y="410612"/>
                </a:lnTo>
                <a:lnTo>
                  <a:pt x="378803" y="454161"/>
                </a:lnTo>
                <a:lnTo>
                  <a:pt x="334922" y="487489"/>
                </a:lnTo>
                <a:lnTo>
                  <a:pt x="284612" y="508801"/>
                </a:lnTo>
                <a:lnTo>
                  <a:pt x="229468" y="516304"/>
                </a:lnTo>
                <a:lnTo>
                  <a:pt x="210648" y="515448"/>
                </a:lnTo>
                <a:lnTo>
                  <a:pt x="156939" y="503143"/>
                </a:lnTo>
                <a:lnTo>
                  <a:pt x="108595" y="477626"/>
                </a:lnTo>
                <a:lnTo>
                  <a:pt x="67210" y="440692"/>
                </a:lnTo>
                <a:lnTo>
                  <a:pt x="34380" y="394134"/>
                </a:lnTo>
                <a:lnTo>
                  <a:pt x="18033" y="358635"/>
                </a:lnTo>
                <a:lnTo>
                  <a:pt x="6669" y="320188"/>
                </a:lnTo>
                <a:lnTo>
                  <a:pt x="760" y="279324"/>
                </a:lnTo>
                <a:lnTo>
                  <a:pt x="0" y="258152"/>
                </a:lnTo>
                <a:lnTo>
                  <a:pt x="760" y="236980"/>
                </a:lnTo>
                <a:lnTo>
                  <a:pt x="6669" y="196115"/>
                </a:lnTo>
                <a:lnTo>
                  <a:pt x="18033" y="157668"/>
                </a:lnTo>
                <a:lnTo>
                  <a:pt x="34380" y="122169"/>
                </a:lnTo>
                <a:lnTo>
                  <a:pt x="55237" y="90150"/>
                </a:lnTo>
                <a:lnTo>
                  <a:pt x="93948" y="49809"/>
                </a:lnTo>
                <a:lnTo>
                  <a:pt x="140149" y="20287"/>
                </a:lnTo>
                <a:lnTo>
                  <a:pt x="192248" y="3378"/>
                </a:lnTo>
                <a:lnTo>
                  <a:pt x="229468" y="0"/>
                </a:lnTo>
                <a:lnTo>
                  <a:pt x="248288" y="855"/>
                </a:lnTo>
                <a:lnTo>
                  <a:pt x="301997" y="13160"/>
                </a:lnTo>
                <a:lnTo>
                  <a:pt x="350342" y="38677"/>
                </a:lnTo>
                <a:lnTo>
                  <a:pt x="391726" y="75611"/>
                </a:lnTo>
                <a:lnTo>
                  <a:pt x="424557" y="122169"/>
                </a:lnTo>
                <a:lnTo>
                  <a:pt x="440904" y="157668"/>
                </a:lnTo>
                <a:lnTo>
                  <a:pt x="452268" y="196115"/>
                </a:lnTo>
                <a:lnTo>
                  <a:pt x="458176" y="236980"/>
                </a:lnTo>
                <a:lnTo>
                  <a:pt x="458937" y="258152"/>
                </a:lnTo>
              </a:path>
            </a:pathLst>
          </a:custGeom>
          <a:ln w="7170">
            <a:solidFill>
              <a:srgbClr val="000000"/>
            </a:solidFill>
          </a:ln>
        </p:spPr>
        <p:txBody>
          <a:bodyPr wrap="square" lIns="0" tIns="0" rIns="0" bIns="0" rtlCol="0"/>
          <a:lstStyle/>
          <a:p>
            <a:endParaRPr/>
          </a:p>
        </p:txBody>
      </p:sp>
      <p:sp>
        <p:nvSpPr>
          <p:cNvPr id="15" name="object 15"/>
          <p:cNvSpPr/>
          <p:nvPr/>
        </p:nvSpPr>
        <p:spPr>
          <a:xfrm>
            <a:off x="3566391" y="589688"/>
            <a:ext cx="0" cy="143510"/>
          </a:xfrm>
          <a:custGeom>
            <a:avLst/>
            <a:gdLst/>
            <a:ahLst/>
            <a:cxnLst/>
            <a:rect l="l" t="t" r="r" b="b"/>
            <a:pathLst>
              <a:path h="143509">
                <a:moveTo>
                  <a:pt x="0" y="0"/>
                </a:moveTo>
                <a:lnTo>
                  <a:pt x="0" y="143417"/>
                </a:lnTo>
              </a:path>
            </a:pathLst>
          </a:custGeom>
          <a:ln w="7170">
            <a:solidFill>
              <a:srgbClr val="000000"/>
            </a:solidFill>
          </a:ln>
        </p:spPr>
        <p:txBody>
          <a:bodyPr wrap="square" lIns="0" tIns="0" rIns="0" bIns="0" rtlCol="0"/>
          <a:lstStyle/>
          <a:p>
            <a:endParaRPr/>
          </a:p>
        </p:txBody>
      </p:sp>
      <p:sp>
        <p:nvSpPr>
          <p:cNvPr id="16" name="object 16"/>
          <p:cNvSpPr/>
          <p:nvPr/>
        </p:nvSpPr>
        <p:spPr>
          <a:xfrm>
            <a:off x="3164820" y="991259"/>
            <a:ext cx="172720" cy="0"/>
          </a:xfrm>
          <a:custGeom>
            <a:avLst/>
            <a:gdLst/>
            <a:ahLst/>
            <a:cxnLst/>
            <a:rect l="l" t="t" r="r" b="b"/>
            <a:pathLst>
              <a:path w="172720">
                <a:moveTo>
                  <a:pt x="0" y="0"/>
                </a:moveTo>
                <a:lnTo>
                  <a:pt x="172101" y="0"/>
                </a:lnTo>
              </a:path>
            </a:pathLst>
          </a:custGeom>
          <a:ln w="7170">
            <a:solidFill>
              <a:srgbClr val="000000"/>
            </a:solidFill>
          </a:ln>
        </p:spPr>
        <p:txBody>
          <a:bodyPr wrap="square" lIns="0" tIns="0" rIns="0" bIns="0" rtlCol="0"/>
          <a:lstStyle/>
          <a:p>
            <a:endParaRPr/>
          </a:p>
        </p:txBody>
      </p:sp>
      <p:sp>
        <p:nvSpPr>
          <p:cNvPr id="17" name="object 17"/>
          <p:cNvSpPr/>
          <p:nvPr/>
        </p:nvSpPr>
        <p:spPr>
          <a:xfrm>
            <a:off x="3767176" y="790474"/>
            <a:ext cx="143510" cy="86360"/>
          </a:xfrm>
          <a:custGeom>
            <a:avLst/>
            <a:gdLst/>
            <a:ahLst/>
            <a:cxnLst/>
            <a:rect l="l" t="t" r="r" b="b"/>
            <a:pathLst>
              <a:path w="143510" h="86359">
                <a:moveTo>
                  <a:pt x="0" y="86050"/>
                </a:moveTo>
                <a:lnTo>
                  <a:pt x="0" y="86050"/>
                </a:lnTo>
                <a:lnTo>
                  <a:pt x="143417" y="0"/>
                </a:lnTo>
              </a:path>
            </a:pathLst>
          </a:custGeom>
          <a:ln w="7170">
            <a:solidFill>
              <a:srgbClr val="000000"/>
            </a:solidFill>
          </a:ln>
        </p:spPr>
        <p:txBody>
          <a:bodyPr wrap="square" lIns="0" tIns="0" rIns="0" bIns="0" rtlCol="0"/>
          <a:lstStyle/>
          <a:p>
            <a:endParaRPr/>
          </a:p>
        </p:txBody>
      </p:sp>
      <p:sp>
        <p:nvSpPr>
          <p:cNvPr id="18" name="object 18"/>
          <p:cNvSpPr/>
          <p:nvPr/>
        </p:nvSpPr>
        <p:spPr>
          <a:xfrm>
            <a:off x="3222188" y="790474"/>
            <a:ext cx="143510" cy="86360"/>
          </a:xfrm>
          <a:custGeom>
            <a:avLst/>
            <a:gdLst/>
            <a:ahLst/>
            <a:cxnLst/>
            <a:rect l="l" t="t" r="r" b="b"/>
            <a:pathLst>
              <a:path w="143510" h="86359">
                <a:moveTo>
                  <a:pt x="0" y="0"/>
                </a:moveTo>
                <a:lnTo>
                  <a:pt x="143417" y="86050"/>
                </a:lnTo>
                <a:lnTo>
                  <a:pt x="143417" y="86050"/>
                </a:lnTo>
              </a:path>
            </a:pathLst>
          </a:custGeom>
          <a:ln w="7170">
            <a:solidFill>
              <a:srgbClr val="000000"/>
            </a:solidFill>
          </a:ln>
        </p:spPr>
        <p:txBody>
          <a:bodyPr wrap="square" lIns="0" tIns="0" rIns="0" bIns="0" rtlCol="0"/>
          <a:lstStyle/>
          <a:p>
            <a:endParaRPr/>
          </a:p>
        </p:txBody>
      </p:sp>
      <p:sp>
        <p:nvSpPr>
          <p:cNvPr id="19" name="object 19"/>
          <p:cNvSpPr/>
          <p:nvPr/>
        </p:nvSpPr>
        <p:spPr>
          <a:xfrm>
            <a:off x="3681125" y="647056"/>
            <a:ext cx="86360" cy="114935"/>
          </a:xfrm>
          <a:custGeom>
            <a:avLst/>
            <a:gdLst/>
            <a:ahLst/>
            <a:cxnLst/>
            <a:rect l="l" t="t" r="r" b="b"/>
            <a:pathLst>
              <a:path w="86360" h="114934">
                <a:moveTo>
                  <a:pt x="0" y="114734"/>
                </a:moveTo>
                <a:lnTo>
                  <a:pt x="86050" y="0"/>
                </a:lnTo>
              </a:path>
            </a:pathLst>
          </a:custGeom>
          <a:ln w="7170">
            <a:solidFill>
              <a:srgbClr val="000000"/>
            </a:solidFill>
          </a:ln>
        </p:spPr>
        <p:txBody>
          <a:bodyPr wrap="square" lIns="0" tIns="0" rIns="0" bIns="0" rtlCol="0"/>
          <a:lstStyle/>
          <a:p>
            <a:endParaRPr/>
          </a:p>
        </p:txBody>
      </p:sp>
      <p:sp>
        <p:nvSpPr>
          <p:cNvPr id="20" name="object 20"/>
          <p:cNvSpPr/>
          <p:nvPr/>
        </p:nvSpPr>
        <p:spPr>
          <a:xfrm>
            <a:off x="3365606" y="647056"/>
            <a:ext cx="86360" cy="114935"/>
          </a:xfrm>
          <a:custGeom>
            <a:avLst/>
            <a:gdLst/>
            <a:ahLst/>
            <a:cxnLst/>
            <a:rect l="l" t="t" r="r" b="b"/>
            <a:pathLst>
              <a:path w="86360" h="114934">
                <a:moveTo>
                  <a:pt x="0" y="0"/>
                </a:moveTo>
                <a:lnTo>
                  <a:pt x="86050" y="114734"/>
                </a:lnTo>
              </a:path>
            </a:pathLst>
          </a:custGeom>
          <a:ln w="7170">
            <a:solidFill>
              <a:srgbClr val="000000"/>
            </a:solidFill>
          </a:ln>
        </p:spPr>
        <p:txBody>
          <a:bodyPr wrap="square" lIns="0" tIns="0" rIns="0" bIns="0" rtlCol="0"/>
          <a:lstStyle/>
          <a:p>
            <a:endParaRPr/>
          </a:p>
        </p:txBody>
      </p:sp>
      <p:sp>
        <p:nvSpPr>
          <p:cNvPr id="21" name="object 21"/>
          <p:cNvSpPr/>
          <p:nvPr/>
        </p:nvSpPr>
        <p:spPr>
          <a:xfrm>
            <a:off x="3445045" y="876524"/>
            <a:ext cx="218440" cy="229870"/>
          </a:xfrm>
          <a:custGeom>
            <a:avLst/>
            <a:gdLst/>
            <a:ahLst/>
            <a:cxnLst/>
            <a:rect l="l" t="t" r="r" b="b"/>
            <a:pathLst>
              <a:path w="218439" h="229869">
                <a:moveTo>
                  <a:pt x="118178" y="70"/>
                </a:moveTo>
                <a:lnTo>
                  <a:pt x="116848" y="25"/>
                </a:lnTo>
                <a:lnTo>
                  <a:pt x="115503" y="0"/>
                </a:lnTo>
                <a:lnTo>
                  <a:pt x="114174" y="0"/>
                </a:lnTo>
                <a:lnTo>
                  <a:pt x="72032" y="7987"/>
                </a:lnTo>
                <a:lnTo>
                  <a:pt x="36917" y="29910"/>
                </a:lnTo>
                <a:lnTo>
                  <a:pt x="11886" y="62709"/>
                </a:lnTo>
                <a:lnTo>
                  <a:pt x="0" y="103326"/>
                </a:lnTo>
                <a:lnTo>
                  <a:pt x="719" y="119596"/>
                </a:lnTo>
                <a:lnTo>
                  <a:pt x="12218" y="163067"/>
                </a:lnTo>
                <a:lnTo>
                  <a:pt x="35663" y="197080"/>
                </a:lnTo>
                <a:lnTo>
                  <a:pt x="68400" y="219775"/>
                </a:lnTo>
                <a:lnTo>
                  <a:pt x="107772" y="229292"/>
                </a:lnTo>
                <a:lnTo>
                  <a:pt x="122629" y="228576"/>
                </a:lnTo>
                <a:lnTo>
                  <a:pt x="162914" y="217813"/>
                </a:lnTo>
                <a:lnTo>
                  <a:pt x="195285" y="195621"/>
                </a:lnTo>
                <a:lnTo>
                  <a:pt x="211525" y="175426"/>
                </a:lnTo>
                <a:lnTo>
                  <a:pt x="217832" y="163922"/>
                </a:lnTo>
              </a:path>
            </a:pathLst>
          </a:custGeom>
          <a:ln w="7170">
            <a:solidFill>
              <a:srgbClr val="000000"/>
            </a:solidFill>
          </a:ln>
        </p:spPr>
        <p:txBody>
          <a:bodyPr wrap="square" lIns="0" tIns="0" rIns="0" bIns="0" rtlCol="0"/>
          <a:lstStyle/>
          <a:p>
            <a:endParaRPr/>
          </a:p>
        </p:txBody>
      </p:sp>
      <p:sp>
        <p:nvSpPr>
          <p:cNvPr id="22" name="object 22"/>
          <p:cNvSpPr/>
          <p:nvPr/>
        </p:nvSpPr>
        <p:spPr>
          <a:xfrm>
            <a:off x="3654244" y="991259"/>
            <a:ext cx="43180" cy="58419"/>
          </a:xfrm>
          <a:custGeom>
            <a:avLst/>
            <a:gdLst/>
            <a:ahLst/>
            <a:cxnLst/>
            <a:rect l="l" t="t" r="r" b="b"/>
            <a:pathLst>
              <a:path w="43179" h="58419">
                <a:moveTo>
                  <a:pt x="19710" y="0"/>
                </a:moveTo>
                <a:lnTo>
                  <a:pt x="0" y="58009"/>
                </a:lnTo>
                <a:lnTo>
                  <a:pt x="43004" y="56664"/>
                </a:lnTo>
                <a:lnTo>
                  <a:pt x="19710" y="0"/>
                </a:lnTo>
                <a:close/>
              </a:path>
            </a:pathLst>
          </a:custGeom>
          <a:solidFill>
            <a:srgbClr val="FFFFFF"/>
          </a:solidFill>
        </p:spPr>
        <p:txBody>
          <a:bodyPr wrap="square" lIns="0" tIns="0" rIns="0" bIns="0" rtlCol="0"/>
          <a:lstStyle/>
          <a:p>
            <a:endParaRPr/>
          </a:p>
        </p:txBody>
      </p:sp>
      <p:sp>
        <p:nvSpPr>
          <p:cNvPr id="23" name="object 23"/>
          <p:cNvSpPr/>
          <p:nvPr/>
        </p:nvSpPr>
        <p:spPr>
          <a:xfrm>
            <a:off x="3654244" y="991259"/>
            <a:ext cx="43180" cy="58419"/>
          </a:xfrm>
          <a:custGeom>
            <a:avLst/>
            <a:gdLst/>
            <a:ahLst/>
            <a:cxnLst/>
            <a:rect l="l" t="t" r="r" b="b"/>
            <a:pathLst>
              <a:path w="43179" h="58419">
                <a:moveTo>
                  <a:pt x="19710" y="0"/>
                </a:moveTo>
                <a:lnTo>
                  <a:pt x="0" y="58009"/>
                </a:lnTo>
                <a:lnTo>
                  <a:pt x="43004" y="56664"/>
                </a:lnTo>
                <a:lnTo>
                  <a:pt x="19710" y="0"/>
                </a:lnTo>
                <a:close/>
              </a:path>
            </a:pathLst>
          </a:custGeom>
          <a:solidFill>
            <a:srgbClr val="000000"/>
          </a:solidFill>
        </p:spPr>
        <p:txBody>
          <a:bodyPr wrap="square" lIns="0" tIns="0" rIns="0" bIns="0" rtlCol="0"/>
          <a:lstStyle/>
          <a:p>
            <a:endParaRPr/>
          </a:p>
        </p:txBody>
      </p:sp>
      <p:sp>
        <p:nvSpPr>
          <p:cNvPr id="24" name="object 24"/>
          <p:cNvSpPr/>
          <p:nvPr/>
        </p:nvSpPr>
        <p:spPr>
          <a:xfrm>
            <a:off x="4023615" y="876524"/>
            <a:ext cx="59690" cy="15240"/>
          </a:xfrm>
          <a:custGeom>
            <a:avLst/>
            <a:gdLst/>
            <a:ahLst/>
            <a:cxnLst/>
            <a:rect l="l" t="t" r="r" b="b"/>
            <a:pathLst>
              <a:path w="59689" h="15240">
                <a:moveTo>
                  <a:pt x="59080" y="0"/>
                </a:moveTo>
                <a:lnTo>
                  <a:pt x="0" y="14770"/>
                </a:lnTo>
              </a:path>
            </a:pathLst>
          </a:custGeom>
          <a:ln w="7170">
            <a:solidFill>
              <a:srgbClr val="000000"/>
            </a:solidFill>
          </a:ln>
        </p:spPr>
        <p:txBody>
          <a:bodyPr wrap="square" lIns="0" tIns="0" rIns="0" bIns="0" rtlCol="0"/>
          <a:lstStyle/>
          <a:p>
            <a:endParaRPr/>
          </a:p>
        </p:txBody>
      </p:sp>
      <p:sp>
        <p:nvSpPr>
          <p:cNvPr id="25" name="object 25"/>
          <p:cNvSpPr/>
          <p:nvPr/>
        </p:nvSpPr>
        <p:spPr>
          <a:xfrm>
            <a:off x="3967961" y="870424"/>
            <a:ext cx="60960" cy="41910"/>
          </a:xfrm>
          <a:custGeom>
            <a:avLst/>
            <a:gdLst/>
            <a:ahLst/>
            <a:cxnLst/>
            <a:rect l="l" t="t" r="r" b="b"/>
            <a:pathLst>
              <a:path w="60960" h="41909">
                <a:moveTo>
                  <a:pt x="50435" y="0"/>
                </a:moveTo>
                <a:lnTo>
                  <a:pt x="0" y="34783"/>
                </a:lnTo>
                <a:lnTo>
                  <a:pt x="60872" y="41740"/>
                </a:lnTo>
                <a:lnTo>
                  <a:pt x="50435" y="0"/>
                </a:lnTo>
                <a:close/>
              </a:path>
            </a:pathLst>
          </a:custGeom>
          <a:solidFill>
            <a:srgbClr val="FFFFFF"/>
          </a:solidFill>
        </p:spPr>
        <p:txBody>
          <a:bodyPr wrap="square" lIns="0" tIns="0" rIns="0" bIns="0" rtlCol="0"/>
          <a:lstStyle/>
          <a:p>
            <a:endParaRPr/>
          </a:p>
        </p:txBody>
      </p:sp>
      <p:sp>
        <p:nvSpPr>
          <p:cNvPr id="26" name="object 26"/>
          <p:cNvSpPr/>
          <p:nvPr/>
        </p:nvSpPr>
        <p:spPr>
          <a:xfrm>
            <a:off x="3967961" y="870424"/>
            <a:ext cx="60960" cy="41910"/>
          </a:xfrm>
          <a:custGeom>
            <a:avLst/>
            <a:gdLst/>
            <a:ahLst/>
            <a:cxnLst/>
            <a:rect l="l" t="t" r="r" b="b"/>
            <a:pathLst>
              <a:path w="60960" h="41909">
                <a:moveTo>
                  <a:pt x="50435" y="0"/>
                </a:moveTo>
                <a:lnTo>
                  <a:pt x="0" y="34783"/>
                </a:lnTo>
                <a:lnTo>
                  <a:pt x="60872" y="41740"/>
                </a:lnTo>
                <a:lnTo>
                  <a:pt x="50435" y="0"/>
                </a:lnTo>
                <a:close/>
              </a:path>
            </a:pathLst>
          </a:custGeom>
          <a:solidFill>
            <a:srgbClr val="000000"/>
          </a:solidFill>
        </p:spPr>
        <p:txBody>
          <a:bodyPr wrap="square" lIns="0" tIns="0" rIns="0" bIns="0" rtlCol="0"/>
          <a:lstStyle/>
          <a:p>
            <a:endParaRPr/>
          </a:p>
        </p:txBody>
      </p:sp>
      <p:sp>
        <p:nvSpPr>
          <p:cNvPr id="27" name="object 27"/>
          <p:cNvSpPr/>
          <p:nvPr/>
        </p:nvSpPr>
        <p:spPr>
          <a:xfrm>
            <a:off x="3193504" y="618372"/>
            <a:ext cx="45720" cy="45720"/>
          </a:xfrm>
          <a:custGeom>
            <a:avLst/>
            <a:gdLst/>
            <a:ahLst/>
            <a:cxnLst/>
            <a:rect l="l" t="t" r="r" b="b"/>
            <a:pathLst>
              <a:path w="45719" h="45720">
                <a:moveTo>
                  <a:pt x="0" y="0"/>
                </a:moveTo>
                <a:lnTo>
                  <a:pt x="45485" y="45485"/>
                </a:lnTo>
              </a:path>
            </a:pathLst>
          </a:custGeom>
          <a:ln w="7170">
            <a:solidFill>
              <a:srgbClr val="000000"/>
            </a:solidFill>
          </a:ln>
        </p:spPr>
        <p:txBody>
          <a:bodyPr wrap="square" lIns="0" tIns="0" rIns="0" bIns="0" rtlCol="0"/>
          <a:lstStyle/>
          <a:p>
            <a:endParaRPr/>
          </a:p>
        </p:txBody>
      </p:sp>
      <p:sp>
        <p:nvSpPr>
          <p:cNvPr id="28" name="object 28"/>
          <p:cNvSpPr/>
          <p:nvPr/>
        </p:nvSpPr>
        <p:spPr>
          <a:xfrm>
            <a:off x="3223776" y="648644"/>
            <a:ext cx="55880" cy="55880"/>
          </a:xfrm>
          <a:custGeom>
            <a:avLst/>
            <a:gdLst/>
            <a:ahLst/>
            <a:cxnLst/>
            <a:rect l="l" t="t" r="r" b="b"/>
            <a:pathLst>
              <a:path w="55879" h="55879">
                <a:moveTo>
                  <a:pt x="30426" y="0"/>
                </a:moveTo>
                <a:lnTo>
                  <a:pt x="0" y="30426"/>
                </a:lnTo>
                <a:lnTo>
                  <a:pt x="55778" y="55778"/>
                </a:lnTo>
                <a:lnTo>
                  <a:pt x="30426" y="0"/>
                </a:lnTo>
                <a:close/>
              </a:path>
            </a:pathLst>
          </a:custGeom>
          <a:solidFill>
            <a:srgbClr val="FFFFFF"/>
          </a:solidFill>
        </p:spPr>
        <p:txBody>
          <a:bodyPr wrap="square" lIns="0" tIns="0" rIns="0" bIns="0" rtlCol="0"/>
          <a:lstStyle/>
          <a:p>
            <a:endParaRPr/>
          </a:p>
        </p:txBody>
      </p:sp>
      <p:sp>
        <p:nvSpPr>
          <p:cNvPr id="29" name="object 29"/>
          <p:cNvSpPr/>
          <p:nvPr/>
        </p:nvSpPr>
        <p:spPr>
          <a:xfrm>
            <a:off x="3223776" y="648644"/>
            <a:ext cx="55880" cy="55880"/>
          </a:xfrm>
          <a:custGeom>
            <a:avLst/>
            <a:gdLst/>
            <a:ahLst/>
            <a:cxnLst/>
            <a:rect l="l" t="t" r="r" b="b"/>
            <a:pathLst>
              <a:path w="55879" h="55879">
                <a:moveTo>
                  <a:pt x="30426" y="0"/>
                </a:moveTo>
                <a:lnTo>
                  <a:pt x="0" y="30426"/>
                </a:lnTo>
                <a:lnTo>
                  <a:pt x="55778" y="55778"/>
                </a:lnTo>
                <a:lnTo>
                  <a:pt x="30426" y="0"/>
                </a:lnTo>
                <a:close/>
              </a:path>
            </a:pathLst>
          </a:custGeom>
          <a:solidFill>
            <a:srgbClr val="000000"/>
          </a:solidFill>
        </p:spPr>
        <p:txBody>
          <a:bodyPr wrap="square" lIns="0" tIns="0" rIns="0" bIns="0" rtlCol="0"/>
          <a:lstStyle/>
          <a:p>
            <a:endParaRPr/>
          </a:p>
        </p:txBody>
      </p:sp>
      <p:sp>
        <p:nvSpPr>
          <p:cNvPr id="30" name="object 30"/>
          <p:cNvSpPr txBox="1"/>
          <p:nvPr/>
        </p:nvSpPr>
        <p:spPr>
          <a:xfrm>
            <a:off x="3177936" y="914113"/>
            <a:ext cx="831850" cy="701675"/>
          </a:xfrm>
          <a:prstGeom prst="rect">
            <a:avLst/>
          </a:prstGeom>
        </p:spPr>
        <p:txBody>
          <a:bodyPr vert="horz" wrap="square" lIns="0" tIns="0" rIns="0" bIns="0" rtlCol="0">
            <a:spAutoFit/>
          </a:bodyPr>
          <a:lstStyle/>
          <a:p>
            <a:pPr marL="12700">
              <a:lnSpc>
                <a:spcPct val="100000"/>
              </a:lnSpc>
            </a:pPr>
            <a:r>
              <a:rPr sz="1900" b="1" spc="-695" dirty="0">
                <a:latin typeface="Courier New"/>
                <a:cs typeface="Courier New"/>
              </a:rPr>
              <a:t>.</a:t>
            </a:r>
            <a:r>
              <a:rPr sz="2850" b="1" spc="-359" baseline="-26315" dirty="0">
                <a:latin typeface="Courier New"/>
                <a:cs typeface="Courier New"/>
              </a:rPr>
              <a:t>.</a:t>
            </a:r>
            <a:r>
              <a:rPr sz="2850" b="1" spc="15" baseline="-46783" dirty="0">
                <a:latin typeface="Courier New"/>
                <a:cs typeface="Courier New"/>
              </a:rPr>
              <a:t>.</a:t>
            </a:r>
            <a:r>
              <a:rPr sz="2850" b="1" spc="-1410" baseline="-46783" dirty="0">
                <a:latin typeface="Courier New"/>
                <a:cs typeface="Courier New"/>
              </a:rPr>
              <a:t> </a:t>
            </a:r>
            <a:r>
              <a:rPr sz="2850" b="1" spc="315" baseline="-52631" dirty="0">
                <a:latin typeface="Courier New"/>
                <a:cs typeface="Courier New"/>
              </a:rPr>
              <a:t>.</a:t>
            </a:r>
            <a:r>
              <a:rPr sz="2850" b="1" spc="15" baseline="-33625" dirty="0">
                <a:latin typeface="Courier New"/>
                <a:cs typeface="Courier New"/>
              </a:rPr>
              <a:t>.</a:t>
            </a:r>
            <a:endParaRPr sz="2850" baseline="-33625">
              <a:latin typeface="Courier New"/>
              <a:cs typeface="Courier New"/>
            </a:endParaRPr>
          </a:p>
          <a:p>
            <a:pPr marL="43815">
              <a:lnSpc>
                <a:spcPct val="100000"/>
              </a:lnSpc>
              <a:spcBef>
                <a:spcPts val="2130"/>
              </a:spcBef>
            </a:pPr>
            <a:r>
              <a:rPr sz="1100" spc="10" dirty="0">
                <a:latin typeface="Courier New"/>
                <a:cs typeface="Courier New"/>
              </a:rPr>
              <a:t>buffer[n]</a:t>
            </a:r>
            <a:endParaRPr sz="1100">
              <a:latin typeface="Courier New"/>
              <a:cs typeface="Courier New"/>
            </a:endParaRPr>
          </a:p>
        </p:txBody>
      </p:sp>
      <p:sp>
        <p:nvSpPr>
          <p:cNvPr id="31" name="object 31"/>
          <p:cNvSpPr txBox="1"/>
          <p:nvPr/>
        </p:nvSpPr>
        <p:spPr>
          <a:xfrm>
            <a:off x="4071439" y="747611"/>
            <a:ext cx="224790" cy="168910"/>
          </a:xfrm>
          <a:prstGeom prst="rect">
            <a:avLst/>
          </a:prstGeom>
        </p:spPr>
        <p:txBody>
          <a:bodyPr vert="horz" wrap="square" lIns="0" tIns="0" rIns="0" bIns="0" rtlCol="0">
            <a:spAutoFit/>
          </a:bodyPr>
          <a:lstStyle/>
          <a:p>
            <a:pPr marL="12700">
              <a:lnSpc>
                <a:spcPct val="100000"/>
              </a:lnSpc>
            </a:pPr>
            <a:r>
              <a:rPr sz="1100" spc="10" dirty="0">
                <a:latin typeface="Arial"/>
                <a:cs typeface="Arial"/>
              </a:rPr>
              <a:t>out</a:t>
            </a:r>
            <a:endParaRPr sz="1100">
              <a:latin typeface="Arial"/>
              <a:cs typeface="Arial"/>
            </a:endParaRPr>
          </a:p>
        </p:txBody>
      </p:sp>
      <p:sp>
        <p:nvSpPr>
          <p:cNvPr id="32" name="object 32"/>
          <p:cNvSpPr txBox="1"/>
          <p:nvPr/>
        </p:nvSpPr>
        <p:spPr>
          <a:xfrm>
            <a:off x="3069233" y="489458"/>
            <a:ext cx="137160" cy="168910"/>
          </a:xfrm>
          <a:prstGeom prst="rect">
            <a:avLst/>
          </a:prstGeom>
        </p:spPr>
        <p:txBody>
          <a:bodyPr vert="horz" wrap="square" lIns="0" tIns="0" rIns="0" bIns="0" rtlCol="0">
            <a:spAutoFit/>
          </a:bodyPr>
          <a:lstStyle/>
          <a:p>
            <a:pPr marL="12700">
              <a:lnSpc>
                <a:spcPct val="100000"/>
              </a:lnSpc>
            </a:pPr>
            <a:r>
              <a:rPr sz="1100" spc="5" dirty="0">
                <a:latin typeface="Arial"/>
                <a:cs typeface="Arial"/>
              </a:rPr>
              <a:t>in</a:t>
            </a:r>
            <a:endParaRPr sz="1100">
              <a:latin typeface="Arial"/>
              <a:cs typeface="Arial"/>
            </a:endParaRPr>
          </a:p>
        </p:txBody>
      </p:sp>
      <p:sp>
        <p:nvSpPr>
          <p:cNvPr id="33" name="object 33"/>
          <p:cNvSpPr txBox="1"/>
          <p:nvPr/>
        </p:nvSpPr>
        <p:spPr>
          <a:xfrm>
            <a:off x="264540" y="1768704"/>
            <a:ext cx="474980" cy="139700"/>
          </a:xfrm>
          <a:prstGeom prst="rect">
            <a:avLst/>
          </a:prstGeom>
        </p:spPr>
        <p:txBody>
          <a:bodyPr vert="horz" wrap="square" lIns="0" tIns="0" rIns="0" bIns="0" rtlCol="0">
            <a:spAutoFit/>
          </a:bodyPr>
          <a:lstStyle/>
          <a:p>
            <a:pPr marL="12700">
              <a:lnSpc>
                <a:spcPct val="100000"/>
              </a:lnSpc>
            </a:pPr>
            <a:r>
              <a:rPr sz="900" spc="-5" dirty="0">
                <a:latin typeface="Arial"/>
                <a:cs typeface="Arial"/>
              </a:rPr>
              <a:t>producer</a:t>
            </a:r>
            <a:endParaRPr sz="900">
              <a:latin typeface="Arial"/>
              <a:cs typeface="Arial"/>
            </a:endParaRPr>
          </a:p>
        </p:txBody>
      </p:sp>
      <p:sp>
        <p:nvSpPr>
          <p:cNvPr id="34" name="object 34"/>
          <p:cNvSpPr/>
          <p:nvPr/>
        </p:nvSpPr>
        <p:spPr>
          <a:xfrm>
            <a:off x="277240" y="1909572"/>
            <a:ext cx="449580" cy="0"/>
          </a:xfrm>
          <a:custGeom>
            <a:avLst/>
            <a:gdLst/>
            <a:ahLst/>
            <a:cxnLst/>
            <a:rect l="l" t="t" r="r" b="b"/>
            <a:pathLst>
              <a:path w="449580">
                <a:moveTo>
                  <a:pt x="0" y="0"/>
                </a:moveTo>
                <a:lnTo>
                  <a:pt x="449326" y="0"/>
                </a:lnTo>
              </a:path>
            </a:pathLst>
          </a:custGeom>
          <a:ln w="4813">
            <a:solidFill>
              <a:srgbClr val="000000"/>
            </a:solidFill>
          </a:ln>
        </p:spPr>
        <p:txBody>
          <a:bodyPr wrap="square" lIns="0" tIns="0" rIns="0" bIns="0" rtlCol="0"/>
          <a:lstStyle/>
          <a:p>
            <a:endParaRPr/>
          </a:p>
        </p:txBody>
      </p:sp>
      <p:sp>
        <p:nvSpPr>
          <p:cNvPr id="35" name="object 35"/>
          <p:cNvSpPr txBox="1"/>
          <p:nvPr/>
        </p:nvSpPr>
        <p:spPr>
          <a:xfrm>
            <a:off x="264540" y="1910180"/>
            <a:ext cx="1460500" cy="695960"/>
          </a:xfrm>
          <a:prstGeom prst="rect">
            <a:avLst/>
          </a:prstGeom>
        </p:spPr>
        <p:txBody>
          <a:bodyPr vert="horz" wrap="square" lIns="0" tIns="0" rIns="0" bIns="0" rtlCol="0">
            <a:spAutoFit/>
          </a:bodyPr>
          <a:lstStyle/>
          <a:p>
            <a:pPr marL="12700">
              <a:lnSpc>
                <a:spcPct val="100000"/>
              </a:lnSpc>
            </a:pPr>
            <a:r>
              <a:rPr sz="900" spc="15" dirty="0">
                <a:latin typeface="Times New Roman"/>
                <a:cs typeface="Times New Roman"/>
              </a:rPr>
              <a:t>p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90" dirty="0">
                <a:latin typeface="Times New Roman"/>
                <a:cs typeface="Times New Roman"/>
              </a:rPr>
              <a:t>produce();</a:t>
            </a:r>
            <a:endParaRPr sz="900">
              <a:latin typeface="Times New Roman"/>
              <a:cs typeface="Times New Roman"/>
            </a:endParaRPr>
          </a:p>
          <a:p>
            <a:pPr marL="12700">
              <a:lnSpc>
                <a:spcPct val="100000"/>
              </a:lnSpc>
              <a:spcBef>
                <a:spcPts val="15"/>
              </a:spcBef>
            </a:pPr>
            <a:r>
              <a:rPr sz="900" spc="65" dirty="0">
                <a:latin typeface="Times New Roman"/>
                <a:cs typeface="Times New Roman"/>
              </a:rPr>
              <a:t>while </a:t>
            </a:r>
            <a:r>
              <a:rPr sz="900" spc="20" dirty="0">
                <a:latin typeface="Times New Roman"/>
                <a:cs typeface="Times New Roman"/>
              </a:rPr>
              <a:t> </a:t>
            </a:r>
            <a:r>
              <a:rPr sz="900" spc="75" dirty="0">
                <a:latin typeface="Times New Roman"/>
                <a:cs typeface="Times New Roman"/>
              </a:rPr>
              <a:t>(in+1</a:t>
            </a:r>
            <a:r>
              <a:rPr sz="900" dirty="0">
                <a:latin typeface="Times New Roman"/>
                <a:cs typeface="Times New Roman"/>
              </a:rPr>
              <a:t> </a:t>
            </a:r>
            <a:r>
              <a:rPr sz="900" spc="20" dirty="0">
                <a:latin typeface="Times New Roman"/>
                <a:cs typeface="Times New Roman"/>
              </a:rPr>
              <a:t> </a:t>
            </a:r>
            <a:r>
              <a:rPr sz="900" spc="-28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5" dirty="0">
                <a:latin typeface="Times New Roman"/>
                <a:cs typeface="Times New Roman"/>
              </a:rPr>
              <a:t>n</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25" dirty="0">
                <a:latin typeface="Times New Roman"/>
                <a:cs typeface="Times New Roman"/>
              </a:rPr>
              <a:t>out);</a:t>
            </a:r>
            <a:endParaRPr sz="900">
              <a:latin typeface="Times New Roman"/>
              <a:cs typeface="Times New Roman"/>
            </a:endParaRPr>
          </a:p>
          <a:p>
            <a:pPr marL="12700" marR="64769">
              <a:lnSpc>
                <a:spcPct val="101400"/>
              </a:lnSpc>
            </a:pPr>
            <a:r>
              <a:rPr sz="900" spc="114" dirty="0">
                <a:latin typeface="Times New Roman"/>
                <a:cs typeface="Times New Roman"/>
              </a:rPr>
              <a:t>/* </a:t>
            </a:r>
            <a:r>
              <a:rPr sz="900" spc="20" dirty="0">
                <a:latin typeface="Times New Roman"/>
                <a:cs typeface="Times New Roman"/>
              </a:rPr>
              <a:t> </a:t>
            </a:r>
            <a:r>
              <a:rPr sz="900" spc="100" dirty="0">
                <a:latin typeface="Times New Roman"/>
                <a:cs typeface="Times New Roman"/>
              </a:rPr>
              <a:t>buffer</a:t>
            </a:r>
            <a:r>
              <a:rPr sz="900" dirty="0">
                <a:latin typeface="Times New Roman"/>
                <a:cs typeface="Times New Roman"/>
              </a:rPr>
              <a:t> </a:t>
            </a:r>
            <a:r>
              <a:rPr sz="900" spc="20" dirty="0">
                <a:latin typeface="Times New Roman"/>
                <a:cs typeface="Times New Roman"/>
              </a:rPr>
              <a:t> </a:t>
            </a:r>
            <a:r>
              <a:rPr sz="900" spc="170" dirty="0">
                <a:latin typeface="Times New Roman"/>
                <a:cs typeface="Times New Roman"/>
              </a:rPr>
              <a:t>full,</a:t>
            </a:r>
            <a:r>
              <a:rPr sz="900" dirty="0">
                <a:latin typeface="Times New Roman"/>
                <a:cs typeface="Times New Roman"/>
              </a:rPr>
              <a:t> </a:t>
            </a:r>
            <a:r>
              <a:rPr sz="900" spc="20" dirty="0">
                <a:latin typeface="Times New Roman"/>
                <a:cs typeface="Times New Roman"/>
              </a:rPr>
              <a:t> </a:t>
            </a:r>
            <a:r>
              <a:rPr sz="900" spc="90" dirty="0">
                <a:latin typeface="Times New Roman"/>
                <a:cs typeface="Times New Roman"/>
              </a:rPr>
              <a:t>skip</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 buffer[in]</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p;</a:t>
            </a:r>
            <a:endParaRPr sz="900">
              <a:latin typeface="Times New Roman"/>
              <a:cs typeface="Times New Roman"/>
            </a:endParaRPr>
          </a:p>
          <a:p>
            <a:pPr marL="12700">
              <a:lnSpc>
                <a:spcPct val="100000"/>
              </a:lnSpc>
              <a:spcBef>
                <a:spcPts val="15"/>
              </a:spcBef>
            </a:pPr>
            <a:r>
              <a:rPr sz="900" spc="114" dirty="0">
                <a:latin typeface="Times New Roman"/>
                <a:cs typeface="Times New Roman"/>
              </a:rPr>
              <a:t>in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50" dirty="0">
                <a:latin typeface="Times New Roman"/>
                <a:cs typeface="Times New Roman"/>
              </a:rPr>
              <a:t>in+1</a:t>
            </a:r>
            <a:r>
              <a:rPr sz="900" dirty="0">
                <a:latin typeface="Times New Roman"/>
                <a:cs typeface="Times New Roman"/>
              </a:rPr>
              <a:t> </a:t>
            </a:r>
            <a:r>
              <a:rPr sz="900" spc="20" dirty="0">
                <a:latin typeface="Times New Roman"/>
                <a:cs typeface="Times New Roman"/>
              </a:rPr>
              <a:t> </a:t>
            </a:r>
            <a:r>
              <a:rPr sz="900" spc="-28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n;</a:t>
            </a:r>
            <a:endParaRPr sz="900">
              <a:latin typeface="Times New Roman"/>
              <a:cs typeface="Times New Roman"/>
            </a:endParaRPr>
          </a:p>
        </p:txBody>
      </p:sp>
      <p:sp>
        <p:nvSpPr>
          <p:cNvPr id="36" name="object 36"/>
          <p:cNvSpPr txBox="1"/>
          <p:nvPr/>
        </p:nvSpPr>
        <p:spPr>
          <a:xfrm>
            <a:off x="2369185" y="1768704"/>
            <a:ext cx="1579880" cy="698500"/>
          </a:xfrm>
          <a:prstGeom prst="rect">
            <a:avLst/>
          </a:prstGeom>
        </p:spPr>
        <p:txBody>
          <a:bodyPr vert="horz" wrap="square" lIns="0" tIns="0" rIns="0" bIns="0" rtlCol="0">
            <a:spAutoFit/>
          </a:bodyPr>
          <a:lstStyle/>
          <a:p>
            <a:pPr marL="12700">
              <a:lnSpc>
                <a:spcPct val="100000"/>
              </a:lnSpc>
            </a:pPr>
            <a:r>
              <a:rPr sz="900" u="sng" spc="-5" dirty="0">
                <a:latin typeface="Arial"/>
                <a:cs typeface="Arial"/>
              </a:rPr>
              <a:t>consumer</a:t>
            </a:r>
            <a:endParaRPr sz="900">
              <a:latin typeface="Arial"/>
              <a:cs typeface="Arial"/>
            </a:endParaRPr>
          </a:p>
          <a:p>
            <a:pPr marL="12700" marR="5080">
              <a:lnSpc>
                <a:spcPct val="101499"/>
              </a:lnSpc>
            </a:pPr>
            <a:r>
              <a:rPr sz="900" spc="65" dirty="0">
                <a:latin typeface="Times New Roman"/>
                <a:cs typeface="Times New Roman"/>
              </a:rPr>
              <a:t>while </a:t>
            </a:r>
            <a:r>
              <a:rPr sz="900" spc="15" dirty="0">
                <a:latin typeface="Times New Roman"/>
                <a:cs typeface="Times New Roman"/>
              </a:rPr>
              <a:t> </a:t>
            </a:r>
            <a:r>
              <a:rPr sz="900" spc="135" dirty="0">
                <a:latin typeface="Times New Roman"/>
                <a:cs typeface="Times New Roman"/>
              </a:rPr>
              <a:t>(in</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25" dirty="0">
                <a:latin typeface="Times New Roman"/>
                <a:cs typeface="Times New Roman"/>
              </a:rPr>
              <a:t>out);</a:t>
            </a:r>
            <a:r>
              <a:rPr sz="900" dirty="0">
                <a:latin typeface="Times New Roman"/>
                <a:cs typeface="Times New Roman"/>
              </a:rPr>
              <a:t> </a:t>
            </a:r>
            <a:r>
              <a:rPr sz="900" spc="20" dirty="0">
                <a:latin typeface="Times New Roman"/>
                <a:cs typeface="Times New Roman"/>
              </a:rPr>
              <a:t> </a:t>
            </a:r>
            <a:r>
              <a:rPr sz="900" spc="220"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90" dirty="0">
                <a:latin typeface="Times New Roman"/>
                <a:cs typeface="Times New Roman"/>
              </a:rPr>
              <a:t>skip</a:t>
            </a:r>
            <a:r>
              <a:rPr sz="900" spc="55" dirty="0">
                <a:latin typeface="Times New Roman"/>
                <a:cs typeface="Times New Roman"/>
              </a:rPr>
              <a:t> </a:t>
            </a:r>
            <a:r>
              <a:rPr sz="900" spc="15" dirty="0">
                <a:latin typeface="Times New Roman"/>
                <a:cs typeface="Times New Roman"/>
              </a:rPr>
              <a:t>p</a:t>
            </a:r>
            <a:r>
              <a:rPr sz="900" dirty="0">
                <a:latin typeface="Times New Roman"/>
                <a:cs typeface="Times New Roman"/>
              </a:rPr>
              <a:t> </a:t>
            </a:r>
            <a:r>
              <a:rPr sz="900" spc="15"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buffer[out];</a:t>
            </a:r>
            <a:endParaRPr sz="900">
              <a:latin typeface="Times New Roman"/>
              <a:cs typeface="Times New Roman"/>
            </a:endParaRPr>
          </a:p>
          <a:p>
            <a:pPr marL="12700" marR="602615">
              <a:lnSpc>
                <a:spcPct val="101400"/>
              </a:lnSpc>
            </a:pPr>
            <a:r>
              <a:rPr sz="900" spc="80" dirty="0">
                <a:latin typeface="Times New Roman"/>
                <a:cs typeface="Times New Roman"/>
              </a:rPr>
              <a:t>out </a:t>
            </a:r>
            <a:r>
              <a:rPr sz="900" spc="15"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out+1</a:t>
            </a:r>
            <a:r>
              <a:rPr sz="900" dirty="0">
                <a:latin typeface="Times New Roman"/>
                <a:cs typeface="Times New Roman"/>
              </a:rPr>
              <a:t> </a:t>
            </a:r>
            <a:r>
              <a:rPr sz="900" spc="20" dirty="0">
                <a:latin typeface="Times New Roman"/>
                <a:cs typeface="Times New Roman"/>
              </a:rPr>
              <a:t> </a:t>
            </a:r>
            <a:r>
              <a:rPr sz="900" spc="-28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n;</a:t>
            </a:r>
            <a:r>
              <a:rPr sz="900" spc="75" dirty="0">
                <a:latin typeface="Times New Roman"/>
                <a:cs typeface="Times New Roman"/>
              </a:rPr>
              <a:t> </a:t>
            </a:r>
            <a:r>
              <a:rPr sz="900" spc="60" dirty="0">
                <a:latin typeface="Times New Roman"/>
                <a:cs typeface="Times New Roman"/>
              </a:rPr>
              <a:t>consume(p);</a:t>
            </a:r>
            <a:endParaRPr sz="900">
              <a:latin typeface="Times New Roman"/>
              <a:cs typeface="Times New Roman"/>
            </a:endParaRPr>
          </a:p>
        </p:txBody>
      </p:sp>
      <p:sp>
        <p:nvSpPr>
          <p:cNvPr id="37" name="object 37"/>
          <p:cNvSpPr/>
          <p:nvPr/>
        </p:nvSpPr>
        <p:spPr>
          <a:xfrm>
            <a:off x="0" y="3327019"/>
            <a:ext cx="1536065" cy="129539"/>
          </a:xfrm>
          <a:custGeom>
            <a:avLst/>
            <a:gdLst/>
            <a:ahLst/>
            <a:cxnLst/>
            <a:rect l="l" t="t" r="r" b="b"/>
            <a:pathLst>
              <a:path w="1536065" h="129539">
                <a:moveTo>
                  <a:pt x="0" y="129031"/>
                </a:moveTo>
                <a:lnTo>
                  <a:pt x="1535938" y="129031"/>
                </a:lnTo>
                <a:lnTo>
                  <a:pt x="1535938" y="0"/>
                </a:lnTo>
                <a:lnTo>
                  <a:pt x="0" y="0"/>
                </a:lnTo>
                <a:lnTo>
                  <a:pt x="0" y="129031"/>
                </a:lnTo>
              </a:path>
            </a:pathLst>
          </a:custGeom>
          <a:solidFill>
            <a:srgbClr val="193F3F"/>
          </a:solidFill>
        </p:spPr>
        <p:txBody>
          <a:bodyPr wrap="square" lIns="0" tIns="0" rIns="0" bIns="0" rtlCol="0"/>
          <a:lstStyle/>
          <a:p>
            <a:endParaRPr/>
          </a:p>
        </p:txBody>
      </p:sp>
      <p:sp>
        <p:nvSpPr>
          <p:cNvPr id="38" name="object 38"/>
          <p:cNvSpPr/>
          <p:nvPr/>
        </p:nvSpPr>
        <p:spPr>
          <a:xfrm>
            <a:off x="1535938" y="3327019"/>
            <a:ext cx="1536065" cy="129539"/>
          </a:xfrm>
          <a:custGeom>
            <a:avLst/>
            <a:gdLst/>
            <a:ahLst/>
            <a:cxnLst/>
            <a:rect l="l" t="t" r="r" b="b"/>
            <a:pathLst>
              <a:path w="1536064" h="129539">
                <a:moveTo>
                  <a:pt x="0" y="129031"/>
                </a:moveTo>
                <a:lnTo>
                  <a:pt x="1535938" y="129031"/>
                </a:lnTo>
                <a:lnTo>
                  <a:pt x="1535938" y="0"/>
                </a:lnTo>
                <a:lnTo>
                  <a:pt x="0" y="0"/>
                </a:lnTo>
                <a:lnTo>
                  <a:pt x="0" y="129031"/>
                </a:lnTo>
              </a:path>
            </a:pathLst>
          </a:custGeom>
          <a:solidFill>
            <a:srgbClr val="265F5F"/>
          </a:solidFill>
        </p:spPr>
        <p:txBody>
          <a:bodyPr wrap="square" lIns="0" tIns="0" rIns="0" bIns="0" rtlCol="0"/>
          <a:lstStyle/>
          <a:p>
            <a:endParaRPr/>
          </a:p>
        </p:txBody>
      </p:sp>
      <p:sp>
        <p:nvSpPr>
          <p:cNvPr id="39" name="object 39"/>
          <p:cNvSpPr/>
          <p:nvPr/>
        </p:nvSpPr>
        <p:spPr>
          <a:xfrm>
            <a:off x="3072002" y="3327019"/>
            <a:ext cx="1536065" cy="129539"/>
          </a:xfrm>
          <a:custGeom>
            <a:avLst/>
            <a:gdLst/>
            <a:ahLst/>
            <a:cxnLst/>
            <a:rect l="l" t="t" r="r" b="b"/>
            <a:pathLst>
              <a:path w="1536064" h="129539">
                <a:moveTo>
                  <a:pt x="0" y="129031"/>
                </a:moveTo>
                <a:lnTo>
                  <a:pt x="1535937" y="129031"/>
                </a:lnTo>
                <a:lnTo>
                  <a:pt x="1535937" y="0"/>
                </a:lnTo>
                <a:lnTo>
                  <a:pt x="0" y="0"/>
                </a:lnTo>
                <a:lnTo>
                  <a:pt x="0" y="129031"/>
                </a:lnTo>
              </a:path>
            </a:pathLst>
          </a:custGeom>
          <a:solidFill>
            <a:srgbClr val="337F7F"/>
          </a:solidFill>
        </p:spPr>
        <p:txBody>
          <a:bodyPr wrap="square" lIns="0" tIns="0" rIns="0" bIns="0" rtlCol="0"/>
          <a:lstStyle/>
          <a:p>
            <a:endParaRPr/>
          </a:p>
        </p:txBody>
      </p:sp>
      <p:sp>
        <p:nvSpPr>
          <p:cNvPr id="40" name="object 40"/>
          <p:cNvSpPr txBox="1">
            <a:spLocks noGrp="1"/>
          </p:cNvSpPr>
          <p:nvPr>
            <p:ph type="ftr" sz="quarter" idx="5"/>
          </p:nvPr>
        </p:nvSpPr>
        <p:spPr>
          <a:xfrm>
            <a:off x="525780" y="3345157"/>
            <a:ext cx="484505" cy="92333"/>
          </a:xfrm>
          <a:prstGeom prst="rect">
            <a:avLst/>
          </a:prstGeom>
        </p:spPr>
        <p:txBody>
          <a:bodyPr vert="horz" wrap="square" lIns="0" tIns="0" rIns="0" bIns="0" rtlCol="0">
            <a:spAutoFit/>
          </a:bodyPr>
          <a:lstStyle/>
          <a:p>
            <a:pPr marL="12700">
              <a:lnSpc>
                <a:spcPct val="100000"/>
              </a:lnSpc>
            </a:pPr>
            <a:r>
              <a:rPr lang="en-IN" spc="-5" dirty="0" smtClean="0"/>
              <a:t>M.Tech.</a:t>
            </a:r>
            <a:r>
              <a:rPr dirty="0" smtClean="0"/>
              <a:t> </a:t>
            </a:r>
            <a:r>
              <a:rPr spc="-5" dirty="0" smtClean="0"/>
              <a:t> </a:t>
            </a:r>
            <a:r>
              <a:rPr spc="-5" dirty="0"/>
              <a:t>(ISI)</a:t>
            </a:r>
          </a:p>
        </p:txBody>
      </p:sp>
      <p:sp>
        <p:nvSpPr>
          <p:cNvPr id="41" name="object 41"/>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spc="-5" dirty="0"/>
              <a:t>Process Synchronization</a:t>
            </a:r>
          </a:p>
        </p:txBody>
      </p:sp>
      <p:sp>
        <p:nvSpPr>
          <p:cNvPr id="42" name="object 42"/>
          <p:cNvSpPr txBox="1"/>
          <p:nvPr/>
        </p:nvSpPr>
        <p:spPr>
          <a:xfrm>
            <a:off x="4325873" y="3345157"/>
            <a:ext cx="215900" cy="101600"/>
          </a:xfrm>
          <a:prstGeom prst="rect">
            <a:avLst/>
          </a:prstGeom>
        </p:spPr>
        <p:txBody>
          <a:bodyPr vert="horz" wrap="square" lIns="0" tIns="0" rIns="0" bIns="0" rtlCol="0">
            <a:spAutoFit/>
          </a:bodyPr>
          <a:lstStyle/>
          <a:p>
            <a:pPr marL="12700">
              <a:lnSpc>
                <a:spcPct val="100000"/>
              </a:lnSpc>
            </a:pPr>
            <a:r>
              <a:rPr sz="600" spc="-5" dirty="0">
                <a:solidFill>
                  <a:srgbClr val="FFFFFF"/>
                </a:solidFill>
                <a:latin typeface="Arial"/>
                <a:cs typeface="Arial"/>
              </a:rPr>
              <a:t>4 / 28</a:t>
            </a:r>
            <a:endParaRPr sz="600">
              <a:latin typeface="Arial"/>
              <a:cs typeface="Arial"/>
            </a:endParaRPr>
          </a:p>
        </p:txBody>
      </p:sp>
      <p:sp>
        <p:nvSpPr>
          <p:cNvPr id="43" name="object 20"/>
          <p:cNvSpPr txBox="1"/>
          <p:nvPr/>
        </p:nvSpPr>
        <p:spPr>
          <a:xfrm>
            <a:off x="298831" y="2946908"/>
            <a:ext cx="4010660" cy="138499"/>
          </a:xfrm>
          <a:prstGeom prst="rect">
            <a:avLst/>
          </a:prstGeom>
          <a:ln w="5054">
            <a:solidFill>
              <a:srgbClr val="000000"/>
            </a:solidFill>
          </a:ln>
        </p:spPr>
        <p:txBody>
          <a:bodyPr vert="horz" wrap="square" lIns="0" tIns="0" rIns="0" bIns="0" rtlCol="0">
            <a:spAutoFit/>
          </a:bodyPr>
          <a:lstStyle/>
          <a:p>
            <a:pPr marL="37465">
              <a:lnSpc>
                <a:spcPct val="100000"/>
              </a:lnSpc>
            </a:pPr>
            <a:r>
              <a:rPr lang="en-US" sz="900" b="1" i="1" spc="-10" dirty="0" smtClean="0">
                <a:latin typeface="Arial"/>
                <a:cs typeface="Arial"/>
              </a:rPr>
              <a:t>buffer</a:t>
            </a:r>
            <a:r>
              <a:rPr lang="en-US" sz="900" b="1" spc="-10" dirty="0" smtClean="0">
                <a:latin typeface="Arial"/>
                <a:cs typeface="Arial"/>
              </a:rPr>
              <a:t> in shared space, </a:t>
            </a:r>
            <a:r>
              <a:rPr lang="en-US" sz="900" b="1" i="1" spc="-10" dirty="0" smtClean="0">
                <a:latin typeface="Arial"/>
                <a:cs typeface="Arial"/>
              </a:rPr>
              <a:t>in</a:t>
            </a:r>
            <a:r>
              <a:rPr lang="en-US" sz="900" b="1" spc="-10" dirty="0" smtClean="0">
                <a:latin typeface="Arial"/>
                <a:cs typeface="Arial"/>
              </a:rPr>
              <a:t> and </a:t>
            </a:r>
            <a:r>
              <a:rPr lang="en-US" sz="900" b="1" i="1" spc="-10" dirty="0" smtClean="0">
                <a:latin typeface="Arial"/>
                <a:cs typeface="Arial"/>
              </a:rPr>
              <a:t>out</a:t>
            </a:r>
            <a:r>
              <a:rPr lang="en-US" sz="900" b="1" spc="-10" dirty="0" smtClean="0">
                <a:latin typeface="Arial"/>
                <a:cs typeface="Arial"/>
              </a:rPr>
              <a:t> in shared space</a:t>
            </a:r>
            <a:endParaRPr sz="900" dirty="0">
              <a:latin typeface="Arial"/>
              <a:cs typeface="Arial"/>
            </a:endParaRPr>
          </a:p>
        </p:txBody>
      </p:sp>
    </p:spTree>
  </p:cSld>
  <p:clrMapOvr>
    <a:masterClrMapping/>
  </p:clrMapOvr>
  <p:transition>
    <p:cu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15" dirty="0"/>
              <a:t>Race</a:t>
            </a:r>
            <a:r>
              <a:rPr spc="5" dirty="0"/>
              <a:t> </a:t>
            </a:r>
            <a:r>
              <a:rPr spc="10" dirty="0"/>
              <a:t>condition</a:t>
            </a:r>
          </a:p>
        </p:txBody>
      </p:sp>
      <p:sp>
        <p:nvSpPr>
          <p:cNvPr id="3" name="object 3"/>
          <p:cNvSpPr txBox="1"/>
          <p:nvPr/>
        </p:nvSpPr>
        <p:spPr>
          <a:xfrm>
            <a:off x="1695195" y="411226"/>
            <a:ext cx="1217930" cy="160020"/>
          </a:xfrm>
          <a:prstGeom prst="rect">
            <a:avLst/>
          </a:prstGeom>
          <a:ln w="5054">
            <a:solidFill>
              <a:srgbClr val="000000"/>
            </a:solidFill>
          </a:ln>
        </p:spPr>
        <p:txBody>
          <a:bodyPr vert="horz" wrap="square" lIns="0" tIns="0" rIns="0" bIns="0" rtlCol="0">
            <a:spAutoFit/>
          </a:bodyPr>
          <a:lstStyle/>
          <a:p>
            <a:pPr marL="37465">
              <a:lnSpc>
                <a:spcPct val="100000"/>
              </a:lnSpc>
            </a:pPr>
            <a:r>
              <a:rPr sz="900" spc="-25" dirty="0">
                <a:latin typeface="Century"/>
                <a:cs typeface="Century"/>
              </a:rPr>
              <a:t>Reference: </a:t>
            </a:r>
            <a:r>
              <a:rPr sz="900" spc="-95" dirty="0">
                <a:latin typeface="Century"/>
                <a:cs typeface="Century"/>
              </a:rPr>
              <a:t> </a:t>
            </a:r>
            <a:r>
              <a:rPr sz="900" spc="-25" dirty="0">
                <a:latin typeface="Century"/>
                <a:cs typeface="Century"/>
              </a:rPr>
              <a:t>Section</a:t>
            </a:r>
            <a:r>
              <a:rPr sz="900" spc="55" dirty="0">
                <a:latin typeface="Century"/>
                <a:cs typeface="Century"/>
              </a:rPr>
              <a:t> </a:t>
            </a:r>
            <a:r>
              <a:rPr sz="900" spc="-30" dirty="0">
                <a:latin typeface="Century"/>
                <a:cs typeface="Century"/>
              </a:rPr>
              <a:t>6.1</a:t>
            </a:r>
            <a:endParaRPr sz="900">
              <a:latin typeface="Century"/>
              <a:cs typeface="Century"/>
            </a:endParaRPr>
          </a:p>
        </p:txBody>
      </p:sp>
      <p:sp>
        <p:nvSpPr>
          <p:cNvPr id="4" name="object 4"/>
          <p:cNvSpPr txBox="1"/>
          <p:nvPr/>
        </p:nvSpPr>
        <p:spPr>
          <a:xfrm>
            <a:off x="275081" y="811759"/>
            <a:ext cx="474980" cy="139700"/>
          </a:xfrm>
          <a:prstGeom prst="rect">
            <a:avLst/>
          </a:prstGeom>
        </p:spPr>
        <p:txBody>
          <a:bodyPr vert="horz" wrap="square" lIns="0" tIns="0" rIns="0" bIns="0" rtlCol="0">
            <a:spAutoFit/>
          </a:bodyPr>
          <a:lstStyle/>
          <a:p>
            <a:pPr marL="12700">
              <a:lnSpc>
                <a:spcPct val="100000"/>
              </a:lnSpc>
            </a:pPr>
            <a:r>
              <a:rPr sz="900" spc="-5" dirty="0">
                <a:latin typeface="Arial"/>
                <a:cs typeface="Arial"/>
              </a:rPr>
              <a:t>producer</a:t>
            </a:r>
            <a:endParaRPr sz="900">
              <a:latin typeface="Arial"/>
              <a:cs typeface="Arial"/>
            </a:endParaRPr>
          </a:p>
        </p:txBody>
      </p:sp>
      <p:sp>
        <p:nvSpPr>
          <p:cNvPr id="5" name="object 5"/>
          <p:cNvSpPr/>
          <p:nvPr/>
        </p:nvSpPr>
        <p:spPr>
          <a:xfrm>
            <a:off x="287781" y="952627"/>
            <a:ext cx="449580" cy="0"/>
          </a:xfrm>
          <a:custGeom>
            <a:avLst/>
            <a:gdLst/>
            <a:ahLst/>
            <a:cxnLst/>
            <a:rect l="l" t="t" r="r" b="b"/>
            <a:pathLst>
              <a:path w="449580">
                <a:moveTo>
                  <a:pt x="0" y="0"/>
                </a:moveTo>
                <a:lnTo>
                  <a:pt x="449326" y="0"/>
                </a:lnTo>
              </a:path>
            </a:pathLst>
          </a:custGeom>
          <a:ln w="4813">
            <a:solidFill>
              <a:srgbClr val="000000"/>
            </a:solidFill>
          </a:ln>
        </p:spPr>
        <p:txBody>
          <a:bodyPr wrap="square" lIns="0" tIns="0" rIns="0" bIns="0" rtlCol="0"/>
          <a:lstStyle/>
          <a:p>
            <a:endParaRPr/>
          </a:p>
        </p:txBody>
      </p:sp>
      <p:sp>
        <p:nvSpPr>
          <p:cNvPr id="6" name="object 6"/>
          <p:cNvSpPr txBox="1"/>
          <p:nvPr/>
        </p:nvSpPr>
        <p:spPr>
          <a:xfrm>
            <a:off x="275081" y="953235"/>
            <a:ext cx="1520190" cy="556895"/>
          </a:xfrm>
          <a:prstGeom prst="rect">
            <a:avLst/>
          </a:prstGeom>
        </p:spPr>
        <p:txBody>
          <a:bodyPr vert="horz" wrap="square" lIns="0" tIns="0" rIns="0" bIns="0" rtlCol="0">
            <a:spAutoFit/>
          </a:bodyPr>
          <a:lstStyle/>
          <a:p>
            <a:pPr marL="12700">
              <a:lnSpc>
                <a:spcPct val="100000"/>
              </a:lnSpc>
            </a:pPr>
            <a:r>
              <a:rPr sz="900" spc="15" dirty="0">
                <a:latin typeface="Times New Roman"/>
                <a:cs typeface="Times New Roman"/>
              </a:rPr>
              <a:t>p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90" dirty="0">
                <a:latin typeface="Times New Roman"/>
                <a:cs typeface="Times New Roman"/>
              </a:rPr>
              <a:t>produce();</a:t>
            </a:r>
            <a:endParaRPr sz="900">
              <a:latin typeface="Times New Roman"/>
              <a:cs typeface="Times New Roman"/>
            </a:endParaRPr>
          </a:p>
          <a:p>
            <a:pPr marL="12700" marR="5080">
              <a:lnSpc>
                <a:spcPct val="101400"/>
              </a:lnSpc>
            </a:pPr>
            <a:r>
              <a:rPr sz="900" spc="65" dirty="0">
                <a:latin typeface="Times New Roman"/>
                <a:cs typeface="Times New Roman"/>
              </a:rPr>
              <a:t>while </a:t>
            </a:r>
            <a:r>
              <a:rPr sz="900" spc="20" dirty="0">
                <a:latin typeface="Times New Roman"/>
                <a:cs typeface="Times New Roman"/>
              </a:rPr>
              <a:t> </a:t>
            </a:r>
            <a:r>
              <a:rPr sz="900" spc="75" dirty="0">
                <a:latin typeface="Times New Roman"/>
                <a:cs typeface="Times New Roman"/>
              </a:rPr>
              <a:t>(count==n);</a:t>
            </a:r>
            <a:r>
              <a:rPr sz="900" dirty="0">
                <a:latin typeface="Times New Roman"/>
                <a:cs typeface="Times New Roman"/>
              </a:rPr>
              <a:t> </a:t>
            </a:r>
            <a:r>
              <a:rPr sz="900" spc="20" dirty="0">
                <a:latin typeface="Times New Roman"/>
                <a:cs typeface="Times New Roman"/>
              </a:rPr>
              <a:t> </a:t>
            </a:r>
            <a:r>
              <a:rPr sz="900" spc="220"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55" dirty="0">
                <a:latin typeface="Times New Roman"/>
                <a:cs typeface="Times New Roman"/>
              </a:rPr>
              <a:t>full</a:t>
            </a:r>
            <a:r>
              <a:rPr sz="900" spc="110" dirty="0">
                <a:latin typeface="Times New Roman"/>
                <a:cs typeface="Times New Roman"/>
              </a:rPr>
              <a:t> </a:t>
            </a:r>
            <a:r>
              <a:rPr sz="900" spc="114" dirty="0">
                <a:latin typeface="Times New Roman"/>
                <a:cs typeface="Times New Roman"/>
              </a:rPr>
              <a:t>buffer[in]</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p;</a:t>
            </a:r>
            <a:endParaRPr sz="900">
              <a:latin typeface="Times New Roman"/>
              <a:cs typeface="Times New Roman"/>
            </a:endParaRPr>
          </a:p>
          <a:p>
            <a:pPr marL="12700">
              <a:lnSpc>
                <a:spcPct val="100000"/>
              </a:lnSpc>
              <a:spcBef>
                <a:spcPts val="15"/>
              </a:spcBef>
            </a:pPr>
            <a:r>
              <a:rPr sz="900" spc="114" dirty="0">
                <a:latin typeface="Times New Roman"/>
                <a:cs typeface="Times New Roman"/>
              </a:rPr>
              <a:t>in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50" dirty="0">
                <a:latin typeface="Times New Roman"/>
                <a:cs typeface="Times New Roman"/>
              </a:rPr>
              <a:t>in+1</a:t>
            </a:r>
            <a:r>
              <a:rPr sz="900" dirty="0">
                <a:latin typeface="Times New Roman"/>
                <a:cs typeface="Times New Roman"/>
              </a:rPr>
              <a:t> </a:t>
            </a:r>
            <a:r>
              <a:rPr sz="900" spc="20" dirty="0">
                <a:latin typeface="Times New Roman"/>
                <a:cs typeface="Times New Roman"/>
              </a:rPr>
              <a:t> </a:t>
            </a:r>
            <a:r>
              <a:rPr sz="900" spc="-28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n;</a:t>
            </a:r>
            <a:endParaRPr sz="900">
              <a:latin typeface="Times New Roman"/>
              <a:cs typeface="Times New Roman"/>
            </a:endParaRPr>
          </a:p>
        </p:txBody>
      </p:sp>
      <p:sp>
        <p:nvSpPr>
          <p:cNvPr id="7" name="object 7"/>
          <p:cNvSpPr txBox="1"/>
          <p:nvPr/>
        </p:nvSpPr>
        <p:spPr>
          <a:xfrm>
            <a:off x="318134" y="1509876"/>
            <a:ext cx="504190" cy="139700"/>
          </a:xfrm>
          <a:prstGeom prst="rect">
            <a:avLst/>
          </a:prstGeom>
        </p:spPr>
        <p:txBody>
          <a:bodyPr vert="horz" wrap="square" lIns="0" tIns="0" rIns="0" bIns="0" rtlCol="0">
            <a:spAutoFit/>
          </a:bodyPr>
          <a:lstStyle/>
          <a:p>
            <a:pPr marL="12700">
              <a:lnSpc>
                <a:spcPct val="100000"/>
              </a:lnSpc>
            </a:pPr>
            <a:r>
              <a:rPr sz="900" spc="60" dirty="0">
                <a:latin typeface="Times New Roman"/>
                <a:cs typeface="Times New Roman"/>
              </a:rPr>
              <a:t>count++;</a:t>
            </a:r>
            <a:endParaRPr sz="900">
              <a:latin typeface="Times New Roman"/>
              <a:cs typeface="Times New Roman"/>
            </a:endParaRPr>
          </a:p>
        </p:txBody>
      </p:sp>
      <p:sp>
        <p:nvSpPr>
          <p:cNvPr id="8" name="object 8"/>
          <p:cNvSpPr/>
          <p:nvPr/>
        </p:nvSpPr>
        <p:spPr>
          <a:xfrm>
            <a:off x="287781" y="1504442"/>
            <a:ext cx="564515" cy="0"/>
          </a:xfrm>
          <a:custGeom>
            <a:avLst/>
            <a:gdLst/>
            <a:ahLst/>
            <a:cxnLst/>
            <a:rect l="l" t="t" r="r" b="b"/>
            <a:pathLst>
              <a:path w="564515">
                <a:moveTo>
                  <a:pt x="0" y="0"/>
                </a:moveTo>
                <a:lnTo>
                  <a:pt x="564388" y="0"/>
                </a:lnTo>
              </a:path>
            </a:pathLst>
          </a:custGeom>
          <a:ln w="5054">
            <a:solidFill>
              <a:srgbClr val="000000"/>
            </a:solidFill>
          </a:ln>
        </p:spPr>
        <p:txBody>
          <a:bodyPr wrap="square" lIns="0" tIns="0" rIns="0" bIns="0" rtlCol="0"/>
          <a:lstStyle/>
          <a:p>
            <a:endParaRPr/>
          </a:p>
        </p:txBody>
      </p:sp>
      <p:sp>
        <p:nvSpPr>
          <p:cNvPr id="9" name="object 9"/>
          <p:cNvSpPr/>
          <p:nvPr/>
        </p:nvSpPr>
        <p:spPr>
          <a:xfrm>
            <a:off x="290322" y="1504442"/>
            <a:ext cx="0" cy="160020"/>
          </a:xfrm>
          <a:custGeom>
            <a:avLst/>
            <a:gdLst/>
            <a:ahLst/>
            <a:cxnLst/>
            <a:rect l="l" t="t" r="r" b="b"/>
            <a:pathLst>
              <a:path h="160019">
                <a:moveTo>
                  <a:pt x="0" y="159892"/>
                </a:moveTo>
                <a:lnTo>
                  <a:pt x="0" y="0"/>
                </a:lnTo>
              </a:path>
            </a:pathLst>
          </a:custGeom>
          <a:ln w="5054">
            <a:solidFill>
              <a:srgbClr val="000000"/>
            </a:solidFill>
          </a:ln>
        </p:spPr>
        <p:txBody>
          <a:bodyPr wrap="square" lIns="0" tIns="0" rIns="0" bIns="0" rtlCol="0"/>
          <a:lstStyle/>
          <a:p>
            <a:endParaRPr/>
          </a:p>
        </p:txBody>
      </p:sp>
      <p:sp>
        <p:nvSpPr>
          <p:cNvPr id="10" name="object 10"/>
          <p:cNvSpPr/>
          <p:nvPr/>
        </p:nvSpPr>
        <p:spPr>
          <a:xfrm>
            <a:off x="849630" y="1504442"/>
            <a:ext cx="0" cy="160020"/>
          </a:xfrm>
          <a:custGeom>
            <a:avLst/>
            <a:gdLst/>
            <a:ahLst/>
            <a:cxnLst/>
            <a:rect l="l" t="t" r="r" b="b"/>
            <a:pathLst>
              <a:path h="160019">
                <a:moveTo>
                  <a:pt x="0" y="159892"/>
                </a:moveTo>
                <a:lnTo>
                  <a:pt x="0" y="0"/>
                </a:lnTo>
              </a:path>
            </a:pathLst>
          </a:custGeom>
          <a:ln w="5054">
            <a:solidFill>
              <a:srgbClr val="000000"/>
            </a:solidFill>
          </a:ln>
        </p:spPr>
        <p:txBody>
          <a:bodyPr wrap="square" lIns="0" tIns="0" rIns="0" bIns="0" rtlCol="0"/>
          <a:lstStyle/>
          <a:p>
            <a:endParaRPr/>
          </a:p>
        </p:txBody>
      </p:sp>
      <p:sp>
        <p:nvSpPr>
          <p:cNvPr id="11" name="object 11"/>
          <p:cNvSpPr/>
          <p:nvPr/>
        </p:nvSpPr>
        <p:spPr>
          <a:xfrm>
            <a:off x="287781" y="1664335"/>
            <a:ext cx="564515" cy="0"/>
          </a:xfrm>
          <a:custGeom>
            <a:avLst/>
            <a:gdLst/>
            <a:ahLst/>
            <a:cxnLst/>
            <a:rect l="l" t="t" r="r" b="b"/>
            <a:pathLst>
              <a:path w="564515">
                <a:moveTo>
                  <a:pt x="0" y="0"/>
                </a:moveTo>
                <a:lnTo>
                  <a:pt x="564388" y="0"/>
                </a:lnTo>
              </a:path>
            </a:pathLst>
          </a:custGeom>
          <a:ln w="5054">
            <a:solidFill>
              <a:srgbClr val="000000"/>
            </a:solidFill>
          </a:ln>
        </p:spPr>
        <p:txBody>
          <a:bodyPr wrap="square" lIns="0" tIns="0" rIns="0" bIns="0" rtlCol="0"/>
          <a:lstStyle/>
          <a:p>
            <a:endParaRPr/>
          </a:p>
        </p:txBody>
      </p:sp>
      <p:sp>
        <p:nvSpPr>
          <p:cNvPr id="12" name="object 12"/>
          <p:cNvSpPr txBox="1"/>
          <p:nvPr/>
        </p:nvSpPr>
        <p:spPr>
          <a:xfrm>
            <a:off x="2358644" y="811759"/>
            <a:ext cx="1579880" cy="559435"/>
          </a:xfrm>
          <a:prstGeom prst="rect">
            <a:avLst/>
          </a:prstGeom>
        </p:spPr>
        <p:txBody>
          <a:bodyPr vert="horz" wrap="square" lIns="0" tIns="0" rIns="0" bIns="0" rtlCol="0">
            <a:spAutoFit/>
          </a:bodyPr>
          <a:lstStyle/>
          <a:p>
            <a:pPr marL="12700">
              <a:lnSpc>
                <a:spcPct val="100000"/>
              </a:lnSpc>
            </a:pPr>
            <a:r>
              <a:rPr sz="900" u="sng" spc="-5" dirty="0">
                <a:latin typeface="Arial"/>
                <a:cs typeface="Arial"/>
              </a:rPr>
              <a:t>consumer</a:t>
            </a:r>
            <a:endParaRPr sz="900">
              <a:latin typeface="Arial"/>
              <a:cs typeface="Arial"/>
            </a:endParaRPr>
          </a:p>
          <a:p>
            <a:pPr marL="12700" marR="5080">
              <a:lnSpc>
                <a:spcPct val="101499"/>
              </a:lnSpc>
            </a:pPr>
            <a:r>
              <a:rPr sz="900" spc="65" dirty="0">
                <a:latin typeface="Times New Roman"/>
                <a:cs typeface="Times New Roman"/>
              </a:rPr>
              <a:t>while </a:t>
            </a:r>
            <a:r>
              <a:rPr sz="900" spc="15" dirty="0">
                <a:latin typeface="Times New Roman"/>
                <a:cs typeface="Times New Roman"/>
              </a:rPr>
              <a:t> </a:t>
            </a:r>
            <a:r>
              <a:rPr sz="900" spc="75" dirty="0">
                <a:latin typeface="Times New Roman"/>
                <a:cs typeface="Times New Roman"/>
              </a:rPr>
              <a:t>(count==0);</a:t>
            </a:r>
            <a:r>
              <a:rPr sz="900" dirty="0">
                <a:latin typeface="Times New Roman"/>
                <a:cs typeface="Times New Roman"/>
              </a:rPr>
              <a:t> </a:t>
            </a:r>
            <a:r>
              <a:rPr sz="900" spc="20" dirty="0">
                <a:latin typeface="Times New Roman"/>
                <a:cs typeface="Times New Roman"/>
              </a:rPr>
              <a:t> </a:t>
            </a:r>
            <a:r>
              <a:rPr sz="900" spc="220"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5" dirty="0">
                <a:latin typeface="Times New Roman"/>
                <a:cs typeface="Times New Roman"/>
              </a:rPr>
              <a:t>empty</a:t>
            </a:r>
            <a:r>
              <a:rPr sz="900" spc="10" dirty="0">
                <a:latin typeface="Times New Roman"/>
                <a:cs typeface="Times New Roman"/>
              </a:rPr>
              <a:t> p</a:t>
            </a:r>
            <a:r>
              <a:rPr sz="900" dirty="0">
                <a:latin typeface="Times New Roman"/>
                <a:cs typeface="Times New Roman"/>
              </a:rPr>
              <a:t> </a:t>
            </a:r>
            <a:r>
              <a:rPr sz="900" spc="15"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buffer[out];</a:t>
            </a:r>
            <a:endParaRPr sz="900">
              <a:latin typeface="Times New Roman"/>
              <a:cs typeface="Times New Roman"/>
            </a:endParaRPr>
          </a:p>
          <a:p>
            <a:pPr marL="12700">
              <a:lnSpc>
                <a:spcPct val="100000"/>
              </a:lnSpc>
              <a:spcBef>
                <a:spcPts val="15"/>
              </a:spcBef>
            </a:pPr>
            <a:r>
              <a:rPr sz="900" spc="80" dirty="0">
                <a:latin typeface="Times New Roman"/>
                <a:cs typeface="Times New Roman"/>
              </a:rPr>
              <a:t>out </a:t>
            </a:r>
            <a:r>
              <a:rPr sz="900" spc="15"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out+1</a:t>
            </a:r>
            <a:r>
              <a:rPr sz="900" dirty="0">
                <a:latin typeface="Times New Roman"/>
                <a:cs typeface="Times New Roman"/>
              </a:rPr>
              <a:t> </a:t>
            </a:r>
            <a:r>
              <a:rPr sz="900" spc="20" dirty="0">
                <a:latin typeface="Times New Roman"/>
                <a:cs typeface="Times New Roman"/>
              </a:rPr>
              <a:t> </a:t>
            </a:r>
            <a:r>
              <a:rPr sz="900" spc="-28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n;</a:t>
            </a:r>
            <a:endParaRPr sz="900">
              <a:latin typeface="Times New Roman"/>
              <a:cs typeface="Times New Roman"/>
            </a:endParaRPr>
          </a:p>
        </p:txBody>
      </p:sp>
      <p:sp>
        <p:nvSpPr>
          <p:cNvPr id="13" name="object 13"/>
          <p:cNvSpPr/>
          <p:nvPr/>
        </p:nvSpPr>
        <p:spPr>
          <a:xfrm>
            <a:off x="2371344" y="1365250"/>
            <a:ext cx="584200" cy="0"/>
          </a:xfrm>
          <a:custGeom>
            <a:avLst/>
            <a:gdLst/>
            <a:ahLst/>
            <a:cxnLst/>
            <a:rect l="l" t="t" r="r" b="b"/>
            <a:pathLst>
              <a:path w="584200">
                <a:moveTo>
                  <a:pt x="0" y="0"/>
                </a:moveTo>
                <a:lnTo>
                  <a:pt x="584200" y="0"/>
                </a:lnTo>
              </a:path>
            </a:pathLst>
          </a:custGeom>
          <a:ln w="5054">
            <a:solidFill>
              <a:srgbClr val="000000"/>
            </a:solidFill>
          </a:ln>
        </p:spPr>
        <p:txBody>
          <a:bodyPr wrap="square" lIns="0" tIns="0" rIns="0" bIns="0" rtlCol="0"/>
          <a:lstStyle/>
          <a:p>
            <a:endParaRPr/>
          </a:p>
        </p:txBody>
      </p:sp>
      <p:sp>
        <p:nvSpPr>
          <p:cNvPr id="14" name="object 14"/>
          <p:cNvSpPr/>
          <p:nvPr/>
        </p:nvSpPr>
        <p:spPr>
          <a:xfrm>
            <a:off x="2373757" y="1365250"/>
            <a:ext cx="0" cy="160020"/>
          </a:xfrm>
          <a:custGeom>
            <a:avLst/>
            <a:gdLst/>
            <a:ahLst/>
            <a:cxnLst/>
            <a:rect l="l" t="t" r="r" b="b"/>
            <a:pathLst>
              <a:path h="160019">
                <a:moveTo>
                  <a:pt x="0" y="159893"/>
                </a:moveTo>
                <a:lnTo>
                  <a:pt x="0" y="0"/>
                </a:lnTo>
              </a:path>
            </a:pathLst>
          </a:custGeom>
          <a:ln w="5054">
            <a:solidFill>
              <a:srgbClr val="000000"/>
            </a:solidFill>
          </a:ln>
        </p:spPr>
        <p:txBody>
          <a:bodyPr wrap="square" lIns="0" tIns="0" rIns="0" bIns="0" rtlCol="0"/>
          <a:lstStyle/>
          <a:p>
            <a:endParaRPr/>
          </a:p>
        </p:txBody>
      </p:sp>
      <p:sp>
        <p:nvSpPr>
          <p:cNvPr id="15" name="object 15"/>
          <p:cNvSpPr/>
          <p:nvPr/>
        </p:nvSpPr>
        <p:spPr>
          <a:xfrm>
            <a:off x="2953004" y="1365250"/>
            <a:ext cx="0" cy="160020"/>
          </a:xfrm>
          <a:custGeom>
            <a:avLst/>
            <a:gdLst/>
            <a:ahLst/>
            <a:cxnLst/>
            <a:rect l="l" t="t" r="r" b="b"/>
            <a:pathLst>
              <a:path h="160019">
                <a:moveTo>
                  <a:pt x="0" y="159893"/>
                </a:moveTo>
                <a:lnTo>
                  <a:pt x="0" y="0"/>
                </a:lnTo>
              </a:path>
            </a:pathLst>
          </a:custGeom>
          <a:ln w="5054">
            <a:solidFill>
              <a:srgbClr val="000000"/>
            </a:solidFill>
          </a:ln>
        </p:spPr>
        <p:txBody>
          <a:bodyPr wrap="square" lIns="0" tIns="0" rIns="0" bIns="0" rtlCol="0"/>
          <a:lstStyle/>
          <a:p>
            <a:endParaRPr/>
          </a:p>
        </p:txBody>
      </p:sp>
      <p:sp>
        <p:nvSpPr>
          <p:cNvPr id="16" name="object 16"/>
          <p:cNvSpPr/>
          <p:nvPr/>
        </p:nvSpPr>
        <p:spPr>
          <a:xfrm>
            <a:off x="2371344" y="1525143"/>
            <a:ext cx="584200" cy="0"/>
          </a:xfrm>
          <a:custGeom>
            <a:avLst/>
            <a:gdLst/>
            <a:ahLst/>
            <a:cxnLst/>
            <a:rect l="l" t="t" r="r" b="b"/>
            <a:pathLst>
              <a:path w="584200">
                <a:moveTo>
                  <a:pt x="0" y="0"/>
                </a:moveTo>
                <a:lnTo>
                  <a:pt x="584200" y="0"/>
                </a:lnTo>
              </a:path>
            </a:pathLst>
          </a:custGeom>
          <a:ln w="5054">
            <a:solidFill>
              <a:srgbClr val="000000"/>
            </a:solidFill>
          </a:ln>
        </p:spPr>
        <p:txBody>
          <a:bodyPr wrap="square" lIns="0" tIns="0" rIns="0" bIns="0" rtlCol="0"/>
          <a:lstStyle/>
          <a:p>
            <a:endParaRPr/>
          </a:p>
        </p:txBody>
      </p:sp>
      <p:sp>
        <p:nvSpPr>
          <p:cNvPr id="17" name="object 17"/>
          <p:cNvSpPr txBox="1"/>
          <p:nvPr/>
        </p:nvSpPr>
        <p:spPr>
          <a:xfrm>
            <a:off x="2358644" y="1370684"/>
            <a:ext cx="683260" cy="278765"/>
          </a:xfrm>
          <a:prstGeom prst="rect">
            <a:avLst/>
          </a:prstGeom>
        </p:spPr>
        <p:txBody>
          <a:bodyPr vert="horz" wrap="square" lIns="0" tIns="0" rIns="0" bIns="0" rtlCol="0">
            <a:spAutoFit/>
          </a:bodyPr>
          <a:lstStyle/>
          <a:p>
            <a:pPr marL="12700" marR="5080" indent="42545">
              <a:lnSpc>
                <a:spcPct val="101499"/>
              </a:lnSpc>
            </a:pPr>
            <a:r>
              <a:rPr sz="900" spc="80" dirty="0">
                <a:latin typeface="Times New Roman"/>
                <a:cs typeface="Times New Roman"/>
              </a:rPr>
              <a:t>count-</a:t>
            </a:r>
            <a:r>
              <a:rPr sz="900" spc="-70" dirty="0">
                <a:latin typeface="Times New Roman"/>
                <a:cs typeface="Times New Roman"/>
              </a:rPr>
              <a:t> </a:t>
            </a:r>
            <a:r>
              <a:rPr sz="900" spc="195" dirty="0">
                <a:latin typeface="Times New Roman"/>
                <a:cs typeface="Times New Roman"/>
              </a:rPr>
              <a:t>-;</a:t>
            </a:r>
            <a:r>
              <a:rPr sz="900" spc="155" dirty="0">
                <a:latin typeface="Times New Roman"/>
                <a:cs typeface="Times New Roman"/>
              </a:rPr>
              <a:t> </a:t>
            </a:r>
            <a:r>
              <a:rPr sz="900" spc="60" dirty="0">
                <a:latin typeface="Times New Roman"/>
                <a:cs typeface="Times New Roman"/>
              </a:rPr>
              <a:t>consume(p);</a:t>
            </a:r>
            <a:endParaRPr sz="900">
              <a:latin typeface="Times New Roman"/>
              <a:cs typeface="Times New Roman"/>
            </a:endParaRPr>
          </a:p>
        </p:txBody>
      </p:sp>
      <p:sp>
        <p:nvSpPr>
          <p:cNvPr id="18" name="object 18"/>
          <p:cNvSpPr/>
          <p:nvPr/>
        </p:nvSpPr>
        <p:spPr>
          <a:xfrm>
            <a:off x="138556" y="1816227"/>
            <a:ext cx="4331335" cy="0"/>
          </a:xfrm>
          <a:custGeom>
            <a:avLst/>
            <a:gdLst/>
            <a:ahLst/>
            <a:cxnLst/>
            <a:rect l="l" t="t" r="r" b="b"/>
            <a:pathLst>
              <a:path w="4331335">
                <a:moveTo>
                  <a:pt x="0" y="0"/>
                </a:moveTo>
                <a:lnTo>
                  <a:pt x="4330954" y="0"/>
                </a:lnTo>
              </a:path>
            </a:pathLst>
          </a:custGeom>
          <a:ln w="5054">
            <a:solidFill>
              <a:srgbClr val="000000"/>
            </a:solidFill>
          </a:ln>
        </p:spPr>
        <p:txBody>
          <a:bodyPr wrap="square" lIns="0" tIns="0" rIns="0" bIns="0" rtlCol="0"/>
          <a:lstStyle/>
          <a:p>
            <a:endParaRPr/>
          </a:p>
        </p:txBody>
      </p:sp>
      <p:sp>
        <p:nvSpPr>
          <p:cNvPr id="20" name="object 20"/>
          <p:cNvSpPr/>
          <p:nvPr/>
        </p:nvSpPr>
        <p:spPr>
          <a:xfrm>
            <a:off x="0" y="3327019"/>
            <a:ext cx="1536065" cy="129539"/>
          </a:xfrm>
          <a:custGeom>
            <a:avLst/>
            <a:gdLst/>
            <a:ahLst/>
            <a:cxnLst/>
            <a:rect l="l" t="t" r="r" b="b"/>
            <a:pathLst>
              <a:path w="1536065" h="129539">
                <a:moveTo>
                  <a:pt x="0" y="129031"/>
                </a:moveTo>
                <a:lnTo>
                  <a:pt x="1535938" y="129031"/>
                </a:lnTo>
                <a:lnTo>
                  <a:pt x="1535938" y="0"/>
                </a:lnTo>
                <a:lnTo>
                  <a:pt x="0" y="0"/>
                </a:lnTo>
                <a:lnTo>
                  <a:pt x="0" y="129031"/>
                </a:lnTo>
              </a:path>
            </a:pathLst>
          </a:custGeom>
          <a:solidFill>
            <a:srgbClr val="193F3F"/>
          </a:solidFill>
        </p:spPr>
        <p:txBody>
          <a:bodyPr wrap="square" lIns="0" tIns="0" rIns="0" bIns="0" rtlCol="0"/>
          <a:lstStyle/>
          <a:p>
            <a:endParaRPr/>
          </a:p>
        </p:txBody>
      </p:sp>
      <p:sp>
        <p:nvSpPr>
          <p:cNvPr id="21" name="object 21"/>
          <p:cNvSpPr/>
          <p:nvPr/>
        </p:nvSpPr>
        <p:spPr>
          <a:xfrm>
            <a:off x="1535938" y="3327019"/>
            <a:ext cx="1536065" cy="129539"/>
          </a:xfrm>
          <a:custGeom>
            <a:avLst/>
            <a:gdLst/>
            <a:ahLst/>
            <a:cxnLst/>
            <a:rect l="l" t="t" r="r" b="b"/>
            <a:pathLst>
              <a:path w="1536064" h="129539">
                <a:moveTo>
                  <a:pt x="0" y="129031"/>
                </a:moveTo>
                <a:lnTo>
                  <a:pt x="1535938" y="129031"/>
                </a:lnTo>
                <a:lnTo>
                  <a:pt x="1535938" y="0"/>
                </a:lnTo>
                <a:lnTo>
                  <a:pt x="0" y="0"/>
                </a:lnTo>
                <a:lnTo>
                  <a:pt x="0" y="129031"/>
                </a:lnTo>
              </a:path>
            </a:pathLst>
          </a:custGeom>
          <a:solidFill>
            <a:srgbClr val="265F5F"/>
          </a:solidFill>
        </p:spPr>
        <p:txBody>
          <a:bodyPr wrap="square" lIns="0" tIns="0" rIns="0" bIns="0" rtlCol="0"/>
          <a:lstStyle/>
          <a:p>
            <a:endParaRPr/>
          </a:p>
        </p:txBody>
      </p:sp>
      <p:sp>
        <p:nvSpPr>
          <p:cNvPr id="22" name="object 22"/>
          <p:cNvSpPr/>
          <p:nvPr/>
        </p:nvSpPr>
        <p:spPr>
          <a:xfrm>
            <a:off x="3072002" y="3327019"/>
            <a:ext cx="1536065" cy="129539"/>
          </a:xfrm>
          <a:custGeom>
            <a:avLst/>
            <a:gdLst/>
            <a:ahLst/>
            <a:cxnLst/>
            <a:rect l="l" t="t" r="r" b="b"/>
            <a:pathLst>
              <a:path w="1536064" h="129539">
                <a:moveTo>
                  <a:pt x="0" y="129031"/>
                </a:moveTo>
                <a:lnTo>
                  <a:pt x="1535937" y="129031"/>
                </a:lnTo>
                <a:lnTo>
                  <a:pt x="1535937" y="0"/>
                </a:lnTo>
                <a:lnTo>
                  <a:pt x="0" y="0"/>
                </a:lnTo>
                <a:lnTo>
                  <a:pt x="0" y="129031"/>
                </a:lnTo>
              </a:path>
            </a:pathLst>
          </a:custGeom>
          <a:solidFill>
            <a:srgbClr val="337F7F"/>
          </a:solidFill>
        </p:spPr>
        <p:txBody>
          <a:bodyPr wrap="square" lIns="0" tIns="0" rIns="0" bIns="0" rtlCol="0"/>
          <a:lstStyle/>
          <a:p>
            <a:endParaRPr/>
          </a:p>
        </p:txBody>
      </p:sp>
      <p:sp>
        <p:nvSpPr>
          <p:cNvPr id="23" name="object 23"/>
          <p:cNvSpPr txBox="1">
            <a:spLocks noGrp="1"/>
          </p:cNvSpPr>
          <p:nvPr>
            <p:ph type="ftr" sz="quarter" idx="5"/>
          </p:nvPr>
        </p:nvSpPr>
        <p:spPr>
          <a:xfrm>
            <a:off x="525780" y="3345157"/>
            <a:ext cx="484505" cy="92333"/>
          </a:xfrm>
          <a:prstGeom prst="rect">
            <a:avLst/>
          </a:prstGeom>
        </p:spPr>
        <p:txBody>
          <a:bodyPr vert="horz" wrap="square" lIns="0" tIns="0" rIns="0" bIns="0" rtlCol="0">
            <a:spAutoFit/>
          </a:bodyPr>
          <a:lstStyle/>
          <a:p>
            <a:pPr marL="12700">
              <a:lnSpc>
                <a:spcPct val="100000"/>
              </a:lnSpc>
            </a:pPr>
            <a:r>
              <a:rPr lang="en-IN" spc="-5" dirty="0" smtClean="0"/>
              <a:t>M.Tech.</a:t>
            </a:r>
            <a:r>
              <a:rPr dirty="0" smtClean="0"/>
              <a:t> </a:t>
            </a:r>
            <a:r>
              <a:rPr spc="-5" dirty="0" smtClean="0"/>
              <a:t> </a:t>
            </a:r>
            <a:r>
              <a:rPr spc="-5" dirty="0"/>
              <a:t>(ISI)</a:t>
            </a:r>
          </a:p>
        </p:txBody>
      </p:sp>
      <p:sp>
        <p:nvSpPr>
          <p:cNvPr id="24" name="object 2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spc="-5" dirty="0"/>
              <a:t>Process Synchronization</a:t>
            </a:r>
          </a:p>
        </p:txBody>
      </p:sp>
      <p:sp>
        <p:nvSpPr>
          <p:cNvPr id="25" name="object 25"/>
          <p:cNvSpPr txBox="1"/>
          <p:nvPr/>
        </p:nvSpPr>
        <p:spPr>
          <a:xfrm>
            <a:off x="4325873" y="3345157"/>
            <a:ext cx="215900" cy="101600"/>
          </a:xfrm>
          <a:prstGeom prst="rect">
            <a:avLst/>
          </a:prstGeom>
        </p:spPr>
        <p:txBody>
          <a:bodyPr vert="horz" wrap="square" lIns="0" tIns="0" rIns="0" bIns="0" rtlCol="0">
            <a:spAutoFit/>
          </a:bodyPr>
          <a:lstStyle/>
          <a:p>
            <a:pPr marL="12700">
              <a:lnSpc>
                <a:spcPct val="100000"/>
              </a:lnSpc>
            </a:pPr>
            <a:r>
              <a:rPr sz="600" spc="-5" dirty="0">
                <a:solidFill>
                  <a:srgbClr val="FFFFFF"/>
                </a:solidFill>
                <a:latin typeface="Arial"/>
                <a:cs typeface="Arial"/>
              </a:rPr>
              <a:t>5 / 28</a:t>
            </a:r>
            <a:endParaRPr sz="600">
              <a:latin typeface="Arial"/>
              <a:cs typeface="Arial"/>
            </a:endParaRPr>
          </a:p>
        </p:txBody>
      </p:sp>
      <p:sp>
        <p:nvSpPr>
          <p:cNvPr id="29" name="object 20"/>
          <p:cNvSpPr txBox="1"/>
          <p:nvPr/>
        </p:nvSpPr>
        <p:spPr>
          <a:xfrm>
            <a:off x="287781" y="2868932"/>
            <a:ext cx="3084069" cy="415498"/>
          </a:xfrm>
          <a:prstGeom prst="rect">
            <a:avLst/>
          </a:prstGeom>
          <a:ln w="5054">
            <a:solidFill>
              <a:srgbClr val="000000"/>
            </a:solidFill>
          </a:ln>
        </p:spPr>
        <p:txBody>
          <a:bodyPr vert="horz" wrap="square" lIns="0" tIns="0" rIns="0" bIns="0" rtlCol="0">
            <a:spAutoFit/>
          </a:bodyPr>
          <a:lstStyle/>
          <a:p>
            <a:pPr marL="208915" indent="-171450">
              <a:lnSpc>
                <a:spcPct val="100000"/>
              </a:lnSpc>
              <a:buFont typeface="Arial" panose="020B0604020202020204" pitchFamily="34" charset="0"/>
              <a:buChar char="•"/>
            </a:pPr>
            <a:r>
              <a:rPr lang="en-US" sz="900" spc="-10" dirty="0" smtClean="0">
                <a:latin typeface="Arial"/>
                <a:cs typeface="Arial"/>
              </a:rPr>
              <a:t>Most machines will not allow direct memory operation</a:t>
            </a:r>
          </a:p>
          <a:p>
            <a:pPr marL="208915" indent="-171450">
              <a:lnSpc>
                <a:spcPct val="100000"/>
              </a:lnSpc>
              <a:buFont typeface="Arial" panose="020B0604020202020204" pitchFamily="34" charset="0"/>
              <a:buChar char="•"/>
            </a:pPr>
            <a:r>
              <a:rPr lang="en-US" sz="900" spc="-10" dirty="0" smtClean="0">
                <a:latin typeface="Arial"/>
                <a:cs typeface="Arial"/>
              </a:rPr>
              <a:t>Compiler translates this into 3 machine level instructions</a:t>
            </a:r>
          </a:p>
          <a:p>
            <a:pPr marL="208915" indent="-171450">
              <a:lnSpc>
                <a:spcPct val="100000"/>
              </a:lnSpc>
              <a:buFont typeface="Arial" panose="020B0604020202020204" pitchFamily="34" charset="0"/>
              <a:buChar char="•"/>
            </a:pPr>
            <a:r>
              <a:rPr lang="en-US" sz="900" spc="-10" dirty="0" smtClean="0">
                <a:latin typeface="Arial"/>
                <a:cs typeface="Arial"/>
              </a:rPr>
              <a:t>Think of Interrupts</a:t>
            </a:r>
            <a:endParaRPr sz="900" dirty="0">
              <a:latin typeface="Arial"/>
              <a:cs typeface="Arial"/>
            </a:endParaRPr>
          </a:p>
        </p:txBody>
      </p:sp>
      <p:sp>
        <p:nvSpPr>
          <p:cNvPr id="26" name="Rectangle 25"/>
          <p:cNvSpPr/>
          <p:nvPr/>
        </p:nvSpPr>
        <p:spPr>
          <a:xfrm>
            <a:off x="171450" y="1638869"/>
            <a:ext cx="4571999" cy="215444"/>
          </a:xfrm>
          <a:prstGeom prst="rect">
            <a:avLst/>
          </a:prstGeom>
        </p:spPr>
        <p:txBody>
          <a:bodyPr wrap="square">
            <a:spAutoFit/>
          </a:bodyPr>
          <a:lstStyle/>
          <a:p>
            <a:pPr marL="37465">
              <a:lnSpc>
                <a:spcPct val="100000"/>
              </a:lnSpc>
            </a:pPr>
            <a:r>
              <a:rPr lang="en-US" sz="800" b="1" i="1" spc="-10" dirty="0">
                <a:latin typeface="Arial"/>
                <a:cs typeface="Arial"/>
              </a:rPr>
              <a:t>buffer</a:t>
            </a:r>
            <a:r>
              <a:rPr lang="en-US" sz="800" b="1" spc="-10" dirty="0">
                <a:latin typeface="Arial"/>
                <a:cs typeface="Arial"/>
              </a:rPr>
              <a:t> </a:t>
            </a:r>
            <a:r>
              <a:rPr lang="en-US" sz="800" b="1" spc="-10" dirty="0" smtClean="0">
                <a:latin typeface="Arial"/>
                <a:cs typeface="Arial"/>
              </a:rPr>
              <a:t>and count in </a:t>
            </a:r>
            <a:r>
              <a:rPr lang="en-US" sz="800" b="1" spc="-10" dirty="0">
                <a:latin typeface="Arial"/>
                <a:cs typeface="Arial"/>
              </a:rPr>
              <a:t>shared space, </a:t>
            </a:r>
            <a:r>
              <a:rPr lang="en-US" sz="800" b="1" i="1" spc="-10" dirty="0">
                <a:latin typeface="Arial"/>
                <a:cs typeface="Arial"/>
              </a:rPr>
              <a:t>in</a:t>
            </a:r>
            <a:r>
              <a:rPr lang="en-US" sz="800" b="1" spc="-10" dirty="0">
                <a:latin typeface="Arial"/>
                <a:cs typeface="Arial"/>
              </a:rPr>
              <a:t> and </a:t>
            </a:r>
            <a:r>
              <a:rPr lang="en-US" sz="800" b="1" i="1" spc="-10" dirty="0">
                <a:latin typeface="Arial"/>
                <a:cs typeface="Arial"/>
              </a:rPr>
              <a:t>out</a:t>
            </a:r>
            <a:r>
              <a:rPr lang="en-US" sz="800" b="1" spc="-10" dirty="0">
                <a:latin typeface="Arial"/>
                <a:cs typeface="Arial"/>
              </a:rPr>
              <a:t> in </a:t>
            </a:r>
            <a:r>
              <a:rPr lang="en-US" sz="800" b="1" spc="-10" dirty="0" smtClean="0">
                <a:latin typeface="Arial"/>
                <a:cs typeface="Arial"/>
              </a:rPr>
              <a:t>exclusive space</a:t>
            </a:r>
            <a:endParaRPr lang="en-US" sz="800" dirty="0">
              <a:latin typeface="Arial"/>
              <a:cs typeface="Arial"/>
            </a:endParaRPr>
          </a:p>
        </p:txBody>
      </p:sp>
      <p:sp>
        <p:nvSpPr>
          <p:cNvPr id="31" name="Rectangle 30"/>
          <p:cNvSpPr/>
          <p:nvPr/>
        </p:nvSpPr>
        <p:spPr>
          <a:xfrm>
            <a:off x="400050" y="1958975"/>
            <a:ext cx="2971800" cy="838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p:cNvSpPr txBox="1"/>
          <p:nvPr/>
        </p:nvSpPr>
        <p:spPr>
          <a:xfrm>
            <a:off x="450954" y="2032423"/>
            <a:ext cx="5054496" cy="510653"/>
          </a:xfrm>
          <a:prstGeom prst="rect">
            <a:avLst/>
          </a:prstGeom>
          <a:noFill/>
        </p:spPr>
        <p:txBody>
          <a:bodyPr wrap="square" rtlCol="0">
            <a:spAutoFit/>
          </a:bodyPr>
          <a:lstStyle/>
          <a:p>
            <a:pPr marL="12700" marR="2148205">
              <a:lnSpc>
                <a:spcPct val="101499"/>
              </a:lnSpc>
              <a:tabLst>
                <a:tab pos="789305" algn="l"/>
              </a:tabLst>
            </a:pPr>
            <a:r>
              <a:rPr lang="en-US" sz="900" spc="-235" dirty="0">
                <a:latin typeface="Times New Roman"/>
                <a:cs typeface="Times New Roman"/>
              </a:rPr>
              <a:t>MOV </a:t>
            </a:r>
            <a:r>
              <a:rPr lang="en-US" sz="900" spc="20" dirty="0">
                <a:latin typeface="Times New Roman"/>
                <a:cs typeface="Times New Roman"/>
              </a:rPr>
              <a:t> </a:t>
            </a:r>
            <a:r>
              <a:rPr lang="en-US" sz="900" spc="65" dirty="0">
                <a:latin typeface="Times New Roman"/>
                <a:cs typeface="Times New Roman"/>
              </a:rPr>
              <a:t>count</a:t>
            </a:r>
            <a:r>
              <a:rPr lang="en-US" sz="900" dirty="0">
                <a:latin typeface="Times New Roman"/>
                <a:cs typeface="Times New Roman"/>
              </a:rPr>
              <a:t> </a:t>
            </a:r>
            <a:r>
              <a:rPr lang="en-US" sz="900" spc="20" dirty="0">
                <a:latin typeface="Times New Roman"/>
                <a:cs typeface="Times New Roman"/>
              </a:rPr>
              <a:t> </a:t>
            </a:r>
            <a:r>
              <a:rPr lang="en-US" sz="900" spc="-60" dirty="0">
                <a:latin typeface="Times New Roman"/>
                <a:cs typeface="Times New Roman"/>
              </a:rPr>
              <a:t>R0</a:t>
            </a:r>
            <a:r>
              <a:rPr lang="en-US" sz="900" dirty="0">
                <a:latin typeface="Times New Roman"/>
                <a:cs typeface="Times New Roman"/>
              </a:rPr>
              <a:t> </a:t>
            </a:r>
            <a:r>
              <a:rPr lang="en-US" sz="900" spc="75" dirty="0" smtClean="0">
                <a:latin typeface="Times New Roman"/>
                <a:cs typeface="Times New Roman"/>
              </a:rPr>
              <a:t>			</a:t>
            </a:r>
            <a:r>
              <a:rPr lang="en-US" sz="900" spc="-235" dirty="0">
                <a:latin typeface="Times New Roman"/>
                <a:cs typeface="Times New Roman"/>
              </a:rPr>
              <a:t> MOV </a:t>
            </a:r>
            <a:r>
              <a:rPr lang="en-US" sz="900" spc="20" dirty="0">
                <a:latin typeface="Times New Roman"/>
                <a:cs typeface="Times New Roman"/>
              </a:rPr>
              <a:t> </a:t>
            </a:r>
            <a:r>
              <a:rPr lang="en-US" sz="900" spc="65" dirty="0">
                <a:latin typeface="Times New Roman"/>
                <a:cs typeface="Times New Roman"/>
              </a:rPr>
              <a:t>count</a:t>
            </a:r>
            <a:r>
              <a:rPr lang="en-US" sz="900" dirty="0">
                <a:latin typeface="Times New Roman"/>
                <a:cs typeface="Times New Roman"/>
              </a:rPr>
              <a:t> </a:t>
            </a:r>
            <a:r>
              <a:rPr lang="en-US" sz="900" spc="20" dirty="0">
                <a:latin typeface="Times New Roman"/>
                <a:cs typeface="Times New Roman"/>
              </a:rPr>
              <a:t> </a:t>
            </a:r>
            <a:r>
              <a:rPr lang="en-US" sz="900" spc="-60" dirty="0">
                <a:latin typeface="Times New Roman"/>
                <a:cs typeface="Times New Roman"/>
              </a:rPr>
              <a:t>R0</a:t>
            </a:r>
            <a:r>
              <a:rPr lang="en-US" sz="900" dirty="0">
                <a:latin typeface="Times New Roman"/>
                <a:cs typeface="Times New Roman"/>
              </a:rPr>
              <a:t> </a:t>
            </a:r>
            <a:endParaRPr lang="en-US" sz="900" spc="75" dirty="0" smtClean="0">
              <a:latin typeface="Times New Roman"/>
              <a:cs typeface="Times New Roman"/>
            </a:endParaRPr>
          </a:p>
          <a:p>
            <a:pPr marL="12700" marR="2148205">
              <a:lnSpc>
                <a:spcPct val="101499"/>
              </a:lnSpc>
              <a:tabLst>
                <a:tab pos="789305" algn="l"/>
              </a:tabLst>
            </a:pPr>
            <a:r>
              <a:rPr lang="en-US" sz="900" spc="-185" dirty="0" smtClean="0">
                <a:latin typeface="Times New Roman"/>
                <a:cs typeface="Times New Roman"/>
              </a:rPr>
              <a:t>ADD</a:t>
            </a:r>
            <a:r>
              <a:rPr lang="en-US" sz="900" dirty="0" smtClean="0">
                <a:latin typeface="Times New Roman"/>
                <a:cs typeface="Times New Roman"/>
              </a:rPr>
              <a:t> </a:t>
            </a:r>
            <a:r>
              <a:rPr lang="en-US" sz="900" spc="20" dirty="0" smtClean="0">
                <a:latin typeface="Times New Roman"/>
                <a:cs typeface="Times New Roman"/>
              </a:rPr>
              <a:t> </a:t>
            </a:r>
            <a:r>
              <a:rPr lang="en-US" sz="900" spc="15" dirty="0">
                <a:latin typeface="Times New Roman"/>
                <a:cs typeface="Times New Roman"/>
              </a:rPr>
              <a:t>#1</a:t>
            </a:r>
            <a:r>
              <a:rPr lang="en-US" sz="900" dirty="0">
                <a:latin typeface="Times New Roman"/>
                <a:cs typeface="Times New Roman"/>
              </a:rPr>
              <a:t> </a:t>
            </a:r>
            <a:r>
              <a:rPr lang="en-US" sz="900" spc="20" dirty="0">
                <a:latin typeface="Times New Roman"/>
                <a:cs typeface="Times New Roman"/>
              </a:rPr>
              <a:t> </a:t>
            </a:r>
            <a:r>
              <a:rPr lang="en-US" sz="900" spc="-60" dirty="0">
                <a:latin typeface="Times New Roman"/>
                <a:cs typeface="Times New Roman"/>
              </a:rPr>
              <a:t>R0</a:t>
            </a:r>
            <a:r>
              <a:rPr lang="en-US" sz="900" dirty="0">
                <a:latin typeface="Times New Roman"/>
                <a:cs typeface="Times New Roman"/>
              </a:rPr>
              <a:t>	</a:t>
            </a:r>
            <a:r>
              <a:rPr lang="en-US" sz="900" spc="-185" dirty="0">
                <a:latin typeface="Times New Roman"/>
                <a:cs typeface="Times New Roman"/>
              </a:rPr>
              <a:t> </a:t>
            </a:r>
            <a:r>
              <a:rPr lang="en-US" sz="900" spc="-185" dirty="0" smtClean="0">
                <a:latin typeface="Times New Roman"/>
                <a:cs typeface="Times New Roman"/>
              </a:rPr>
              <a:t>		SUB</a:t>
            </a:r>
            <a:r>
              <a:rPr lang="en-US" sz="900" dirty="0" smtClean="0">
                <a:latin typeface="Times New Roman"/>
                <a:cs typeface="Times New Roman"/>
              </a:rPr>
              <a:t> </a:t>
            </a:r>
            <a:r>
              <a:rPr lang="en-US" sz="900" spc="20" dirty="0" smtClean="0">
                <a:latin typeface="Times New Roman"/>
                <a:cs typeface="Times New Roman"/>
              </a:rPr>
              <a:t> </a:t>
            </a:r>
            <a:r>
              <a:rPr lang="en-US" sz="900" spc="15" dirty="0">
                <a:latin typeface="Times New Roman"/>
                <a:cs typeface="Times New Roman"/>
              </a:rPr>
              <a:t>#1</a:t>
            </a:r>
            <a:r>
              <a:rPr lang="en-US" sz="900" dirty="0">
                <a:latin typeface="Times New Roman"/>
                <a:cs typeface="Times New Roman"/>
              </a:rPr>
              <a:t> </a:t>
            </a:r>
            <a:r>
              <a:rPr lang="en-US" sz="900" spc="20" dirty="0">
                <a:latin typeface="Times New Roman"/>
                <a:cs typeface="Times New Roman"/>
              </a:rPr>
              <a:t> </a:t>
            </a:r>
            <a:r>
              <a:rPr lang="en-US" sz="900" spc="-60" dirty="0">
                <a:latin typeface="Times New Roman"/>
                <a:cs typeface="Times New Roman"/>
              </a:rPr>
              <a:t>R0</a:t>
            </a:r>
            <a:endParaRPr lang="en-US" sz="900" dirty="0">
              <a:latin typeface="Times New Roman"/>
              <a:cs typeface="Times New Roman"/>
            </a:endParaRPr>
          </a:p>
          <a:p>
            <a:pPr marL="12700">
              <a:spcBef>
                <a:spcPts val="15"/>
              </a:spcBef>
            </a:pPr>
            <a:r>
              <a:rPr lang="en-US" sz="900" spc="-235" dirty="0">
                <a:latin typeface="Times New Roman"/>
                <a:cs typeface="Times New Roman"/>
              </a:rPr>
              <a:t>MOV </a:t>
            </a:r>
            <a:r>
              <a:rPr lang="en-US" sz="900" spc="20" dirty="0">
                <a:latin typeface="Times New Roman"/>
                <a:cs typeface="Times New Roman"/>
              </a:rPr>
              <a:t> </a:t>
            </a:r>
            <a:r>
              <a:rPr lang="en-US" sz="900" spc="-60" dirty="0">
                <a:latin typeface="Times New Roman"/>
                <a:cs typeface="Times New Roman"/>
              </a:rPr>
              <a:t>R0</a:t>
            </a:r>
            <a:r>
              <a:rPr lang="en-US" sz="900" dirty="0">
                <a:latin typeface="Times New Roman"/>
                <a:cs typeface="Times New Roman"/>
              </a:rPr>
              <a:t> </a:t>
            </a:r>
            <a:r>
              <a:rPr lang="en-US" sz="900" spc="20" dirty="0">
                <a:latin typeface="Times New Roman"/>
                <a:cs typeface="Times New Roman"/>
              </a:rPr>
              <a:t> </a:t>
            </a:r>
            <a:r>
              <a:rPr lang="en-US" sz="900" spc="65" dirty="0" smtClean="0">
                <a:latin typeface="Times New Roman"/>
                <a:cs typeface="Times New Roman"/>
              </a:rPr>
              <a:t>count		</a:t>
            </a:r>
            <a:r>
              <a:rPr lang="en-US" sz="900" spc="-235" dirty="0">
                <a:latin typeface="Times New Roman"/>
                <a:cs typeface="Times New Roman"/>
              </a:rPr>
              <a:t>MOV </a:t>
            </a:r>
            <a:r>
              <a:rPr lang="en-US" sz="900" spc="20" dirty="0">
                <a:latin typeface="Times New Roman"/>
                <a:cs typeface="Times New Roman"/>
              </a:rPr>
              <a:t> </a:t>
            </a:r>
            <a:r>
              <a:rPr lang="en-US" sz="900" spc="-60" dirty="0">
                <a:latin typeface="Times New Roman"/>
                <a:cs typeface="Times New Roman"/>
              </a:rPr>
              <a:t>R0</a:t>
            </a:r>
            <a:r>
              <a:rPr lang="en-US" sz="900" dirty="0">
                <a:latin typeface="Times New Roman"/>
                <a:cs typeface="Times New Roman"/>
              </a:rPr>
              <a:t> </a:t>
            </a:r>
            <a:r>
              <a:rPr lang="en-US" sz="900" spc="20" dirty="0">
                <a:latin typeface="Times New Roman"/>
                <a:cs typeface="Times New Roman"/>
              </a:rPr>
              <a:t> </a:t>
            </a:r>
            <a:r>
              <a:rPr lang="en-US" sz="900" spc="65" dirty="0" smtClean="0">
                <a:latin typeface="Times New Roman"/>
                <a:cs typeface="Times New Roman"/>
              </a:rPr>
              <a:t>count</a:t>
            </a:r>
            <a:endParaRPr lang="en-IN" sz="900" dirty="0"/>
          </a:p>
        </p:txBody>
      </p:sp>
      <p:cxnSp>
        <p:nvCxnSpPr>
          <p:cNvPr id="37" name="Straight Connector 36"/>
          <p:cNvCxnSpPr/>
          <p:nvPr/>
        </p:nvCxnSpPr>
        <p:spPr>
          <a:xfrm>
            <a:off x="1795271" y="2032423"/>
            <a:ext cx="0" cy="61235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15" dirty="0"/>
              <a:t>Race</a:t>
            </a:r>
            <a:r>
              <a:rPr spc="5" dirty="0"/>
              <a:t> </a:t>
            </a:r>
            <a:r>
              <a:rPr spc="10" dirty="0"/>
              <a:t>condition</a:t>
            </a:r>
          </a:p>
        </p:txBody>
      </p:sp>
      <p:sp>
        <p:nvSpPr>
          <p:cNvPr id="3" name="object 3"/>
          <p:cNvSpPr txBox="1"/>
          <p:nvPr/>
        </p:nvSpPr>
        <p:spPr>
          <a:xfrm>
            <a:off x="1695195" y="411226"/>
            <a:ext cx="1217930" cy="160020"/>
          </a:xfrm>
          <a:prstGeom prst="rect">
            <a:avLst/>
          </a:prstGeom>
          <a:ln w="5054">
            <a:solidFill>
              <a:srgbClr val="000000"/>
            </a:solidFill>
          </a:ln>
        </p:spPr>
        <p:txBody>
          <a:bodyPr vert="horz" wrap="square" lIns="0" tIns="0" rIns="0" bIns="0" rtlCol="0">
            <a:spAutoFit/>
          </a:bodyPr>
          <a:lstStyle/>
          <a:p>
            <a:pPr marL="37465">
              <a:lnSpc>
                <a:spcPct val="100000"/>
              </a:lnSpc>
            </a:pPr>
            <a:r>
              <a:rPr sz="900" spc="-25" dirty="0">
                <a:latin typeface="Century"/>
                <a:cs typeface="Century"/>
              </a:rPr>
              <a:t>Reference: </a:t>
            </a:r>
            <a:r>
              <a:rPr sz="900" spc="-95" dirty="0">
                <a:latin typeface="Century"/>
                <a:cs typeface="Century"/>
              </a:rPr>
              <a:t> </a:t>
            </a:r>
            <a:r>
              <a:rPr sz="900" spc="-25" dirty="0">
                <a:latin typeface="Century"/>
                <a:cs typeface="Century"/>
              </a:rPr>
              <a:t>Section</a:t>
            </a:r>
            <a:r>
              <a:rPr sz="900" spc="55" dirty="0">
                <a:latin typeface="Century"/>
                <a:cs typeface="Century"/>
              </a:rPr>
              <a:t> </a:t>
            </a:r>
            <a:r>
              <a:rPr sz="900" spc="-30" dirty="0">
                <a:latin typeface="Century"/>
                <a:cs typeface="Century"/>
              </a:rPr>
              <a:t>6.1</a:t>
            </a:r>
            <a:endParaRPr sz="900">
              <a:latin typeface="Century"/>
              <a:cs typeface="Century"/>
            </a:endParaRPr>
          </a:p>
        </p:txBody>
      </p:sp>
      <p:sp>
        <p:nvSpPr>
          <p:cNvPr id="4" name="object 4"/>
          <p:cNvSpPr txBox="1"/>
          <p:nvPr/>
        </p:nvSpPr>
        <p:spPr>
          <a:xfrm>
            <a:off x="275081" y="811759"/>
            <a:ext cx="474980" cy="139700"/>
          </a:xfrm>
          <a:prstGeom prst="rect">
            <a:avLst/>
          </a:prstGeom>
        </p:spPr>
        <p:txBody>
          <a:bodyPr vert="horz" wrap="square" lIns="0" tIns="0" rIns="0" bIns="0" rtlCol="0">
            <a:spAutoFit/>
          </a:bodyPr>
          <a:lstStyle/>
          <a:p>
            <a:pPr marL="12700">
              <a:lnSpc>
                <a:spcPct val="100000"/>
              </a:lnSpc>
            </a:pPr>
            <a:r>
              <a:rPr sz="900" spc="-5" dirty="0">
                <a:latin typeface="Arial"/>
                <a:cs typeface="Arial"/>
              </a:rPr>
              <a:t>producer</a:t>
            </a:r>
            <a:endParaRPr sz="900">
              <a:latin typeface="Arial"/>
              <a:cs typeface="Arial"/>
            </a:endParaRPr>
          </a:p>
        </p:txBody>
      </p:sp>
      <p:sp>
        <p:nvSpPr>
          <p:cNvPr id="5" name="object 5"/>
          <p:cNvSpPr/>
          <p:nvPr/>
        </p:nvSpPr>
        <p:spPr>
          <a:xfrm>
            <a:off x="287781" y="952627"/>
            <a:ext cx="449580" cy="0"/>
          </a:xfrm>
          <a:custGeom>
            <a:avLst/>
            <a:gdLst/>
            <a:ahLst/>
            <a:cxnLst/>
            <a:rect l="l" t="t" r="r" b="b"/>
            <a:pathLst>
              <a:path w="449580">
                <a:moveTo>
                  <a:pt x="0" y="0"/>
                </a:moveTo>
                <a:lnTo>
                  <a:pt x="449326" y="0"/>
                </a:lnTo>
              </a:path>
            </a:pathLst>
          </a:custGeom>
          <a:ln w="4813">
            <a:solidFill>
              <a:srgbClr val="000000"/>
            </a:solidFill>
          </a:ln>
        </p:spPr>
        <p:txBody>
          <a:bodyPr wrap="square" lIns="0" tIns="0" rIns="0" bIns="0" rtlCol="0"/>
          <a:lstStyle/>
          <a:p>
            <a:endParaRPr/>
          </a:p>
        </p:txBody>
      </p:sp>
      <p:sp>
        <p:nvSpPr>
          <p:cNvPr id="6" name="object 6"/>
          <p:cNvSpPr txBox="1"/>
          <p:nvPr/>
        </p:nvSpPr>
        <p:spPr>
          <a:xfrm>
            <a:off x="275081" y="953235"/>
            <a:ext cx="1520190" cy="556895"/>
          </a:xfrm>
          <a:prstGeom prst="rect">
            <a:avLst/>
          </a:prstGeom>
        </p:spPr>
        <p:txBody>
          <a:bodyPr vert="horz" wrap="square" lIns="0" tIns="0" rIns="0" bIns="0" rtlCol="0">
            <a:spAutoFit/>
          </a:bodyPr>
          <a:lstStyle/>
          <a:p>
            <a:pPr marL="12700">
              <a:lnSpc>
                <a:spcPct val="100000"/>
              </a:lnSpc>
            </a:pPr>
            <a:r>
              <a:rPr sz="900" spc="15" dirty="0">
                <a:latin typeface="Times New Roman"/>
                <a:cs typeface="Times New Roman"/>
              </a:rPr>
              <a:t>p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90" dirty="0">
                <a:latin typeface="Times New Roman"/>
                <a:cs typeface="Times New Roman"/>
              </a:rPr>
              <a:t>produce();</a:t>
            </a:r>
            <a:endParaRPr sz="900">
              <a:latin typeface="Times New Roman"/>
              <a:cs typeface="Times New Roman"/>
            </a:endParaRPr>
          </a:p>
          <a:p>
            <a:pPr marL="12700" marR="5080">
              <a:lnSpc>
                <a:spcPct val="101400"/>
              </a:lnSpc>
            </a:pPr>
            <a:r>
              <a:rPr sz="900" spc="65" dirty="0">
                <a:latin typeface="Times New Roman"/>
                <a:cs typeface="Times New Roman"/>
              </a:rPr>
              <a:t>while </a:t>
            </a:r>
            <a:r>
              <a:rPr sz="900" spc="20" dirty="0">
                <a:latin typeface="Times New Roman"/>
                <a:cs typeface="Times New Roman"/>
              </a:rPr>
              <a:t> </a:t>
            </a:r>
            <a:r>
              <a:rPr sz="900" spc="75" dirty="0">
                <a:latin typeface="Times New Roman"/>
                <a:cs typeface="Times New Roman"/>
              </a:rPr>
              <a:t>(count==n);</a:t>
            </a:r>
            <a:r>
              <a:rPr sz="900" dirty="0">
                <a:latin typeface="Times New Roman"/>
                <a:cs typeface="Times New Roman"/>
              </a:rPr>
              <a:t> </a:t>
            </a:r>
            <a:r>
              <a:rPr sz="900" spc="20" dirty="0">
                <a:latin typeface="Times New Roman"/>
                <a:cs typeface="Times New Roman"/>
              </a:rPr>
              <a:t> </a:t>
            </a:r>
            <a:r>
              <a:rPr sz="900" spc="220"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55" dirty="0">
                <a:latin typeface="Times New Roman"/>
                <a:cs typeface="Times New Roman"/>
              </a:rPr>
              <a:t>full</a:t>
            </a:r>
            <a:r>
              <a:rPr sz="900" spc="110" dirty="0">
                <a:latin typeface="Times New Roman"/>
                <a:cs typeface="Times New Roman"/>
              </a:rPr>
              <a:t> </a:t>
            </a:r>
            <a:r>
              <a:rPr sz="900" spc="114" dirty="0">
                <a:latin typeface="Times New Roman"/>
                <a:cs typeface="Times New Roman"/>
              </a:rPr>
              <a:t>buffer[in]</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p;</a:t>
            </a:r>
            <a:endParaRPr sz="900">
              <a:latin typeface="Times New Roman"/>
              <a:cs typeface="Times New Roman"/>
            </a:endParaRPr>
          </a:p>
          <a:p>
            <a:pPr marL="12700">
              <a:lnSpc>
                <a:spcPct val="100000"/>
              </a:lnSpc>
              <a:spcBef>
                <a:spcPts val="15"/>
              </a:spcBef>
            </a:pPr>
            <a:r>
              <a:rPr sz="900" spc="114" dirty="0">
                <a:latin typeface="Times New Roman"/>
                <a:cs typeface="Times New Roman"/>
              </a:rPr>
              <a:t>in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50" dirty="0">
                <a:latin typeface="Times New Roman"/>
                <a:cs typeface="Times New Roman"/>
              </a:rPr>
              <a:t>in+1</a:t>
            </a:r>
            <a:r>
              <a:rPr sz="900" dirty="0">
                <a:latin typeface="Times New Roman"/>
                <a:cs typeface="Times New Roman"/>
              </a:rPr>
              <a:t> </a:t>
            </a:r>
            <a:r>
              <a:rPr sz="900" spc="20" dirty="0">
                <a:latin typeface="Times New Roman"/>
                <a:cs typeface="Times New Roman"/>
              </a:rPr>
              <a:t> </a:t>
            </a:r>
            <a:r>
              <a:rPr sz="900" spc="-28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n;</a:t>
            </a:r>
            <a:endParaRPr sz="900">
              <a:latin typeface="Times New Roman"/>
              <a:cs typeface="Times New Roman"/>
            </a:endParaRPr>
          </a:p>
        </p:txBody>
      </p:sp>
      <p:sp>
        <p:nvSpPr>
          <p:cNvPr id="7" name="object 7"/>
          <p:cNvSpPr txBox="1"/>
          <p:nvPr/>
        </p:nvSpPr>
        <p:spPr>
          <a:xfrm>
            <a:off x="318134" y="1509876"/>
            <a:ext cx="504190" cy="139700"/>
          </a:xfrm>
          <a:prstGeom prst="rect">
            <a:avLst/>
          </a:prstGeom>
        </p:spPr>
        <p:txBody>
          <a:bodyPr vert="horz" wrap="square" lIns="0" tIns="0" rIns="0" bIns="0" rtlCol="0">
            <a:spAutoFit/>
          </a:bodyPr>
          <a:lstStyle/>
          <a:p>
            <a:pPr marL="12700">
              <a:lnSpc>
                <a:spcPct val="100000"/>
              </a:lnSpc>
            </a:pPr>
            <a:r>
              <a:rPr sz="900" spc="60" dirty="0">
                <a:latin typeface="Times New Roman"/>
                <a:cs typeface="Times New Roman"/>
              </a:rPr>
              <a:t>count++;</a:t>
            </a:r>
            <a:endParaRPr sz="900">
              <a:latin typeface="Times New Roman"/>
              <a:cs typeface="Times New Roman"/>
            </a:endParaRPr>
          </a:p>
        </p:txBody>
      </p:sp>
      <p:sp>
        <p:nvSpPr>
          <p:cNvPr id="8" name="object 8"/>
          <p:cNvSpPr/>
          <p:nvPr/>
        </p:nvSpPr>
        <p:spPr>
          <a:xfrm>
            <a:off x="287781" y="1504442"/>
            <a:ext cx="564515" cy="0"/>
          </a:xfrm>
          <a:custGeom>
            <a:avLst/>
            <a:gdLst/>
            <a:ahLst/>
            <a:cxnLst/>
            <a:rect l="l" t="t" r="r" b="b"/>
            <a:pathLst>
              <a:path w="564515">
                <a:moveTo>
                  <a:pt x="0" y="0"/>
                </a:moveTo>
                <a:lnTo>
                  <a:pt x="564388" y="0"/>
                </a:lnTo>
              </a:path>
            </a:pathLst>
          </a:custGeom>
          <a:ln w="5054">
            <a:solidFill>
              <a:srgbClr val="000000"/>
            </a:solidFill>
          </a:ln>
        </p:spPr>
        <p:txBody>
          <a:bodyPr wrap="square" lIns="0" tIns="0" rIns="0" bIns="0" rtlCol="0"/>
          <a:lstStyle/>
          <a:p>
            <a:endParaRPr/>
          </a:p>
        </p:txBody>
      </p:sp>
      <p:sp>
        <p:nvSpPr>
          <p:cNvPr id="9" name="object 9"/>
          <p:cNvSpPr/>
          <p:nvPr/>
        </p:nvSpPr>
        <p:spPr>
          <a:xfrm>
            <a:off x="290322" y="1504442"/>
            <a:ext cx="0" cy="160020"/>
          </a:xfrm>
          <a:custGeom>
            <a:avLst/>
            <a:gdLst/>
            <a:ahLst/>
            <a:cxnLst/>
            <a:rect l="l" t="t" r="r" b="b"/>
            <a:pathLst>
              <a:path h="160019">
                <a:moveTo>
                  <a:pt x="0" y="159892"/>
                </a:moveTo>
                <a:lnTo>
                  <a:pt x="0" y="0"/>
                </a:lnTo>
              </a:path>
            </a:pathLst>
          </a:custGeom>
          <a:ln w="5054">
            <a:solidFill>
              <a:srgbClr val="000000"/>
            </a:solidFill>
          </a:ln>
        </p:spPr>
        <p:txBody>
          <a:bodyPr wrap="square" lIns="0" tIns="0" rIns="0" bIns="0" rtlCol="0"/>
          <a:lstStyle/>
          <a:p>
            <a:endParaRPr/>
          </a:p>
        </p:txBody>
      </p:sp>
      <p:sp>
        <p:nvSpPr>
          <p:cNvPr id="10" name="object 10"/>
          <p:cNvSpPr/>
          <p:nvPr/>
        </p:nvSpPr>
        <p:spPr>
          <a:xfrm>
            <a:off x="849630" y="1504442"/>
            <a:ext cx="0" cy="160020"/>
          </a:xfrm>
          <a:custGeom>
            <a:avLst/>
            <a:gdLst/>
            <a:ahLst/>
            <a:cxnLst/>
            <a:rect l="l" t="t" r="r" b="b"/>
            <a:pathLst>
              <a:path h="160019">
                <a:moveTo>
                  <a:pt x="0" y="159892"/>
                </a:moveTo>
                <a:lnTo>
                  <a:pt x="0" y="0"/>
                </a:lnTo>
              </a:path>
            </a:pathLst>
          </a:custGeom>
          <a:ln w="5054">
            <a:solidFill>
              <a:srgbClr val="000000"/>
            </a:solidFill>
          </a:ln>
        </p:spPr>
        <p:txBody>
          <a:bodyPr wrap="square" lIns="0" tIns="0" rIns="0" bIns="0" rtlCol="0"/>
          <a:lstStyle/>
          <a:p>
            <a:endParaRPr/>
          </a:p>
        </p:txBody>
      </p:sp>
      <p:sp>
        <p:nvSpPr>
          <p:cNvPr id="11" name="object 11"/>
          <p:cNvSpPr/>
          <p:nvPr/>
        </p:nvSpPr>
        <p:spPr>
          <a:xfrm>
            <a:off x="287781" y="1664335"/>
            <a:ext cx="564515" cy="0"/>
          </a:xfrm>
          <a:custGeom>
            <a:avLst/>
            <a:gdLst/>
            <a:ahLst/>
            <a:cxnLst/>
            <a:rect l="l" t="t" r="r" b="b"/>
            <a:pathLst>
              <a:path w="564515">
                <a:moveTo>
                  <a:pt x="0" y="0"/>
                </a:moveTo>
                <a:lnTo>
                  <a:pt x="564388" y="0"/>
                </a:lnTo>
              </a:path>
            </a:pathLst>
          </a:custGeom>
          <a:ln w="5054">
            <a:solidFill>
              <a:srgbClr val="000000"/>
            </a:solidFill>
          </a:ln>
        </p:spPr>
        <p:txBody>
          <a:bodyPr wrap="square" lIns="0" tIns="0" rIns="0" bIns="0" rtlCol="0"/>
          <a:lstStyle/>
          <a:p>
            <a:endParaRPr/>
          </a:p>
        </p:txBody>
      </p:sp>
      <p:sp>
        <p:nvSpPr>
          <p:cNvPr id="12" name="object 12"/>
          <p:cNvSpPr txBox="1"/>
          <p:nvPr/>
        </p:nvSpPr>
        <p:spPr>
          <a:xfrm>
            <a:off x="2358644" y="811759"/>
            <a:ext cx="1579880" cy="559435"/>
          </a:xfrm>
          <a:prstGeom prst="rect">
            <a:avLst/>
          </a:prstGeom>
        </p:spPr>
        <p:txBody>
          <a:bodyPr vert="horz" wrap="square" lIns="0" tIns="0" rIns="0" bIns="0" rtlCol="0">
            <a:spAutoFit/>
          </a:bodyPr>
          <a:lstStyle/>
          <a:p>
            <a:pPr marL="12700">
              <a:lnSpc>
                <a:spcPct val="100000"/>
              </a:lnSpc>
            </a:pPr>
            <a:r>
              <a:rPr sz="900" u="sng" spc="-5" dirty="0">
                <a:latin typeface="Arial"/>
                <a:cs typeface="Arial"/>
              </a:rPr>
              <a:t>consumer</a:t>
            </a:r>
            <a:endParaRPr sz="900">
              <a:latin typeface="Arial"/>
              <a:cs typeface="Arial"/>
            </a:endParaRPr>
          </a:p>
          <a:p>
            <a:pPr marL="12700" marR="5080">
              <a:lnSpc>
                <a:spcPct val="101499"/>
              </a:lnSpc>
            </a:pPr>
            <a:r>
              <a:rPr sz="900" spc="65" dirty="0">
                <a:latin typeface="Times New Roman"/>
                <a:cs typeface="Times New Roman"/>
              </a:rPr>
              <a:t>while </a:t>
            </a:r>
            <a:r>
              <a:rPr sz="900" spc="15" dirty="0">
                <a:latin typeface="Times New Roman"/>
                <a:cs typeface="Times New Roman"/>
              </a:rPr>
              <a:t> </a:t>
            </a:r>
            <a:r>
              <a:rPr sz="900" spc="75" dirty="0">
                <a:latin typeface="Times New Roman"/>
                <a:cs typeface="Times New Roman"/>
              </a:rPr>
              <a:t>(count==0);</a:t>
            </a:r>
            <a:r>
              <a:rPr sz="900" dirty="0">
                <a:latin typeface="Times New Roman"/>
                <a:cs typeface="Times New Roman"/>
              </a:rPr>
              <a:t> </a:t>
            </a:r>
            <a:r>
              <a:rPr sz="900" spc="20" dirty="0">
                <a:latin typeface="Times New Roman"/>
                <a:cs typeface="Times New Roman"/>
              </a:rPr>
              <a:t> </a:t>
            </a:r>
            <a:r>
              <a:rPr sz="900" spc="220"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5" dirty="0">
                <a:latin typeface="Times New Roman"/>
                <a:cs typeface="Times New Roman"/>
              </a:rPr>
              <a:t>empty</a:t>
            </a:r>
            <a:r>
              <a:rPr sz="900" spc="10" dirty="0">
                <a:latin typeface="Times New Roman"/>
                <a:cs typeface="Times New Roman"/>
              </a:rPr>
              <a:t> p</a:t>
            </a:r>
            <a:r>
              <a:rPr sz="900" dirty="0">
                <a:latin typeface="Times New Roman"/>
                <a:cs typeface="Times New Roman"/>
              </a:rPr>
              <a:t> </a:t>
            </a:r>
            <a:r>
              <a:rPr sz="900" spc="15"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buffer[out];</a:t>
            </a:r>
            <a:endParaRPr sz="900">
              <a:latin typeface="Times New Roman"/>
              <a:cs typeface="Times New Roman"/>
            </a:endParaRPr>
          </a:p>
          <a:p>
            <a:pPr marL="12700">
              <a:lnSpc>
                <a:spcPct val="100000"/>
              </a:lnSpc>
              <a:spcBef>
                <a:spcPts val="15"/>
              </a:spcBef>
            </a:pPr>
            <a:r>
              <a:rPr sz="900" spc="80" dirty="0">
                <a:latin typeface="Times New Roman"/>
                <a:cs typeface="Times New Roman"/>
              </a:rPr>
              <a:t>out </a:t>
            </a:r>
            <a:r>
              <a:rPr sz="900" spc="15"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out+1</a:t>
            </a:r>
            <a:r>
              <a:rPr sz="900" dirty="0">
                <a:latin typeface="Times New Roman"/>
                <a:cs typeface="Times New Roman"/>
              </a:rPr>
              <a:t> </a:t>
            </a:r>
            <a:r>
              <a:rPr sz="900" spc="20" dirty="0">
                <a:latin typeface="Times New Roman"/>
                <a:cs typeface="Times New Roman"/>
              </a:rPr>
              <a:t> </a:t>
            </a:r>
            <a:r>
              <a:rPr sz="900" spc="-28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n;</a:t>
            </a:r>
            <a:endParaRPr sz="900">
              <a:latin typeface="Times New Roman"/>
              <a:cs typeface="Times New Roman"/>
            </a:endParaRPr>
          </a:p>
        </p:txBody>
      </p:sp>
      <p:sp>
        <p:nvSpPr>
          <p:cNvPr id="13" name="object 13"/>
          <p:cNvSpPr/>
          <p:nvPr/>
        </p:nvSpPr>
        <p:spPr>
          <a:xfrm>
            <a:off x="2371344" y="1365250"/>
            <a:ext cx="584200" cy="0"/>
          </a:xfrm>
          <a:custGeom>
            <a:avLst/>
            <a:gdLst/>
            <a:ahLst/>
            <a:cxnLst/>
            <a:rect l="l" t="t" r="r" b="b"/>
            <a:pathLst>
              <a:path w="584200">
                <a:moveTo>
                  <a:pt x="0" y="0"/>
                </a:moveTo>
                <a:lnTo>
                  <a:pt x="584200" y="0"/>
                </a:lnTo>
              </a:path>
            </a:pathLst>
          </a:custGeom>
          <a:ln w="5054">
            <a:solidFill>
              <a:srgbClr val="000000"/>
            </a:solidFill>
          </a:ln>
        </p:spPr>
        <p:txBody>
          <a:bodyPr wrap="square" lIns="0" tIns="0" rIns="0" bIns="0" rtlCol="0"/>
          <a:lstStyle/>
          <a:p>
            <a:endParaRPr/>
          </a:p>
        </p:txBody>
      </p:sp>
      <p:sp>
        <p:nvSpPr>
          <p:cNvPr id="14" name="object 14"/>
          <p:cNvSpPr/>
          <p:nvPr/>
        </p:nvSpPr>
        <p:spPr>
          <a:xfrm>
            <a:off x="2373757" y="1365250"/>
            <a:ext cx="0" cy="160020"/>
          </a:xfrm>
          <a:custGeom>
            <a:avLst/>
            <a:gdLst/>
            <a:ahLst/>
            <a:cxnLst/>
            <a:rect l="l" t="t" r="r" b="b"/>
            <a:pathLst>
              <a:path h="160019">
                <a:moveTo>
                  <a:pt x="0" y="159893"/>
                </a:moveTo>
                <a:lnTo>
                  <a:pt x="0" y="0"/>
                </a:lnTo>
              </a:path>
            </a:pathLst>
          </a:custGeom>
          <a:ln w="5054">
            <a:solidFill>
              <a:srgbClr val="000000"/>
            </a:solidFill>
          </a:ln>
        </p:spPr>
        <p:txBody>
          <a:bodyPr wrap="square" lIns="0" tIns="0" rIns="0" bIns="0" rtlCol="0"/>
          <a:lstStyle/>
          <a:p>
            <a:endParaRPr/>
          </a:p>
        </p:txBody>
      </p:sp>
      <p:sp>
        <p:nvSpPr>
          <p:cNvPr id="15" name="object 15"/>
          <p:cNvSpPr/>
          <p:nvPr/>
        </p:nvSpPr>
        <p:spPr>
          <a:xfrm>
            <a:off x="2953004" y="1365250"/>
            <a:ext cx="0" cy="160020"/>
          </a:xfrm>
          <a:custGeom>
            <a:avLst/>
            <a:gdLst/>
            <a:ahLst/>
            <a:cxnLst/>
            <a:rect l="l" t="t" r="r" b="b"/>
            <a:pathLst>
              <a:path h="160019">
                <a:moveTo>
                  <a:pt x="0" y="159893"/>
                </a:moveTo>
                <a:lnTo>
                  <a:pt x="0" y="0"/>
                </a:lnTo>
              </a:path>
            </a:pathLst>
          </a:custGeom>
          <a:ln w="5054">
            <a:solidFill>
              <a:srgbClr val="000000"/>
            </a:solidFill>
          </a:ln>
        </p:spPr>
        <p:txBody>
          <a:bodyPr wrap="square" lIns="0" tIns="0" rIns="0" bIns="0" rtlCol="0"/>
          <a:lstStyle/>
          <a:p>
            <a:endParaRPr/>
          </a:p>
        </p:txBody>
      </p:sp>
      <p:sp>
        <p:nvSpPr>
          <p:cNvPr id="16" name="object 16"/>
          <p:cNvSpPr/>
          <p:nvPr/>
        </p:nvSpPr>
        <p:spPr>
          <a:xfrm>
            <a:off x="2371344" y="1525143"/>
            <a:ext cx="584200" cy="0"/>
          </a:xfrm>
          <a:custGeom>
            <a:avLst/>
            <a:gdLst/>
            <a:ahLst/>
            <a:cxnLst/>
            <a:rect l="l" t="t" r="r" b="b"/>
            <a:pathLst>
              <a:path w="584200">
                <a:moveTo>
                  <a:pt x="0" y="0"/>
                </a:moveTo>
                <a:lnTo>
                  <a:pt x="584200" y="0"/>
                </a:lnTo>
              </a:path>
            </a:pathLst>
          </a:custGeom>
          <a:ln w="5054">
            <a:solidFill>
              <a:srgbClr val="000000"/>
            </a:solidFill>
          </a:ln>
        </p:spPr>
        <p:txBody>
          <a:bodyPr wrap="square" lIns="0" tIns="0" rIns="0" bIns="0" rtlCol="0"/>
          <a:lstStyle/>
          <a:p>
            <a:endParaRPr/>
          </a:p>
        </p:txBody>
      </p:sp>
      <p:sp>
        <p:nvSpPr>
          <p:cNvPr id="17" name="object 17"/>
          <p:cNvSpPr txBox="1"/>
          <p:nvPr/>
        </p:nvSpPr>
        <p:spPr>
          <a:xfrm>
            <a:off x="2358644" y="1370684"/>
            <a:ext cx="683260" cy="278765"/>
          </a:xfrm>
          <a:prstGeom prst="rect">
            <a:avLst/>
          </a:prstGeom>
        </p:spPr>
        <p:txBody>
          <a:bodyPr vert="horz" wrap="square" lIns="0" tIns="0" rIns="0" bIns="0" rtlCol="0">
            <a:spAutoFit/>
          </a:bodyPr>
          <a:lstStyle/>
          <a:p>
            <a:pPr marL="12700" marR="5080" indent="42545">
              <a:lnSpc>
                <a:spcPct val="101499"/>
              </a:lnSpc>
            </a:pPr>
            <a:r>
              <a:rPr sz="900" spc="80" dirty="0">
                <a:latin typeface="Times New Roman"/>
                <a:cs typeface="Times New Roman"/>
              </a:rPr>
              <a:t>count-</a:t>
            </a:r>
            <a:r>
              <a:rPr sz="900" spc="-70" dirty="0">
                <a:latin typeface="Times New Roman"/>
                <a:cs typeface="Times New Roman"/>
              </a:rPr>
              <a:t> </a:t>
            </a:r>
            <a:r>
              <a:rPr sz="900" spc="195" dirty="0">
                <a:latin typeface="Times New Roman"/>
                <a:cs typeface="Times New Roman"/>
              </a:rPr>
              <a:t>-;</a:t>
            </a:r>
            <a:r>
              <a:rPr sz="900" spc="155" dirty="0">
                <a:latin typeface="Times New Roman"/>
                <a:cs typeface="Times New Roman"/>
              </a:rPr>
              <a:t> </a:t>
            </a:r>
            <a:r>
              <a:rPr sz="900" spc="60" dirty="0">
                <a:latin typeface="Times New Roman"/>
                <a:cs typeface="Times New Roman"/>
              </a:rPr>
              <a:t>consume(p);</a:t>
            </a:r>
            <a:endParaRPr sz="900">
              <a:latin typeface="Times New Roman"/>
              <a:cs typeface="Times New Roman"/>
            </a:endParaRPr>
          </a:p>
        </p:txBody>
      </p:sp>
      <p:sp>
        <p:nvSpPr>
          <p:cNvPr id="18" name="object 18"/>
          <p:cNvSpPr/>
          <p:nvPr/>
        </p:nvSpPr>
        <p:spPr>
          <a:xfrm>
            <a:off x="138556" y="1816227"/>
            <a:ext cx="4331335" cy="0"/>
          </a:xfrm>
          <a:custGeom>
            <a:avLst/>
            <a:gdLst/>
            <a:ahLst/>
            <a:cxnLst/>
            <a:rect l="l" t="t" r="r" b="b"/>
            <a:pathLst>
              <a:path w="4331335">
                <a:moveTo>
                  <a:pt x="0" y="0"/>
                </a:moveTo>
                <a:lnTo>
                  <a:pt x="4330954" y="0"/>
                </a:lnTo>
              </a:path>
            </a:pathLst>
          </a:custGeom>
          <a:ln w="5054">
            <a:solidFill>
              <a:srgbClr val="000000"/>
            </a:solidFill>
          </a:ln>
        </p:spPr>
        <p:txBody>
          <a:bodyPr wrap="square" lIns="0" tIns="0" rIns="0" bIns="0" rtlCol="0"/>
          <a:lstStyle/>
          <a:p>
            <a:endParaRPr/>
          </a:p>
        </p:txBody>
      </p:sp>
      <p:sp>
        <p:nvSpPr>
          <p:cNvPr id="19" name="object 19"/>
          <p:cNvSpPr txBox="1"/>
          <p:nvPr/>
        </p:nvSpPr>
        <p:spPr>
          <a:xfrm>
            <a:off x="275081" y="1994000"/>
            <a:ext cx="3663315" cy="835660"/>
          </a:xfrm>
          <a:prstGeom prst="rect">
            <a:avLst/>
          </a:prstGeom>
        </p:spPr>
        <p:txBody>
          <a:bodyPr vert="horz" wrap="square" lIns="0" tIns="0" rIns="0" bIns="0" rtlCol="0">
            <a:spAutoFit/>
          </a:bodyPr>
          <a:lstStyle/>
          <a:p>
            <a:pPr marL="2096135">
              <a:lnSpc>
                <a:spcPct val="100000"/>
              </a:lnSpc>
            </a:pPr>
            <a:r>
              <a:rPr sz="900" spc="-235" dirty="0" smtClean="0">
                <a:latin typeface="Times New Roman"/>
                <a:cs typeface="Times New Roman"/>
              </a:rPr>
              <a:t>MOV </a:t>
            </a:r>
            <a:r>
              <a:rPr sz="900" spc="15" dirty="0" smtClean="0">
                <a:latin typeface="Times New Roman"/>
                <a:cs typeface="Times New Roman"/>
              </a:rPr>
              <a:t> </a:t>
            </a:r>
            <a:r>
              <a:rPr sz="900" spc="65" dirty="0">
                <a:latin typeface="Times New Roman"/>
                <a:cs typeface="Times New Roman"/>
              </a:rPr>
              <a:t>count</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5" dirty="0">
                <a:latin typeface="Times New Roman"/>
                <a:cs typeface="Times New Roman"/>
              </a:rPr>
              <a:t>5</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a:t>
            </a:r>
            <a:endParaRPr sz="900" dirty="0">
              <a:latin typeface="Times New Roman"/>
              <a:cs typeface="Times New Roman"/>
            </a:endParaRPr>
          </a:p>
          <a:p>
            <a:pPr marL="12700" marR="2148205">
              <a:lnSpc>
                <a:spcPct val="101499"/>
              </a:lnSpc>
              <a:tabLst>
                <a:tab pos="789305" algn="l"/>
              </a:tabLst>
            </a:pPr>
            <a:r>
              <a:rPr sz="900" spc="-235" dirty="0">
                <a:latin typeface="Times New Roman"/>
                <a:cs typeface="Times New Roman"/>
              </a:rPr>
              <a:t>MOV </a:t>
            </a:r>
            <a:r>
              <a:rPr sz="900" spc="20" dirty="0">
                <a:latin typeface="Times New Roman"/>
                <a:cs typeface="Times New Roman"/>
              </a:rPr>
              <a:t> </a:t>
            </a:r>
            <a:r>
              <a:rPr sz="900" spc="65" dirty="0">
                <a:latin typeface="Times New Roman"/>
                <a:cs typeface="Times New Roman"/>
              </a:rPr>
              <a:t>count</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5" dirty="0">
                <a:latin typeface="Times New Roman"/>
                <a:cs typeface="Times New Roman"/>
              </a:rPr>
              <a:t>5</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a:t>
            </a:r>
            <a:r>
              <a:rPr sz="900" spc="75" dirty="0">
                <a:latin typeface="Times New Roman"/>
                <a:cs typeface="Times New Roman"/>
              </a:rPr>
              <a:t> </a:t>
            </a:r>
            <a:r>
              <a:rPr sz="900" spc="-185" dirty="0">
                <a:latin typeface="Times New Roman"/>
                <a:cs typeface="Times New Roman"/>
              </a:rPr>
              <a:t>ADD</a:t>
            </a:r>
            <a:r>
              <a:rPr sz="900" dirty="0">
                <a:latin typeface="Times New Roman"/>
                <a:cs typeface="Times New Roman"/>
              </a:rPr>
              <a:t> </a:t>
            </a:r>
            <a:r>
              <a:rPr sz="900" spc="20" dirty="0">
                <a:latin typeface="Times New Roman"/>
                <a:cs typeface="Times New Roman"/>
              </a:rPr>
              <a:t> </a:t>
            </a:r>
            <a:r>
              <a:rPr sz="900" spc="15" dirty="0">
                <a:latin typeface="Times New Roman"/>
                <a:cs typeface="Times New Roman"/>
              </a:rPr>
              <a:t>#1</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114"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5" dirty="0">
                <a:latin typeface="Times New Roman"/>
                <a:cs typeface="Times New Roman"/>
              </a:rPr>
              <a:t>6</a:t>
            </a:r>
            <a:r>
              <a:rPr sz="900" dirty="0">
                <a:latin typeface="Times New Roman"/>
                <a:cs typeface="Times New Roman"/>
              </a:rPr>
              <a:t> </a:t>
            </a:r>
            <a:r>
              <a:rPr sz="900" spc="20" dirty="0">
                <a:latin typeface="Times New Roman"/>
                <a:cs typeface="Times New Roman"/>
              </a:rPr>
              <a:t> </a:t>
            </a:r>
            <a:r>
              <a:rPr sz="900" spc="114" dirty="0" smtClean="0">
                <a:latin typeface="Times New Roman"/>
                <a:cs typeface="Times New Roman"/>
              </a:rPr>
              <a:t>*/</a:t>
            </a:r>
            <a:endParaRPr sz="900" dirty="0" smtClean="0">
              <a:latin typeface="Times New Roman"/>
              <a:cs typeface="Times New Roman"/>
            </a:endParaRPr>
          </a:p>
          <a:p>
            <a:pPr marL="12700">
              <a:lnSpc>
                <a:spcPct val="100000"/>
              </a:lnSpc>
              <a:spcBef>
                <a:spcPts val="15"/>
              </a:spcBef>
            </a:pPr>
            <a:r>
              <a:rPr sz="900" spc="-235" dirty="0" smtClean="0">
                <a:latin typeface="Times New Roman"/>
                <a:cs typeface="Times New Roman"/>
              </a:rPr>
              <a:t>MOV </a:t>
            </a:r>
            <a:r>
              <a:rPr sz="900" spc="20" dirty="0" smtClean="0">
                <a:latin typeface="Times New Roman"/>
                <a:cs typeface="Times New Roman"/>
              </a:rPr>
              <a:t> </a:t>
            </a:r>
            <a:r>
              <a:rPr sz="900" spc="-60" dirty="0" smtClean="0">
                <a:latin typeface="Times New Roman"/>
                <a:cs typeface="Times New Roman"/>
              </a:rPr>
              <a:t>R0</a:t>
            </a:r>
            <a:r>
              <a:rPr sz="900" dirty="0" smtClean="0">
                <a:latin typeface="Times New Roman"/>
                <a:cs typeface="Times New Roman"/>
              </a:rPr>
              <a:t> </a:t>
            </a:r>
            <a:r>
              <a:rPr sz="900" spc="20" dirty="0" smtClean="0">
                <a:latin typeface="Times New Roman"/>
                <a:cs typeface="Times New Roman"/>
              </a:rPr>
              <a:t> </a:t>
            </a:r>
            <a:r>
              <a:rPr sz="900" spc="65" dirty="0" smtClean="0">
                <a:latin typeface="Times New Roman"/>
                <a:cs typeface="Times New Roman"/>
              </a:rPr>
              <a:t>count</a:t>
            </a:r>
            <a:r>
              <a:rPr sz="900" dirty="0" smtClean="0">
                <a:latin typeface="Times New Roman"/>
                <a:cs typeface="Times New Roman"/>
              </a:rPr>
              <a:t> </a:t>
            </a:r>
            <a:r>
              <a:rPr sz="900" spc="20" dirty="0" smtClean="0">
                <a:latin typeface="Times New Roman"/>
                <a:cs typeface="Times New Roman"/>
              </a:rPr>
              <a:t> </a:t>
            </a:r>
            <a:r>
              <a:rPr sz="900" spc="114" dirty="0" smtClean="0">
                <a:latin typeface="Times New Roman"/>
                <a:cs typeface="Times New Roman"/>
              </a:rPr>
              <a:t>/*</a:t>
            </a:r>
            <a:r>
              <a:rPr sz="900" dirty="0" smtClean="0">
                <a:latin typeface="Times New Roman"/>
                <a:cs typeface="Times New Roman"/>
              </a:rPr>
              <a:t> </a:t>
            </a:r>
            <a:r>
              <a:rPr sz="900" spc="20" dirty="0" smtClean="0">
                <a:latin typeface="Times New Roman"/>
                <a:cs typeface="Times New Roman"/>
              </a:rPr>
              <a:t> </a:t>
            </a:r>
            <a:r>
              <a:rPr sz="900" spc="45" dirty="0" smtClean="0">
                <a:latin typeface="Times New Roman"/>
                <a:cs typeface="Times New Roman"/>
              </a:rPr>
              <a:t>count=6</a:t>
            </a:r>
            <a:r>
              <a:rPr sz="900" dirty="0" smtClean="0">
                <a:latin typeface="Times New Roman"/>
                <a:cs typeface="Times New Roman"/>
              </a:rPr>
              <a:t> </a:t>
            </a:r>
            <a:r>
              <a:rPr sz="900" spc="20" dirty="0" smtClean="0">
                <a:latin typeface="Times New Roman"/>
                <a:cs typeface="Times New Roman"/>
              </a:rPr>
              <a:t> </a:t>
            </a:r>
            <a:r>
              <a:rPr sz="900" spc="114" dirty="0" smtClean="0">
                <a:latin typeface="Times New Roman"/>
                <a:cs typeface="Times New Roman"/>
              </a:rPr>
              <a:t>*/</a:t>
            </a:r>
            <a:endParaRPr sz="900" dirty="0" smtClean="0">
              <a:latin typeface="Times New Roman"/>
              <a:cs typeface="Times New Roman"/>
            </a:endParaRPr>
          </a:p>
          <a:p>
            <a:pPr marL="2096135">
              <a:lnSpc>
                <a:spcPct val="100000"/>
              </a:lnSpc>
              <a:spcBef>
                <a:spcPts val="15"/>
              </a:spcBef>
              <a:tabLst>
                <a:tab pos="2872740" algn="l"/>
              </a:tabLst>
            </a:pPr>
            <a:r>
              <a:rPr sz="900" spc="-120" dirty="0" smtClean="0">
                <a:latin typeface="Times New Roman"/>
                <a:cs typeface="Times New Roman"/>
              </a:rPr>
              <a:t>SUB </a:t>
            </a:r>
            <a:r>
              <a:rPr sz="900" spc="15" dirty="0" smtClean="0">
                <a:latin typeface="Times New Roman"/>
                <a:cs typeface="Times New Roman"/>
              </a:rPr>
              <a:t> #1</a:t>
            </a:r>
            <a:r>
              <a:rPr sz="900" dirty="0" smtClean="0">
                <a:latin typeface="Times New Roman"/>
                <a:cs typeface="Times New Roman"/>
              </a:rPr>
              <a:t> </a:t>
            </a:r>
            <a:r>
              <a:rPr sz="900" spc="20" dirty="0" smtClean="0">
                <a:latin typeface="Times New Roman"/>
                <a:cs typeface="Times New Roman"/>
              </a:rPr>
              <a:t> </a:t>
            </a:r>
            <a:r>
              <a:rPr sz="900" spc="-60" dirty="0" smtClean="0">
                <a:latin typeface="Times New Roman"/>
                <a:cs typeface="Times New Roman"/>
              </a:rPr>
              <a:t>R0</a:t>
            </a:r>
            <a:r>
              <a:rPr sz="900" dirty="0" smtClean="0">
                <a:latin typeface="Times New Roman"/>
                <a:cs typeface="Times New Roman"/>
              </a:rPr>
              <a:t>	</a:t>
            </a:r>
            <a:r>
              <a:rPr sz="900" spc="114" dirty="0" smtClean="0">
                <a:latin typeface="Times New Roman"/>
                <a:cs typeface="Times New Roman"/>
              </a:rPr>
              <a:t>/*</a:t>
            </a:r>
            <a:r>
              <a:rPr sz="900" dirty="0" smtClean="0">
                <a:latin typeface="Times New Roman"/>
                <a:cs typeface="Times New Roman"/>
              </a:rPr>
              <a:t> </a:t>
            </a:r>
            <a:r>
              <a:rPr sz="900" spc="20" dirty="0" smtClean="0">
                <a:latin typeface="Times New Roman"/>
                <a:cs typeface="Times New Roman"/>
              </a:rPr>
              <a:t> </a:t>
            </a:r>
            <a:r>
              <a:rPr sz="900" spc="-60" dirty="0" smtClean="0">
                <a:latin typeface="Times New Roman"/>
                <a:cs typeface="Times New Roman"/>
              </a:rPr>
              <a:t>R0</a:t>
            </a:r>
            <a:r>
              <a:rPr sz="900" dirty="0" smtClean="0">
                <a:latin typeface="Times New Roman"/>
                <a:cs typeface="Times New Roman"/>
              </a:rPr>
              <a:t> </a:t>
            </a:r>
            <a:r>
              <a:rPr sz="900" spc="20" dirty="0" smtClean="0">
                <a:latin typeface="Times New Roman"/>
                <a:cs typeface="Times New Roman"/>
              </a:rPr>
              <a:t> </a:t>
            </a:r>
            <a:r>
              <a:rPr sz="900" spc="-45" dirty="0" smtClean="0">
                <a:latin typeface="Times New Roman"/>
                <a:cs typeface="Times New Roman"/>
              </a:rPr>
              <a:t>=</a:t>
            </a:r>
            <a:r>
              <a:rPr sz="900" dirty="0" smtClean="0">
                <a:latin typeface="Times New Roman"/>
                <a:cs typeface="Times New Roman"/>
              </a:rPr>
              <a:t> </a:t>
            </a:r>
            <a:r>
              <a:rPr sz="900" spc="20" dirty="0" smtClean="0">
                <a:latin typeface="Times New Roman"/>
                <a:cs typeface="Times New Roman"/>
              </a:rPr>
              <a:t> </a:t>
            </a:r>
            <a:r>
              <a:rPr sz="900" spc="15" dirty="0" smtClean="0">
                <a:latin typeface="Times New Roman"/>
                <a:cs typeface="Times New Roman"/>
              </a:rPr>
              <a:t>4</a:t>
            </a:r>
            <a:r>
              <a:rPr sz="900" dirty="0" smtClean="0">
                <a:latin typeface="Times New Roman"/>
                <a:cs typeface="Times New Roman"/>
              </a:rPr>
              <a:t> </a:t>
            </a:r>
            <a:r>
              <a:rPr sz="900" spc="20" dirty="0" smtClean="0">
                <a:latin typeface="Times New Roman"/>
                <a:cs typeface="Times New Roman"/>
              </a:rPr>
              <a:t> </a:t>
            </a:r>
            <a:r>
              <a:rPr sz="900" spc="114" dirty="0" smtClean="0">
                <a:latin typeface="Times New Roman"/>
                <a:cs typeface="Times New Roman"/>
              </a:rPr>
              <a:t>*/</a:t>
            </a:r>
            <a:endParaRPr sz="900" dirty="0" smtClean="0">
              <a:latin typeface="Times New Roman"/>
              <a:cs typeface="Times New Roman"/>
            </a:endParaRPr>
          </a:p>
          <a:p>
            <a:pPr marL="2096135">
              <a:lnSpc>
                <a:spcPct val="100000"/>
              </a:lnSpc>
              <a:spcBef>
                <a:spcPts val="15"/>
              </a:spcBef>
            </a:pPr>
            <a:r>
              <a:rPr sz="900" spc="-235" dirty="0" smtClean="0">
                <a:latin typeface="Times New Roman"/>
                <a:cs typeface="Times New Roman"/>
              </a:rPr>
              <a:t>MOV </a:t>
            </a:r>
            <a:r>
              <a:rPr sz="900" spc="15" dirty="0" smtClean="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20" dirty="0">
                <a:latin typeface="Times New Roman"/>
                <a:cs typeface="Times New Roman"/>
              </a:rPr>
              <a:t> </a:t>
            </a:r>
            <a:r>
              <a:rPr sz="900" spc="65" dirty="0">
                <a:latin typeface="Times New Roman"/>
                <a:cs typeface="Times New Roman"/>
              </a:rPr>
              <a:t>count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count=4</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a:t>
            </a:r>
            <a:endParaRPr sz="900" dirty="0">
              <a:latin typeface="Times New Roman"/>
              <a:cs typeface="Times New Roman"/>
            </a:endParaRPr>
          </a:p>
        </p:txBody>
      </p:sp>
      <p:sp>
        <p:nvSpPr>
          <p:cNvPr id="20" name="object 20"/>
          <p:cNvSpPr/>
          <p:nvPr/>
        </p:nvSpPr>
        <p:spPr>
          <a:xfrm>
            <a:off x="0" y="3327019"/>
            <a:ext cx="1536065" cy="129539"/>
          </a:xfrm>
          <a:custGeom>
            <a:avLst/>
            <a:gdLst/>
            <a:ahLst/>
            <a:cxnLst/>
            <a:rect l="l" t="t" r="r" b="b"/>
            <a:pathLst>
              <a:path w="1536065" h="129539">
                <a:moveTo>
                  <a:pt x="0" y="129031"/>
                </a:moveTo>
                <a:lnTo>
                  <a:pt x="1535938" y="129031"/>
                </a:lnTo>
                <a:lnTo>
                  <a:pt x="1535938" y="0"/>
                </a:lnTo>
                <a:lnTo>
                  <a:pt x="0" y="0"/>
                </a:lnTo>
                <a:lnTo>
                  <a:pt x="0" y="129031"/>
                </a:lnTo>
              </a:path>
            </a:pathLst>
          </a:custGeom>
          <a:solidFill>
            <a:srgbClr val="193F3F"/>
          </a:solidFill>
        </p:spPr>
        <p:txBody>
          <a:bodyPr wrap="square" lIns="0" tIns="0" rIns="0" bIns="0" rtlCol="0"/>
          <a:lstStyle/>
          <a:p>
            <a:endParaRPr/>
          </a:p>
        </p:txBody>
      </p:sp>
      <p:sp>
        <p:nvSpPr>
          <p:cNvPr id="21" name="object 21"/>
          <p:cNvSpPr/>
          <p:nvPr/>
        </p:nvSpPr>
        <p:spPr>
          <a:xfrm>
            <a:off x="1535938" y="3327019"/>
            <a:ext cx="1536065" cy="129539"/>
          </a:xfrm>
          <a:custGeom>
            <a:avLst/>
            <a:gdLst/>
            <a:ahLst/>
            <a:cxnLst/>
            <a:rect l="l" t="t" r="r" b="b"/>
            <a:pathLst>
              <a:path w="1536064" h="129539">
                <a:moveTo>
                  <a:pt x="0" y="129031"/>
                </a:moveTo>
                <a:lnTo>
                  <a:pt x="1535938" y="129031"/>
                </a:lnTo>
                <a:lnTo>
                  <a:pt x="1535938" y="0"/>
                </a:lnTo>
                <a:lnTo>
                  <a:pt x="0" y="0"/>
                </a:lnTo>
                <a:lnTo>
                  <a:pt x="0" y="129031"/>
                </a:lnTo>
              </a:path>
            </a:pathLst>
          </a:custGeom>
          <a:solidFill>
            <a:srgbClr val="265F5F"/>
          </a:solidFill>
        </p:spPr>
        <p:txBody>
          <a:bodyPr wrap="square" lIns="0" tIns="0" rIns="0" bIns="0" rtlCol="0"/>
          <a:lstStyle/>
          <a:p>
            <a:endParaRPr/>
          </a:p>
        </p:txBody>
      </p:sp>
      <p:sp>
        <p:nvSpPr>
          <p:cNvPr id="22" name="object 22"/>
          <p:cNvSpPr/>
          <p:nvPr/>
        </p:nvSpPr>
        <p:spPr>
          <a:xfrm>
            <a:off x="3072002" y="3327019"/>
            <a:ext cx="1536065" cy="129539"/>
          </a:xfrm>
          <a:custGeom>
            <a:avLst/>
            <a:gdLst/>
            <a:ahLst/>
            <a:cxnLst/>
            <a:rect l="l" t="t" r="r" b="b"/>
            <a:pathLst>
              <a:path w="1536064" h="129539">
                <a:moveTo>
                  <a:pt x="0" y="129031"/>
                </a:moveTo>
                <a:lnTo>
                  <a:pt x="1535937" y="129031"/>
                </a:lnTo>
                <a:lnTo>
                  <a:pt x="1535937" y="0"/>
                </a:lnTo>
                <a:lnTo>
                  <a:pt x="0" y="0"/>
                </a:lnTo>
                <a:lnTo>
                  <a:pt x="0" y="129031"/>
                </a:lnTo>
              </a:path>
            </a:pathLst>
          </a:custGeom>
          <a:solidFill>
            <a:srgbClr val="337F7F"/>
          </a:solidFill>
        </p:spPr>
        <p:txBody>
          <a:bodyPr wrap="square" lIns="0" tIns="0" rIns="0" bIns="0" rtlCol="0"/>
          <a:lstStyle/>
          <a:p>
            <a:endParaRPr/>
          </a:p>
        </p:txBody>
      </p:sp>
      <p:sp>
        <p:nvSpPr>
          <p:cNvPr id="23" name="object 23"/>
          <p:cNvSpPr txBox="1">
            <a:spLocks noGrp="1"/>
          </p:cNvSpPr>
          <p:nvPr>
            <p:ph type="ftr" sz="quarter" idx="5"/>
          </p:nvPr>
        </p:nvSpPr>
        <p:spPr>
          <a:xfrm>
            <a:off x="525780" y="3345157"/>
            <a:ext cx="484505" cy="92333"/>
          </a:xfrm>
          <a:prstGeom prst="rect">
            <a:avLst/>
          </a:prstGeom>
        </p:spPr>
        <p:txBody>
          <a:bodyPr vert="horz" wrap="square" lIns="0" tIns="0" rIns="0" bIns="0" rtlCol="0">
            <a:spAutoFit/>
          </a:bodyPr>
          <a:lstStyle/>
          <a:p>
            <a:pPr marL="12700">
              <a:lnSpc>
                <a:spcPct val="100000"/>
              </a:lnSpc>
            </a:pPr>
            <a:r>
              <a:rPr lang="en-IN" spc="-5" dirty="0" smtClean="0"/>
              <a:t>M.Tech.</a:t>
            </a:r>
            <a:r>
              <a:rPr dirty="0" smtClean="0"/>
              <a:t> </a:t>
            </a:r>
            <a:r>
              <a:rPr spc="-5" dirty="0" smtClean="0"/>
              <a:t> </a:t>
            </a:r>
            <a:r>
              <a:rPr spc="-5" dirty="0"/>
              <a:t>(ISI)</a:t>
            </a:r>
          </a:p>
        </p:txBody>
      </p:sp>
      <p:sp>
        <p:nvSpPr>
          <p:cNvPr id="24" name="object 24"/>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spc="-5" dirty="0"/>
              <a:t>Process Synchronization</a:t>
            </a:r>
          </a:p>
        </p:txBody>
      </p:sp>
      <p:sp>
        <p:nvSpPr>
          <p:cNvPr id="25" name="object 25"/>
          <p:cNvSpPr txBox="1"/>
          <p:nvPr/>
        </p:nvSpPr>
        <p:spPr>
          <a:xfrm>
            <a:off x="4325873" y="3345157"/>
            <a:ext cx="215900" cy="101600"/>
          </a:xfrm>
          <a:prstGeom prst="rect">
            <a:avLst/>
          </a:prstGeom>
        </p:spPr>
        <p:txBody>
          <a:bodyPr vert="horz" wrap="square" lIns="0" tIns="0" rIns="0" bIns="0" rtlCol="0">
            <a:spAutoFit/>
          </a:bodyPr>
          <a:lstStyle/>
          <a:p>
            <a:pPr marL="12700">
              <a:lnSpc>
                <a:spcPct val="100000"/>
              </a:lnSpc>
            </a:pPr>
            <a:r>
              <a:rPr sz="600" spc="-5" dirty="0">
                <a:solidFill>
                  <a:srgbClr val="FFFFFF"/>
                </a:solidFill>
                <a:latin typeface="Arial"/>
                <a:cs typeface="Arial"/>
              </a:rPr>
              <a:t>5 / 28</a:t>
            </a:r>
            <a:endParaRPr sz="600">
              <a:latin typeface="Arial"/>
              <a:cs typeface="Arial"/>
            </a:endParaRPr>
          </a:p>
        </p:txBody>
      </p:sp>
      <p:cxnSp>
        <p:nvCxnSpPr>
          <p:cNvPr id="27" name="Straight Arrow Connector 26"/>
          <p:cNvCxnSpPr/>
          <p:nvPr/>
        </p:nvCxnSpPr>
        <p:spPr>
          <a:xfrm flipH="1">
            <a:off x="3598886" y="2187575"/>
            <a:ext cx="5334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3627035" y="2144390"/>
            <a:ext cx="1090363" cy="446276"/>
          </a:xfrm>
          <a:prstGeom prst="rect">
            <a:avLst/>
          </a:prstGeom>
          <a:noFill/>
        </p:spPr>
        <p:txBody>
          <a:bodyPr wrap="none" rtlCol="0">
            <a:spAutoFit/>
          </a:bodyPr>
          <a:lstStyle/>
          <a:p>
            <a:r>
              <a:rPr lang="en-US" sz="900" b="1" dirty="0" smtClean="0"/>
              <a:t>Switch </a:t>
            </a:r>
          </a:p>
          <a:p>
            <a:r>
              <a:rPr lang="en-US" sz="700" b="1" dirty="0" smtClean="0"/>
              <a:t>(Save context, R0=5 gets</a:t>
            </a:r>
          </a:p>
          <a:p>
            <a:r>
              <a:rPr lang="en-US" sz="700" b="1" dirty="0" smtClean="0"/>
              <a:t>Saved for consumer)</a:t>
            </a:r>
            <a:endParaRPr lang="en-IN" sz="700" b="1" dirty="0"/>
          </a:p>
        </p:txBody>
      </p:sp>
      <p:sp>
        <p:nvSpPr>
          <p:cNvPr id="29" name="object 20"/>
          <p:cNvSpPr txBox="1"/>
          <p:nvPr/>
        </p:nvSpPr>
        <p:spPr>
          <a:xfrm>
            <a:off x="287781" y="2868932"/>
            <a:ext cx="3084069" cy="415498"/>
          </a:xfrm>
          <a:prstGeom prst="rect">
            <a:avLst/>
          </a:prstGeom>
          <a:ln w="5054">
            <a:solidFill>
              <a:srgbClr val="000000"/>
            </a:solidFill>
          </a:ln>
        </p:spPr>
        <p:txBody>
          <a:bodyPr vert="horz" wrap="square" lIns="0" tIns="0" rIns="0" bIns="0" rtlCol="0">
            <a:spAutoFit/>
          </a:bodyPr>
          <a:lstStyle/>
          <a:p>
            <a:pPr marL="208915" indent="-171450">
              <a:lnSpc>
                <a:spcPct val="100000"/>
              </a:lnSpc>
              <a:buFont typeface="Arial" panose="020B0604020202020204" pitchFamily="34" charset="0"/>
              <a:buChar char="•"/>
            </a:pPr>
            <a:r>
              <a:rPr lang="en-US" sz="900" spc="-10" dirty="0" smtClean="0">
                <a:latin typeface="Arial"/>
                <a:cs typeface="Arial"/>
              </a:rPr>
              <a:t>Most machines will not allow direct memory operation</a:t>
            </a:r>
          </a:p>
          <a:p>
            <a:pPr marL="208915" indent="-171450">
              <a:lnSpc>
                <a:spcPct val="100000"/>
              </a:lnSpc>
              <a:buFont typeface="Arial" panose="020B0604020202020204" pitchFamily="34" charset="0"/>
              <a:buChar char="•"/>
            </a:pPr>
            <a:r>
              <a:rPr lang="en-US" sz="900" spc="-10" dirty="0" smtClean="0">
                <a:latin typeface="Arial"/>
                <a:cs typeface="Arial"/>
              </a:rPr>
              <a:t>Compiler translates this into 3 machine level instructions</a:t>
            </a:r>
          </a:p>
          <a:p>
            <a:pPr marL="208915" indent="-171450">
              <a:lnSpc>
                <a:spcPct val="100000"/>
              </a:lnSpc>
              <a:buFont typeface="Arial" panose="020B0604020202020204" pitchFamily="34" charset="0"/>
              <a:buChar char="•"/>
            </a:pPr>
            <a:r>
              <a:rPr lang="en-US" sz="900" spc="-10" dirty="0" smtClean="0">
                <a:latin typeface="Arial"/>
                <a:cs typeface="Arial"/>
              </a:rPr>
              <a:t>Think of Interrupts</a:t>
            </a:r>
            <a:endParaRPr sz="900" dirty="0">
              <a:latin typeface="Arial"/>
              <a:cs typeface="Arial"/>
            </a:endParaRPr>
          </a:p>
        </p:txBody>
      </p:sp>
      <p:cxnSp>
        <p:nvCxnSpPr>
          <p:cNvPr id="30" name="Straight Connector 29"/>
          <p:cNvCxnSpPr/>
          <p:nvPr/>
        </p:nvCxnSpPr>
        <p:spPr>
          <a:xfrm>
            <a:off x="3524250" y="3178175"/>
            <a:ext cx="31578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3829050" y="2949575"/>
            <a:ext cx="109346"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3938396" y="2949575"/>
            <a:ext cx="34785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4286250" y="2949575"/>
            <a:ext cx="109346"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4395596" y="3178175"/>
            <a:ext cx="14617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3752850" y="3025775"/>
            <a:ext cx="7620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H="1">
            <a:off x="4325873" y="2797175"/>
            <a:ext cx="121763"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171450" y="1638869"/>
            <a:ext cx="4571999" cy="215444"/>
          </a:xfrm>
          <a:prstGeom prst="rect">
            <a:avLst/>
          </a:prstGeom>
        </p:spPr>
        <p:txBody>
          <a:bodyPr wrap="square">
            <a:spAutoFit/>
          </a:bodyPr>
          <a:lstStyle/>
          <a:p>
            <a:pPr marL="37465">
              <a:lnSpc>
                <a:spcPct val="100000"/>
              </a:lnSpc>
            </a:pPr>
            <a:r>
              <a:rPr lang="en-US" sz="800" b="1" i="1" spc="-10" dirty="0">
                <a:latin typeface="Arial"/>
                <a:cs typeface="Arial"/>
              </a:rPr>
              <a:t>buffer</a:t>
            </a:r>
            <a:r>
              <a:rPr lang="en-US" sz="800" b="1" spc="-10" dirty="0">
                <a:latin typeface="Arial"/>
                <a:cs typeface="Arial"/>
              </a:rPr>
              <a:t> </a:t>
            </a:r>
            <a:r>
              <a:rPr lang="en-US" sz="800" b="1" spc="-10" dirty="0" smtClean="0">
                <a:latin typeface="Arial"/>
                <a:cs typeface="Arial"/>
              </a:rPr>
              <a:t>and count in </a:t>
            </a:r>
            <a:r>
              <a:rPr lang="en-US" sz="800" b="1" spc="-10" dirty="0">
                <a:latin typeface="Arial"/>
                <a:cs typeface="Arial"/>
              </a:rPr>
              <a:t>shared space, </a:t>
            </a:r>
            <a:r>
              <a:rPr lang="en-US" sz="800" b="1" i="1" spc="-10" dirty="0">
                <a:latin typeface="Arial"/>
                <a:cs typeface="Arial"/>
              </a:rPr>
              <a:t>in</a:t>
            </a:r>
            <a:r>
              <a:rPr lang="en-US" sz="800" b="1" spc="-10" dirty="0">
                <a:latin typeface="Arial"/>
                <a:cs typeface="Arial"/>
              </a:rPr>
              <a:t> and </a:t>
            </a:r>
            <a:r>
              <a:rPr lang="en-US" sz="800" b="1" i="1" spc="-10" dirty="0">
                <a:latin typeface="Arial"/>
                <a:cs typeface="Arial"/>
              </a:rPr>
              <a:t>out</a:t>
            </a:r>
            <a:r>
              <a:rPr lang="en-US" sz="800" b="1" spc="-10" dirty="0">
                <a:latin typeface="Arial"/>
                <a:cs typeface="Arial"/>
              </a:rPr>
              <a:t> in </a:t>
            </a:r>
            <a:r>
              <a:rPr lang="en-US" sz="800" b="1" spc="-10" dirty="0" smtClean="0">
                <a:latin typeface="Arial"/>
                <a:cs typeface="Arial"/>
              </a:rPr>
              <a:t>exclusive space</a:t>
            </a:r>
            <a:endParaRPr lang="en-US" sz="800" dirty="0">
              <a:latin typeface="Arial"/>
              <a:cs typeface="Arial"/>
            </a:endParaRPr>
          </a:p>
        </p:txBody>
      </p:sp>
      <p:sp>
        <p:nvSpPr>
          <p:cNvPr id="31" name="TextBox 30"/>
          <p:cNvSpPr txBox="1"/>
          <p:nvPr/>
        </p:nvSpPr>
        <p:spPr>
          <a:xfrm>
            <a:off x="171450" y="1760162"/>
            <a:ext cx="1223925" cy="276999"/>
          </a:xfrm>
          <a:prstGeom prst="rect">
            <a:avLst/>
          </a:prstGeom>
          <a:noFill/>
        </p:spPr>
        <p:txBody>
          <a:bodyPr wrap="none" rtlCol="0">
            <a:spAutoFit/>
          </a:bodyPr>
          <a:lstStyle/>
          <a:p>
            <a:r>
              <a:rPr lang="en-US" sz="1200" u="sng" dirty="0" smtClean="0"/>
              <a:t>Assume count=5</a:t>
            </a:r>
            <a:endParaRPr lang="en-IN" sz="1200" u="sng" dirty="0"/>
          </a:p>
        </p:txBody>
      </p:sp>
    </p:spTree>
    <p:extLst>
      <p:ext uri="{BB962C8B-B14F-4D97-AF65-F5344CB8AC3E}">
        <p14:creationId xmlns:p14="http://schemas.microsoft.com/office/powerpoint/2010/main" val="862669529"/>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8" grpId="0"/>
      <p:bldP spid="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15" dirty="0"/>
              <a:t>Race</a:t>
            </a:r>
            <a:r>
              <a:rPr spc="5" dirty="0"/>
              <a:t> </a:t>
            </a:r>
            <a:r>
              <a:rPr spc="10" dirty="0"/>
              <a:t>condition</a:t>
            </a:r>
          </a:p>
        </p:txBody>
      </p:sp>
      <p:sp>
        <p:nvSpPr>
          <p:cNvPr id="3" name="object 3"/>
          <p:cNvSpPr txBox="1"/>
          <p:nvPr/>
        </p:nvSpPr>
        <p:spPr>
          <a:xfrm>
            <a:off x="1695195" y="411226"/>
            <a:ext cx="1217930" cy="160020"/>
          </a:xfrm>
          <a:prstGeom prst="rect">
            <a:avLst/>
          </a:prstGeom>
          <a:ln w="5054">
            <a:solidFill>
              <a:srgbClr val="000000"/>
            </a:solidFill>
          </a:ln>
        </p:spPr>
        <p:txBody>
          <a:bodyPr vert="horz" wrap="square" lIns="0" tIns="0" rIns="0" bIns="0" rtlCol="0">
            <a:spAutoFit/>
          </a:bodyPr>
          <a:lstStyle/>
          <a:p>
            <a:pPr marL="37465">
              <a:lnSpc>
                <a:spcPct val="100000"/>
              </a:lnSpc>
            </a:pPr>
            <a:r>
              <a:rPr sz="900" spc="-25" dirty="0">
                <a:latin typeface="Century"/>
                <a:cs typeface="Century"/>
              </a:rPr>
              <a:t>Reference: </a:t>
            </a:r>
            <a:r>
              <a:rPr sz="900" spc="-95" dirty="0">
                <a:latin typeface="Century"/>
                <a:cs typeface="Century"/>
              </a:rPr>
              <a:t> </a:t>
            </a:r>
            <a:r>
              <a:rPr sz="900" spc="-25" dirty="0">
                <a:latin typeface="Century"/>
                <a:cs typeface="Century"/>
              </a:rPr>
              <a:t>Section</a:t>
            </a:r>
            <a:r>
              <a:rPr sz="900" spc="55" dirty="0">
                <a:latin typeface="Century"/>
                <a:cs typeface="Century"/>
              </a:rPr>
              <a:t> </a:t>
            </a:r>
            <a:r>
              <a:rPr sz="900" spc="-30" dirty="0">
                <a:latin typeface="Century"/>
                <a:cs typeface="Century"/>
              </a:rPr>
              <a:t>6.1</a:t>
            </a:r>
            <a:endParaRPr sz="900">
              <a:latin typeface="Century"/>
              <a:cs typeface="Century"/>
            </a:endParaRPr>
          </a:p>
        </p:txBody>
      </p:sp>
      <p:sp>
        <p:nvSpPr>
          <p:cNvPr id="4" name="object 4"/>
          <p:cNvSpPr txBox="1"/>
          <p:nvPr/>
        </p:nvSpPr>
        <p:spPr>
          <a:xfrm>
            <a:off x="275081" y="811759"/>
            <a:ext cx="474980" cy="139700"/>
          </a:xfrm>
          <a:prstGeom prst="rect">
            <a:avLst/>
          </a:prstGeom>
        </p:spPr>
        <p:txBody>
          <a:bodyPr vert="horz" wrap="square" lIns="0" tIns="0" rIns="0" bIns="0" rtlCol="0">
            <a:spAutoFit/>
          </a:bodyPr>
          <a:lstStyle/>
          <a:p>
            <a:pPr marL="12700">
              <a:lnSpc>
                <a:spcPct val="100000"/>
              </a:lnSpc>
            </a:pPr>
            <a:r>
              <a:rPr sz="900" spc="-5" dirty="0">
                <a:latin typeface="Arial"/>
                <a:cs typeface="Arial"/>
              </a:rPr>
              <a:t>producer</a:t>
            </a:r>
            <a:endParaRPr sz="900">
              <a:latin typeface="Arial"/>
              <a:cs typeface="Arial"/>
            </a:endParaRPr>
          </a:p>
        </p:txBody>
      </p:sp>
      <p:sp>
        <p:nvSpPr>
          <p:cNvPr id="5" name="object 5"/>
          <p:cNvSpPr/>
          <p:nvPr/>
        </p:nvSpPr>
        <p:spPr>
          <a:xfrm>
            <a:off x="287781" y="952627"/>
            <a:ext cx="449580" cy="0"/>
          </a:xfrm>
          <a:custGeom>
            <a:avLst/>
            <a:gdLst/>
            <a:ahLst/>
            <a:cxnLst/>
            <a:rect l="l" t="t" r="r" b="b"/>
            <a:pathLst>
              <a:path w="449580">
                <a:moveTo>
                  <a:pt x="0" y="0"/>
                </a:moveTo>
                <a:lnTo>
                  <a:pt x="449326" y="0"/>
                </a:lnTo>
              </a:path>
            </a:pathLst>
          </a:custGeom>
          <a:ln w="4813">
            <a:solidFill>
              <a:srgbClr val="000000"/>
            </a:solidFill>
          </a:ln>
        </p:spPr>
        <p:txBody>
          <a:bodyPr wrap="square" lIns="0" tIns="0" rIns="0" bIns="0" rtlCol="0"/>
          <a:lstStyle/>
          <a:p>
            <a:endParaRPr/>
          </a:p>
        </p:txBody>
      </p:sp>
      <p:sp>
        <p:nvSpPr>
          <p:cNvPr id="6" name="object 6"/>
          <p:cNvSpPr txBox="1"/>
          <p:nvPr/>
        </p:nvSpPr>
        <p:spPr>
          <a:xfrm>
            <a:off x="275081" y="953235"/>
            <a:ext cx="1520190" cy="556895"/>
          </a:xfrm>
          <a:prstGeom prst="rect">
            <a:avLst/>
          </a:prstGeom>
        </p:spPr>
        <p:txBody>
          <a:bodyPr vert="horz" wrap="square" lIns="0" tIns="0" rIns="0" bIns="0" rtlCol="0">
            <a:spAutoFit/>
          </a:bodyPr>
          <a:lstStyle/>
          <a:p>
            <a:pPr marL="12700">
              <a:lnSpc>
                <a:spcPct val="100000"/>
              </a:lnSpc>
            </a:pPr>
            <a:r>
              <a:rPr sz="900" spc="15" dirty="0">
                <a:latin typeface="Times New Roman"/>
                <a:cs typeface="Times New Roman"/>
              </a:rPr>
              <a:t>p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90" dirty="0">
                <a:latin typeface="Times New Roman"/>
                <a:cs typeface="Times New Roman"/>
              </a:rPr>
              <a:t>produce();</a:t>
            </a:r>
            <a:endParaRPr sz="900">
              <a:latin typeface="Times New Roman"/>
              <a:cs typeface="Times New Roman"/>
            </a:endParaRPr>
          </a:p>
          <a:p>
            <a:pPr marL="12700" marR="5080">
              <a:lnSpc>
                <a:spcPct val="101400"/>
              </a:lnSpc>
            </a:pPr>
            <a:r>
              <a:rPr sz="900" spc="65" dirty="0">
                <a:latin typeface="Times New Roman"/>
                <a:cs typeface="Times New Roman"/>
              </a:rPr>
              <a:t>while </a:t>
            </a:r>
            <a:r>
              <a:rPr sz="900" spc="20" dirty="0">
                <a:latin typeface="Times New Roman"/>
                <a:cs typeface="Times New Roman"/>
              </a:rPr>
              <a:t> </a:t>
            </a:r>
            <a:r>
              <a:rPr sz="900" spc="75" dirty="0">
                <a:latin typeface="Times New Roman"/>
                <a:cs typeface="Times New Roman"/>
              </a:rPr>
              <a:t>(count==n);</a:t>
            </a:r>
            <a:r>
              <a:rPr sz="900" dirty="0">
                <a:latin typeface="Times New Roman"/>
                <a:cs typeface="Times New Roman"/>
              </a:rPr>
              <a:t> </a:t>
            </a:r>
            <a:r>
              <a:rPr sz="900" spc="20" dirty="0">
                <a:latin typeface="Times New Roman"/>
                <a:cs typeface="Times New Roman"/>
              </a:rPr>
              <a:t> </a:t>
            </a:r>
            <a:r>
              <a:rPr sz="900" spc="220"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55" dirty="0">
                <a:latin typeface="Times New Roman"/>
                <a:cs typeface="Times New Roman"/>
              </a:rPr>
              <a:t>full</a:t>
            </a:r>
            <a:r>
              <a:rPr sz="900" spc="110" dirty="0">
                <a:latin typeface="Times New Roman"/>
                <a:cs typeface="Times New Roman"/>
              </a:rPr>
              <a:t> </a:t>
            </a:r>
            <a:r>
              <a:rPr sz="900" spc="114" dirty="0">
                <a:latin typeface="Times New Roman"/>
                <a:cs typeface="Times New Roman"/>
              </a:rPr>
              <a:t>buffer[in]</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p;</a:t>
            </a:r>
            <a:endParaRPr sz="900">
              <a:latin typeface="Times New Roman"/>
              <a:cs typeface="Times New Roman"/>
            </a:endParaRPr>
          </a:p>
          <a:p>
            <a:pPr marL="12700">
              <a:lnSpc>
                <a:spcPct val="100000"/>
              </a:lnSpc>
              <a:spcBef>
                <a:spcPts val="15"/>
              </a:spcBef>
            </a:pPr>
            <a:r>
              <a:rPr sz="900" spc="114" dirty="0">
                <a:latin typeface="Times New Roman"/>
                <a:cs typeface="Times New Roman"/>
              </a:rPr>
              <a:t>in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50" dirty="0">
                <a:latin typeface="Times New Roman"/>
                <a:cs typeface="Times New Roman"/>
              </a:rPr>
              <a:t>in+1</a:t>
            </a:r>
            <a:r>
              <a:rPr sz="900" dirty="0">
                <a:latin typeface="Times New Roman"/>
                <a:cs typeface="Times New Roman"/>
              </a:rPr>
              <a:t> </a:t>
            </a:r>
            <a:r>
              <a:rPr sz="900" spc="20" dirty="0">
                <a:latin typeface="Times New Roman"/>
                <a:cs typeface="Times New Roman"/>
              </a:rPr>
              <a:t> </a:t>
            </a:r>
            <a:r>
              <a:rPr sz="900" spc="-28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n;</a:t>
            </a:r>
            <a:endParaRPr sz="900">
              <a:latin typeface="Times New Roman"/>
              <a:cs typeface="Times New Roman"/>
            </a:endParaRPr>
          </a:p>
        </p:txBody>
      </p:sp>
      <p:sp>
        <p:nvSpPr>
          <p:cNvPr id="7" name="object 7"/>
          <p:cNvSpPr txBox="1"/>
          <p:nvPr/>
        </p:nvSpPr>
        <p:spPr>
          <a:xfrm>
            <a:off x="318134" y="1509876"/>
            <a:ext cx="504190" cy="139700"/>
          </a:xfrm>
          <a:prstGeom prst="rect">
            <a:avLst/>
          </a:prstGeom>
        </p:spPr>
        <p:txBody>
          <a:bodyPr vert="horz" wrap="square" lIns="0" tIns="0" rIns="0" bIns="0" rtlCol="0">
            <a:spAutoFit/>
          </a:bodyPr>
          <a:lstStyle/>
          <a:p>
            <a:pPr marL="12700">
              <a:lnSpc>
                <a:spcPct val="100000"/>
              </a:lnSpc>
            </a:pPr>
            <a:r>
              <a:rPr sz="900" spc="60" dirty="0">
                <a:latin typeface="Times New Roman"/>
                <a:cs typeface="Times New Roman"/>
              </a:rPr>
              <a:t>count++;</a:t>
            </a:r>
            <a:endParaRPr sz="900">
              <a:latin typeface="Times New Roman"/>
              <a:cs typeface="Times New Roman"/>
            </a:endParaRPr>
          </a:p>
        </p:txBody>
      </p:sp>
      <p:sp>
        <p:nvSpPr>
          <p:cNvPr id="8" name="object 8"/>
          <p:cNvSpPr/>
          <p:nvPr/>
        </p:nvSpPr>
        <p:spPr>
          <a:xfrm>
            <a:off x="287781" y="1504442"/>
            <a:ext cx="564515" cy="0"/>
          </a:xfrm>
          <a:custGeom>
            <a:avLst/>
            <a:gdLst/>
            <a:ahLst/>
            <a:cxnLst/>
            <a:rect l="l" t="t" r="r" b="b"/>
            <a:pathLst>
              <a:path w="564515">
                <a:moveTo>
                  <a:pt x="0" y="0"/>
                </a:moveTo>
                <a:lnTo>
                  <a:pt x="564388" y="0"/>
                </a:lnTo>
              </a:path>
            </a:pathLst>
          </a:custGeom>
          <a:ln w="5054">
            <a:solidFill>
              <a:srgbClr val="000000"/>
            </a:solidFill>
          </a:ln>
        </p:spPr>
        <p:txBody>
          <a:bodyPr wrap="square" lIns="0" tIns="0" rIns="0" bIns="0" rtlCol="0"/>
          <a:lstStyle/>
          <a:p>
            <a:endParaRPr/>
          </a:p>
        </p:txBody>
      </p:sp>
      <p:sp>
        <p:nvSpPr>
          <p:cNvPr id="9" name="object 9"/>
          <p:cNvSpPr/>
          <p:nvPr/>
        </p:nvSpPr>
        <p:spPr>
          <a:xfrm>
            <a:off x="290322" y="1504442"/>
            <a:ext cx="0" cy="160020"/>
          </a:xfrm>
          <a:custGeom>
            <a:avLst/>
            <a:gdLst/>
            <a:ahLst/>
            <a:cxnLst/>
            <a:rect l="l" t="t" r="r" b="b"/>
            <a:pathLst>
              <a:path h="160019">
                <a:moveTo>
                  <a:pt x="0" y="159892"/>
                </a:moveTo>
                <a:lnTo>
                  <a:pt x="0" y="0"/>
                </a:lnTo>
              </a:path>
            </a:pathLst>
          </a:custGeom>
          <a:ln w="5054">
            <a:solidFill>
              <a:srgbClr val="000000"/>
            </a:solidFill>
          </a:ln>
        </p:spPr>
        <p:txBody>
          <a:bodyPr wrap="square" lIns="0" tIns="0" rIns="0" bIns="0" rtlCol="0"/>
          <a:lstStyle/>
          <a:p>
            <a:endParaRPr/>
          </a:p>
        </p:txBody>
      </p:sp>
      <p:sp>
        <p:nvSpPr>
          <p:cNvPr id="10" name="object 10"/>
          <p:cNvSpPr/>
          <p:nvPr/>
        </p:nvSpPr>
        <p:spPr>
          <a:xfrm>
            <a:off x="849630" y="1504442"/>
            <a:ext cx="0" cy="160020"/>
          </a:xfrm>
          <a:custGeom>
            <a:avLst/>
            <a:gdLst/>
            <a:ahLst/>
            <a:cxnLst/>
            <a:rect l="l" t="t" r="r" b="b"/>
            <a:pathLst>
              <a:path h="160019">
                <a:moveTo>
                  <a:pt x="0" y="159892"/>
                </a:moveTo>
                <a:lnTo>
                  <a:pt x="0" y="0"/>
                </a:lnTo>
              </a:path>
            </a:pathLst>
          </a:custGeom>
          <a:ln w="5054">
            <a:solidFill>
              <a:srgbClr val="000000"/>
            </a:solidFill>
          </a:ln>
        </p:spPr>
        <p:txBody>
          <a:bodyPr wrap="square" lIns="0" tIns="0" rIns="0" bIns="0" rtlCol="0"/>
          <a:lstStyle/>
          <a:p>
            <a:endParaRPr/>
          </a:p>
        </p:txBody>
      </p:sp>
      <p:sp>
        <p:nvSpPr>
          <p:cNvPr id="11" name="object 11"/>
          <p:cNvSpPr/>
          <p:nvPr/>
        </p:nvSpPr>
        <p:spPr>
          <a:xfrm>
            <a:off x="287781" y="1664335"/>
            <a:ext cx="564515" cy="0"/>
          </a:xfrm>
          <a:custGeom>
            <a:avLst/>
            <a:gdLst/>
            <a:ahLst/>
            <a:cxnLst/>
            <a:rect l="l" t="t" r="r" b="b"/>
            <a:pathLst>
              <a:path w="564515">
                <a:moveTo>
                  <a:pt x="0" y="0"/>
                </a:moveTo>
                <a:lnTo>
                  <a:pt x="564388" y="0"/>
                </a:lnTo>
              </a:path>
            </a:pathLst>
          </a:custGeom>
          <a:ln w="5054">
            <a:solidFill>
              <a:srgbClr val="000000"/>
            </a:solidFill>
          </a:ln>
        </p:spPr>
        <p:txBody>
          <a:bodyPr wrap="square" lIns="0" tIns="0" rIns="0" bIns="0" rtlCol="0"/>
          <a:lstStyle/>
          <a:p>
            <a:endParaRPr/>
          </a:p>
        </p:txBody>
      </p:sp>
      <p:sp>
        <p:nvSpPr>
          <p:cNvPr id="12" name="object 12"/>
          <p:cNvSpPr txBox="1"/>
          <p:nvPr/>
        </p:nvSpPr>
        <p:spPr>
          <a:xfrm>
            <a:off x="2358644" y="811759"/>
            <a:ext cx="1579880" cy="559435"/>
          </a:xfrm>
          <a:prstGeom prst="rect">
            <a:avLst/>
          </a:prstGeom>
        </p:spPr>
        <p:txBody>
          <a:bodyPr vert="horz" wrap="square" lIns="0" tIns="0" rIns="0" bIns="0" rtlCol="0">
            <a:spAutoFit/>
          </a:bodyPr>
          <a:lstStyle/>
          <a:p>
            <a:pPr marL="12700">
              <a:lnSpc>
                <a:spcPct val="100000"/>
              </a:lnSpc>
            </a:pPr>
            <a:r>
              <a:rPr sz="900" u="sng" spc="-5" dirty="0">
                <a:latin typeface="Arial"/>
                <a:cs typeface="Arial"/>
              </a:rPr>
              <a:t>consumer</a:t>
            </a:r>
            <a:endParaRPr sz="900">
              <a:latin typeface="Arial"/>
              <a:cs typeface="Arial"/>
            </a:endParaRPr>
          </a:p>
          <a:p>
            <a:pPr marL="12700" marR="5080">
              <a:lnSpc>
                <a:spcPct val="101499"/>
              </a:lnSpc>
            </a:pPr>
            <a:r>
              <a:rPr sz="900" spc="65" dirty="0">
                <a:latin typeface="Times New Roman"/>
                <a:cs typeface="Times New Roman"/>
              </a:rPr>
              <a:t>while </a:t>
            </a:r>
            <a:r>
              <a:rPr sz="900" spc="15" dirty="0">
                <a:latin typeface="Times New Roman"/>
                <a:cs typeface="Times New Roman"/>
              </a:rPr>
              <a:t> </a:t>
            </a:r>
            <a:r>
              <a:rPr sz="900" spc="75" dirty="0">
                <a:latin typeface="Times New Roman"/>
                <a:cs typeface="Times New Roman"/>
              </a:rPr>
              <a:t>(count==0);</a:t>
            </a:r>
            <a:r>
              <a:rPr sz="900" dirty="0">
                <a:latin typeface="Times New Roman"/>
                <a:cs typeface="Times New Roman"/>
              </a:rPr>
              <a:t> </a:t>
            </a:r>
            <a:r>
              <a:rPr sz="900" spc="20" dirty="0">
                <a:latin typeface="Times New Roman"/>
                <a:cs typeface="Times New Roman"/>
              </a:rPr>
              <a:t> </a:t>
            </a:r>
            <a:r>
              <a:rPr sz="900" spc="220"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5" dirty="0">
                <a:latin typeface="Times New Roman"/>
                <a:cs typeface="Times New Roman"/>
              </a:rPr>
              <a:t>empty</a:t>
            </a:r>
            <a:r>
              <a:rPr sz="900" spc="10" dirty="0">
                <a:latin typeface="Times New Roman"/>
                <a:cs typeface="Times New Roman"/>
              </a:rPr>
              <a:t> p</a:t>
            </a:r>
            <a:r>
              <a:rPr sz="900" dirty="0">
                <a:latin typeface="Times New Roman"/>
                <a:cs typeface="Times New Roman"/>
              </a:rPr>
              <a:t> </a:t>
            </a:r>
            <a:r>
              <a:rPr sz="900" spc="15"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buffer[out];</a:t>
            </a:r>
            <a:endParaRPr sz="900">
              <a:latin typeface="Times New Roman"/>
              <a:cs typeface="Times New Roman"/>
            </a:endParaRPr>
          </a:p>
          <a:p>
            <a:pPr marL="12700">
              <a:lnSpc>
                <a:spcPct val="100000"/>
              </a:lnSpc>
              <a:spcBef>
                <a:spcPts val="15"/>
              </a:spcBef>
            </a:pPr>
            <a:r>
              <a:rPr sz="900" spc="80" dirty="0">
                <a:latin typeface="Times New Roman"/>
                <a:cs typeface="Times New Roman"/>
              </a:rPr>
              <a:t>out </a:t>
            </a:r>
            <a:r>
              <a:rPr sz="900" spc="15"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out+1</a:t>
            </a:r>
            <a:r>
              <a:rPr sz="900" dirty="0">
                <a:latin typeface="Times New Roman"/>
                <a:cs typeface="Times New Roman"/>
              </a:rPr>
              <a:t> </a:t>
            </a:r>
            <a:r>
              <a:rPr sz="900" spc="20" dirty="0">
                <a:latin typeface="Times New Roman"/>
                <a:cs typeface="Times New Roman"/>
              </a:rPr>
              <a:t> </a:t>
            </a:r>
            <a:r>
              <a:rPr sz="900" spc="-28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n;</a:t>
            </a:r>
            <a:endParaRPr sz="900">
              <a:latin typeface="Times New Roman"/>
              <a:cs typeface="Times New Roman"/>
            </a:endParaRPr>
          </a:p>
        </p:txBody>
      </p:sp>
      <p:sp>
        <p:nvSpPr>
          <p:cNvPr id="13" name="object 13"/>
          <p:cNvSpPr/>
          <p:nvPr/>
        </p:nvSpPr>
        <p:spPr>
          <a:xfrm>
            <a:off x="2371344" y="1365250"/>
            <a:ext cx="584200" cy="0"/>
          </a:xfrm>
          <a:custGeom>
            <a:avLst/>
            <a:gdLst/>
            <a:ahLst/>
            <a:cxnLst/>
            <a:rect l="l" t="t" r="r" b="b"/>
            <a:pathLst>
              <a:path w="584200">
                <a:moveTo>
                  <a:pt x="0" y="0"/>
                </a:moveTo>
                <a:lnTo>
                  <a:pt x="584200" y="0"/>
                </a:lnTo>
              </a:path>
            </a:pathLst>
          </a:custGeom>
          <a:ln w="5054">
            <a:solidFill>
              <a:srgbClr val="000000"/>
            </a:solidFill>
          </a:ln>
        </p:spPr>
        <p:txBody>
          <a:bodyPr wrap="square" lIns="0" tIns="0" rIns="0" bIns="0" rtlCol="0"/>
          <a:lstStyle/>
          <a:p>
            <a:endParaRPr/>
          </a:p>
        </p:txBody>
      </p:sp>
      <p:sp>
        <p:nvSpPr>
          <p:cNvPr id="14" name="object 14"/>
          <p:cNvSpPr/>
          <p:nvPr/>
        </p:nvSpPr>
        <p:spPr>
          <a:xfrm>
            <a:off x="2373757" y="1365250"/>
            <a:ext cx="0" cy="160020"/>
          </a:xfrm>
          <a:custGeom>
            <a:avLst/>
            <a:gdLst/>
            <a:ahLst/>
            <a:cxnLst/>
            <a:rect l="l" t="t" r="r" b="b"/>
            <a:pathLst>
              <a:path h="160019">
                <a:moveTo>
                  <a:pt x="0" y="159893"/>
                </a:moveTo>
                <a:lnTo>
                  <a:pt x="0" y="0"/>
                </a:lnTo>
              </a:path>
            </a:pathLst>
          </a:custGeom>
          <a:ln w="5054">
            <a:solidFill>
              <a:srgbClr val="000000"/>
            </a:solidFill>
          </a:ln>
        </p:spPr>
        <p:txBody>
          <a:bodyPr wrap="square" lIns="0" tIns="0" rIns="0" bIns="0" rtlCol="0"/>
          <a:lstStyle/>
          <a:p>
            <a:endParaRPr/>
          </a:p>
        </p:txBody>
      </p:sp>
      <p:sp>
        <p:nvSpPr>
          <p:cNvPr id="15" name="object 15"/>
          <p:cNvSpPr/>
          <p:nvPr/>
        </p:nvSpPr>
        <p:spPr>
          <a:xfrm>
            <a:off x="2953004" y="1365250"/>
            <a:ext cx="0" cy="160020"/>
          </a:xfrm>
          <a:custGeom>
            <a:avLst/>
            <a:gdLst/>
            <a:ahLst/>
            <a:cxnLst/>
            <a:rect l="l" t="t" r="r" b="b"/>
            <a:pathLst>
              <a:path h="160019">
                <a:moveTo>
                  <a:pt x="0" y="159893"/>
                </a:moveTo>
                <a:lnTo>
                  <a:pt x="0" y="0"/>
                </a:lnTo>
              </a:path>
            </a:pathLst>
          </a:custGeom>
          <a:ln w="5054">
            <a:solidFill>
              <a:srgbClr val="000000"/>
            </a:solidFill>
          </a:ln>
        </p:spPr>
        <p:txBody>
          <a:bodyPr wrap="square" lIns="0" tIns="0" rIns="0" bIns="0" rtlCol="0"/>
          <a:lstStyle/>
          <a:p>
            <a:endParaRPr/>
          </a:p>
        </p:txBody>
      </p:sp>
      <p:sp>
        <p:nvSpPr>
          <p:cNvPr id="16" name="object 16"/>
          <p:cNvSpPr/>
          <p:nvPr/>
        </p:nvSpPr>
        <p:spPr>
          <a:xfrm>
            <a:off x="2371344" y="1525143"/>
            <a:ext cx="584200" cy="0"/>
          </a:xfrm>
          <a:custGeom>
            <a:avLst/>
            <a:gdLst/>
            <a:ahLst/>
            <a:cxnLst/>
            <a:rect l="l" t="t" r="r" b="b"/>
            <a:pathLst>
              <a:path w="584200">
                <a:moveTo>
                  <a:pt x="0" y="0"/>
                </a:moveTo>
                <a:lnTo>
                  <a:pt x="584200" y="0"/>
                </a:lnTo>
              </a:path>
            </a:pathLst>
          </a:custGeom>
          <a:ln w="5054">
            <a:solidFill>
              <a:srgbClr val="000000"/>
            </a:solidFill>
          </a:ln>
        </p:spPr>
        <p:txBody>
          <a:bodyPr wrap="square" lIns="0" tIns="0" rIns="0" bIns="0" rtlCol="0"/>
          <a:lstStyle/>
          <a:p>
            <a:endParaRPr/>
          </a:p>
        </p:txBody>
      </p:sp>
      <p:sp>
        <p:nvSpPr>
          <p:cNvPr id="17" name="object 17"/>
          <p:cNvSpPr txBox="1"/>
          <p:nvPr/>
        </p:nvSpPr>
        <p:spPr>
          <a:xfrm>
            <a:off x="2358644" y="1370684"/>
            <a:ext cx="683260" cy="278765"/>
          </a:xfrm>
          <a:prstGeom prst="rect">
            <a:avLst/>
          </a:prstGeom>
        </p:spPr>
        <p:txBody>
          <a:bodyPr vert="horz" wrap="square" lIns="0" tIns="0" rIns="0" bIns="0" rtlCol="0">
            <a:spAutoFit/>
          </a:bodyPr>
          <a:lstStyle/>
          <a:p>
            <a:pPr marL="12700" marR="5080" indent="42545">
              <a:lnSpc>
                <a:spcPct val="101499"/>
              </a:lnSpc>
            </a:pPr>
            <a:r>
              <a:rPr sz="900" spc="80" dirty="0">
                <a:latin typeface="Times New Roman"/>
                <a:cs typeface="Times New Roman"/>
              </a:rPr>
              <a:t>count-</a:t>
            </a:r>
            <a:r>
              <a:rPr sz="900" spc="-70" dirty="0">
                <a:latin typeface="Times New Roman"/>
                <a:cs typeface="Times New Roman"/>
              </a:rPr>
              <a:t> </a:t>
            </a:r>
            <a:r>
              <a:rPr sz="900" spc="195" dirty="0">
                <a:latin typeface="Times New Roman"/>
                <a:cs typeface="Times New Roman"/>
              </a:rPr>
              <a:t>-;</a:t>
            </a:r>
            <a:r>
              <a:rPr sz="900" spc="155" dirty="0">
                <a:latin typeface="Times New Roman"/>
                <a:cs typeface="Times New Roman"/>
              </a:rPr>
              <a:t> </a:t>
            </a:r>
            <a:r>
              <a:rPr sz="900" spc="60" dirty="0">
                <a:latin typeface="Times New Roman"/>
                <a:cs typeface="Times New Roman"/>
              </a:rPr>
              <a:t>consume(p);</a:t>
            </a:r>
            <a:endParaRPr sz="900">
              <a:latin typeface="Times New Roman"/>
              <a:cs typeface="Times New Roman"/>
            </a:endParaRPr>
          </a:p>
        </p:txBody>
      </p:sp>
      <p:sp>
        <p:nvSpPr>
          <p:cNvPr id="18" name="object 18"/>
          <p:cNvSpPr/>
          <p:nvPr/>
        </p:nvSpPr>
        <p:spPr>
          <a:xfrm>
            <a:off x="138556" y="1816227"/>
            <a:ext cx="4331335" cy="0"/>
          </a:xfrm>
          <a:custGeom>
            <a:avLst/>
            <a:gdLst/>
            <a:ahLst/>
            <a:cxnLst/>
            <a:rect l="l" t="t" r="r" b="b"/>
            <a:pathLst>
              <a:path w="4331335">
                <a:moveTo>
                  <a:pt x="0" y="0"/>
                </a:moveTo>
                <a:lnTo>
                  <a:pt x="4330954" y="0"/>
                </a:lnTo>
              </a:path>
            </a:pathLst>
          </a:custGeom>
          <a:ln w="5054">
            <a:solidFill>
              <a:srgbClr val="000000"/>
            </a:solidFill>
          </a:ln>
        </p:spPr>
        <p:txBody>
          <a:bodyPr wrap="square" lIns="0" tIns="0" rIns="0" bIns="0" rtlCol="0"/>
          <a:lstStyle/>
          <a:p>
            <a:endParaRPr/>
          </a:p>
        </p:txBody>
      </p:sp>
      <p:sp>
        <p:nvSpPr>
          <p:cNvPr id="19" name="object 19"/>
          <p:cNvSpPr txBox="1"/>
          <p:nvPr/>
        </p:nvSpPr>
        <p:spPr>
          <a:xfrm>
            <a:off x="275081" y="1994000"/>
            <a:ext cx="3663315" cy="835660"/>
          </a:xfrm>
          <a:prstGeom prst="rect">
            <a:avLst/>
          </a:prstGeom>
        </p:spPr>
        <p:txBody>
          <a:bodyPr vert="horz" wrap="square" lIns="0" tIns="0" rIns="0" bIns="0" rtlCol="0">
            <a:spAutoFit/>
          </a:bodyPr>
          <a:lstStyle/>
          <a:p>
            <a:pPr marL="2096135">
              <a:lnSpc>
                <a:spcPct val="100000"/>
              </a:lnSpc>
            </a:pPr>
            <a:r>
              <a:rPr sz="900" spc="-235" dirty="0">
                <a:latin typeface="Times New Roman"/>
                <a:cs typeface="Times New Roman"/>
              </a:rPr>
              <a:t>MOV </a:t>
            </a:r>
            <a:r>
              <a:rPr sz="900" spc="15" dirty="0">
                <a:latin typeface="Times New Roman"/>
                <a:cs typeface="Times New Roman"/>
              </a:rPr>
              <a:t> </a:t>
            </a:r>
            <a:r>
              <a:rPr sz="900" spc="65" dirty="0">
                <a:latin typeface="Times New Roman"/>
                <a:cs typeface="Times New Roman"/>
              </a:rPr>
              <a:t>count</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5" dirty="0">
                <a:latin typeface="Times New Roman"/>
                <a:cs typeface="Times New Roman"/>
              </a:rPr>
              <a:t>5</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a:t>
            </a:r>
            <a:endParaRPr sz="900">
              <a:latin typeface="Times New Roman"/>
              <a:cs typeface="Times New Roman"/>
            </a:endParaRPr>
          </a:p>
          <a:p>
            <a:pPr marL="12700" marR="2148205">
              <a:lnSpc>
                <a:spcPct val="101499"/>
              </a:lnSpc>
              <a:tabLst>
                <a:tab pos="789305" algn="l"/>
              </a:tabLst>
            </a:pPr>
            <a:r>
              <a:rPr sz="900" spc="-235" dirty="0">
                <a:latin typeface="Times New Roman"/>
                <a:cs typeface="Times New Roman"/>
              </a:rPr>
              <a:t>MOV </a:t>
            </a:r>
            <a:r>
              <a:rPr sz="900" spc="20" dirty="0">
                <a:latin typeface="Times New Roman"/>
                <a:cs typeface="Times New Roman"/>
              </a:rPr>
              <a:t> </a:t>
            </a:r>
            <a:r>
              <a:rPr sz="900" spc="65" dirty="0">
                <a:latin typeface="Times New Roman"/>
                <a:cs typeface="Times New Roman"/>
              </a:rPr>
              <a:t>count</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5" dirty="0">
                <a:latin typeface="Times New Roman"/>
                <a:cs typeface="Times New Roman"/>
              </a:rPr>
              <a:t>5</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a:t>
            </a:r>
            <a:r>
              <a:rPr sz="900" spc="75" dirty="0">
                <a:latin typeface="Times New Roman"/>
                <a:cs typeface="Times New Roman"/>
              </a:rPr>
              <a:t> </a:t>
            </a:r>
            <a:r>
              <a:rPr sz="900" spc="-185" dirty="0">
                <a:latin typeface="Times New Roman"/>
                <a:cs typeface="Times New Roman"/>
              </a:rPr>
              <a:t>ADD</a:t>
            </a:r>
            <a:r>
              <a:rPr sz="900" dirty="0">
                <a:latin typeface="Times New Roman"/>
                <a:cs typeface="Times New Roman"/>
              </a:rPr>
              <a:t> </a:t>
            </a:r>
            <a:r>
              <a:rPr sz="900" spc="20" dirty="0">
                <a:latin typeface="Times New Roman"/>
                <a:cs typeface="Times New Roman"/>
              </a:rPr>
              <a:t> </a:t>
            </a:r>
            <a:r>
              <a:rPr sz="900" spc="15" dirty="0">
                <a:latin typeface="Times New Roman"/>
                <a:cs typeface="Times New Roman"/>
              </a:rPr>
              <a:t>#1</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114"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5" dirty="0">
                <a:latin typeface="Times New Roman"/>
                <a:cs typeface="Times New Roman"/>
              </a:rPr>
              <a:t>6</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a:t>
            </a:r>
            <a:endParaRPr sz="900">
              <a:latin typeface="Times New Roman"/>
              <a:cs typeface="Times New Roman"/>
            </a:endParaRPr>
          </a:p>
          <a:p>
            <a:pPr marL="12700">
              <a:lnSpc>
                <a:spcPct val="100000"/>
              </a:lnSpc>
              <a:spcBef>
                <a:spcPts val="15"/>
              </a:spcBef>
            </a:pPr>
            <a:r>
              <a:rPr sz="900" spc="-235" dirty="0">
                <a:latin typeface="Times New Roman"/>
                <a:cs typeface="Times New Roman"/>
              </a:rPr>
              <a:t>MOV </a:t>
            </a:r>
            <a:r>
              <a:rPr sz="900" spc="20" dirty="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20" dirty="0">
                <a:latin typeface="Times New Roman"/>
                <a:cs typeface="Times New Roman"/>
              </a:rPr>
              <a:t> </a:t>
            </a:r>
            <a:r>
              <a:rPr sz="900" spc="65" dirty="0">
                <a:latin typeface="Times New Roman"/>
                <a:cs typeface="Times New Roman"/>
              </a:rPr>
              <a:t>count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count=6</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a:t>
            </a:r>
            <a:endParaRPr sz="900">
              <a:latin typeface="Times New Roman"/>
              <a:cs typeface="Times New Roman"/>
            </a:endParaRPr>
          </a:p>
          <a:p>
            <a:pPr marL="2096135">
              <a:lnSpc>
                <a:spcPct val="100000"/>
              </a:lnSpc>
              <a:spcBef>
                <a:spcPts val="15"/>
              </a:spcBef>
              <a:tabLst>
                <a:tab pos="2872740" algn="l"/>
              </a:tabLst>
            </a:pPr>
            <a:r>
              <a:rPr sz="900" spc="-120" dirty="0">
                <a:latin typeface="Times New Roman"/>
                <a:cs typeface="Times New Roman"/>
              </a:rPr>
              <a:t>SUB </a:t>
            </a:r>
            <a:r>
              <a:rPr sz="900" spc="15" dirty="0">
                <a:latin typeface="Times New Roman"/>
                <a:cs typeface="Times New Roman"/>
              </a:rPr>
              <a:t> #1</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114"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15" dirty="0">
                <a:latin typeface="Times New Roman"/>
                <a:cs typeface="Times New Roman"/>
              </a:rPr>
              <a:t>4</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a:t>
            </a:r>
            <a:endParaRPr sz="900">
              <a:latin typeface="Times New Roman"/>
              <a:cs typeface="Times New Roman"/>
            </a:endParaRPr>
          </a:p>
          <a:p>
            <a:pPr marL="2096135">
              <a:lnSpc>
                <a:spcPct val="100000"/>
              </a:lnSpc>
              <a:spcBef>
                <a:spcPts val="15"/>
              </a:spcBef>
            </a:pPr>
            <a:r>
              <a:rPr sz="900" spc="-235" dirty="0">
                <a:latin typeface="Times New Roman"/>
                <a:cs typeface="Times New Roman"/>
              </a:rPr>
              <a:t>MOV </a:t>
            </a:r>
            <a:r>
              <a:rPr sz="900" spc="15" dirty="0">
                <a:latin typeface="Times New Roman"/>
                <a:cs typeface="Times New Roman"/>
              </a:rPr>
              <a:t> </a:t>
            </a:r>
            <a:r>
              <a:rPr sz="900" spc="-60" dirty="0">
                <a:latin typeface="Times New Roman"/>
                <a:cs typeface="Times New Roman"/>
              </a:rPr>
              <a:t>R0</a:t>
            </a:r>
            <a:r>
              <a:rPr sz="900" dirty="0">
                <a:latin typeface="Times New Roman"/>
                <a:cs typeface="Times New Roman"/>
              </a:rPr>
              <a:t> </a:t>
            </a:r>
            <a:r>
              <a:rPr sz="900" spc="20" dirty="0">
                <a:latin typeface="Times New Roman"/>
                <a:cs typeface="Times New Roman"/>
              </a:rPr>
              <a:t> </a:t>
            </a:r>
            <a:r>
              <a:rPr sz="900" spc="65" dirty="0">
                <a:latin typeface="Times New Roman"/>
                <a:cs typeface="Times New Roman"/>
              </a:rPr>
              <a:t>count</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a:t>
            </a:r>
            <a:r>
              <a:rPr sz="900" dirty="0">
                <a:latin typeface="Times New Roman"/>
                <a:cs typeface="Times New Roman"/>
              </a:rPr>
              <a:t> </a:t>
            </a:r>
            <a:r>
              <a:rPr sz="900" spc="20" dirty="0">
                <a:latin typeface="Times New Roman"/>
                <a:cs typeface="Times New Roman"/>
              </a:rPr>
              <a:t> </a:t>
            </a:r>
            <a:r>
              <a:rPr sz="900" spc="45" dirty="0">
                <a:latin typeface="Times New Roman"/>
                <a:cs typeface="Times New Roman"/>
              </a:rPr>
              <a:t>count=4</a:t>
            </a:r>
            <a:r>
              <a:rPr sz="900" dirty="0">
                <a:latin typeface="Times New Roman"/>
                <a:cs typeface="Times New Roman"/>
              </a:rPr>
              <a:t> </a:t>
            </a:r>
            <a:r>
              <a:rPr sz="900" spc="20" dirty="0">
                <a:latin typeface="Times New Roman"/>
                <a:cs typeface="Times New Roman"/>
              </a:rPr>
              <a:t> </a:t>
            </a:r>
            <a:r>
              <a:rPr sz="900" spc="114" dirty="0">
                <a:latin typeface="Times New Roman"/>
                <a:cs typeface="Times New Roman"/>
              </a:rPr>
              <a:t>*/</a:t>
            </a:r>
            <a:endParaRPr sz="900">
              <a:latin typeface="Times New Roman"/>
              <a:cs typeface="Times New Roman"/>
            </a:endParaRPr>
          </a:p>
        </p:txBody>
      </p:sp>
      <p:sp>
        <p:nvSpPr>
          <p:cNvPr id="20" name="object 20"/>
          <p:cNvSpPr txBox="1"/>
          <p:nvPr/>
        </p:nvSpPr>
        <p:spPr>
          <a:xfrm>
            <a:off x="298831" y="2946908"/>
            <a:ext cx="4010660" cy="327025"/>
          </a:xfrm>
          <a:prstGeom prst="rect">
            <a:avLst/>
          </a:prstGeom>
          <a:ln w="5054">
            <a:solidFill>
              <a:srgbClr val="000000"/>
            </a:solidFill>
          </a:ln>
        </p:spPr>
        <p:txBody>
          <a:bodyPr vert="horz" wrap="square" lIns="0" tIns="0" rIns="0" bIns="0" rtlCol="0">
            <a:spAutoFit/>
          </a:bodyPr>
          <a:lstStyle/>
          <a:p>
            <a:pPr marL="37465">
              <a:lnSpc>
                <a:spcPct val="100000"/>
              </a:lnSpc>
            </a:pPr>
            <a:r>
              <a:rPr sz="900" b="1" spc="-10" dirty="0">
                <a:latin typeface="Arial"/>
                <a:cs typeface="Arial"/>
              </a:rPr>
              <a:t>Race</a:t>
            </a:r>
            <a:r>
              <a:rPr sz="900" b="1" spc="85" dirty="0">
                <a:latin typeface="Arial"/>
                <a:cs typeface="Arial"/>
              </a:rPr>
              <a:t> </a:t>
            </a:r>
            <a:r>
              <a:rPr sz="900" b="1" spc="-5" dirty="0">
                <a:latin typeface="Arial"/>
                <a:cs typeface="Arial"/>
              </a:rPr>
              <a:t>condition:</a:t>
            </a:r>
            <a:r>
              <a:rPr sz="900" b="1" dirty="0">
                <a:latin typeface="Arial"/>
                <a:cs typeface="Arial"/>
              </a:rPr>
              <a:t> </a:t>
            </a:r>
            <a:r>
              <a:rPr sz="900" b="1" spc="-15" dirty="0">
                <a:latin typeface="Arial"/>
                <a:cs typeface="Arial"/>
              </a:rPr>
              <a:t> </a:t>
            </a:r>
            <a:r>
              <a:rPr sz="900" spc="-5" dirty="0">
                <a:latin typeface="Arial"/>
                <a:cs typeface="Arial"/>
              </a:rPr>
              <a:t>s</a:t>
            </a:r>
            <a:r>
              <a:rPr sz="900" spc="-35" dirty="0">
                <a:latin typeface="Arial"/>
                <a:cs typeface="Arial"/>
              </a:rPr>
              <a:t>e</a:t>
            </a:r>
            <a:r>
              <a:rPr sz="900" spc="-30" dirty="0">
                <a:latin typeface="Arial"/>
                <a:cs typeface="Arial"/>
              </a:rPr>
              <a:t>v</a:t>
            </a:r>
            <a:r>
              <a:rPr sz="900" spc="-5" dirty="0">
                <a:latin typeface="Arial"/>
                <a:cs typeface="Arial"/>
              </a:rPr>
              <a:t>e</a:t>
            </a:r>
            <a:r>
              <a:rPr sz="900" spc="-15" dirty="0">
                <a:latin typeface="Arial"/>
                <a:cs typeface="Arial"/>
              </a:rPr>
              <a:t>r</a:t>
            </a:r>
            <a:r>
              <a:rPr sz="900" spc="-5" dirty="0">
                <a:latin typeface="Arial"/>
                <a:cs typeface="Arial"/>
              </a:rPr>
              <a:t>al</a:t>
            </a:r>
            <a:r>
              <a:rPr sz="900" spc="85" dirty="0">
                <a:latin typeface="Arial"/>
                <a:cs typeface="Arial"/>
              </a:rPr>
              <a:t> </a:t>
            </a:r>
            <a:r>
              <a:rPr sz="900" spc="-5" dirty="0">
                <a:latin typeface="Arial"/>
                <a:cs typeface="Arial"/>
              </a:rPr>
              <a:t>processes</a:t>
            </a:r>
            <a:r>
              <a:rPr sz="900" spc="85" dirty="0">
                <a:latin typeface="Arial"/>
                <a:cs typeface="Arial"/>
              </a:rPr>
              <a:t> </a:t>
            </a:r>
            <a:r>
              <a:rPr sz="900" spc="-5" dirty="0">
                <a:latin typeface="Arial"/>
                <a:cs typeface="Arial"/>
              </a:rPr>
              <a:t>manipulate</a:t>
            </a:r>
            <a:r>
              <a:rPr sz="900" spc="85" dirty="0">
                <a:latin typeface="Arial"/>
                <a:cs typeface="Arial"/>
              </a:rPr>
              <a:t> </a:t>
            </a:r>
            <a:r>
              <a:rPr sz="900" spc="-5" dirty="0">
                <a:latin typeface="Arial"/>
                <a:cs typeface="Arial"/>
              </a:rPr>
              <a:t>the</a:t>
            </a:r>
            <a:r>
              <a:rPr sz="900" spc="85" dirty="0">
                <a:latin typeface="Arial"/>
                <a:cs typeface="Arial"/>
              </a:rPr>
              <a:t> </a:t>
            </a:r>
            <a:r>
              <a:rPr sz="900" spc="-10" dirty="0">
                <a:latin typeface="Arial"/>
                <a:cs typeface="Arial"/>
              </a:rPr>
              <a:t>same</a:t>
            </a:r>
            <a:r>
              <a:rPr sz="900" spc="85" dirty="0">
                <a:latin typeface="Arial"/>
                <a:cs typeface="Arial"/>
              </a:rPr>
              <a:t> </a:t>
            </a:r>
            <a:r>
              <a:rPr sz="900" spc="-5" dirty="0">
                <a:latin typeface="Arial"/>
                <a:cs typeface="Arial"/>
              </a:rPr>
              <a:t>data</a:t>
            </a:r>
            <a:r>
              <a:rPr sz="900" spc="85" dirty="0">
                <a:latin typeface="Arial"/>
                <a:cs typeface="Arial"/>
              </a:rPr>
              <a:t> </a:t>
            </a:r>
            <a:r>
              <a:rPr sz="900" spc="-5" dirty="0">
                <a:latin typeface="Arial"/>
                <a:cs typeface="Arial"/>
              </a:rPr>
              <a:t>concurrently</a:t>
            </a:r>
            <a:endParaRPr sz="900" dirty="0">
              <a:latin typeface="Arial"/>
              <a:cs typeface="Arial"/>
            </a:endParaRPr>
          </a:p>
          <a:p>
            <a:pPr marL="37465">
              <a:lnSpc>
                <a:spcPct val="100000"/>
              </a:lnSpc>
              <a:spcBef>
                <a:spcPts val="15"/>
              </a:spcBef>
            </a:pPr>
            <a:r>
              <a:rPr sz="900" spc="-20" dirty="0">
                <a:latin typeface="Arial"/>
                <a:cs typeface="Arial"/>
              </a:rPr>
              <a:t>s</a:t>
            </a:r>
            <a:r>
              <a:rPr sz="900" spc="-5" dirty="0">
                <a:latin typeface="Arial"/>
                <a:cs typeface="Arial"/>
              </a:rPr>
              <a:t>.t.</a:t>
            </a:r>
            <a:r>
              <a:rPr sz="900" spc="55" dirty="0">
                <a:latin typeface="Arial"/>
                <a:cs typeface="Arial"/>
              </a:rPr>
              <a:t> </a:t>
            </a:r>
            <a:r>
              <a:rPr sz="900" spc="-5" dirty="0">
                <a:latin typeface="Arial"/>
                <a:cs typeface="Arial"/>
              </a:rPr>
              <a:t>outcome depends on the order in which the processes </a:t>
            </a:r>
            <a:r>
              <a:rPr sz="900" spc="-35" dirty="0">
                <a:latin typeface="Arial"/>
                <a:cs typeface="Arial"/>
              </a:rPr>
              <a:t>ex</a:t>
            </a:r>
            <a:r>
              <a:rPr sz="900" spc="-5" dirty="0">
                <a:latin typeface="Arial"/>
                <a:cs typeface="Arial"/>
              </a:rPr>
              <a:t>ecute</a:t>
            </a:r>
            <a:endParaRPr sz="900" dirty="0">
              <a:latin typeface="Arial"/>
              <a:cs typeface="Arial"/>
            </a:endParaRPr>
          </a:p>
        </p:txBody>
      </p:sp>
      <p:sp>
        <p:nvSpPr>
          <p:cNvPr id="21" name="object 21"/>
          <p:cNvSpPr/>
          <p:nvPr/>
        </p:nvSpPr>
        <p:spPr>
          <a:xfrm>
            <a:off x="0" y="3327019"/>
            <a:ext cx="1536065" cy="129539"/>
          </a:xfrm>
          <a:custGeom>
            <a:avLst/>
            <a:gdLst/>
            <a:ahLst/>
            <a:cxnLst/>
            <a:rect l="l" t="t" r="r" b="b"/>
            <a:pathLst>
              <a:path w="1536065" h="129539">
                <a:moveTo>
                  <a:pt x="0" y="129031"/>
                </a:moveTo>
                <a:lnTo>
                  <a:pt x="1535938" y="129031"/>
                </a:lnTo>
                <a:lnTo>
                  <a:pt x="1535938" y="0"/>
                </a:lnTo>
                <a:lnTo>
                  <a:pt x="0" y="0"/>
                </a:lnTo>
                <a:lnTo>
                  <a:pt x="0" y="129031"/>
                </a:lnTo>
              </a:path>
            </a:pathLst>
          </a:custGeom>
          <a:solidFill>
            <a:srgbClr val="193F3F"/>
          </a:solidFill>
        </p:spPr>
        <p:txBody>
          <a:bodyPr wrap="square" lIns="0" tIns="0" rIns="0" bIns="0" rtlCol="0"/>
          <a:lstStyle/>
          <a:p>
            <a:endParaRPr/>
          </a:p>
        </p:txBody>
      </p:sp>
      <p:sp>
        <p:nvSpPr>
          <p:cNvPr id="22" name="object 22"/>
          <p:cNvSpPr/>
          <p:nvPr/>
        </p:nvSpPr>
        <p:spPr>
          <a:xfrm>
            <a:off x="1535938" y="3327019"/>
            <a:ext cx="1536065" cy="129539"/>
          </a:xfrm>
          <a:custGeom>
            <a:avLst/>
            <a:gdLst/>
            <a:ahLst/>
            <a:cxnLst/>
            <a:rect l="l" t="t" r="r" b="b"/>
            <a:pathLst>
              <a:path w="1536064" h="129539">
                <a:moveTo>
                  <a:pt x="0" y="129031"/>
                </a:moveTo>
                <a:lnTo>
                  <a:pt x="1535938" y="129031"/>
                </a:lnTo>
                <a:lnTo>
                  <a:pt x="1535938" y="0"/>
                </a:lnTo>
                <a:lnTo>
                  <a:pt x="0" y="0"/>
                </a:lnTo>
                <a:lnTo>
                  <a:pt x="0" y="129031"/>
                </a:lnTo>
              </a:path>
            </a:pathLst>
          </a:custGeom>
          <a:solidFill>
            <a:srgbClr val="265F5F"/>
          </a:solidFill>
        </p:spPr>
        <p:txBody>
          <a:bodyPr wrap="square" lIns="0" tIns="0" rIns="0" bIns="0" rtlCol="0"/>
          <a:lstStyle/>
          <a:p>
            <a:endParaRPr/>
          </a:p>
        </p:txBody>
      </p:sp>
      <p:sp>
        <p:nvSpPr>
          <p:cNvPr id="23" name="object 23"/>
          <p:cNvSpPr/>
          <p:nvPr/>
        </p:nvSpPr>
        <p:spPr>
          <a:xfrm>
            <a:off x="3072002" y="3327019"/>
            <a:ext cx="1536065" cy="129539"/>
          </a:xfrm>
          <a:custGeom>
            <a:avLst/>
            <a:gdLst/>
            <a:ahLst/>
            <a:cxnLst/>
            <a:rect l="l" t="t" r="r" b="b"/>
            <a:pathLst>
              <a:path w="1536064" h="129539">
                <a:moveTo>
                  <a:pt x="0" y="129031"/>
                </a:moveTo>
                <a:lnTo>
                  <a:pt x="1535937" y="129031"/>
                </a:lnTo>
                <a:lnTo>
                  <a:pt x="1535937" y="0"/>
                </a:lnTo>
                <a:lnTo>
                  <a:pt x="0" y="0"/>
                </a:lnTo>
                <a:lnTo>
                  <a:pt x="0" y="129031"/>
                </a:lnTo>
              </a:path>
            </a:pathLst>
          </a:custGeom>
          <a:solidFill>
            <a:srgbClr val="337F7F"/>
          </a:solidFill>
        </p:spPr>
        <p:txBody>
          <a:bodyPr wrap="square" lIns="0" tIns="0" rIns="0" bIns="0" rtlCol="0"/>
          <a:lstStyle/>
          <a:p>
            <a:endParaRPr/>
          </a:p>
        </p:txBody>
      </p:sp>
      <p:sp>
        <p:nvSpPr>
          <p:cNvPr id="24" name="object 24"/>
          <p:cNvSpPr txBox="1">
            <a:spLocks noGrp="1"/>
          </p:cNvSpPr>
          <p:nvPr>
            <p:ph type="ftr" sz="quarter" idx="5"/>
          </p:nvPr>
        </p:nvSpPr>
        <p:spPr>
          <a:xfrm>
            <a:off x="525780" y="3345157"/>
            <a:ext cx="484505" cy="92333"/>
          </a:xfrm>
          <a:prstGeom prst="rect">
            <a:avLst/>
          </a:prstGeom>
        </p:spPr>
        <p:txBody>
          <a:bodyPr vert="horz" wrap="square" lIns="0" tIns="0" rIns="0" bIns="0" rtlCol="0">
            <a:spAutoFit/>
          </a:bodyPr>
          <a:lstStyle/>
          <a:p>
            <a:pPr marL="12700">
              <a:lnSpc>
                <a:spcPct val="100000"/>
              </a:lnSpc>
            </a:pPr>
            <a:r>
              <a:rPr lang="en-IN" spc="-5" dirty="0" smtClean="0"/>
              <a:t>M.Tech.</a:t>
            </a:r>
            <a:r>
              <a:rPr dirty="0" smtClean="0"/>
              <a:t> </a:t>
            </a:r>
            <a:r>
              <a:rPr spc="-5" dirty="0" smtClean="0"/>
              <a:t> </a:t>
            </a:r>
            <a:r>
              <a:rPr spc="-5" dirty="0"/>
              <a:t>(ISI)</a:t>
            </a:r>
          </a:p>
        </p:txBody>
      </p:sp>
      <p:sp>
        <p:nvSpPr>
          <p:cNvPr id="25" name="object 25"/>
          <p:cNvSpPr txBox="1">
            <a:spLocks noGrp="1"/>
          </p:cNvSpPr>
          <p:nvPr>
            <p:ph type="dt" sz="half" idx="6"/>
          </p:nvPr>
        </p:nvSpPr>
        <p:spPr>
          <a:prstGeom prst="rect">
            <a:avLst/>
          </a:prstGeom>
        </p:spPr>
        <p:txBody>
          <a:bodyPr vert="horz" wrap="square" lIns="0" tIns="0" rIns="0" bIns="0" rtlCol="0">
            <a:spAutoFit/>
          </a:bodyPr>
          <a:lstStyle/>
          <a:p>
            <a:pPr marL="12700">
              <a:lnSpc>
                <a:spcPct val="100000"/>
              </a:lnSpc>
            </a:pPr>
            <a:r>
              <a:rPr spc="-5" dirty="0"/>
              <a:t>Process Synchronization</a:t>
            </a:r>
          </a:p>
        </p:txBody>
      </p:sp>
      <p:sp>
        <p:nvSpPr>
          <p:cNvPr id="26" name="object 26"/>
          <p:cNvSpPr txBox="1"/>
          <p:nvPr/>
        </p:nvSpPr>
        <p:spPr>
          <a:xfrm>
            <a:off x="4325873" y="3345157"/>
            <a:ext cx="215900" cy="101600"/>
          </a:xfrm>
          <a:prstGeom prst="rect">
            <a:avLst/>
          </a:prstGeom>
        </p:spPr>
        <p:txBody>
          <a:bodyPr vert="horz" wrap="square" lIns="0" tIns="0" rIns="0" bIns="0" rtlCol="0">
            <a:spAutoFit/>
          </a:bodyPr>
          <a:lstStyle/>
          <a:p>
            <a:pPr marL="12700">
              <a:lnSpc>
                <a:spcPct val="100000"/>
              </a:lnSpc>
            </a:pPr>
            <a:r>
              <a:rPr sz="600" spc="-5" dirty="0">
                <a:solidFill>
                  <a:srgbClr val="FFFFFF"/>
                </a:solidFill>
                <a:latin typeface="Arial"/>
                <a:cs typeface="Arial"/>
              </a:rPr>
              <a:t>5 / 28</a:t>
            </a:r>
            <a:endParaRPr sz="600">
              <a:latin typeface="Arial"/>
              <a:cs typeface="Arial"/>
            </a:endParaRPr>
          </a:p>
        </p:txBody>
      </p:sp>
      <p:sp>
        <p:nvSpPr>
          <p:cNvPr id="27" name="TextBox 26"/>
          <p:cNvSpPr txBox="1"/>
          <p:nvPr/>
        </p:nvSpPr>
        <p:spPr>
          <a:xfrm>
            <a:off x="3840034" y="2161733"/>
            <a:ext cx="607602" cy="276999"/>
          </a:xfrm>
          <a:prstGeom prst="rect">
            <a:avLst/>
          </a:prstGeom>
          <a:noFill/>
        </p:spPr>
        <p:txBody>
          <a:bodyPr wrap="none" rtlCol="0">
            <a:spAutoFit/>
          </a:bodyPr>
          <a:lstStyle/>
          <a:p>
            <a:r>
              <a:rPr lang="en-US" sz="1200" b="1" dirty="0" smtClean="0"/>
              <a:t>Switch</a:t>
            </a:r>
            <a:endParaRPr lang="en-IN" sz="1200" b="1" dirty="0"/>
          </a:p>
        </p:txBody>
      </p:sp>
      <p:cxnSp>
        <p:nvCxnSpPr>
          <p:cNvPr id="29" name="Straight Arrow Connector 28"/>
          <p:cNvCxnSpPr/>
          <p:nvPr/>
        </p:nvCxnSpPr>
        <p:spPr>
          <a:xfrm flipH="1">
            <a:off x="3840034" y="2161733"/>
            <a:ext cx="5224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IN" dirty="0" smtClean="0"/>
              <a:t>Assumed Model: The Instruction Pipeline</a:t>
            </a:r>
            <a:endParaRPr lang="en-IN" dirty="0"/>
          </a:p>
        </p:txBody>
      </p:sp>
      <p:sp>
        <p:nvSpPr>
          <p:cNvPr id="3" name="Text Placeholder 2"/>
          <p:cNvSpPr>
            <a:spLocks noGrp="1"/>
          </p:cNvSpPr>
          <p:nvPr>
            <p:ph type="body" idx="1"/>
          </p:nvPr>
        </p:nvSpPr>
        <p:spPr>
          <a:xfrm>
            <a:off x="125856" y="521302"/>
            <a:ext cx="4358386" cy="3077766"/>
          </a:xfrm>
        </p:spPr>
        <p:txBody>
          <a:bodyPr/>
          <a:lstStyle/>
          <a:p>
            <a:pPr marL="171450" indent="-171450">
              <a:buFont typeface="Arial" panose="020B0604020202020204" pitchFamily="34" charset="0"/>
              <a:buChar char="•"/>
            </a:pPr>
            <a:r>
              <a:rPr lang="en-IN" sz="1000" b="0" dirty="0" smtClean="0"/>
              <a:t>After fetch of every instruction, the processor checks if there are interrupts</a:t>
            </a:r>
          </a:p>
          <a:p>
            <a:pPr marL="171450" indent="-171450">
              <a:buFont typeface="Arial" panose="020B0604020202020204" pitchFamily="34" charset="0"/>
              <a:buChar char="•"/>
            </a:pPr>
            <a:endParaRPr lang="en-IN" sz="1000" b="0" dirty="0"/>
          </a:p>
          <a:p>
            <a:pPr marL="171450" indent="-171450">
              <a:buFont typeface="Arial" panose="020B0604020202020204" pitchFamily="34" charset="0"/>
              <a:buChar char="•"/>
            </a:pPr>
            <a:r>
              <a:rPr lang="en-IN" sz="1000" b="0" dirty="0" smtClean="0"/>
              <a:t>If there are interrupts, the processor issues a context switch to kernel mode to service the interrupt</a:t>
            </a:r>
          </a:p>
          <a:p>
            <a:pPr marL="171450" indent="-171450">
              <a:buFont typeface="Arial" panose="020B0604020202020204" pitchFamily="34" charset="0"/>
              <a:buChar char="•"/>
            </a:pPr>
            <a:endParaRPr lang="en-IN" sz="1000" b="0" dirty="0"/>
          </a:p>
          <a:p>
            <a:pPr marL="171450" indent="-171450">
              <a:buFont typeface="Arial" panose="020B0604020202020204" pitchFamily="34" charset="0"/>
              <a:buChar char="•"/>
            </a:pPr>
            <a:r>
              <a:rPr lang="en-IN" sz="1000" b="0" dirty="0" smtClean="0"/>
              <a:t>Before return from kernel mode to user mode, the kernel runs the scheduler again to select the next process (maybe the same which it ran earlier) to hand over the CPU</a:t>
            </a:r>
          </a:p>
          <a:p>
            <a:pPr marL="171450" indent="-171450">
              <a:buFont typeface="Arial" panose="020B0604020202020204" pitchFamily="34" charset="0"/>
              <a:buChar char="•"/>
            </a:pPr>
            <a:endParaRPr lang="en-IN" sz="1000" b="0" dirty="0"/>
          </a:p>
          <a:p>
            <a:pPr marL="171450" indent="-171450">
              <a:buFont typeface="Arial" panose="020B0604020202020204" pitchFamily="34" charset="0"/>
              <a:buChar char="•"/>
            </a:pPr>
            <a:r>
              <a:rPr lang="en-IN" sz="1000" b="0" dirty="0" smtClean="0"/>
              <a:t>If there is a context switch, race conditions may occur</a:t>
            </a:r>
          </a:p>
          <a:p>
            <a:pPr marL="171450" indent="-171450">
              <a:buFont typeface="Arial" panose="020B0604020202020204" pitchFamily="34" charset="0"/>
              <a:buChar char="•"/>
            </a:pPr>
            <a:endParaRPr lang="en-IN" sz="1000" b="0" dirty="0"/>
          </a:p>
          <a:p>
            <a:pPr marL="171450" indent="-171450">
              <a:buFont typeface="Arial" panose="020B0604020202020204" pitchFamily="34" charset="0"/>
              <a:buChar char="•"/>
            </a:pPr>
            <a:r>
              <a:rPr lang="en-IN" sz="1000" b="0" dirty="0" smtClean="0"/>
              <a:t>We are working on a copy of the original memory location</a:t>
            </a:r>
          </a:p>
          <a:p>
            <a:pPr marL="628650" lvl="1" indent="-171450">
              <a:buFont typeface="Arial" panose="020B0604020202020204" pitchFamily="34" charset="0"/>
              <a:buChar char="•"/>
            </a:pPr>
            <a:r>
              <a:rPr lang="en-IN" sz="1000" dirty="0">
                <a:solidFill>
                  <a:schemeClr val="tx1"/>
                </a:solidFill>
                <a:latin typeface="Arial"/>
                <a:cs typeface="Arial"/>
              </a:rPr>
              <a:t>Creates possibility of a </a:t>
            </a:r>
            <a:r>
              <a:rPr lang="en-IN" sz="1000" dirty="0" smtClean="0">
                <a:solidFill>
                  <a:schemeClr val="tx1"/>
                </a:solidFill>
                <a:latin typeface="Arial"/>
                <a:cs typeface="Arial"/>
              </a:rPr>
              <a:t>race</a:t>
            </a:r>
          </a:p>
          <a:p>
            <a:pPr lvl="1"/>
            <a:endParaRPr lang="en-IN" sz="1000" dirty="0" smtClean="0">
              <a:solidFill>
                <a:schemeClr val="tx1"/>
              </a:solidFill>
              <a:latin typeface="Arial"/>
              <a:cs typeface="Arial"/>
            </a:endParaRPr>
          </a:p>
          <a:p>
            <a:pPr marL="171450" indent="-171450">
              <a:buFont typeface="Arial" panose="020B0604020202020204" pitchFamily="34" charset="0"/>
              <a:buChar char="•"/>
            </a:pPr>
            <a:r>
              <a:rPr lang="en-US" sz="1000" b="0" dirty="0" smtClean="0"/>
              <a:t>In our case, arithmetic ONLY on registers</a:t>
            </a:r>
          </a:p>
          <a:p>
            <a:pPr marL="171450" indent="-171450">
              <a:buFont typeface="Arial" panose="020B0604020202020204" pitchFamily="34" charset="0"/>
              <a:buChar char="•"/>
            </a:pPr>
            <a:endParaRPr lang="en-IN" sz="1000" b="0" dirty="0" smtClean="0"/>
          </a:p>
          <a:p>
            <a:pPr marL="171450" indent="-171450">
              <a:buFont typeface="Arial" panose="020B0604020202020204" pitchFamily="34" charset="0"/>
              <a:buChar char="•"/>
            </a:pPr>
            <a:r>
              <a:rPr lang="en-IN" sz="1000" b="0" dirty="0" smtClean="0"/>
              <a:t>If </a:t>
            </a:r>
            <a:r>
              <a:rPr lang="en-IN" sz="1000" b="0" dirty="0"/>
              <a:t>the architecture provided INC / DEC operations directly on memory, which execute atomically (without context switch in between), no problem</a:t>
            </a:r>
          </a:p>
          <a:p>
            <a:pPr marL="628650" lvl="1" indent="-171450">
              <a:buFont typeface="Arial" panose="020B0604020202020204" pitchFamily="34" charset="0"/>
              <a:buChar char="•"/>
            </a:pPr>
            <a:endParaRPr lang="en-IN" sz="1000" dirty="0">
              <a:solidFill>
                <a:schemeClr val="tx1"/>
              </a:solidFill>
              <a:latin typeface="Arial"/>
              <a:cs typeface="Arial"/>
            </a:endParaRPr>
          </a:p>
          <a:p>
            <a:endParaRPr lang="en-IN" sz="1000" dirty="0" smtClean="0"/>
          </a:p>
        </p:txBody>
      </p:sp>
    </p:spTree>
    <p:extLst>
      <p:ext uri="{BB962C8B-B14F-4D97-AF65-F5344CB8AC3E}">
        <p14:creationId xmlns:p14="http://schemas.microsoft.com/office/powerpoint/2010/main" val="2520758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IN" dirty="0" smtClean="0"/>
              <a:t>Problems to ponder about</a:t>
            </a:r>
            <a:endParaRPr lang="en-IN" dirty="0"/>
          </a:p>
        </p:txBody>
      </p:sp>
      <p:sp>
        <p:nvSpPr>
          <p:cNvPr id="3" name="Text Placeholder 2"/>
          <p:cNvSpPr>
            <a:spLocks noGrp="1"/>
          </p:cNvSpPr>
          <p:nvPr>
            <p:ph type="body" idx="1"/>
          </p:nvPr>
        </p:nvSpPr>
        <p:spPr>
          <a:xfrm>
            <a:off x="95250" y="278123"/>
            <a:ext cx="4358386" cy="2877711"/>
          </a:xfrm>
        </p:spPr>
        <p:txBody>
          <a:bodyPr/>
          <a:lstStyle/>
          <a:p>
            <a:endParaRPr lang="en-IN" sz="1000" b="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IN" sz="1000" b="0" dirty="0" smtClean="0">
                <a:latin typeface="Arial" panose="020B0604020202020204" pitchFamily="34" charset="0"/>
                <a:cs typeface="Arial" panose="020B0604020202020204" pitchFamily="34" charset="0"/>
              </a:rPr>
              <a:t>Race may happen:</a:t>
            </a:r>
          </a:p>
          <a:p>
            <a:pPr marL="685800" lvl="1" indent="-228600">
              <a:buFont typeface="+mj-lt"/>
              <a:buAutoNum type="arabicPeriod"/>
            </a:pPr>
            <a:r>
              <a:rPr lang="en-IN" sz="1000" dirty="0" smtClean="0">
                <a:latin typeface="Arial" panose="020B0604020202020204" pitchFamily="34" charset="0"/>
                <a:cs typeface="Arial" panose="020B0604020202020204" pitchFamily="34" charset="0"/>
              </a:rPr>
              <a:t>Shared variables are </a:t>
            </a:r>
            <a:r>
              <a:rPr lang="en-IN" sz="1000" b="1" u="sng"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modified</a:t>
            </a:r>
            <a:r>
              <a:rPr lang="en-IN" sz="1000" dirty="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IN" sz="1000" dirty="0" smtClean="0">
                <a:latin typeface="Arial" panose="020B0604020202020204" pitchFamily="34" charset="0"/>
                <a:cs typeface="Arial" panose="020B0604020202020204" pitchFamily="34" charset="0"/>
              </a:rPr>
              <a:t>(e.g. write operations)</a:t>
            </a:r>
          </a:p>
          <a:p>
            <a:pPr marL="1143000" lvl="2" indent="-228600">
              <a:buFont typeface="Arial" panose="020B0604020202020204" pitchFamily="34" charset="0"/>
              <a:buChar char="•"/>
            </a:pPr>
            <a:r>
              <a:rPr lang="en-US" sz="1000" dirty="0" smtClean="0">
                <a:latin typeface="Arial" panose="020B0604020202020204" pitchFamily="34" charset="0"/>
                <a:cs typeface="Arial" panose="020B0604020202020204" pitchFamily="34" charset="0"/>
              </a:rPr>
              <a:t>If not, no inconsistency</a:t>
            </a:r>
            <a:endParaRPr lang="en-IN" sz="1000" dirty="0" smtClean="0">
              <a:latin typeface="Arial" panose="020B0604020202020204" pitchFamily="34" charset="0"/>
              <a:cs typeface="Arial" panose="020B0604020202020204" pitchFamily="34" charset="0"/>
            </a:endParaRPr>
          </a:p>
          <a:p>
            <a:pPr marL="685800" lvl="1" indent="-228600">
              <a:buFont typeface="+mj-lt"/>
              <a:buAutoNum type="arabicPeriod"/>
            </a:pPr>
            <a:r>
              <a:rPr lang="en-IN" sz="1000" dirty="0" smtClean="0">
                <a:latin typeface="Arial" panose="020B0604020202020204" pitchFamily="34" charset="0"/>
                <a:cs typeface="Arial" panose="020B0604020202020204" pitchFamily="34" charset="0"/>
              </a:rPr>
              <a:t>Modification operations are interruptible / non-atomic</a:t>
            </a:r>
          </a:p>
          <a:p>
            <a:pPr marL="628650" lvl="1" indent="-171450">
              <a:buFont typeface="Arial" panose="020B0604020202020204" pitchFamily="34" charset="0"/>
              <a:buChar char="•"/>
            </a:pPr>
            <a:endParaRPr lang="en-IN" sz="100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IN" sz="1000" b="0" dirty="0" smtClean="0">
                <a:latin typeface="Arial" panose="020B0604020202020204" pitchFamily="34" charset="0"/>
                <a:cs typeface="Arial" panose="020B0604020202020204" pitchFamily="34" charset="0"/>
              </a:rPr>
              <a:t>Linked lists / trees may as well be victims of race for co-operating processes – think of insert / delete</a:t>
            </a:r>
          </a:p>
          <a:p>
            <a:pPr marL="628650" lvl="1" indent="-171450">
              <a:buFont typeface="Arial" panose="020B0604020202020204" pitchFamily="34" charset="0"/>
              <a:buChar char="•"/>
            </a:pPr>
            <a:r>
              <a:rPr lang="en-IN" sz="1000" dirty="0">
                <a:solidFill>
                  <a:schemeClr val="tx1"/>
                </a:solidFill>
                <a:latin typeface="Arial" panose="020B0604020202020204" pitchFamily="34" charset="0"/>
                <a:cs typeface="Arial" panose="020B0604020202020204" pitchFamily="34" charset="0"/>
              </a:rPr>
              <a:t>Consider 2 processes which share a linked list</a:t>
            </a:r>
            <a:r>
              <a:rPr lang="en-IN" sz="1000" dirty="0" smtClean="0">
                <a:solidFill>
                  <a:schemeClr val="tx1"/>
                </a:solidFill>
                <a:latin typeface="Arial" panose="020B0604020202020204" pitchFamily="34" charset="0"/>
                <a:cs typeface="Arial" panose="020B0604020202020204" pitchFamily="34" charset="0"/>
              </a:rPr>
              <a:t>, </a:t>
            </a:r>
            <a:r>
              <a:rPr lang="en-IN" sz="1000" dirty="0">
                <a:solidFill>
                  <a:schemeClr val="tx1"/>
                </a:solidFill>
                <a:latin typeface="Arial" panose="020B0604020202020204" pitchFamily="34" charset="0"/>
                <a:cs typeface="Arial" panose="020B0604020202020204" pitchFamily="34" charset="0"/>
              </a:rPr>
              <a:t>one of which is doing an enqueue and another dequeue</a:t>
            </a:r>
          </a:p>
          <a:p>
            <a:pPr marL="171450" indent="-171450">
              <a:buFont typeface="Arial" panose="020B0604020202020204" pitchFamily="34" charset="0"/>
              <a:buChar char="•"/>
            </a:pPr>
            <a:endParaRPr lang="en-IN" sz="1000" b="0"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IN" sz="1000" b="0" dirty="0" smtClean="0">
                <a:latin typeface="Arial" panose="020B0604020202020204" pitchFamily="34" charset="0"/>
                <a:cs typeface="Arial" panose="020B0604020202020204" pitchFamily="34" charset="0"/>
              </a:rPr>
              <a:t>1 cannot be avoided, but 2 can be addressed – need atomicity for the entire set of 3 instructions (</a:t>
            </a:r>
            <a:r>
              <a:rPr lang="en-IN" sz="1000" b="0" dirty="0">
                <a:latin typeface="Arial" panose="020B0604020202020204" pitchFamily="34" charset="0"/>
                <a:cs typeface="Arial" panose="020B0604020202020204" pitchFamily="34" charset="0"/>
              </a:rPr>
              <a:t>our example)</a:t>
            </a:r>
          </a:p>
          <a:p>
            <a:pPr marL="628650" lvl="1" indent="-171450">
              <a:buFont typeface="Arial" panose="020B0604020202020204" pitchFamily="34" charset="0"/>
              <a:buChar char="•"/>
            </a:pPr>
            <a:r>
              <a:rPr lang="en-IN" sz="1000" dirty="0">
                <a:solidFill>
                  <a:schemeClr val="tx1"/>
                </a:solidFill>
                <a:latin typeface="Arial" panose="020B0604020202020204" pitchFamily="34" charset="0"/>
                <a:cs typeface="Arial" panose="020B0604020202020204" pitchFamily="34" charset="0"/>
              </a:rPr>
              <a:t>Once </a:t>
            </a:r>
            <a:r>
              <a:rPr lang="en-IN" sz="1000" dirty="0" smtClean="0">
                <a:solidFill>
                  <a:schemeClr val="tx1"/>
                </a:solidFill>
                <a:latin typeface="Arial" panose="020B0604020202020204" pitchFamily="34" charset="0"/>
                <a:cs typeface="Arial" panose="020B0604020202020204" pitchFamily="34" charset="0"/>
              </a:rPr>
              <a:t>start</a:t>
            </a:r>
            <a:r>
              <a:rPr lang="en-IN" sz="1000" dirty="0">
                <a:solidFill>
                  <a:schemeClr val="tx1"/>
                </a:solidFill>
                <a:latin typeface="Arial" panose="020B0604020202020204" pitchFamily="34" charset="0"/>
                <a:cs typeface="Arial" panose="020B0604020202020204" pitchFamily="34" charset="0"/>
              </a:rPr>
              <a:t>, no switches </a:t>
            </a:r>
            <a:r>
              <a:rPr lang="en-IN" sz="1000" dirty="0" smtClean="0">
                <a:solidFill>
                  <a:schemeClr val="tx1"/>
                </a:solidFill>
                <a:latin typeface="Arial" panose="020B0604020202020204" pitchFamily="34" charset="0"/>
                <a:cs typeface="Arial" panose="020B0604020202020204" pitchFamily="34" charset="0"/>
              </a:rPr>
              <a:t>allowed </a:t>
            </a:r>
            <a:r>
              <a:rPr lang="en-IN" sz="800" dirty="0" smtClean="0">
                <a:solidFill>
                  <a:srgbClr val="FF0000"/>
                </a:solidFill>
                <a:latin typeface="Arial" panose="020B0604020202020204" pitchFamily="34" charset="0"/>
                <a:cs typeface="Arial" panose="020B0604020202020204" pitchFamily="34" charset="0"/>
              </a:rPr>
              <a:t>(</a:t>
            </a:r>
            <a:r>
              <a:rPr lang="en-IN" sz="800" dirty="0" err="1" smtClean="0">
                <a:solidFill>
                  <a:srgbClr val="FF0000"/>
                </a:solidFill>
                <a:latin typeface="Arial" panose="020B0604020202020204" pitchFamily="34" charset="0"/>
                <a:cs typeface="Arial" panose="020B0604020202020204" pitchFamily="34" charset="0"/>
              </a:rPr>
              <a:t>ModifStart</a:t>
            </a:r>
            <a:r>
              <a:rPr lang="en-IN" sz="800" dirty="0" smtClean="0">
                <a:solidFill>
                  <a:srgbClr val="FF0000"/>
                </a:solidFill>
                <a:latin typeface="Arial" panose="020B0604020202020204" pitchFamily="34" charset="0"/>
                <a:cs typeface="Arial" panose="020B0604020202020204" pitchFamily="34" charset="0"/>
              </a:rPr>
              <a:t>, I</a:t>
            </a:r>
            <a:r>
              <a:rPr lang="en-IN" sz="800" baseline="-25000" dirty="0" smtClean="0">
                <a:solidFill>
                  <a:srgbClr val="FF0000"/>
                </a:solidFill>
                <a:latin typeface="Arial" panose="020B0604020202020204" pitchFamily="34" charset="0"/>
                <a:cs typeface="Arial" panose="020B0604020202020204" pitchFamily="34" charset="0"/>
              </a:rPr>
              <a:t>1</a:t>
            </a:r>
            <a:r>
              <a:rPr lang="en-IN" sz="800" dirty="0" smtClean="0">
                <a:solidFill>
                  <a:srgbClr val="FF0000"/>
                </a:solidFill>
                <a:latin typeface="Arial" panose="020B0604020202020204" pitchFamily="34" charset="0"/>
                <a:cs typeface="Arial" panose="020B0604020202020204" pitchFamily="34" charset="0"/>
              </a:rPr>
              <a:t>, I</a:t>
            </a:r>
            <a:r>
              <a:rPr lang="en-IN" sz="800" baseline="-25000" dirty="0" smtClean="0">
                <a:solidFill>
                  <a:srgbClr val="FF0000"/>
                </a:solidFill>
                <a:latin typeface="Arial" panose="020B0604020202020204" pitchFamily="34" charset="0"/>
                <a:cs typeface="Arial" panose="020B0604020202020204" pitchFamily="34" charset="0"/>
              </a:rPr>
              <a:t>2</a:t>
            </a:r>
            <a:r>
              <a:rPr lang="en-IN" sz="800" dirty="0" smtClean="0">
                <a:solidFill>
                  <a:srgbClr val="FF0000"/>
                </a:solidFill>
                <a:latin typeface="Arial" panose="020B0604020202020204" pitchFamily="34" charset="0"/>
                <a:cs typeface="Arial" panose="020B0604020202020204" pitchFamily="34" charset="0"/>
              </a:rPr>
              <a:t>, …I</a:t>
            </a:r>
            <a:r>
              <a:rPr lang="en-IN" sz="800" baseline="-25000" dirty="0" smtClean="0">
                <a:solidFill>
                  <a:srgbClr val="FF0000"/>
                </a:solidFill>
                <a:latin typeface="Arial" panose="020B0604020202020204" pitchFamily="34" charset="0"/>
                <a:cs typeface="Arial" panose="020B0604020202020204" pitchFamily="34" charset="0"/>
              </a:rPr>
              <a:t>n</a:t>
            </a:r>
            <a:r>
              <a:rPr lang="en-IN" sz="800" dirty="0" smtClean="0">
                <a:solidFill>
                  <a:srgbClr val="FF0000"/>
                </a:solidFill>
                <a:latin typeface="Arial" panose="020B0604020202020204" pitchFamily="34" charset="0"/>
                <a:cs typeface="Arial" panose="020B0604020202020204" pitchFamily="34" charset="0"/>
              </a:rPr>
              <a:t>, </a:t>
            </a:r>
            <a:r>
              <a:rPr lang="en-IN" sz="800" dirty="0" err="1" smtClean="0">
                <a:solidFill>
                  <a:srgbClr val="FF0000"/>
                </a:solidFill>
                <a:latin typeface="Arial" panose="020B0604020202020204" pitchFamily="34" charset="0"/>
                <a:cs typeface="Arial" panose="020B0604020202020204" pitchFamily="34" charset="0"/>
              </a:rPr>
              <a:t>ModifDone</a:t>
            </a:r>
            <a:r>
              <a:rPr lang="en-IN" sz="800" dirty="0" smtClean="0">
                <a:solidFill>
                  <a:srgbClr val="FF0000"/>
                </a:solidFill>
                <a:latin typeface="Arial" panose="020B0604020202020204" pitchFamily="34" charset="0"/>
                <a:cs typeface="Arial" panose="020B0604020202020204" pitchFamily="34" charset="0"/>
              </a:rPr>
              <a:t>)</a:t>
            </a:r>
          </a:p>
          <a:p>
            <a:pPr marL="628650" lvl="1" indent="-171450">
              <a:buFont typeface="Arial" panose="020B0604020202020204" pitchFamily="34" charset="0"/>
              <a:buChar char="•"/>
            </a:pPr>
            <a:endParaRPr lang="en-IN" sz="1000" dirty="0" smtClean="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IN" sz="1000" b="0" dirty="0">
                <a:latin typeface="Arial" panose="020B0604020202020204" pitchFamily="34" charset="0"/>
                <a:cs typeface="Arial" panose="020B0604020202020204" pitchFamily="34" charset="0"/>
              </a:rPr>
              <a:t>Not always necessary – can permit context switches in between as well</a:t>
            </a:r>
          </a:p>
          <a:p>
            <a:pPr marL="628650" lvl="1" indent="-171450">
              <a:buFont typeface="Arial" panose="020B0604020202020204" pitchFamily="34" charset="0"/>
              <a:buChar char="•"/>
            </a:pPr>
            <a:r>
              <a:rPr lang="en-IN" sz="900" b="0" dirty="0" smtClean="0">
                <a:latin typeface="Arial" panose="020B0604020202020204" pitchFamily="34" charset="0"/>
                <a:cs typeface="Arial" panose="020B0604020202020204" pitchFamily="34" charset="0"/>
              </a:rPr>
              <a:t>Allow context switches to </a:t>
            </a:r>
            <a:r>
              <a:rPr lang="en-IN" sz="900" b="0" u="sng" dirty="0" smtClean="0">
                <a:latin typeface="Arial" panose="020B0604020202020204" pitchFamily="34" charset="0"/>
                <a:cs typeface="Arial" panose="020B0604020202020204" pitchFamily="34" charset="0"/>
              </a:rPr>
              <a:t>other independent processes </a:t>
            </a:r>
            <a:r>
              <a:rPr lang="en-IN" sz="900" b="0" dirty="0" smtClean="0">
                <a:latin typeface="Arial" panose="020B0604020202020204" pitchFamily="34" charset="0"/>
                <a:cs typeface="Arial" panose="020B0604020202020204" pitchFamily="34" charset="0"/>
              </a:rPr>
              <a:t>that have nothing to do with the shared data structures, cannot allow context switch to a co-operating process that modifies the same data structure</a:t>
            </a:r>
            <a:endParaRPr lang="en-IN" sz="900" dirty="0"/>
          </a:p>
        </p:txBody>
      </p:sp>
    </p:spTree>
    <p:extLst>
      <p:ext uri="{BB962C8B-B14F-4D97-AF65-F5344CB8AC3E}">
        <p14:creationId xmlns:p14="http://schemas.microsoft.com/office/powerpoint/2010/main" val="417537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IN" dirty="0" smtClean="0"/>
              <a:t>Critical Section (CS)</a:t>
            </a:r>
            <a:endParaRPr lang="en-IN" dirty="0"/>
          </a:p>
        </p:txBody>
      </p:sp>
      <p:sp>
        <p:nvSpPr>
          <p:cNvPr id="3" name="Text Placeholder 2"/>
          <p:cNvSpPr>
            <a:spLocks noGrp="1"/>
          </p:cNvSpPr>
          <p:nvPr>
            <p:ph type="body" idx="1"/>
          </p:nvPr>
        </p:nvSpPr>
        <p:spPr>
          <a:xfrm>
            <a:off x="125856" y="521302"/>
            <a:ext cx="4358386" cy="2769989"/>
          </a:xfrm>
        </p:spPr>
        <p:txBody>
          <a:bodyPr/>
          <a:lstStyle/>
          <a:p>
            <a:r>
              <a:rPr lang="en-IN" b="0" dirty="0" smtClean="0"/>
              <a:t>Sequence of instructions that </a:t>
            </a:r>
            <a:r>
              <a:rPr lang="en-IN" u="sng" dirty="0" smtClean="0">
                <a:effectLst>
                  <a:outerShdw blurRad="38100" dist="38100" dir="2700000" algn="tl">
                    <a:srgbClr val="000000">
                      <a:alpha val="43137"/>
                    </a:srgbClr>
                  </a:outerShdw>
                </a:effectLst>
              </a:rPr>
              <a:t>modify</a:t>
            </a:r>
            <a:r>
              <a:rPr lang="en-IN" b="0" dirty="0" smtClean="0">
                <a:effectLst>
                  <a:outerShdw blurRad="38100" dist="38100" dir="2700000" algn="tl">
                    <a:srgbClr val="000000">
                      <a:alpha val="43137"/>
                    </a:srgbClr>
                  </a:outerShdw>
                </a:effectLst>
              </a:rPr>
              <a:t> </a:t>
            </a:r>
            <a:r>
              <a:rPr lang="en-IN" b="0" dirty="0" smtClean="0"/>
              <a:t>shared data</a:t>
            </a:r>
          </a:p>
          <a:p>
            <a:endParaRPr lang="en-IN" dirty="0" smtClean="0"/>
          </a:p>
          <a:p>
            <a:r>
              <a:rPr lang="en-IN" b="0" dirty="0" smtClean="0"/>
              <a:t>If P</a:t>
            </a:r>
            <a:r>
              <a:rPr lang="en-IN" b="0" baseline="-25000" dirty="0" smtClean="0"/>
              <a:t>i</a:t>
            </a:r>
            <a:r>
              <a:rPr lang="en-IN" b="0" dirty="0" smtClean="0"/>
              <a:t> and </a:t>
            </a:r>
            <a:r>
              <a:rPr lang="en-IN" b="0" dirty="0" err="1" smtClean="0"/>
              <a:t>P</a:t>
            </a:r>
            <a:r>
              <a:rPr lang="en-IN" b="0" baseline="-25000" dirty="0" err="1" smtClean="0"/>
              <a:t>j</a:t>
            </a:r>
            <a:r>
              <a:rPr lang="en-IN" b="0" dirty="0" smtClean="0"/>
              <a:t> are co-operating processes</a:t>
            </a:r>
          </a:p>
          <a:p>
            <a:pPr marL="628650" lvl="1" indent="-171450">
              <a:buFont typeface="Arial" panose="020B0604020202020204" pitchFamily="34" charset="0"/>
              <a:buChar char="•"/>
            </a:pPr>
            <a:r>
              <a:rPr lang="en-IN" sz="1100" b="0" dirty="0" smtClean="0"/>
              <a:t>And they have some critical section S, or in general, </a:t>
            </a:r>
          </a:p>
          <a:p>
            <a:pPr marL="628650" lvl="1" indent="-171450">
              <a:buFont typeface="Arial" panose="020B0604020202020204" pitchFamily="34" charset="0"/>
              <a:buChar char="•"/>
            </a:pPr>
            <a:r>
              <a:rPr lang="en-IN" sz="1100" b="0" dirty="0" smtClean="0"/>
              <a:t>S</a:t>
            </a:r>
            <a:r>
              <a:rPr lang="en-IN" sz="1100" b="0" baseline="-25000" dirty="0" smtClean="0"/>
              <a:t>i</a:t>
            </a:r>
            <a:r>
              <a:rPr lang="en-IN" sz="1100" b="0" dirty="0" smtClean="0"/>
              <a:t>, </a:t>
            </a:r>
            <a:r>
              <a:rPr lang="en-IN" sz="1100" b="0" dirty="0" err="1" smtClean="0"/>
              <a:t>S</a:t>
            </a:r>
            <a:r>
              <a:rPr lang="en-IN" sz="1100" b="0" baseline="-25000" dirty="0" err="1" smtClean="0"/>
              <a:t>j</a:t>
            </a:r>
            <a:r>
              <a:rPr lang="en-IN" sz="1100" b="0" dirty="0" smtClean="0"/>
              <a:t> are the sequences of instructions they execute in which shared data structures are being modified</a:t>
            </a:r>
          </a:p>
          <a:p>
            <a:pPr marL="628650" lvl="1" indent="-171450">
              <a:buFont typeface="Arial" panose="020B0604020202020204" pitchFamily="34" charset="0"/>
              <a:buChar char="•"/>
            </a:pPr>
            <a:r>
              <a:rPr lang="en-IN" sz="1100" b="0" dirty="0"/>
              <a:t>S</a:t>
            </a:r>
            <a:r>
              <a:rPr lang="en-IN" sz="1100" b="0" baseline="-25000" dirty="0"/>
              <a:t>i</a:t>
            </a:r>
            <a:r>
              <a:rPr lang="en-IN" sz="1100" b="0" dirty="0"/>
              <a:t>, </a:t>
            </a:r>
            <a:r>
              <a:rPr lang="en-IN" sz="1100" b="0" dirty="0" err="1" smtClean="0"/>
              <a:t>S</a:t>
            </a:r>
            <a:r>
              <a:rPr lang="en-IN" sz="1100" b="0" baseline="-25000" dirty="0" err="1" smtClean="0"/>
              <a:t>j</a:t>
            </a:r>
            <a:r>
              <a:rPr lang="en-IN" sz="1100" b="0" baseline="-25000" dirty="0" smtClean="0"/>
              <a:t> </a:t>
            </a:r>
            <a:r>
              <a:rPr lang="en-IN" sz="1100" b="0" dirty="0" smtClean="0"/>
              <a:t> are critical sections</a:t>
            </a:r>
          </a:p>
          <a:p>
            <a:pPr marL="628650" lvl="1" indent="-171450">
              <a:buFont typeface="Arial" panose="020B0604020202020204" pitchFamily="34" charset="0"/>
              <a:buChar char="•"/>
            </a:pPr>
            <a:r>
              <a:rPr lang="en-IN" sz="1100" b="0" dirty="0" smtClean="0"/>
              <a:t>Any context switch between these should not occur while S</a:t>
            </a:r>
            <a:r>
              <a:rPr lang="en-IN" sz="1100" b="0" baseline="-25000" dirty="0" smtClean="0"/>
              <a:t>i</a:t>
            </a:r>
            <a:r>
              <a:rPr lang="en-IN" sz="1100" b="0" dirty="0" smtClean="0"/>
              <a:t> or </a:t>
            </a:r>
            <a:r>
              <a:rPr lang="en-IN" sz="1100" b="0" dirty="0" err="1"/>
              <a:t>S</a:t>
            </a:r>
            <a:r>
              <a:rPr lang="en-IN" sz="1100" b="0" baseline="-25000" dirty="0" err="1"/>
              <a:t>j</a:t>
            </a:r>
            <a:r>
              <a:rPr lang="en-IN" sz="1100" b="0" baseline="-25000" dirty="0"/>
              <a:t> </a:t>
            </a:r>
            <a:r>
              <a:rPr lang="en-IN" sz="1100" b="0" baseline="-25000" dirty="0" smtClean="0"/>
              <a:t> </a:t>
            </a:r>
            <a:r>
              <a:rPr lang="en-IN" sz="1100" b="0" dirty="0" smtClean="0"/>
              <a:t>is in progress</a:t>
            </a:r>
          </a:p>
          <a:p>
            <a:pPr marL="628650" lvl="1" indent="-171450">
              <a:buFont typeface="Arial" panose="020B0604020202020204" pitchFamily="34" charset="0"/>
              <a:buChar char="•"/>
            </a:pPr>
            <a:endParaRPr lang="en-IN" sz="1100" dirty="0"/>
          </a:p>
          <a:p>
            <a:r>
              <a:rPr lang="en-IN" sz="1000" b="0" dirty="0" smtClean="0"/>
              <a:t>No context switches at all during </a:t>
            </a:r>
            <a:r>
              <a:rPr lang="en-IN" sz="1000" b="0" dirty="0"/>
              <a:t>S</a:t>
            </a:r>
            <a:r>
              <a:rPr lang="en-IN" sz="1000" b="0" baseline="-25000" dirty="0"/>
              <a:t>i</a:t>
            </a:r>
            <a:r>
              <a:rPr lang="en-IN" sz="1000" b="0" dirty="0"/>
              <a:t>, </a:t>
            </a:r>
            <a:r>
              <a:rPr lang="en-IN" sz="1000" b="0" dirty="0" err="1"/>
              <a:t>S</a:t>
            </a:r>
            <a:r>
              <a:rPr lang="en-IN" sz="1000" b="0" baseline="-25000" dirty="0" err="1"/>
              <a:t>j</a:t>
            </a:r>
            <a:r>
              <a:rPr lang="en-IN" sz="1000" b="0" dirty="0"/>
              <a:t> </a:t>
            </a:r>
            <a:r>
              <a:rPr lang="en-IN" sz="1000" b="0" dirty="0" smtClean="0"/>
              <a:t>-- too restrictive (</a:t>
            </a:r>
            <a:r>
              <a:rPr lang="en-IN" sz="900" b="0" i="1" dirty="0" smtClean="0"/>
              <a:t>P</a:t>
            </a:r>
            <a:r>
              <a:rPr lang="en-IN" sz="900" b="0" i="1" baseline="-25000" dirty="0" smtClean="0"/>
              <a:t>i</a:t>
            </a:r>
            <a:r>
              <a:rPr lang="en-IN" sz="900" b="0" i="1" dirty="0" smtClean="0"/>
              <a:t> continues forever</a:t>
            </a:r>
            <a:r>
              <a:rPr lang="en-IN" sz="1000" b="0" dirty="0" smtClean="0"/>
              <a:t>)</a:t>
            </a:r>
          </a:p>
          <a:p>
            <a:endParaRPr lang="en-IN" sz="1000" b="0" dirty="0"/>
          </a:p>
          <a:p>
            <a:r>
              <a:rPr lang="en-IN" sz="1000" b="0" dirty="0" smtClean="0"/>
              <a:t>Option 1: When P wishes to use CS, </a:t>
            </a:r>
            <a:r>
              <a:rPr lang="en-IN" sz="1000" b="0" u="sng" dirty="0" smtClean="0"/>
              <a:t>ask the kernel </a:t>
            </a:r>
            <a:r>
              <a:rPr lang="en-IN" sz="1000" b="0" dirty="0" smtClean="0"/>
              <a:t>if co-operating processes are doing anything in CS – all processes follow this protocol</a:t>
            </a:r>
          </a:p>
          <a:p>
            <a:pPr marL="628650" lvl="1" indent="-171450">
              <a:buFont typeface="Arial" panose="020B0604020202020204" pitchFamily="34" charset="0"/>
              <a:buChar char="•"/>
            </a:pPr>
            <a:r>
              <a:rPr lang="en-IN" sz="1000" dirty="0" smtClean="0"/>
              <a:t>Kernel allows context switch to co-operating processes only when the process who got permission to CS finishes</a:t>
            </a:r>
          </a:p>
          <a:p>
            <a:pPr marL="628650" lvl="1" indent="-171450">
              <a:buFont typeface="Arial" panose="020B0604020202020204" pitchFamily="34" charset="0"/>
              <a:buChar char="•"/>
            </a:pPr>
            <a:r>
              <a:rPr lang="en-IN" sz="1000" b="0" dirty="0" smtClean="0"/>
              <a:t>Can we do it without the kernel? </a:t>
            </a:r>
            <a:endParaRPr lang="en-IN" dirty="0" smtClean="0"/>
          </a:p>
        </p:txBody>
      </p:sp>
    </p:spTree>
    <p:extLst>
      <p:ext uri="{BB962C8B-B14F-4D97-AF65-F5344CB8AC3E}">
        <p14:creationId xmlns:p14="http://schemas.microsoft.com/office/powerpoint/2010/main" val="9992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IN" dirty="0" smtClean="0"/>
              <a:t>Without making any system calls to kernel</a:t>
            </a:r>
            <a:endParaRPr lang="en-IN" dirty="0"/>
          </a:p>
        </p:txBody>
      </p:sp>
      <p:sp>
        <p:nvSpPr>
          <p:cNvPr id="3" name="Text Placeholder 2"/>
          <p:cNvSpPr>
            <a:spLocks noGrp="1"/>
          </p:cNvSpPr>
          <p:nvPr>
            <p:ph type="body" idx="1"/>
          </p:nvPr>
        </p:nvSpPr>
        <p:spPr>
          <a:xfrm>
            <a:off x="73819" y="547119"/>
            <a:ext cx="5989194" cy="2600199"/>
          </a:xfrm>
        </p:spPr>
        <p:txBody>
          <a:bodyPr/>
          <a:lstStyle/>
          <a:p>
            <a:r>
              <a:rPr lang="en-IN" b="0" dirty="0" smtClean="0"/>
              <a:t>Can we design the code to avoid the kernel being called every time?</a:t>
            </a:r>
          </a:p>
          <a:p>
            <a:endParaRPr lang="en-IN" dirty="0" smtClean="0"/>
          </a:p>
          <a:p>
            <a:r>
              <a:rPr lang="en-IN" b="0" dirty="0" smtClean="0"/>
              <a:t>A process checks some variable before it enters CS, and waits till </a:t>
            </a:r>
          </a:p>
          <a:p>
            <a:r>
              <a:rPr lang="en-IN" b="0" dirty="0" smtClean="0"/>
              <a:t>CS is available (</a:t>
            </a:r>
            <a:r>
              <a:rPr lang="en-IN" b="0" dirty="0" err="1" smtClean="0"/>
              <a:t>inCS</a:t>
            </a:r>
            <a:r>
              <a:rPr lang="en-IN" b="0" dirty="0" smtClean="0"/>
              <a:t> </a:t>
            </a:r>
            <a:r>
              <a:rPr lang="en-IN" b="0" dirty="0" smtClean="0">
                <a:sym typeface="Wingdings" panose="05000000000000000000" pitchFamily="2" charset="2"/>
              </a:rPr>
              <a:t> interest / intent in entering CS)</a:t>
            </a:r>
            <a:endParaRPr lang="en-IN" b="0" dirty="0" smtClean="0"/>
          </a:p>
          <a:p>
            <a:endParaRPr lang="en-IN" b="0" dirty="0"/>
          </a:p>
          <a:p>
            <a:r>
              <a:rPr lang="en-IN" b="0" dirty="0" smtClean="0"/>
              <a:t>A process resets the variable before exiting, so that others can enter</a:t>
            </a:r>
          </a:p>
          <a:p>
            <a:endParaRPr lang="en-IN" b="0" dirty="0"/>
          </a:p>
          <a:p>
            <a:r>
              <a:rPr lang="en-IN" b="0" dirty="0" smtClean="0"/>
              <a:t>2 processes </a:t>
            </a:r>
            <a:r>
              <a:rPr lang="en-IN" spc="60" dirty="0"/>
              <a:t>P</a:t>
            </a:r>
            <a:r>
              <a:rPr lang="en-IN" spc="60" baseline="-25000" dirty="0"/>
              <a:t>i</a:t>
            </a:r>
            <a:r>
              <a:rPr lang="en-IN" b="0" dirty="0" smtClean="0"/>
              <a:t> and </a:t>
            </a:r>
            <a:r>
              <a:rPr lang="en-IN" spc="60" dirty="0" err="1" smtClean="0"/>
              <a:t>P</a:t>
            </a:r>
            <a:r>
              <a:rPr lang="en-IN" spc="60" baseline="-25000" dirty="0" err="1" smtClean="0"/>
              <a:t>j</a:t>
            </a:r>
            <a:r>
              <a:rPr lang="en-IN" b="0" dirty="0" smtClean="0"/>
              <a:t> </a:t>
            </a:r>
          </a:p>
          <a:p>
            <a:pPr marL="628650" lvl="1" indent="-171450">
              <a:buFont typeface="Arial" panose="020B0604020202020204" pitchFamily="34" charset="0"/>
              <a:buChar char="•"/>
            </a:pPr>
            <a:r>
              <a:rPr lang="en-IN" sz="1000" dirty="0" err="1" smtClean="0"/>
              <a:t>inCS</a:t>
            </a:r>
            <a:r>
              <a:rPr lang="en-IN" sz="1000" dirty="0" smtClean="0"/>
              <a:t>[</a:t>
            </a:r>
            <a:r>
              <a:rPr lang="en-IN" sz="1000" dirty="0" err="1" smtClean="0"/>
              <a:t>i</a:t>
            </a:r>
            <a:r>
              <a:rPr lang="en-IN" sz="1000" dirty="0" smtClean="0"/>
              <a:t>] = 0;</a:t>
            </a:r>
          </a:p>
          <a:p>
            <a:pPr marL="230504" marR="2473960" indent="-218440">
              <a:lnSpc>
                <a:spcPct val="102600"/>
              </a:lnSpc>
              <a:spcBef>
                <a:spcPts val="894"/>
              </a:spcBef>
            </a:pPr>
            <a:r>
              <a:rPr lang="en-IN" sz="800" u="sng" spc="60" dirty="0" smtClean="0"/>
              <a:t>Code for Process P</a:t>
            </a:r>
            <a:r>
              <a:rPr lang="en-IN" sz="800" u="sng" spc="60" baseline="-25000" dirty="0" smtClean="0"/>
              <a:t>i</a:t>
            </a:r>
            <a:r>
              <a:rPr lang="en-IN" sz="800" spc="60" dirty="0" smtClean="0"/>
              <a:t>		</a:t>
            </a:r>
            <a:endParaRPr lang="en-IN" sz="800" spc="60" dirty="0"/>
          </a:p>
          <a:p>
            <a:pPr marL="230504" marR="2473960" indent="-218440">
              <a:lnSpc>
                <a:spcPct val="102600"/>
              </a:lnSpc>
              <a:spcBef>
                <a:spcPts val="894"/>
              </a:spcBef>
            </a:pPr>
            <a:r>
              <a:rPr lang="en-IN" sz="800" spc="60" dirty="0" err="1" smtClean="0"/>
              <a:t>inCS</a:t>
            </a:r>
            <a:r>
              <a:rPr lang="en-IN" sz="800" spc="60" dirty="0" smtClean="0"/>
              <a:t>[</a:t>
            </a:r>
            <a:r>
              <a:rPr lang="en-IN" sz="800" spc="60" dirty="0" err="1" smtClean="0"/>
              <a:t>i</a:t>
            </a:r>
            <a:r>
              <a:rPr lang="en-IN" sz="800" spc="60" dirty="0" smtClean="0"/>
              <a:t>] </a:t>
            </a:r>
            <a:r>
              <a:rPr lang="en-IN" sz="800" spc="60" dirty="0"/>
              <a:t>= 1</a:t>
            </a:r>
            <a:r>
              <a:rPr lang="en-IN" sz="800" spc="60" dirty="0" smtClean="0"/>
              <a:t>; /* 1 mc </a:t>
            </a:r>
            <a:r>
              <a:rPr lang="en-IN" sz="800" spc="60" dirty="0" err="1" smtClean="0"/>
              <a:t>instr</a:t>
            </a:r>
            <a:r>
              <a:rPr lang="en-IN" sz="800" spc="60" dirty="0" smtClean="0"/>
              <a:t> */	</a:t>
            </a:r>
            <a:endParaRPr lang="en-IN" sz="800" spc="60" dirty="0"/>
          </a:p>
          <a:p>
            <a:pPr marL="230504" marR="2473960" indent="-218440">
              <a:lnSpc>
                <a:spcPct val="102600"/>
              </a:lnSpc>
              <a:spcBef>
                <a:spcPts val="894"/>
              </a:spcBef>
            </a:pPr>
            <a:r>
              <a:rPr lang="en-IN" sz="800" spc="60" dirty="0" smtClean="0"/>
              <a:t>while </a:t>
            </a:r>
            <a:r>
              <a:rPr lang="en-IN" sz="800" spc="60" dirty="0"/>
              <a:t>(</a:t>
            </a:r>
            <a:r>
              <a:rPr lang="en-IN" sz="800" spc="60" dirty="0" err="1" smtClean="0"/>
              <a:t>inCS</a:t>
            </a:r>
            <a:r>
              <a:rPr lang="en-IN" sz="800" spc="60" dirty="0" smtClean="0"/>
              <a:t>[j] </a:t>
            </a:r>
            <a:r>
              <a:rPr lang="en-IN" sz="800" spc="60" dirty="0"/>
              <a:t>== 1</a:t>
            </a:r>
            <a:r>
              <a:rPr lang="en-IN" sz="800" spc="60" dirty="0" smtClean="0"/>
              <a:t>); </a:t>
            </a:r>
            <a:r>
              <a:rPr lang="en-IN" sz="800" spc="60" dirty="0"/>
              <a:t>	</a:t>
            </a:r>
          </a:p>
          <a:p>
            <a:pPr marL="230504" marR="2473960" indent="-218440">
              <a:lnSpc>
                <a:spcPct val="102600"/>
              </a:lnSpc>
              <a:spcBef>
                <a:spcPts val="894"/>
              </a:spcBef>
            </a:pPr>
            <a:r>
              <a:rPr lang="en-IN" sz="800" spc="60" dirty="0" smtClean="0"/>
              <a:t>S</a:t>
            </a:r>
            <a:r>
              <a:rPr lang="en-IN" sz="800" spc="60" baseline="-25000" dirty="0" smtClean="0"/>
              <a:t>i</a:t>
            </a:r>
            <a:r>
              <a:rPr lang="en-IN" sz="800" spc="60" dirty="0" smtClean="0"/>
              <a:t>; </a:t>
            </a:r>
            <a:r>
              <a:rPr lang="en-IN" sz="800" spc="60" dirty="0"/>
              <a:t>	</a:t>
            </a:r>
            <a:r>
              <a:rPr lang="en-IN" sz="800" spc="60" dirty="0" smtClean="0"/>
              <a:t>	</a:t>
            </a:r>
            <a:endParaRPr lang="en-IN" sz="800" spc="60" dirty="0"/>
          </a:p>
          <a:p>
            <a:r>
              <a:rPr lang="en-IN" sz="800" dirty="0" err="1" smtClean="0"/>
              <a:t>inCS</a:t>
            </a:r>
            <a:r>
              <a:rPr lang="en-IN" sz="800" dirty="0" smtClean="0"/>
              <a:t>[</a:t>
            </a:r>
            <a:r>
              <a:rPr lang="en-IN" sz="800" dirty="0" err="1" smtClean="0"/>
              <a:t>i</a:t>
            </a:r>
            <a:r>
              <a:rPr lang="en-IN" sz="800" dirty="0" smtClean="0"/>
              <a:t>] = 0; </a:t>
            </a:r>
            <a:r>
              <a:rPr lang="en-IN" sz="800" dirty="0"/>
              <a:t>	</a:t>
            </a:r>
            <a:r>
              <a:rPr lang="en-IN" sz="800" dirty="0" smtClean="0"/>
              <a:t>	</a:t>
            </a:r>
            <a:endParaRPr lang="en-IN" sz="800" dirty="0"/>
          </a:p>
        </p:txBody>
      </p:sp>
      <p:sp>
        <p:nvSpPr>
          <p:cNvPr id="4" name="Rectangle 3"/>
          <p:cNvSpPr/>
          <p:nvPr/>
        </p:nvSpPr>
        <p:spPr>
          <a:xfrm>
            <a:off x="3524250" y="1806575"/>
            <a:ext cx="685800" cy="76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p:cNvCxnSpPr>
            <a:stCxn id="4" idx="1"/>
            <a:endCxn id="4" idx="3"/>
          </p:cNvCxnSpPr>
          <p:nvPr/>
        </p:nvCxnSpPr>
        <p:spPr>
          <a:xfrm>
            <a:off x="3524250" y="2187575"/>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524250" y="2111375"/>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36004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36766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7528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38290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39052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39814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40576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41338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35242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3524250" y="2339975"/>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3143250" y="2263775"/>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469142" y="2139920"/>
            <a:ext cx="692818" cy="200055"/>
          </a:xfrm>
          <a:prstGeom prst="rect">
            <a:avLst/>
          </a:prstGeom>
          <a:noFill/>
        </p:spPr>
        <p:txBody>
          <a:bodyPr wrap="none" rtlCol="0">
            <a:spAutoFit/>
          </a:bodyPr>
          <a:lstStyle/>
          <a:p>
            <a:r>
              <a:rPr lang="en-US" sz="700" dirty="0" err="1" smtClean="0"/>
              <a:t>inCS</a:t>
            </a:r>
            <a:r>
              <a:rPr lang="en-US" sz="700" dirty="0" smtClean="0"/>
              <a:t>[</a:t>
            </a:r>
            <a:r>
              <a:rPr lang="en-US" sz="700" dirty="0" err="1" smtClean="0"/>
              <a:t>i</a:t>
            </a:r>
            <a:r>
              <a:rPr lang="en-US" sz="700" dirty="0" smtClean="0"/>
              <a:t>], </a:t>
            </a:r>
            <a:r>
              <a:rPr lang="en-US" sz="700" dirty="0" err="1" smtClean="0"/>
              <a:t>inCS</a:t>
            </a:r>
            <a:r>
              <a:rPr lang="en-US" sz="700" dirty="0" smtClean="0"/>
              <a:t>[j]</a:t>
            </a:r>
            <a:endParaRPr lang="en-IN" sz="700" dirty="0"/>
          </a:p>
        </p:txBody>
      </p:sp>
      <p:sp>
        <p:nvSpPr>
          <p:cNvPr id="27" name="TextBox 26"/>
          <p:cNvSpPr txBox="1"/>
          <p:nvPr/>
        </p:nvSpPr>
        <p:spPr>
          <a:xfrm>
            <a:off x="3032365" y="2249967"/>
            <a:ext cx="564578" cy="215444"/>
          </a:xfrm>
          <a:prstGeom prst="rect">
            <a:avLst/>
          </a:prstGeom>
          <a:noFill/>
        </p:spPr>
        <p:txBody>
          <a:bodyPr wrap="none" rtlCol="0">
            <a:spAutoFit/>
          </a:bodyPr>
          <a:lstStyle/>
          <a:p>
            <a:r>
              <a:rPr lang="en-US" sz="400" dirty="0" smtClean="0"/>
              <a:t>Additional shared </a:t>
            </a:r>
          </a:p>
          <a:p>
            <a:r>
              <a:rPr lang="en-US" sz="400" dirty="0" smtClean="0"/>
              <a:t>memory</a:t>
            </a:r>
            <a:endParaRPr lang="en-IN" sz="400" dirty="0"/>
          </a:p>
        </p:txBody>
      </p:sp>
      <p:sp>
        <p:nvSpPr>
          <p:cNvPr id="28" name="TextBox 27"/>
          <p:cNvSpPr txBox="1"/>
          <p:nvPr/>
        </p:nvSpPr>
        <p:spPr>
          <a:xfrm>
            <a:off x="4174946" y="1978370"/>
            <a:ext cx="360996" cy="276999"/>
          </a:xfrm>
          <a:prstGeom prst="rect">
            <a:avLst/>
          </a:prstGeom>
          <a:noFill/>
        </p:spPr>
        <p:txBody>
          <a:bodyPr wrap="none" rtlCol="0">
            <a:spAutoFit/>
          </a:bodyPr>
          <a:lstStyle/>
          <a:p>
            <a:r>
              <a:rPr lang="en-US" sz="400" dirty="0" smtClean="0"/>
              <a:t>Original </a:t>
            </a:r>
          </a:p>
          <a:p>
            <a:r>
              <a:rPr lang="en-US" sz="400" dirty="0" smtClean="0"/>
              <a:t>Shared </a:t>
            </a:r>
          </a:p>
          <a:p>
            <a:r>
              <a:rPr lang="en-US" sz="400" dirty="0" smtClean="0"/>
              <a:t>memory</a:t>
            </a:r>
            <a:endParaRPr lang="en-IN" sz="400" dirty="0"/>
          </a:p>
        </p:txBody>
      </p:sp>
      <p:sp>
        <p:nvSpPr>
          <p:cNvPr id="29" name="TextBox 28"/>
          <p:cNvSpPr txBox="1"/>
          <p:nvPr/>
        </p:nvSpPr>
        <p:spPr>
          <a:xfrm>
            <a:off x="2228850" y="3084273"/>
            <a:ext cx="2371165" cy="369332"/>
          </a:xfrm>
          <a:prstGeom prst="rect">
            <a:avLst/>
          </a:prstGeom>
          <a:noFill/>
          <a:ln>
            <a:solidFill>
              <a:schemeClr val="accent1">
                <a:shade val="50000"/>
              </a:schemeClr>
            </a:solidFill>
          </a:ln>
        </p:spPr>
        <p:txBody>
          <a:bodyPr wrap="square" rtlCol="0">
            <a:spAutoFit/>
          </a:bodyPr>
          <a:lstStyle/>
          <a:p>
            <a:r>
              <a:rPr lang="en-US" sz="900" i="1" dirty="0" smtClean="0">
                <a:effectLst>
                  <a:outerShdw blurRad="38100" dist="38100" dir="2700000" algn="tl">
                    <a:srgbClr val="000000">
                      <a:alpha val="43137"/>
                    </a:srgbClr>
                  </a:outerShdw>
                </a:effectLst>
              </a:rPr>
              <a:t>Note: Original shared memory by application</a:t>
            </a:r>
          </a:p>
          <a:p>
            <a:r>
              <a:rPr lang="en-US" sz="900" i="1" dirty="0" err="1" smtClean="0">
                <a:effectLst>
                  <a:outerShdw blurRad="38100" dist="38100" dir="2700000" algn="tl">
                    <a:srgbClr val="000000">
                      <a:alpha val="43137"/>
                    </a:srgbClr>
                  </a:outerShdw>
                </a:effectLst>
              </a:rPr>
              <a:t>inCS</a:t>
            </a:r>
            <a:r>
              <a:rPr lang="en-US" sz="900" i="1" dirty="0" smtClean="0">
                <a:effectLst>
                  <a:outerShdw blurRad="38100" dist="38100" dir="2700000" algn="tl">
                    <a:srgbClr val="000000">
                      <a:alpha val="43137"/>
                    </a:srgbClr>
                  </a:outerShdw>
                </a:effectLst>
              </a:rPr>
              <a:t>[</a:t>
            </a:r>
            <a:r>
              <a:rPr lang="en-US" sz="900" i="1" dirty="0" err="1" smtClean="0">
                <a:effectLst>
                  <a:outerShdw blurRad="38100" dist="38100" dir="2700000" algn="tl">
                    <a:srgbClr val="000000">
                      <a:alpha val="43137"/>
                    </a:srgbClr>
                  </a:outerShdw>
                </a:effectLst>
              </a:rPr>
              <a:t>i</a:t>
            </a:r>
            <a:r>
              <a:rPr lang="en-US" sz="900" i="1" dirty="0" smtClean="0">
                <a:effectLst>
                  <a:outerShdw blurRad="38100" dist="38100" dir="2700000" algn="tl">
                    <a:srgbClr val="000000">
                      <a:alpha val="43137"/>
                    </a:srgbClr>
                  </a:outerShdw>
                </a:effectLst>
              </a:rPr>
              <a:t>] needed for consistency</a:t>
            </a:r>
            <a:endParaRPr lang="en-IN" sz="900" i="1" dirty="0">
              <a:effectLst>
                <a:outerShdw blurRad="38100" dist="38100" dir="2700000" algn="tl">
                  <a:srgbClr val="000000">
                    <a:alpha val="43137"/>
                  </a:srgbClr>
                </a:outerShdw>
              </a:effectLst>
            </a:endParaRPr>
          </a:p>
        </p:txBody>
      </p:sp>
      <p:sp>
        <p:nvSpPr>
          <p:cNvPr id="24" name="TextBox 23"/>
          <p:cNvSpPr txBox="1"/>
          <p:nvPr/>
        </p:nvSpPr>
        <p:spPr>
          <a:xfrm>
            <a:off x="4169185" y="1834759"/>
            <a:ext cx="292068" cy="276999"/>
          </a:xfrm>
          <a:prstGeom prst="rect">
            <a:avLst/>
          </a:prstGeom>
          <a:noFill/>
        </p:spPr>
        <p:txBody>
          <a:bodyPr wrap="none" rtlCol="0">
            <a:spAutoFit/>
          </a:bodyPr>
          <a:lstStyle/>
          <a:p>
            <a:r>
              <a:rPr lang="en-US" sz="1200" b="1" dirty="0" smtClean="0"/>
              <a:t>P</a:t>
            </a:r>
            <a:r>
              <a:rPr lang="en-US" sz="1200" b="1" baseline="-25000" dirty="0" smtClean="0"/>
              <a:t>i</a:t>
            </a:r>
            <a:endParaRPr lang="en-IN" sz="1200" b="1" baseline="-25000" dirty="0"/>
          </a:p>
        </p:txBody>
      </p:sp>
      <p:sp>
        <p:nvSpPr>
          <p:cNvPr id="30" name="TextBox 29"/>
          <p:cNvSpPr txBox="1"/>
          <p:nvPr/>
        </p:nvSpPr>
        <p:spPr>
          <a:xfrm>
            <a:off x="4175367" y="2253390"/>
            <a:ext cx="292068" cy="276999"/>
          </a:xfrm>
          <a:prstGeom prst="rect">
            <a:avLst/>
          </a:prstGeom>
          <a:noFill/>
        </p:spPr>
        <p:txBody>
          <a:bodyPr wrap="none" rtlCol="0">
            <a:spAutoFit/>
          </a:bodyPr>
          <a:lstStyle/>
          <a:p>
            <a:r>
              <a:rPr lang="en-US" sz="1200" b="1" dirty="0" err="1" smtClean="0"/>
              <a:t>P</a:t>
            </a:r>
            <a:r>
              <a:rPr lang="en-US" sz="1200" b="1" baseline="-25000" dirty="0" err="1" smtClean="0"/>
              <a:t>j</a:t>
            </a:r>
            <a:endParaRPr lang="en-IN" sz="1200" b="1" baseline="-25000" dirty="0"/>
          </a:p>
        </p:txBody>
      </p:sp>
    </p:spTree>
    <p:extLst>
      <p:ext uri="{BB962C8B-B14F-4D97-AF65-F5344CB8AC3E}">
        <p14:creationId xmlns:p14="http://schemas.microsoft.com/office/powerpoint/2010/main" val="411831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IN" dirty="0" smtClean="0"/>
              <a:t>Without making any system calls to kernel</a:t>
            </a:r>
            <a:endParaRPr lang="en-IN" dirty="0"/>
          </a:p>
        </p:txBody>
      </p:sp>
      <p:sp>
        <p:nvSpPr>
          <p:cNvPr id="3" name="Text Placeholder 2"/>
          <p:cNvSpPr>
            <a:spLocks noGrp="1"/>
          </p:cNvSpPr>
          <p:nvPr>
            <p:ph type="body" idx="1"/>
          </p:nvPr>
        </p:nvSpPr>
        <p:spPr>
          <a:xfrm>
            <a:off x="73819" y="547119"/>
            <a:ext cx="5989194" cy="2754087"/>
          </a:xfrm>
        </p:spPr>
        <p:txBody>
          <a:bodyPr/>
          <a:lstStyle/>
          <a:p>
            <a:r>
              <a:rPr lang="en-IN" b="0" dirty="0" smtClean="0"/>
              <a:t>Can we design the code to avoid the kernel being called every time?</a:t>
            </a:r>
          </a:p>
          <a:p>
            <a:endParaRPr lang="en-IN" dirty="0" smtClean="0"/>
          </a:p>
          <a:p>
            <a:r>
              <a:rPr lang="en-IN" b="0" dirty="0" smtClean="0"/>
              <a:t>A process checks some variable before it enters CS, and waits till </a:t>
            </a:r>
          </a:p>
          <a:p>
            <a:r>
              <a:rPr lang="en-IN" b="0" dirty="0" smtClean="0"/>
              <a:t>CS is available</a:t>
            </a:r>
          </a:p>
          <a:p>
            <a:endParaRPr lang="en-IN" b="0" dirty="0"/>
          </a:p>
          <a:p>
            <a:r>
              <a:rPr lang="en-IN" b="0" dirty="0" smtClean="0"/>
              <a:t>A process resets the variable before exiting, so that others can enter</a:t>
            </a:r>
          </a:p>
          <a:p>
            <a:endParaRPr lang="en-IN" b="0" dirty="0"/>
          </a:p>
          <a:p>
            <a:r>
              <a:rPr lang="en-IN" b="0" dirty="0" smtClean="0"/>
              <a:t>2 processes P0 and P1 </a:t>
            </a:r>
          </a:p>
          <a:p>
            <a:pPr marL="628650" lvl="1" indent="-171450">
              <a:buFont typeface="Arial" panose="020B0604020202020204" pitchFamily="34" charset="0"/>
              <a:buChar char="•"/>
            </a:pPr>
            <a:r>
              <a:rPr lang="en-IN" sz="1000" dirty="0" err="1" smtClean="0"/>
              <a:t>inCS</a:t>
            </a:r>
            <a:r>
              <a:rPr lang="en-IN" sz="1000" dirty="0" smtClean="0"/>
              <a:t>[0] = 0;</a:t>
            </a:r>
          </a:p>
          <a:p>
            <a:pPr marL="628650" lvl="1" indent="-171450">
              <a:buFont typeface="Arial" panose="020B0604020202020204" pitchFamily="34" charset="0"/>
              <a:buChar char="•"/>
            </a:pPr>
            <a:r>
              <a:rPr lang="en-IN" sz="1000" b="0" dirty="0" err="1" smtClean="0"/>
              <a:t>inCS</a:t>
            </a:r>
            <a:r>
              <a:rPr lang="en-IN" sz="1000" b="0" dirty="0" smtClean="0"/>
              <a:t>[1] = 0;</a:t>
            </a:r>
            <a:endParaRPr lang="en-IN" sz="1000" dirty="0"/>
          </a:p>
          <a:p>
            <a:pPr marL="230504" marR="2473960" indent="-218440">
              <a:lnSpc>
                <a:spcPct val="102600"/>
              </a:lnSpc>
              <a:spcBef>
                <a:spcPts val="894"/>
              </a:spcBef>
            </a:pPr>
            <a:r>
              <a:rPr lang="en-IN" sz="800" u="sng" spc="60" dirty="0" smtClean="0"/>
              <a:t>Code for P0</a:t>
            </a:r>
            <a:r>
              <a:rPr lang="en-IN" sz="800" spc="60" dirty="0" smtClean="0"/>
              <a:t> 		</a:t>
            </a:r>
            <a:r>
              <a:rPr lang="en-IN" sz="800" u="sng" spc="60" dirty="0" smtClean="0"/>
              <a:t>Code for P1</a:t>
            </a:r>
            <a:endParaRPr lang="en-IN" sz="800" u="sng" spc="60" dirty="0"/>
          </a:p>
          <a:p>
            <a:pPr marL="230504" marR="2473960" indent="-218440">
              <a:lnSpc>
                <a:spcPct val="102600"/>
              </a:lnSpc>
              <a:spcBef>
                <a:spcPts val="894"/>
              </a:spcBef>
            </a:pPr>
            <a:r>
              <a:rPr lang="en-IN" sz="800" spc="60" dirty="0" err="1" smtClean="0"/>
              <a:t>inCS</a:t>
            </a:r>
            <a:r>
              <a:rPr lang="en-IN" sz="800" spc="60" dirty="0" smtClean="0"/>
              <a:t>[0</a:t>
            </a:r>
            <a:r>
              <a:rPr lang="en-IN" sz="800" spc="60" dirty="0"/>
              <a:t>] = 1</a:t>
            </a:r>
            <a:r>
              <a:rPr lang="en-IN" sz="800" spc="60" dirty="0" smtClean="0"/>
              <a:t>; /* 1 mc </a:t>
            </a:r>
            <a:r>
              <a:rPr lang="en-IN" sz="800" spc="60" dirty="0" err="1" smtClean="0"/>
              <a:t>instr</a:t>
            </a:r>
            <a:r>
              <a:rPr lang="en-IN" sz="800" spc="60" dirty="0" smtClean="0"/>
              <a:t> */	</a:t>
            </a:r>
            <a:r>
              <a:rPr lang="en-IN" sz="800" spc="60" dirty="0" err="1" smtClean="0"/>
              <a:t>inCS</a:t>
            </a:r>
            <a:r>
              <a:rPr lang="en-IN" sz="800" spc="60" dirty="0" smtClean="0"/>
              <a:t>[1] </a:t>
            </a:r>
            <a:r>
              <a:rPr lang="en-IN" sz="800" spc="60" dirty="0"/>
              <a:t>= </a:t>
            </a:r>
            <a:r>
              <a:rPr lang="en-IN" sz="800" spc="60" dirty="0" smtClean="0"/>
              <a:t>1</a:t>
            </a:r>
            <a:r>
              <a:rPr lang="en-IN" sz="800" spc="60" dirty="0"/>
              <a:t>; /* 1 mc </a:t>
            </a:r>
            <a:r>
              <a:rPr lang="en-IN" sz="800" spc="60" dirty="0" err="1"/>
              <a:t>instr</a:t>
            </a:r>
            <a:r>
              <a:rPr lang="en-IN" sz="800" spc="60" dirty="0"/>
              <a:t> */</a:t>
            </a:r>
          </a:p>
          <a:p>
            <a:pPr marL="230504" marR="2473960" indent="-218440">
              <a:lnSpc>
                <a:spcPct val="102600"/>
              </a:lnSpc>
              <a:spcBef>
                <a:spcPts val="894"/>
              </a:spcBef>
            </a:pPr>
            <a:r>
              <a:rPr lang="en-IN" sz="800" spc="60" dirty="0" smtClean="0"/>
              <a:t>while </a:t>
            </a:r>
            <a:r>
              <a:rPr lang="en-IN" sz="800" spc="60" dirty="0"/>
              <a:t>(</a:t>
            </a:r>
            <a:r>
              <a:rPr lang="en-IN" sz="800" spc="60" dirty="0" err="1"/>
              <a:t>inCS</a:t>
            </a:r>
            <a:r>
              <a:rPr lang="en-IN" sz="800" spc="60" dirty="0"/>
              <a:t>[1] == 1</a:t>
            </a:r>
            <a:r>
              <a:rPr lang="en-IN" sz="800" spc="60" dirty="0" smtClean="0"/>
              <a:t>); </a:t>
            </a:r>
            <a:r>
              <a:rPr lang="en-IN" sz="800" spc="60" dirty="0"/>
              <a:t>	</a:t>
            </a:r>
            <a:r>
              <a:rPr lang="en-IN" sz="800" spc="60" dirty="0" smtClean="0"/>
              <a:t>while </a:t>
            </a:r>
            <a:r>
              <a:rPr lang="en-IN" sz="800" spc="60" dirty="0"/>
              <a:t>(</a:t>
            </a:r>
            <a:r>
              <a:rPr lang="en-IN" sz="800" spc="60" dirty="0" err="1" smtClean="0"/>
              <a:t>inCS</a:t>
            </a:r>
            <a:r>
              <a:rPr lang="en-IN" sz="800" spc="60" dirty="0" smtClean="0"/>
              <a:t>[0] == </a:t>
            </a:r>
            <a:r>
              <a:rPr lang="en-IN" sz="800" spc="60" dirty="0"/>
              <a:t>1);</a:t>
            </a:r>
          </a:p>
          <a:p>
            <a:pPr marL="230504" marR="2473960" indent="-218440">
              <a:lnSpc>
                <a:spcPct val="102600"/>
              </a:lnSpc>
              <a:spcBef>
                <a:spcPts val="894"/>
              </a:spcBef>
            </a:pPr>
            <a:r>
              <a:rPr lang="en-IN" sz="800" spc="60" dirty="0" smtClean="0"/>
              <a:t>S0</a:t>
            </a:r>
            <a:r>
              <a:rPr lang="en-IN" sz="800" spc="60" dirty="0"/>
              <a:t>; 	</a:t>
            </a:r>
            <a:r>
              <a:rPr lang="en-IN" sz="800" spc="60" dirty="0" smtClean="0"/>
              <a:t>		S1;</a:t>
            </a:r>
            <a:endParaRPr lang="en-IN" sz="800" spc="60" dirty="0"/>
          </a:p>
          <a:p>
            <a:r>
              <a:rPr lang="en-IN" sz="800" dirty="0" err="1" smtClean="0"/>
              <a:t>inCS</a:t>
            </a:r>
            <a:r>
              <a:rPr lang="en-IN" sz="800" dirty="0" smtClean="0"/>
              <a:t>[0] = 0; </a:t>
            </a:r>
            <a:r>
              <a:rPr lang="en-IN" sz="800" dirty="0"/>
              <a:t>	</a:t>
            </a:r>
            <a:r>
              <a:rPr lang="en-IN" sz="800" dirty="0" smtClean="0"/>
              <a:t>	</a:t>
            </a:r>
            <a:r>
              <a:rPr lang="en-IN" sz="800" dirty="0" err="1" smtClean="0"/>
              <a:t>inCS</a:t>
            </a:r>
            <a:r>
              <a:rPr lang="en-IN" sz="800" dirty="0" smtClean="0"/>
              <a:t>[1] = 0;</a:t>
            </a:r>
            <a:endParaRPr lang="en-IN" sz="800" dirty="0"/>
          </a:p>
        </p:txBody>
      </p:sp>
      <p:cxnSp>
        <p:nvCxnSpPr>
          <p:cNvPr id="5" name="Straight Arrow Connector 4"/>
          <p:cNvCxnSpPr/>
          <p:nvPr/>
        </p:nvCxnSpPr>
        <p:spPr>
          <a:xfrm>
            <a:off x="95250" y="2720975"/>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695450" y="2263775"/>
            <a:ext cx="0" cy="1066800"/>
          </a:xfrm>
          <a:prstGeom prst="line">
            <a:avLst/>
          </a:prstGeom>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3524250" y="1806575"/>
            <a:ext cx="685800" cy="76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p:cNvCxnSpPr>
            <a:stCxn id="4" idx="1"/>
            <a:endCxn id="4" idx="3"/>
          </p:cNvCxnSpPr>
          <p:nvPr/>
        </p:nvCxnSpPr>
        <p:spPr>
          <a:xfrm>
            <a:off x="3524250" y="2187575"/>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524250" y="2111375"/>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36004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36766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7528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38290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39052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39814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40576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41338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3524250" y="2111375"/>
            <a:ext cx="7620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3524250" y="2339975"/>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3143250" y="2263775"/>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469142" y="2139920"/>
            <a:ext cx="740908" cy="200055"/>
          </a:xfrm>
          <a:prstGeom prst="rect">
            <a:avLst/>
          </a:prstGeom>
          <a:noFill/>
        </p:spPr>
        <p:txBody>
          <a:bodyPr wrap="none" rtlCol="0">
            <a:spAutoFit/>
          </a:bodyPr>
          <a:lstStyle/>
          <a:p>
            <a:r>
              <a:rPr lang="en-US" sz="700" dirty="0" err="1" smtClean="0"/>
              <a:t>inCS</a:t>
            </a:r>
            <a:r>
              <a:rPr lang="en-US" sz="700" dirty="0" smtClean="0"/>
              <a:t>[0], </a:t>
            </a:r>
            <a:r>
              <a:rPr lang="en-US" sz="700" dirty="0" err="1" smtClean="0"/>
              <a:t>inCS</a:t>
            </a:r>
            <a:r>
              <a:rPr lang="en-US" sz="700" dirty="0" smtClean="0"/>
              <a:t>[1]</a:t>
            </a:r>
            <a:endParaRPr lang="en-IN" sz="700" dirty="0"/>
          </a:p>
        </p:txBody>
      </p:sp>
      <p:sp>
        <p:nvSpPr>
          <p:cNvPr id="27" name="TextBox 26"/>
          <p:cNvSpPr txBox="1"/>
          <p:nvPr/>
        </p:nvSpPr>
        <p:spPr>
          <a:xfrm>
            <a:off x="3032365" y="2249967"/>
            <a:ext cx="564578" cy="215444"/>
          </a:xfrm>
          <a:prstGeom prst="rect">
            <a:avLst/>
          </a:prstGeom>
          <a:noFill/>
        </p:spPr>
        <p:txBody>
          <a:bodyPr wrap="none" rtlCol="0">
            <a:spAutoFit/>
          </a:bodyPr>
          <a:lstStyle/>
          <a:p>
            <a:r>
              <a:rPr lang="en-US" sz="400" dirty="0" smtClean="0"/>
              <a:t>Additional shared </a:t>
            </a:r>
          </a:p>
          <a:p>
            <a:r>
              <a:rPr lang="en-US" sz="400" dirty="0" smtClean="0"/>
              <a:t>memory</a:t>
            </a:r>
            <a:endParaRPr lang="en-IN" sz="400" dirty="0"/>
          </a:p>
        </p:txBody>
      </p:sp>
      <p:sp>
        <p:nvSpPr>
          <p:cNvPr id="28" name="TextBox 27"/>
          <p:cNvSpPr txBox="1"/>
          <p:nvPr/>
        </p:nvSpPr>
        <p:spPr>
          <a:xfrm>
            <a:off x="4174946" y="1978370"/>
            <a:ext cx="360996" cy="276999"/>
          </a:xfrm>
          <a:prstGeom prst="rect">
            <a:avLst/>
          </a:prstGeom>
          <a:noFill/>
        </p:spPr>
        <p:txBody>
          <a:bodyPr wrap="none" rtlCol="0">
            <a:spAutoFit/>
          </a:bodyPr>
          <a:lstStyle/>
          <a:p>
            <a:r>
              <a:rPr lang="en-US" sz="400" dirty="0" smtClean="0"/>
              <a:t>Original </a:t>
            </a:r>
          </a:p>
          <a:p>
            <a:r>
              <a:rPr lang="en-US" sz="400" dirty="0" smtClean="0"/>
              <a:t>Shared </a:t>
            </a:r>
          </a:p>
          <a:p>
            <a:r>
              <a:rPr lang="en-US" sz="400" dirty="0" smtClean="0"/>
              <a:t>memory</a:t>
            </a:r>
            <a:endParaRPr lang="en-IN" sz="400" dirty="0"/>
          </a:p>
        </p:txBody>
      </p:sp>
      <p:sp>
        <p:nvSpPr>
          <p:cNvPr id="24" name="TextBox 23"/>
          <p:cNvSpPr txBox="1"/>
          <p:nvPr/>
        </p:nvSpPr>
        <p:spPr>
          <a:xfrm>
            <a:off x="4169185" y="1834759"/>
            <a:ext cx="343364" cy="276999"/>
          </a:xfrm>
          <a:prstGeom prst="rect">
            <a:avLst/>
          </a:prstGeom>
          <a:noFill/>
        </p:spPr>
        <p:txBody>
          <a:bodyPr wrap="none" rtlCol="0">
            <a:spAutoFit/>
          </a:bodyPr>
          <a:lstStyle/>
          <a:p>
            <a:r>
              <a:rPr lang="en-US" sz="1200" b="1" dirty="0" smtClean="0"/>
              <a:t>P1</a:t>
            </a:r>
            <a:endParaRPr lang="en-IN" sz="1200" b="1" dirty="0"/>
          </a:p>
        </p:txBody>
      </p:sp>
      <p:sp>
        <p:nvSpPr>
          <p:cNvPr id="30" name="TextBox 29"/>
          <p:cNvSpPr txBox="1"/>
          <p:nvPr/>
        </p:nvSpPr>
        <p:spPr>
          <a:xfrm>
            <a:off x="4175367" y="2253390"/>
            <a:ext cx="344966" cy="276999"/>
          </a:xfrm>
          <a:prstGeom prst="rect">
            <a:avLst/>
          </a:prstGeom>
          <a:noFill/>
        </p:spPr>
        <p:txBody>
          <a:bodyPr wrap="none" rtlCol="0">
            <a:spAutoFit/>
          </a:bodyPr>
          <a:lstStyle/>
          <a:p>
            <a:r>
              <a:rPr lang="en-US" sz="1200" b="1" dirty="0" smtClean="0"/>
              <a:t>P2</a:t>
            </a:r>
            <a:endParaRPr lang="en-IN" sz="1200" b="1" dirty="0"/>
          </a:p>
        </p:txBody>
      </p:sp>
      <p:cxnSp>
        <p:nvCxnSpPr>
          <p:cNvPr id="10" name="Straight Arrow Connector 9"/>
          <p:cNvCxnSpPr/>
          <p:nvPr/>
        </p:nvCxnSpPr>
        <p:spPr>
          <a:xfrm flipV="1">
            <a:off x="1543050" y="2606675"/>
            <a:ext cx="304800" cy="7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1390650" y="2678870"/>
            <a:ext cx="456530" cy="1183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1543050" y="2807011"/>
            <a:ext cx="3425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1504279" y="2873375"/>
            <a:ext cx="3813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6662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IN" dirty="0" smtClean="0"/>
              <a:t>All is Well?</a:t>
            </a:r>
            <a:endParaRPr lang="en-IN" dirty="0"/>
          </a:p>
        </p:txBody>
      </p:sp>
      <p:sp>
        <p:nvSpPr>
          <p:cNvPr id="3" name="Text Placeholder 2"/>
          <p:cNvSpPr>
            <a:spLocks noGrp="1"/>
          </p:cNvSpPr>
          <p:nvPr>
            <p:ph type="body" idx="1"/>
          </p:nvPr>
        </p:nvSpPr>
        <p:spPr>
          <a:xfrm>
            <a:off x="125856" y="521302"/>
            <a:ext cx="7589394" cy="1184940"/>
          </a:xfrm>
        </p:spPr>
        <p:txBody>
          <a:bodyPr/>
          <a:lstStyle/>
          <a:p>
            <a:pPr marL="171450" indent="-171450">
              <a:buFont typeface="Arial" panose="020B0604020202020204" pitchFamily="34" charset="0"/>
              <a:buChar char="•"/>
            </a:pPr>
            <a:r>
              <a:rPr lang="en-IN" b="0" dirty="0" smtClean="0"/>
              <a:t>Consider an interleaving where the switch happens after the first </a:t>
            </a:r>
          </a:p>
          <a:p>
            <a:r>
              <a:rPr lang="en-IN" b="0" dirty="0"/>
              <a:t> </a:t>
            </a:r>
            <a:r>
              <a:rPr lang="en-IN" b="0" dirty="0" smtClean="0"/>
              <a:t>    instruction</a:t>
            </a:r>
          </a:p>
          <a:p>
            <a:pPr marL="171450" indent="-171450">
              <a:buFont typeface="Arial" panose="020B0604020202020204" pitchFamily="34" charset="0"/>
              <a:buChar char="•"/>
            </a:pPr>
            <a:endParaRPr lang="en-IN" b="0" dirty="0"/>
          </a:p>
          <a:p>
            <a:pPr marL="171450" indent="-171450">
              <a:buFont typeface="Arial" panose="020B0604020202020204" pitchFamily="34" charset="0"/>
              <a:buChar char="•"/>
            </a:pPr>
            <a:r>
              <a:rPr lang="en-US" b="0" dirty="0" smtClean="0"/>
              <a:t>Both set their own </a:t>
            </a:r>
            <a:r>
              <a:rPr lang="en-US" b="0" dirty="0" err="1" smtClean="0"/>
              <a:t>inCS</a:t>
            </a:r>
            <a:r>
              <a:rPr lang="en-US" b="0" dirty="0" smtClean="0"/>
              <a:t> to 1 and wait for the other to set to 0</a:t>
            </a:r>
          </a:p>
          <a:p>
            <a:endParaRPr lang="en-IN" b="0" dirty="0" smtClean="0"/>
          </a:p>
          <a:p>
            <a:pPr marL="171450" indent="-171450">
              <a:buFont typeface="Arial" panose="020B0604020202020204" pitchFamily="34" charset="0"/>
              <a:buChar char="•"/>
            </a:pPr>
            <a:r>
              <a:rPr lang="en-IN" b="0" dirty="0" smtClean="0"/>
              <a:t>Both may enter an </a:t>
            </a:r>
            <a:r>
              <a:rPr lang="en-IN" b="0" u="sng" dirty="0" smtClean="0"/>
              <a:t>infinite wait </a:t>
            </a:r>
            <a:r>
              <a:rPr lang="en-IN" b="0" dirty="0" smtClean="0"/>
              <a:t>and none can enter CS</a:t>
            </a:r>
          </a:p>
          <a:p>
            <a:pPr marL="171450" indent="-171450">
              <a:buFont typeface="Arial" panose="020B0604020202020204" pitchFamily="34" charset="0"/>
              <a:buChar char="•"/>
            </a:pPr>
            <a:endParaRPr lang="en-IN" b="0" dirty="0"/>
          </a:p>
        </p:txBody>
      </p:sp>
      <p:sp>
        <p:nvSpPr>
          <p:cNvPr id="4" name="Oval 3"/>
          <p:cNvSpPr/>
          <p:nvPr/>
        </p:nvSpPr>
        <p:spPr>
          <a:xfrm>
            <a:off x="3219450" y="1654175"/>
            <a:ext cx="914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smtClean="0"/>
              <a:t>Does not work</a:t>
            </a:r>
            <a:endParaRPr lang="en-IN" sz="1000" dirty="0"/>
          </a:p>
        </p:txBody>
      </p:sp>
    </p:spTree>
    <p:extLst>
      <p:ext uri="{BB962C8B-B14F-4D97-AF65-F5344CB8AC3E}">
        <p14:creationId xmlns:p14="http://schemas.microsoft.com/office/powerpoint/2010/main" val="3361321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IN" dirty="0" smtClean="0"/>
              <a:t>Alternative: </a:t>
            </a:r>
            <a:endParaRPr lang="en-IN" dirty="0"/>
          </a:p>
        </p:txBody>
      </p:sp>
      <p:sp>
        <p:nvSpPr>
          <p:cNvPr id="3" name="Text Placeholder 2"/>
          <p:cNvSpPr>
            <a:spLocks noGrp="1"/>
          </p:cNvSpPr>
          <p:nvPr>
            <p:ph type="body" idx="1"/>
          </p:nvPr>
        </p:nvSpPr>
        <p:spPr>
          <a:xfrm>
            <a:off x="125856" y="521302"/>
            <a:ext cx="7589394" cy="1145955"/>
          </a:xfrm>
        </p:spPr>
        <p:txBody>
          <a:bodyPr/>
          <a:lstStyle/>
          <a:p>
            <a:pPr marL="230504" marR="2473960" indent="-218440">
              <a:lnSpc>
                <a:spcPct val="102600"/>
              </a:lnSpc>
              <a:spcBef>
                <a:spcPts val="894"/>
              </a:spcBef>
            </a:pPr>
            <a:r>
              <a:rPr lang="en-IN" sz="800" spc="60" dirty="0" err="1" smtClean="0"/>
              <a:t>inCS</a:t>
            </a:r>
            <a:r>
              <a:rPr lang="en-IN" sz="800" spc="60" dirty="0" smtClean="0"/>
              <a:t>[0] = 0</a:t>
            </a:r>
            <a:r>
              <a:rPr lang="en-IN" sz="800" spc="60" dirty="0"/>
              <a:t>;</a:t>
            </a:r>
            <a:r>
              <a:rPr lang="en-IN" sz="800" spc="60" dirty="0" smtClean="0"/>
              <a:t>	</a:t>
            </a:r>
            <a:r>
              <a:rPr lang="en-IN" sz="800" spc="60" dirty="0"/>
              <a:t>	</a:t>
            </a:r>
            <a:r>
              <a:rPr lang="en-IN" sz="800" spc="60" dirty="0" err="1" smtClean="0"/>
              <a:t>inCS</a:t>
            </a:r>
            <a:r>
              <a:rPr lang="en-IN" sz="800" spc="60" dirty="0" smtClean="0"/>
              <a:t>[1] = 0;</a:t>
            </a:r>
            <a:endParaRPr lang="en-IN" sz="800" spc="60" dirty="0"/>
          </a:p>
          <a:p>
            <a:pPr marL="230504" marR="2473960" indent="-218440">
              <a:lnSpc>
                <a:spcPct val="102600"/>
              </a:lnSpc>
              <a:spcBef>
                <a:spcPts val="894"/>
              </a:spcBef>
            </a:pPr>
            <a:r>
              <a:rPr lang="en-IN" sz="800" spc="60" dirty="0" smtClean="0"/>
              <a:t>while </a:t>
            </a:r>
            <a:r>
              <a:rPr lang="en-IN" sz="800" spc="60" dirty="0"/>
              <a:t>(</a:t>
            </a:r>
            <a:r>
              <a:rPr lang="en-IN" sz="800" spc="60" dirty="0" err="1"/>
              <a:t>inCS</a:t>
            </a:r>
            <a:r>
              <a:rPr lang="en-IN" sz="800" spc="60" dirty="0"/>
              <a:t>[1] == 1); 	while (</a:t>
            </a:r>
            <a:r>
              <a:rPr lang="en-IN" sz="800" spc="60" dirty="0" err="1"/>
              <a:t>inCS</a:t>
            </a:r>
            <a:r>
              <a:rPr lang="en-IN" sz="800" spc="60" dirty="0"/>
              <a:t>[0] == 1</a:t>
            </a:r>
            <a:r>
              <a:rPr lang="en-IN" sz="800" spc="60" dirty="0" smtClean="0"/>
              <a:t>);</a:t>
            </a:r>
          </a:p>
          <a:p>
            <a:pPr marL="230504" marR="2473960" indent="-218440">
              <a:lnSpc>
                <a:spcPct val="102600"/>
              </a:lnSpc>
              <a:spcBef>
                <a:spcPts val="894"/>
              </a:spcBef>
            </a:pPr>
            <a:r>
              <a:rPr lang="en-IN" sz="800" spc="60" dirty="0" err="1"/>
              <a:t>inCS</a:t>
            </a:r>
            <a:r>
              <a:rPr lang="en-IN" sz="800" spc="60" dirty="0"/>
              <a:t>[0] = 1; /* 1 mc </a:t>
            </a:r>
            <a:r>
              <a:rPr lang="en-IN" sz="800" spc="60" dirty="0" err="1"/>
              <a:t>instr</a:t>
            </a:r>
            <a:r>
              <a:rPr lang="en-IN" sz="800" spc="60" dirty="0"/>
              <a:t> */	</a:t>
            </a:r>
            <a:r>
              <a:rPr lang="en-IN" sz="800" spc="60" dirty="0" err="1"/>
              <a:t>inCS</a:t>
            </a:r>
            <a:r>
              <a:rPr lang="en-IN" sz="800" spc="60" dirty="0"/>
              <a:t>[1] = 1; /* 1 mc </a:t>
            </a:r>
            <a:r>
              <a:rPr lang="en-IN" sz="800" spc="60" dirty="0" err="1"/>
              <a:t>instr</a:t>
            </a:r>
            <a:r>
              <a:rPr lang="en-IN" sz="800" spc="60" dirty="0"/>
              <a:t> </a:t>
            </a:r>
            <a:r>
              <a:rPr lang="en-IN" sz="800" spc="60" dirty="0" smtClean="0"/>
              <a:t>*/</a:t>
            </a:r>
          </a:p>
          <a:p>
            <a:pPr marL="230504" marR="2473960" indent="-218440">
              <a:lnSpc>
                <a:spcPct val="102600"/>
              </a:lnSpc>
              <a:spcBef>
                <a:spcPts val="894"/>
              </a:spcBef>
            </a:pPr>
            <a:r>
              <a:rPr lang="en-IN" sz="800" spc="60" dirty="0" smtClean="0"/>
              <a:t>S0; 			S1;</a:t>
            </a:r>
          </a:p>
          <a:p>
            <a:r>
              <a:rPr lang="en-IN" sz="800" dirty="0" err="1" smtClean="0"/>
              <a:t>inCS</a:t>
            </a:r>
            <a:r>
              <a:rPr lang="en-IN" sz="800" dirty="0" smtClean="0"/>
              <a:t>[0</a:t>
            </a:r>
            <a:r>
              <a:rPr lang="en-IN" sz="800" dirty="0"/>
              <a:t>] = 0; 		</a:t>
            </a:r>
            <a:r>
              <a:rPr lang="en-IN" sz="800" dirty="0" err="1"/>
              <a:t>inCS</a:t>
            </a:r>
            <a:r>
              <a:rPr lang="en-IN" sz="800" dirty="0"/>
              <a:t>[1] = 0;</a:t>
            </a:r>
          </a:p>
          <a:p>
            <a:pPr marL="171450" indent="-171450">
              <a:buFont typeface="Arial" panose="020B0604020202020204" pitchFamily="34" charset="0"/>
              <a:buChar char="•"/>
            </a:pPr>
            <a:endParaRPr lang="en-IN" b="0" dirty="0" smtClean="0"/>
          </a:p>
        </p:txBody>
      </p:sp>
      <p:sp>
        <p:nvSpPr>
          <p:cNvPr id="4" name="Oval 3"/>
          <p:cNvSpPr/>
          <p:nvPr/>
        </p:nvSpPr>
        <p:spPr>
          <a:xfrm>
            <a:off x="3448050" y="2789972"/>
            <a:ext cx="914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smtClean="0"/>
              <a:t>Violates CS</a:t>
            </a:r>
            <a:endParaRPr lang="en-IN" sz="1000" dirty="0"/>
          </a:p>
        </p:txBody>
      </p:sp>
      <p:cxnSp>
        <p:nvCxnSpPr>
          <p:cNvPr id="6" name="Straight Arrow Connector 5"/>
          <p:cNvCxnSpPr/>
          <p:nvPr/>
        </p:nvCxnSpPr>
        <p:spPr>
          <a:xfrm>
            <a:off x="0" y="968375"/>
            <a:ext cx="5027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771650" y="521302"/>
            <a:ext cx="0" cy="1066800"/>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247650" y="1958975"/>
            <a:ext cx="4114800" cy="1200329"/>
          </a:xfrm>
          <a:prstGeom prst="rect">
            <a:avLst/>
          </a:prstGeom>
        </p:spPr>
        <p:txBody>
          <a:bodyPr wrap="square">
            <a:spAutoFit/>
          </a:bodyPr>
          <a:lstStyle/>
          <a:p>
            <a:pPr marL="171450" indent="-171450">
              <a:buFont typeface="Arial" panose="020B0604020202020204" pitchFamily="34" charset="0"/>
              <a:buChar char="•"/>
            </a:pPr>
            <a:r>
              <a:rPr lang="en-US" sz="1200" dirty="0" err="1" smtClean="0"/>
              <a:t>inCS</a:t>
            </a:r>
            <a:r>
              <a:rPr lang="en-US" sz="1200" dirty="0" smtClean="0"/>
              <a:t>[0] and </a:t>
            </a:r>
            <a:r>
              <a:rPr lang="en-US" sz="1200" dirty="0" err="1" smtClean="0"/>
              <a:t>inCS</a:t>
            </a:r>
            <a:r>
              <a:rPr lang="en-US" sz="1200" dirty="0" smtClean="0"/>
              <a:t>[1] are still initialized to 0.</a:t>
            </a:r>
          </a:p>
          <a:p>
            <a:pPr marL="171450" indent="-171450">
              <a:buFont typeface="Arial" panose="020B0604020202020204" pitchFamily="34" charset="0"/>
              <a:buChar char="•"/>
            </a:pPr>
            <a:endParaRPr lang="en-IN" sz="1200" dirty="0" smtClean="0"/>
          </a:p>
          <a:p>
            <a:pPr marL="171450" indent="-171450">
              <a:buFont typeface="Arial" panose="020B0604020202020204" pitchFamily="34" charset="0"/>
              <a:buChar char="•"/>
            </a:pPr>
            <a:r>
              <a:rPr lang="en-IN" sz="1200" dirty="0" smtClean="0"/>
              <a:t>Consider </a:t>
            </a:r>
            <a:r>
              <a:rPr lang="en-IN" sz="1200" dirty="0"/>
              <a:t>an interleaving where the switch happens after the first </a:t>
            </a:r>
            <a:r>
              <a:rPr lang="en-IN" sz="1200" dirty="0" smtClean="0"/>
              <a:t>instruction</a:t>
            </a:r>
            <a:endParaRPr lang="en-IN" sz="1200" dirty="0"/>
          </a:p>
          <a:p>
            <a:pPr marL="171450" indent="-171450">
              <a:buFont typeface="Arial" panose="020B0604020202020204" pitchFamily="34" charset="0"/>
              <a:buChar char="•"/>
            </a:pPr>
            <a:endParaRPr lang="en-IN" sz="1200" dirty="0"/>
          </a:p>
          <a:p>
            <a:pPr marL="171450" indent="-171450">
              <a:buFont typeface="Arial" panose="020B0604020202020204" pitchFamily="34" charset="0"/>
              <a:buChar char="•"/>
            </a:pPr>
            <a:r>
              <a:rPr lang="en-IN" sz="1200" dirty="0"/>
              <a:t>Both may enter </a:t>
            </a:r>
            <a:r>
              <a:rPr lang="en-IN" sz="1200" dirty="0" smtClean="0"/>
              <a:t>CS</a:t>
            </a:r>
            <a:endParaRPr lang="en-IN" sz="1200" dirty="0"/>
          </a:p>
        </p:txBody>
      </p:sp>
      <p:cxnSp>
        <p:nvCxnSpPr>
          <p:cNvPr id="10" name="Straight Arrow Connector 9"/>
          <p:cNvCxnSpPr/>
          <p:nvPr/>
        </p:nvCxnSpPr>
        <p:spPr>
          <a:xfrm flipV="1">
            <a:off x="1238250" y="815975"/>
            <a:ext cx="68580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704850" y="1196975"/>
            <a:ext cx="121920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619817" y="315037"/>
            <a:ext cx="328936" cy="261610"/>
          </a:xfrm>
          <a:prstGeom prst="rect">
            <a:avLst/>
          </a:prstGeom>
          <a:noFill/>
        </p:spPr>
        <p:txBody>
          <a:bodyPr wrap="none" rtlCol="0">
            <a:spAutoFit/>
          </a:bodyPr>
          <a:lstStyle/>
          <a:p>
            <a:r>
              <a:rPr lang="en-US" sz="1100" u="sng" dirty="0" smtClean="0"/>
              <a:t>P0</a:t>
            </a:r>
            <a:endParaRPr lang="en-IN" sz="1100" u="sng" dirty="0"/>
          </a:p>
        </p:txBody>
      </p:sp>
      <p:sp>
        <p:nvSpPr>
          <p:cNvPr id="11" name="TextBox 10"/>
          <p:cNvSpPr txBox="1"/>
          <p:nvPr/>
        </p:nvSpPr>
        <p:spPr>
          <a:xfrm>
            <a:off x="2076450" y="294603"/>
            <a:ext cx="328936" cy="261610"/>
          </a:xfrm>
          <a:prstGeom prst="rect">
            <a:avLst/>
          </a:prstGeom>
          <a:noFill/>
        </p:spPr>
        <p:txBody>
          <a:bodyPr wrap="none" rtlCol="0">
            <a:spAutoFit/>
          </a:bodyPr>
          <a:lstStyle/>
          <a:p>
            <a:r>
              <a:rPr lang="en-US" sz="1100" u="sng" dirty="0" smtClean="0"/>
              <a:t>P1</a:t>
            </a:r>
            <a:endParaRPr lang="en-IN" sz="1100" u="sng" dirty="0"/>
          </a:p>
        </p:txBody>
      </p:sp>
    </p:spTree>
    <p:extLst>
      <p:ext uri="{BB962C8B-B14F-4D97-AF65-F5344CB8AC3E}">
        <p14:creationId xmlns:p14="http://schemas.microsoft.com/office/powerpoint/2010/main" val="630704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IN" dirty="0" smtClean="0"/>
              <a:t>Strict Alternation</a:t>
            </a:r>
            <a:endParaRPr lang="en-IN" dirty="0"/>
          </a:p>
        </p:txBody>
      </p:sp>
      <p:sp>
        <p:nvSpPr>
          <p:cNvPr id="3" name="Text Placeholder 2"/>
          <p:cNvSpPr>
            <a:spLocks noGrp="1"/>
          </p:cNvSpPr>
          <p:nvPr>
            <p:ph type="body" idx="1"/>
          </p:nvPr>
        </p:nvSpPr>
        <p:spPr>
          <a:xfrm>
            <a:off x="95250" y="434975"/>
            <a:ext cx="4693794" cy="2923877"/>
          </a:xfrm>
        </p:spPr>
        <p:txBody>
          <a:bodyPr/>
          <a:lstStyle/>
          <a:p>
            <a:r>
              <a:rPr lang="en-IN" b="0" dirty="0" smtClean="0"/>
              <a:t>Announcing that a process wishes to enter CS and checking whether </a:t>
            </a:r>
          </a:p>
          <a:p>
            <a:r>
              <a:rPr lang="en-IN" b="0" dirty="0" smtClean="0"/>
              <a:t>other process is interested has some time gap in between</a:t>
            </a:r>
          </a:p>
          <a:p>
            <a:pPr marL="628650" lvl="1" indent="-171450">
              <a:buFont typeface="Arial" panose="020B0604020202020204" pitchFamily="34" charset="0"/>
              <a:buChar char="•"/>
            </a:pPr>
            <a:r>
              <a:rPr lang="en-IN" sz="1200" dirty="0"/>
              <a:t>Context switch happens in between</a:t>
            </a:r>
          </a:p>
          <a:p>
            <a:pPr marL="628650" lvl="1" indent="-171450">
              <a:buFont typeface="Arial" panose="020B0604020202020204" pitchFamily="34" charset="0"/>
              <a:buChar char="•"/>
            </a:pPr>
            <a:r>
              <a:rPr lang="en-IN" sz="1200" b="0" dirty="0" smtClean="0"/>
              <a:t>Whichever order this is done, some problem will happen if the interleaving is as discussed</a:t>
            </a:r>
          </a:p>
          <a:p>
            <a:endParaRPr lang="en-IN" dirty="0" smtClean="0"/>
          </a:p>
          <a:p>
            <a:r>
              <a:rPr lang="en-IN" dirty="0" smtClean="0"/>
              <a:t>Alternative: </a:t>
            </a:r>
          </a:p>
          <a:p>
            <a:r>
              <a:rPr lang="en-IN" b="0" dirty="0" smtClean="0"/>
              <a:t>keep a shared variable </a:t>
            </a:r>
            <a:r>
              <a:rPr lang="en-IN" dirty="0" smtClean="0"/>
              <a:t>turn </a:t>
            </a:r>
            <a:r>
              <a:rPr lang="en-IN" b="0" dirty="0" smtClean="0"/>
              <a:t>to indicate whose turn it is</a:t>
            </a:r>
          </a:p>
          <a:p>
            <a:r>
              <a:rPr lang="en-IN" b="0" dirty="0" smtClean="0"/>
              <a:t>Set turn to 0 / 1 initially arbitrarily</a:t>
            </a:r>
          </a:p>
          <a:p>
            <a:r>
              <a:rPr lang="en-IN" b="0" dirty="0" smtClean="0"/>
              <a:t>Alternate turns</a:t>
            </a:r>
          </a:p>
          <a:p>
            <a:endParaRPr lang="en-IN" b="0" dirty="0"/>
          </a:p>
          <a:p>
            <a:r>
              <a:rPr lang="en-IN" b="0" dirty="0" smtClean="0"/>
              <a:t>P</a:t>
            </a:r>
            <a:r>
              <a:rPr lang="en-IN" b="0" baseline="-25000" dirty="0" smtClean="0"/>
              <a:t>0</a:t>
            </a:r>
            <a:r>
              <a:rPr lang="en-IN" b="0" dirty="0" smtClean="0"/>
              <a:t>:	         P</a:t>
            </a:r>
            <a:r>
              <a:rPr lang="en-IN" b="0" baseline="-25000" dirty="0" smtClean="0"/>
              <a:t>1</a:t>
            </a:r>
            <a:r>
              <a:rPr lang="en-IN" b="0" dirty="0" smtClean="0"/>
              <a:t>: 	 	</a:t>
            </a:r>
            <a:endParaRPr lang="en-IN" b="0" dirty="0"/>
          </a:p>
          <a:p>
            <a:r>
              <a:rPr lang="en-IN" b="0" dirty="0" smtClean="0"/>
              <a:t>while (turn == 1);      while </a:t>
            </a:r>
            <a:r>
              <a:rPr lang="en-IN" b="0" dirty="0"/>
              <a:t>(turn == </a:t>
            </a:r>
            <a:r>
              <a:rPr lang="en-IN" b="0" dirty="0" smtClean="0"/>
              <a:t>0);</a:t>
            </a:r>
            <a:endParaRPr lang="en-IN" b="0" dirty="0"/>
          </a:p>
          <a:p>
            <a:r>
              <a:rPr lang="en-IN" b="0" dirty="0" smtClean="0"/>
              <a:t>S</a:t>
            </a:r>
            <a:r>
              <a:rPr lang="en-IN" b="0" baseline="-25000" dirty="0" smtClean="0"/>
              <a:t>0</a:t>
            </a:r>
            <a:r>
              <a:rPr lang="en-IN" b="0" dirty="0" smtClean="0"/>
              <a:t>;                            S</a:t>
            </a:r>
            <a:r>
              <a:rPr lang="en-IN" b="0" baseline="-25000" dirty="0" smtClean="0"/>
              <a:t>1</a:t>
            </a:r>
            <a:r>
              <a:rPr lang="en-IN" b="0" dirty="0" smtClean="0"/>
              <a:t>;                           </a:t>
            </a:r>
          </a:p>
          <a:p>
            <a:r>
              <a:rPr lang="en-IN" b="0" dirty="0" smtClean="0"/>
              <a:t>turn = 1;                    turn = 0;</a:t>
            </a:r>
          </a:p>
          <a:p>
            <a:endParaRPr lang="en-IN" b="0" dirty="0"/>
          </a:p>
          <a:p>
            <a:endParaRPr lang="en-IN" dirty="0"/>
          </a:p>
        </p:txBody>
      </p:sp>
      <p:cxnSp>
        <p:nvCxnSpPr>
          <p:cNvPr id="4" name="Straight Connector 3"/>
          <p:cNvCxnSpPr/>
          <p:nvPr/>
        </p:nvCxnSpPr>
        <p:spPr>
          <a:xfrm>
            <a:off x="1314450" y="2263775"/>
            <a:ext cx="0" cy="106680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371850" y="2111375"/>
            <a:ext cx="914400" cy="914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Connector 8"/>
          <p:cNvCxnSpPr/>
          <p:nvPr/>
        </p:nvCxnSpPr>
        <p:spPr>
          <a:xfrm>
            <a:off x="3371850" y="2492375"/>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371850" y="2416175"/>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371850" y="2720975"/>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371850" y="2568575"/>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448050" y="2416175"/>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524250" y="2416175"/>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600450" y="2416175"/>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676650" y="2416175"/>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752850" y="2416175"/>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3832401" y="2416175"/>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3905250" y="2416175"/>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3981450" y="2416175"/>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057650" y="2416175"/>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133850" y="2412904"/>
            <a:ext cx="0" cy="7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210050" y="2416175"/>
            <a:ext cx="0" cy="76200"/>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4249104" y="2281022"/>
            <a:ext cx="360996" cy="276999"/>
          </a:xfrm>
          <a:prstGeom prst="rect">
            <a:avLst/>
          </a:prstGeom>
          <a:noFill/>
        </p:spPr>
        <p:txBody>
          <a:bodyPr wrap="none" rtlCol="0">
            <a:spAutoFit/>
          </a:bodyPr>
          <a:lstStyle/>
          <a:p>
            <a:r>
              <a:rPr lang="en-US" sz="400" dirty="0" smtClean="0"/>
              <a:t>Original </a:t>
            </a:r>
          </a:p>
          <a:p>
            <a:r>
              <a:rPr lang="en-US" sz="400" dirty="0" smtClean="0"/>
              <a:t>Shared </a:t>
            </a:r>
          </a:p>
          <a:p>
            <a:r>
              <a:rPr lang="en-US" sz="400" dirty="0" smtClean="0"/>
              <a:t>memory</a:t>
            </a:r>
            <a:endParaRPr lang="en-IN" sz="400" dirty="0"/>
          </a:p>
        </p:txBody>
      </p:sp>
      <p:sp>
        <p:nvSpPr>
          <p:cNvPr id="28" name="TextBox 27"/>
          <p:cNvSpPr txBox="1"/>
          <p:nvPr/>
        </p:nvSpPr>
        <p:spPr>
          <a:xfrm>
            <a:off x="4303916" y="2066323"/>
            <a:ext cx="343364" cy="276999"/>
          </a:xfrm>
          <a:prstGeom prst="rect">
            <a:avLst/>
          </a:prstGeom>
          <a:noFill/>
        </p:spPr>
        <p:txBody>
          <a:bodyPr wrap="none" rtlCol="0">
            <a:spAutoFit/>
          </a:bodyPr>
          <a:lstStyle/>
          <a:p>
            <a:r>
              <a:rPr lang="en-US" sz="1200" b="1" dirty="0" smtClean="0"/>
              <a:t>P1</a:t>
            </a:r>
            <a:endParaRPr lang="en-IN" sz="1200" b="1" dirty="0"/>
          </a:p>
        </p:txBody>
      </p:sp>
      <p:sp>
        <p:nvSpPr>
          <p:cNvPr id="29" name="TextBox 28"/>
          <p:cNvSpPr txBox="1"/>
          <p:nvPr/>
        </p:nvSpPr>
        <p:spPr>
          <a:xfrm>
            <a:off x="4265134" y="2734876"/>
            <a:ext cx="344966" cy="276999"/>
          </a:xfrm>
          <a:prstGeom prst="rect">
            <a:avLst/>
          </a:prstGeom>
          <a:noFill/>
        </p:spPr>
        <p:txBody>
          <a:bodyPr wrap="none" rtlCol="0">
            <a:spAutoFit/>
          </a:bodyPr>
          <a:lstStyle/>
          <a:p>
            <a:r>
              <a:rPr lang="en-US" sz="1200" b="1" dirty="0" smtClean="0"/>
              <a:t>P2</a:t>
            </a:r>
            <a:endParaRPr lang="en-IN" sz="1200" b="1" dirty="0"/>
          </a:p>
        </p:txBody>
      </p:sp>
      <p:sp>
        <p:nvSpPr>
          <p:cNvPr id="30" name="TextBox 29"/>
          <p:cNvSpPr txBox="1"/>
          <p:nvPr/>
        </p:nvSpPr>
        <p:spPr>
          <a:xfrm>
            <a:off x="3596408" y="2413943"/>
            <a:ext cx="385042" cy="230832"/>
          </a:xfrm>
          <a:prstGeom prst="rect">
            <a:avLst/>
          </a:prstGeom>
          <a:noFill/>
        </p:spPr>
        <p:txBody>
          <a:bodyPr wrap="none" rtlCol="0">
            <a:spAutoFit/>
          </a:bodyPr>
          <a:lstStyle/>
          <a:p>
            <a:r>
              <a:rPr lang="en-IN" sz="900" dirty="0" smtClean="0"/>
              <a:t>turn</a:t>
            </a:r>
            <a:endParaRPr lang="en-IN" sz="900" dirty="0"/>
          </a:p>
        </p:txBody>
      </p:sp>
      <p:sp>
        <p:nvSpPr>
          <p:cNvPr id="31" name="TextBox 30"/>
          <p:cNvSpPr txBox="1"/>
          <p:nvPr/>
        </p:nvSpPr>
        <p:spPr>
          <a:xfrm>
            <a:off x="2881106" y="2451004"/>
            <a:ext cx="564578" cy="215444"/>
          </a:xfrm>
          <a:prstGeom prst="rect">
            <a:avLst/>
          </a:prstGeom>
          <a:noFill/>
        </p:spPr>
        <p:txBody>
          <a:bodyPr wrap="none" rtlCol="0">
            <a:spAutoFit/>
          </a:bodyPr>
          <a:lstStyle/>
          <a:p>
            <a:r>
              <a:rPr lang="en-US" sz="400" dirty="0" smtClean="0"/>
              <a:t>Additional shared </a:t>
            </a:r>
          </a:p>
          <a:p>
            <a:r>
              <a:rPr lang="en-US" sz="400" dirty="0" smtClean="0"/>
              <a:t>memory</a:t>
            </a:r>
            <a:endParaRPr lang="en-IN" sz="400" dirty="0"/>
          </a:p>
        </p:txBody>
      </p:sp>
    </p:spTree>
    <p:extLst>
      <p:ext uri="{BB962C8B-B14F-4D97-AF65-F5344CB8AC3E}">
        <p14:creationId xmlns:p14="http://schemas.microsoft.com/office/powerpoint/2010/main" val="98239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IN" dirty="0" smtClean="0"/>
              <a:t>Strict Alternation</a:t>
            </a:r>
            <a:endParaRPr lang="en-IN" dirty="0"/>
          </a:p>
        </p:txBody>
      </p:sp>
      <p:sp>
        <p:nvSpPr>
          <p:cNvPr id="3" name="Text Placeholder 2"/>
          <p:cNvSpPr>
            <a:spLocks noGrp="1"/>
          </p:cNvSpPr>
          <p:nvPr>
            <p:ph type="body" idx="1"/>
          </p:nvPr>
        </p:nvSpPr>
        <p:spPr>
          <a:xfrm>
            <a:off x="125856" y="521302"/>
            <a:ext cx="4693794" cy="3046988"/>
          </a:xfrm>
        </p:spPr>
        <p:txBody>
          <a:bodyPr/>
          <a:lstStyle/>
          <a:p>
            <a:r>
              <a:rPr lang="en-IN" b="0" dirty="0" smtClean="0"/>
              <a:t>Neither both enter CS, nor they both wait forever</a:t>
            </a:r>
          </a:p>
          <a:p>
            <a:endParaRPr lang="en-IN" b="0" dirty="0" smtClean="0"/>
          </a:p>
          <a:p>
            <a:r>
              <a:rPr lang="en-IN" b="0" dirty="0" smtClean="0"/>
              <a:t>Every time any process wishes to do CS, it has to execute the same</a:t>
            </a:r>
          </a:p>
          <a:p>
            <a:endParaRPr lang="en-IN" dirty="0" smtClean="0"/>
          </a:p>
          <a:p>
            <a:r>
              <a:rPr lang="en-IN" b="0" dirty="0" smtClean="0"/>
              <a:t>P</a:t>
            </a:r>
            <a:r>
              <a:rPr lang="en-IN" b="0" baseline="-25000" dirty="0" smtClean="0"/>
              <a:t>0</a:t>
            </a:r>
            <a:r>
              <a:rPr lang="en-IN" b="0" dirty="0" smtClean="0"/>
              <a:t>:	         P</a:t>
            </a:r>
            <a:r>
              <a:rPr lang="en-IN" b="0" baseline="-25000" dirty="0" smtClean="0"/>
              <a:t>1</a:t>
            </a:r>
            <a:r>
              <a:rPr lang="en-IN" b="0" dirty="0" smtClean="0"/>
              <a:t>: 	 	</a:t>
            </a:r>
            <a:endParaRPr lang="en-IN" b="0" dirty="0"/>
          </a:p>
          <a:p>
            <a:r>
              <a:rPr lang="en-IN" b="0" dirty="0" smtClean="0"/>
              <a:t>while (turn == 1);      while </a:t>
            </a:r>
            <a:r>
              <a:rPr lang="en-IN" b="0" dirty="0"/>
              <a:t>(turn == </a:t>
            </a:r>
            <a:r>
              <a:rPr lang="en-IN" b="0" dirty="0" smtClean="0"/>
              <a:t>0);</a:t>
            </a:r>
            <a:endParaRPr lang="en-IN" b="0" dirty="0"/>
          </a:p>
          <a:p>
            <a:r>
              <a:rPr lang="en-IN" b="0" dirty="0" smtClean="0"/>
              <a:t>S</a:t>
            </a:r>
            <a:r>
              <a:rPr lang="en-IN" b="0" baseline="-25000" dirty="0" smtClean="0"/>
              <a:t>0</a:t>
            </a:r>
            <a:r>
              <a:rPr lang="en-IN" b="0" dirty="0" smtClean="0"/>
              <a:t>;                             S</a:t>
            </a:r>
            <a:r>
              <a:rPr lang="en-IN" b="0" baseline="-25000" dirty="0" smtClean="0"/>
              <a:t>1</a:t>
            </a:r>
            <a:r>
              <a:rPr lang="en-IN" b="0" dirty="0" smtClean="0"/>
              <a:t>;                           </a:t>
            </a:r>
          </a:p>
          <a:p>
            <a:r>
              <a:rPr lang="en-IN" b="0" dirty="0" smtClean="0"/>
              <a:t>turn = 1;                    turn = 0;</a:t>
            </a:r>
          </a:p>
          <a:p>
            <a:r>
              <a:rPr lang="en-IN" b="0" dirty="0" smtClean="0"/>
              <a:t>..</a:t>
            </a:r>
          </a:p>
          <a:p>
            <a:r>
              <a:rPr lang="en-IN" b="0" dirty="0" smtClean="0"/>
              <a:t>..</a:t>
            </a:r>
          </a:p>
          <a:p>
            <a:r>
              <a:rPr lang="en-IN" b="0" dirty="0" smtClean="0"/>
              <a:t>while (turn == 1);</a:t>
            </a:r>
          </a:p>
          <a:p>
            <a:r>
              <a:rPr lang="en-IN" b="0" dirty="0"/>
              <a:t>S</a:t>
            </a:r>
            <a:r>
              <a:rPr lang="en-IN" b="0" baseline="-25000" dirty="0"/>
              <a:t>0</a:t>
            </a:r>
            <a:r>
              <a:rPr lang="en-IN" b="0" dirty="0"/>
              <a:t>; </a:t>
            </a:r>
          </a:p>
          <a:p>
            <a:r>
              <a:rPr lang="en-IN" b="0" dirty="0"/>
              <a:t>turn = 1;</a:t>
            </a:r>
          </a:p>
          <a:p>
            <a:endParaRPr lang="en-IN" dirty="0" smtClean="0"/>
          </a:p>
          <a:p>
            <a:pPr marL="171450" indent="-171450">
              <a:buFont typeface="Arial" panose="020B0604020202020204" pitchFamily="34" charset="0"/>
              <a:buChar char="•"/>
            </a:pPr>
            <a:r>
              <a:rPr lang="en-IN" b="0" dirty="0" smtClean="0"/>
              <a:t>Needs other process to execute once before P0 can do the second</a:t>
            </a:r>
          </a:p>
          <a:p>
            <a:pPr marL="171450" indent="-171450">
              <a:buFont typeface="Arial" panose="020B0604020202020204" pitchFamily="34" charset="0"/>
              <a:buChar char="•"/>
            </a:pPr>
            <a:r>
              <a:rPr lang="en-IN" b="0" dirty="0" smtClean="0"/>
              <a:t>Priority is difficult to implement</a:t>
            </a:r>
          </a:p>
          <a:p>
            <a:pPr marL="171450" indent="-171450">
              <a:buFont typeface="Arial" panose="020B0604020202020204" pitchFamily="34" charset="0"/>
              <a:buChar char="•"/>
            </a:pPr>
            <a:r>
              <a:rPr lang="en-IN" b="0" dirty="0" smtClean="0"/>
              <a:t>But it cannot execute second time unless P1 executes CS once</a:t>
            </a:r>
          </a:p>
          <a:p>
            <a:pPr marL="171450" indent="-171450">
              <a:buFont typeface="Arial" panose="020B0604020202020204" pitchFamily="34" charset="0"/>
              <a:buChar char="•"/>
            </a:pPr>
            <a:endParaRPr lang="en-IN" b="0" dirty="0"/>
          </a:p>
        </p:txBody>
      </p:sp>
      <p:cxnSp>
        <p:nvCxnSpPr>
          <p:cNvPr id="5" name="Straight Connector 4"/>
          <p:cNvCxnSpPr/>
          <p:nvPr/>
        </p:nvCxnSpPr>
        <p:spPr>
          <a:xfrm>
            <a:off x="1238250" y="1196975"/>
            <a:ext cx="0" cy="1524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9075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 y="71457"/>
            <a:ext cx="4419600" cy="215444"/>
          </a:xfrm>
        </p:spPr>
        <p:txBody>
          <a:bodyPr/>
          <a:lstStyle/>
          <a:p>
            <a:r>
              <a:rPr lang="en-IN" dirty="0"/>
              <a:t>Producer Consumer </a:t>
            </a:r>
            <a:r>
              <a:rPr lang="en-IN" dirty="0" smtClean="0"/>
              <a:t>problem</a:t>
            </a:r>
            <a:endParaRPr lang="en-IN" dirty="0"/>
          </a:p>
        </p:txBody>
      </p:sp>
      <p:sp>
        <p:nvSpPr>
          <p:cNvPr id="3" name="Text Placeholder 2"/>
          <p:cNvSpPr>
            <a:spLocks noGrp="1"/>
          </p:cNvSpPr>
          <p:nvPr>
            <p:ph type="body" idx="1"/>
          </p:nvPr>
        </p:nvSpPr>
        <p:spPr>
          <a:xfrm>
            <a:off x="30606" y="434975"/>
            <a:ext cx="4484244" cy="3385542"/>
          </a:xfrm>
        </p:spPr>
        <p:txBody>
          <a:bodyPr/>
          <a:lstStyle/>
          <a:p>
            <a:pPr marL="171450" indent="-171450">
              <a:buFont typeface="Arial" panose="020B0604020202020204" pitchFamily="34" charset="0"/>
              <a:buChar char="•"/>
            </a:pPr>
            <a:r>
              <a:rPr lang="en-IN" b="0" dirty="0" smtClean="0"/>
              <a:t>Producer </a:t>
            </a:r>
            <a:r>
              <a:rPr lang="en-IN" b="0" dirty="0"/>
              <a:t>can produce the </a:t>
            </a:r>
            <a:r>
              <a:rPr lang="en-IN" b="0" dirty="0" smtClean="0"/>
              <a:t>second </a:t>
            </a:r>
            <a:r>
              <a:rPr lang="en-IN" b="0" dirty="0"/>
              <a:t>element only when consumer consumes the first </a:t>
            </a:r>
            <a:r>
              <a:rPr lang="en-IN" b="0" dirty="0" smtClean="0"/>
              <a:t>element – defeats the purpose (</a:t>
            </a:r>
            <a:r>
              <a:rPr lang="en-IN" b="0" i="1" u="sng" dirty="0" smtClean="0"/>
              <a:t>n size array?</a:t>
            </a:r>
            <a:r>
              <a:rPr lang="en-IN" b="0" dirty="0" smtClean="0"/>
              <a:t>)</a:t>
            </a:r>
          </a:p>
          <a:p>
            <a:pPr marL="171450" indent="-171450">
              <a:buFont typeface="Arial" panose="020B0604020202020204" pitchFamily="34" charset="0"/>
              <a:buChar char="•"/>
            </a:pPr>
            <a:endParaRPr lang="en-IN" b="0" dirty="0"/>
          </a:p>
          <a:p>
            <a:pPr marL="171450" indent="-171450">
              <a:buFont typeface="Arial" panose="020B0604020202020204" pitchFamily="34" charset="0"/>
              <a:buChar char="•"/>
            </a:pPr>
            <a:r>
              <a:rPr lang="en-IN" b="0" dirty="0" smtClean="0"/>
              <a:t>Strict alternation is too strict for producer consumer problems</a:t>
            </a:r>
          </a:p>
          <a:p>
            <a:pPr marL="171450" indent="-171450">
              <a:buFont typeface="Arial" panose="020B0604020202020204" pitchFamily="34" charset="0"/>
              <a:buChar char="•"/>
            </a:pPr>
            <a:endParaRPr lang="en-IN" b="0" dirty="0"/>
          </a:p>
          <a:p>
            <a:pPr marL="171450" indent="-171450">
              <a:buFont typeface="Arial" panose="020B0604020202020204" pitchFamily="34" charset="0"/>
              <a:buChar char="•"/>
            </a:pPr>
            <a:r>
              <a:rPr lang="en-IN" b="0" dirty="0" smtClean="0"/>
              <a:t>The point of having an n-sized buffer is lost, which was initially kept to handle speed </a:t>
            </a:r>
            <a:r>
              <a:rPr lang="en-IN" b="0" dirty="0" err="1" smtClean="0"/>
              <a:t>mis</a:t>
            </a:r>
            <a:r>
              <a:rPr lang="en-IN" b="0" dirty="0" smtClean="0"/>
              <a:t>-matches between producer / consumer</a:t>
            </a:r>
          </a:p>
          <a:p>
            <a:pPr marL="171450" indent="-171450">
              <a:buFont typeface="Arial" panose="020B0604020202020204" pitchFamily="34" charset="0"/>
              <a:buChar char="•"/>
            </a:pPr>
            <a:endParaRPr lang="en-IN" b="0" dirty="0" smtClean="0"/>
          </a:p>
          <a:p>
            <a:pPr marL="171450" indent="-171450">
              <a:buFont typeface="Arial" panose="020B0604020202020204" pitchFamily="34" charset="0"/>
              <a:buChar char="•"/>
            </a:pPr>
            <a:r>
              <a:rPr lang="en-IN" b="0" dirty="0" smtClean="0"/>
              <a:t>A process may waste its quantum waiting entirely for others</a:t>
            </a:r>
          </a:p>
          <a:p>
            <a:pPr marL="628650" lvl="1" indent="-171450">
              <a:buFont typeface="Arial" panose="020B0604020202020204" pitchFamily="34" charset="0"/>
              <a:buChar char="•"/>
            </a:pPr>
            <a:r>
              <a:rPr lang="en-IN" sz="1100" dirty="0" smtClean="0"/>
              <a:t>With kernel support, it was possible not to schedule P1 on request from P0</a:t>
            </a:r>
          </a:p>
          <a:p>
            <a:pPr marL="628650" lvl="1" indent="-171450">
              <a:buFont typeface="Arial" panose="020B0604020202020204" pitchFamily="34" charset="0"/>
              <a:buChar char="•"/>
            </a:pPr>
            <a:r>
              <a:rPr lang="en-IN" sz="1100" b="0" dirty="0" smtClean="0"/>
              <a:t>As a user process without kernel support, P0 cannot ensure another process is not scheduled </a:t>
            </a:r>
          </a:p>
          <a:p>
            <a:pPr marL="628650" lvl="1" indent="-171450">
              <a:buFont typeface="Arial" panose="020B0604020202020204" pitchFamily="34" charset="0"/>
              <a:buChar char="•"/>
            </a:pPr>
            <a:r>
              <a:rPr lang="en-IN" sz="1100" dirty="0" smtClean="0"/>
              <a:t>Design it correctly</a:t>
            </a:r>
            <a:endParaRPr lang="en-IN" sz="1100" b="0" dirty="0" smtClean="0"/>
          </a:p>
          <a:p>
            <a:r>
              <a:rPr lang="en-IN" b="0" dirty="0" smtClean="0"/>
              <a:t> </a:t>
            </a:r>
          </a:p>
          <a:p>
            <a:pPr marL="171450" indent="-171450">
              <a:buFont typeface="Arial" panose="020B0604020202020204" pitchFamily="34" charset="0"/>
              <a:buChar char="•"/>
            </a:pPr>
            <a:r>
              <a:rPr lang="en-IN" dirty="0" smtClean="0"/>
              <a:t>Busy waiting</a:t>
            </a:r>
            <a:r>
              <a:rPr lang="en-IN" b="0" dirty="0" smtClean="0"/>
              <a:t> – not doing anything useful while using CPU cycles: </a:t>
            </a:r>
            <a:r>
              <a:rPr lang="en-IN" b="0" dirty="0" smtClean="0">
                <a:solidFill>
                  <a:srgbClr val="FF0000"/>
                </a:solidFill>
              </a:rPr>
              <a:t>CPU</a:t>
            </a:r>
            <a:r>
              <a:rPr lang="en-IN" b="0" dirty="0" smtClean="0"/>
              <a:t> is </a:t>
            </a:r>
            <a:r>
              <a:rPr lang="en-IN" b="0" dirty="0" smtClean="0">
                <a:solidFill>
                  <a:srgbClr val="FF0000"/>
                </a:solidFill>
              </a:rPr>
              <a:t>busy</a:t>
            </a:r>
            <a:r>
              <a:rPr lang="en-IN" b="0" dirty="0" smtClean="0"/>
              <a:t> but </a:t>
            </a:r>
            <a:r>
              <a:rPr lang="en-IN" b="0" dirty="0" smtClean="0">
                <a:solidFill>
                  <a:schemeClr val="accent1">
                    <a:lumMod val="75000"/>
                  </a:schemeClr>
                </a:solidFill>
              </a:rPr>
              <a:t>process</a:t>
            </a:r>
            <a:r>
              <a:rPr lang="en-IN" b="0" dirty="0" smtClean="0"/>
              <a:t> is </a:t>
            </a:r>
            <a:r>
              <a:rPr lang="en-IN" b="0" dirty="0" smtClean="0">
                <a:solidFill>
                  <a:schemeClr val="accent1">
                    <a:lumMod val="75000"/>
                  </a:schemeClr>
                </a:solidFill>
              </a:rPr>
              <a:t>waiting</a:t>
            </a:r>
            <a:endParaRPr lang="en-IN" b="0" dirty="0">
              <a:solidFill>
                <a:schemeClr val="accent1">
                  <a:lumMod val="75000"/>
                </a:schemeClr>
              </a:solidFill>
            </a:endParaRPr>
          </a:p>
          <a:p>
            <a:endParaRPr lang="en-IN" b="0" dirty="0"/>
          </a:p>
          <a:p>
            <a:endParaRPr lang="en-IN" dirty="0" smtClean="0"/>
          </a:p>
          <a:p>
            <a:endParaRPr lang="en-IN" dirty="0"/>
          </a:p>
        </p:txBody>
      </p:sp>
    </p:spTree>
    <p:extLst>
      <p:ext uri="{BB962C8B-B14F-4D97-AF65-F5344CB8AC3E}">
        <p14:creationId xmlns:p14="http://schemas.microsoft.com/office/powerpoint/2010/main" val="2676473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2113</TotalTime>
  <Words>1530</Words>
  <Application>Microsoft Office PowerPoint</Application>
  <PresentationFormat>Custom</PresentationFormat>
  <Paragraphs>308</Paragraphs>
  <Slides>18</Slides>
  <Notes>7</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Century</vt:lpstr>
      <vt:lpstr>Courier New</vt:lpstr>
      <vt:lpstr>Times New Roman</vt:lpstr>
      <vt:lpstr>Wingdings</vt:lpstr>
      <vt:lpstr>Office Theme</vt:lpstr>
      <vt:lpstr>PowerPoint Presentation</vt:lpstr>
      <vt:lpstr>Process Synchronization</vt:lpstr>
      <vt:lpstr>Example: Producer-consumer problem</vt:lpstr>
      <vt:lpstr>Producer-consumer implementation</vt:lpstr>
      <vt:lpstr>Producer-consumer implementation</vt:lpstr>
      <vt:lpstr>Race condition</vt:lpstr>
      <vt:lpstr>Race condition</vt:lpstr>
      <vt:lpstr>Race condition</vt:lpstr>
      <vt:lpstr>Assumed Model: The Instruction Pipeline</vt:lpstr>
      <vt:lpstr>Problems to ponder about</vt:lpstr>
      <vt:lpstr>Critical Section (CS)</vt:lpstr>
      <vt:lpstr>Without making any system calls to kernel</vt:lpstr>
      <vt:lpstr>Without making any system calls to kernel</vt:lpstr>
      <vt:lpstr>All is Well?</vt:lpstr>
      <vt:lpstr>Alternative: </vt:lpstr>
      <vt:lpstr>Strict Alternation</vt:lpstr>
      <vt:lpstr>Strict Alternation</vt:lpstr>
      <vt:lpstr>Producer Consumer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Synchronization</dc:title>
  <dc:creator>Mandar Mitra</dc:creator>
  <cp:lastModifiedBy>PC</cp:lastModifiedBy>
  <cp:revision>163</cp:revision>
  <dcterms:created xsi:type="dcterms:W3CDTF">2020-03-13T20:49:06Z</dcterms:created>
  <dcterms:modified xsi:type="dcterms:W3CDTF">2026-02-04T02:03:19Z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2017-04-14T00:00:00Z</vt:filetime>
  </property>
  <property fmtid="{D5CDD505-2E9C-101B-9397-08002B2CF9AE}" pid="3" name="LastSaved">
    <vt:filetime>2020-03-13T00:00:00Z</vt:filetime>
  </property>
</Properties>
</file>
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78" r:id="rId3"/>
    <p:sldId id="379" r:id="rId4"/>
    <p:sldId id="380" r:id="rId5"/>
    <p:sldId id="346" r:id="rId6"/>
    <p:sldId id="347" r:id="rId7"/>
    <p:sldId id="348" r:id="rId8"/>
    <p:sldId id="349" r:id="rId9"/>
    <p:sldId id="350" r:id="rId10"/>
    <p:sldId id="351" r:id="rId11"/>
    <p:sldId id="352" r:id="rId12"/>
    <p:sldId id="353" r:id="rId13"/>
    <p:sldId id="354" r:id="rId14"/>
    <p:sldId id="355" r:id="rId15"/>
    <p:sldId id="358" r:id="rId16"/>
    <p:sldId id="359" r:id="rId17"/>
    <p:sldId id="360" r:id="rId18"/>
    <p:sldId id="361" r:id="rId19"/>
    <p:sldId id="362" r:id="rId20"/>
    <p:sldId id="363" r:id="rId21"/>
    <p:sldId id="364" r:id="rId22"/>
    <p:sldId id="365" r:id="rId23"/>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p:cViewPr varScale="1">
        <p:scale>
          <a:sx n="210" d="100"/>
          <a:sy n="210" d="100"/>
        </p:scale>
        <p:origin x="1986" y="16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2577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917904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27175" y="433388"/>
            <a:ext cx="1555750" cy="1166812"/>
          </a:xfrm>
          <a:prstGeom prst="rect">
            <a:avLst/>
          </a:prstGeom>
          <a:noFill/>
          <a:ln w="12700">
            <a:solidFill>
              <a:prstClr val="black"/>
            </a:solidFill>
          </a:ln>
        </p:spPr>
      </p:sp>
      <p:sp>
        <p:nvSpPr>
          <p:cNvPr id="3" name="Notes Placeholder 2"/>
          <p:cNvSpPr>
            <a:spLocks noGrp="1"/>
          </p:cNvSpPr>
          <p:nvPr>
            <p:ph type="body" idx="1"/>
          </p:nvPr>
        </p:nvSpPr>
        <p:spPr>
          <a:xfrm>
            <a:off x="460375" y="1665288"/>
            <a:ext cx="3689350" cy="1363662"/>
          </a:xfrm>
          <a:prstGeom prst="rect">
            <a:avLst/>
          </a:prstGeom>
        </p:spPr>
        <p:txBody>
          <a:bodyPr/>
          <a:lstStyle/>
          <a:p>
            <a:endParaRPr lang="en-IN" dirty="0"/>
          </a:p>
        </p:txBody>
      </p:sp>
    </p:spTree>
    <p:extLst>
      <p:ext uri="{BB962C8B-B14F-4D97-AF65-F5344CB8AC3E}">
        <p14:creationId xmlns:p14="http://schemas.microsoft.com/office/powerpoint/2010/main" val="748723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3938456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637775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981881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1276105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69"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6" name="Holder 6"/>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4" name="Holder 4"/>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3" name="Holder 3"/>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4608195" cy="360045"/>
          </a:xfrm>
          <a:custGeom>
            <a:avLst/>
            <a:gdLst/>
            <a:ahLst/>
            <a:cxnLst/>
            <a:rect l="l" t="t" r="r" b="b"/>
            <a:pathLst>
              <a:path w="4608195" h="360045">
                <a:moveTo>
                  <a:pt x="0" y="360045"/>
                </a:moveTo>
                <a:lnTo>
                  <a:pt x="4607940" y="360045"/>
                </a:lnTo>
                <a:lnTo>
                  <a:pt x="4607940" y="0"/>
                </a:lnTo>
                <a:lnTo>
                  <a:pt x="0" y="0"/>
                </a:lnTo>
                <a:lnTo>
                  <a:pt x="0" y="360045"/>
                </a:lnTo>
              </a:path>
            </a:pathLst>
          </a:custGeom>
          <a:solidFill>
            <a:srgbClr val="337F7F"/>
          </a:solidFill>
        </p:spPr>
        <p:txBody>
          <a:bodyPr wrap="square" lIns="0" tIns="0" rIns="0" bIns="0" rtlCol="0"/>
          <a:lstStyle/>
          <a:p>
            <a:endParaRPr/>
          </a:p>
        </p:txBody>
      </p:sp>
      <p:sp>
        <p:nvSpPr>
          <p:cNvPr id="2" name="Holder 2"/>
          <p:cNvSpPr>
            <a:spLocks noGrp="1"/>
          </p:cNvSpPr>
          <p:nvPr>
            <p:ph type="title"/>
          </p:nvPr>
        </p:nvSpPr>
        <p:spPr>
          <a:xfrm>
            <a:off x="95250" y="71457"/>
            <a:ext cx="4419600" cy="207645"/>
          </a:xfrm>
          <a:prstGeom prst="rect">
            <a:avLst/>
          </a:prstGeom>
        </p:spPr>
        <p:txBody>
          <a:bodyPr wrap="square" lIns="0" tIns="0" rIns="0" bIns="0">
            <a:spAutoFit/>
          </a:bodyPr>
          <a:lstStyle>
            <a:lvl1pPr>
              <a:defRPr sz="1400" b="0" i="0">
                <a:solidFill>
                  <a:schemeClr val="bg1"/>
                </a:solidFill>
                <a:latin typeface="Arial"/>
                <a:cs typeface="Arial"/>
              </a:defRPr>
            </a:lvl1pPr>
          </a:lstStyle>
          <a:p>
            <a:endParaRPr/>
          </a:p>
        </p:txBody>
      </p:sp>
      <p:sp>
        <p:nvSpPr>
          <p:cNvPr id="3" name="Holder 3"/>
          <p:cNvSpPr>
            <a:spLocks noGrp="1"/>
          </p:cNvSpPr>
          <p:nvPr>
            <p:ph type="body" idx="1"/>
          </p:nvPr>
        </p:nvSpPr>
        <p:spPr>
          <a:xfrm>
            <a:off x="125856" y="521302"/>
            <a:ext cx="4358386" cy="2075814"/>
          </a:xfrm>
          <a:prstGeom prst="rect">
            <a:avLst/>
          </a:prstGeom>
        </p:spPr>
        <p:txBody>
          <a:bodyPr wrap="square" lIns="0" tIns="0" rIns="0" bIns="0">
            <a:spAutoFit/>
          </a:bodyPr>
          <a:lstStyle>
            <a:lvl1pPr>
              <a:defRPr sz="11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525780" y="3345157"/>
            <a:ext cx="484505" cy="92333"/>
          </a:xfrm>
          <a:prstGeom prst="rect">
            <a:avLst/>
          </a:prstGeom>
        </p:spPr>
        <p:txBody>
          <a:bodyPr wrap="square" lIns="0" tIns="0" rIns="0" bIns="0">
            <a:spAutoFit/>
          </a:bodyPr>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5" name="Holder 5"/>
          <p:cNvSpPr>
            <a:spLocks noGrp="1"/>
          </p:cNvSpPr>
          <p:nvPr>
            <p:ph type="dt" sz="half" idx="6"/>
          </p:nvPr>
        </p:nvSpPr>
        <p:spPr>
          <a:xfrm>
            <a:off x="1873630" y="3345157"/>
            <a:ext cx="861060" cy="101600"/>
          </a:xfrm>
          <a:prstGeom prst="rect">
            <a:avLst/>
          </a:prstGeom>
        </p:spPr>
        <p:txBody>
          <a:bodyPr wrap="square" lIns="0" tIns="0" rIns="0" bIns="0">
            <a:spAutoFit/>
          </a:bodyPr>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6" name="Holder 6"/>
          <p:cNvSpPr>
            <a:spLocks noGrp="1"/>
          </p:cNvSpPr>
          <p:nvPr>
            <p:ph type="sldNum" sz="quarter" idx="7"/>
          </p:nvPr>
        </p:nvSpPr>
        <p:spPr>
          <a:xfrm>
            <a:off x="4271009" y="3345157"/>
            <a:ext cx="270510" cy="101600"/>
          </a:xfrm>
          <a:prstGeom prst="rect">
            <a:avLst/>
          </a:prstGeom>
        </p:spPr>
        <p:txBody>
          <a:bodyPr wrap="square" lIns="0" tIns="0" rIns="0" bIns="0">
            <a:spAutoFit/>
          </a:bodyPr>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iming>
    <p:tnLst>
      <p:par>
        <p:cTn id="1" dur="indefinite" restart="never" nodeType="tmRoot"/>
      </p:par>
    </p:tnLst>
  </p:timing>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8556" y="1034161"/>
            <a:ext cx="4331335" cy="215444"/>
          </a:xfrm>
          <a:prstGeom prst="rect">
            <a:avLst/>
          </a:prstGeom>
          <a:solidFill>
            <a:srgbClr val="337F7F"/>
          </a:solidFill>
        </p:spPr>
        <p:txBody>
          <a:bodyPr vert="horz" wrap="square" lIns="0" tIns="0" rIns="0" bIns="0" rtlCol="0">
            <a:spAutoFit/>
          </a:bodyPr>
          <a:lstStyle/>
          <a:p>
            <a:pPr marL="1162685">
              <a:lnSpc>
                <a:spcPct val="100000"/>
              </a:lnSpc>
            </a:pPr>
            <a:r>
              <a:rPr sz="1400" spc="10" dirty="0">
                <a:solidFill>
                  <a:srgbClr val="FFFFFF"/>
                </a:solidFill>
                <a:latin typeface="Arial"/>
                <a:cs typeface="Arial"/>
              </a:rPr>
              <a:t>Process</a:t>
            </a:r>
            <a:r>
              <a:rPr sz="1400" spc="5" dirty="0">
                <a:solidFill>
                  <a:srgbClr val="FFFFFF"/>
                </a:solidFill>
                <a:latin typeface="Arial"/>
                <a:cs typeface="Arial"/>
              </a:rPr>
              <a:t> </a:t>
            </a:r>
            <a:r>
              <a:rPr sz="1400" spc="10" dirty="0" smtClean="0">
                <a:solidFill>
                  <a:srgbClr val="FFFFFF"/>
                </a:solidFill>
                <a:latin typeface="Arial"/>
                <a:cs typeface="Arial"/>
              </a:rPr>
              <a:t>Synchronization</a:t>
            </a:r>
            <a:r>
              <a:rPr lang="en-US" sz="1400" spc="10" dirty="0" smtClean="0">
                <a:solidFill>
                  <a:srgbClr val="FFFFFF"/>
                </a:solidFill>
                <a:latin typeface="Arial"/>
                <a:cs typeface="Arial"/>
              </a:rPr>
              <a:t>-3</a:t>
            </a:r>
            <a:endParaRPr sz="1400" dirty="0">
              <a:latin typeface="Arial"/>
              <a:cs typeface="Arial"/>
            </a:endParaRPr>
          </a:p>
        </p:txBody>
      </p:sp>
      <p:sp>
        <p:nvSpPr>
          <p:cNvPr id="4" name="object 4"/>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close/>
              </a:path>
            </a:pathLst>
          </a:custGeom>
          <a:solidFill>
            <a:srgbClr val="193F3F"/>
          </a:solidFill>
        </p:spPr>
        <p:txBody>
          <a:bodyPr wrap="square" lIns="0" tIns="0" rIns="0" bIns="0" rtlCol="0"/>
          <a:lstStyle/>
          <a:p>
            <a:endParaRPr/>
          </a:p>
        </p:txBody>
      </p:sp>
      <p:sp>
        <p:nvSpPr>
          <p:cNvPr id="5" name="object 5"/>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close/>
              </a:path>
            </a:pathLst>
          </a:custGeom>
          <a:solidFill>
            <a:srgbClr val="265F5F"/>
          </a:solidFill>
        </p:spPr>
        <p:txBody>
          <a:bodyPr wrap="square" lIns="0" tIns="0" rIns="0" bIns="0" rtlCol="0"/>
          <a:lstStyle/>
          <a:p>
            <a:endParaRPr/>
          </a:p>
        </p:txBody>
      </p:sp>
      <p:sp>
        <p:nvSpPr>
          <p:cNvPr id="6" name="object 6"/>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7" name="object 7"/>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67310">
              <a:lnSpc>
                <a:spcPct val="100000"/>
              </a:lnSpc>
            </a:pPr>
            <a:fld id="{81D60167-4931-47E6-BA6A-407CBD079E47}" type="slidenum">
              <a:rPr spc="-5" dirty="0"/>
              <a:t>1</a:t>
            </a:fld>
            <a:r>
              <a:rPr spc="-5" dirty="0"/>
              <a:t> / 28</a:t>
            </a:r>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Recall: Algorithm 3 for </a:t>
            </a:r>
            <a:r>
              <a:rPr lang="en-IN" smtClean="0"/>
              <a:t>2 processes</a:t>
            </a:r>
            <a:endParaRPr lang="en-IN" dirty="0"/>
          </a:p>
        </p:txBody>
      </p:sp>
      <p:sp>
        <p:nvSpPr>
          <p:cNvPr id="3" name="Text Placeholder 2"/>
          <p:cNvSpPr>
            <a:spLocks noGrp="1"/>
          </p:cNvSpPr>
          <p:nvPr>
            <p:ph type="body" idx="1"/>
          </p:nvPr>
        </p:nvSpPr>
        <p:spPr>
          <a:xfrm>
            <a:off x="76200" y="358775"/>
            <a:ext cx="6953250" cy="2353721"/>
          </a:xfrm>
        </p:spPr>
        <p:txBody>
          <a:bodyPr/>
          <a:lstStyle/>
          <a:p>
            <a:pPr marL="230504" marR="2473960" indent="-218440">
              <a:lnSpc>
                <a:spcPct val="102600"/>
              </a:lnSpc>
              <a:spcBef>
                <a:spcPts val="894"/>
              </a:spcBef>
            </a:pPr>
            <a:r>
              <a:rPr lang="en-IN" sz="800" b="0" spc="60" dirty="0" smtClean="0"/>
              <a:t>P0: S0;		     	P1: S1</a:t>
            </a:r>
          </a:p>
          <a:p>
            <a:pPr marL="230504" marR="2473960" indent="-218440">
              <a:lnSpc>
                <a:spcPct val="102600"/>
              </a:lnSpc>
              <a:spcBef>
                <a:spcPts val="894"/>
              </a:spcBef>
            </a:pPr>
            <a:r>
              <a:rPr lang="en-IN" sz="800" b="0" spc="60" dirty="0" err="1" smtClean="0"/>
              <a:t>inCS</a:t>
            </a:r>
            <a:r>
              <a:rPr lang="en-IN" sz="800" b="0" spc="60" dirty="0" smtClean="0"/>
              <a:t>[0] = 1;		    	 </a:t>
            </a:r>
            <a:r>
              <a:rPr lang="en-IN" sz="800" b="0" spc="60" dirty="0" err="1" smtClean="0"/>
              <a:t>inCS</a:t>
            </a:r>
            <a:r>
              <a:rPr lang="en-IN" sz="800" b="0" spc="60" dirty="0" smtClean="0"/>
              <a:t>[1] = 1;</a:t>
            </a:r>
          </a:p>
          <a:p>
            <a:pPr marL="230504" marR="2473960" indent="-218440">
              <a:lnSpc>
                <a:spcPct val="102600"/>
              </a:lnSpc>
              <a:spcBef>
                <a:spcPts val="894"/>
              </a:spcBef>
            </a:pPr>
            <a:r>
              <a:rPr lang="en-US" sz="800" b="0" spc="60" dirty="0" smtClean="0"/>
              <a:t>turn = 1;		    	 turn = 0;</a:t>
            </a:r>
            <a:endParaRPr lang="en-IN" sz="800" b="0" spc="60" dirty="0" smtClean="0"/>
          </a:p>
          <a:p>
            <a:pPr marL="230504" marR="2473960" indent="-218440">
              <a:lnSpc>
                <a:spcPct val="102600"/>
              </a:lnSpc>
              <a:spcBef>
                <a:spcPts val="894"/>
              </a:spcBef>
            </a:pPr>
            <a:r>
              <a:rPr lang="en-IN" sz="800" b="0" spc="60" dirty="0" smtClean="0"/>
              <a:t>while (</a:t>
            </a:r>
            <a:r>
              <a:rPr lang="en-IN" sz="800" b="0" spc="60" dirty="0" err="1" smtClean="0"/>
              <a:t>inCS</a:t>
            </a:r>
            <a:r>
              <a:rPr lang="en-IN" sz="800" b="0" spc="60" dirty="0" smtClean="0"/>
              <a:t>[1] == 1 &amp;&amp; turn == 1);      	while </a:t>
            </a:r>
            <a:r>
              <a:rPr lang="en-IN" sz="800" b="0" spc="60" dirty="0"/>
              <a:t>(</a:t>
            </a:r>
            <a:r>
              <a:rPr lang="en-IN" sz="800" b="0" spc="60" dirty="0" err="1" smtClean="0"/>
              <a:t>inCS</a:t>
            </a:r>
            <a:r>
              <a:rPr lang="en-IN" sz="800" b="0" spc="60" dirty="0" smtClean="0"/>
              <a:t>[0]==1 </a:t>
            </a:r>
            <a:r>
              <a:rPr lang="en-IN" sz="800" b="0" spc="60" dirty="0"/>
              <a:t>&amp;&amp; turn == </a:t>
            </a:r>
            <a:r>
              <a:rPr lang="en-IN" sz="800" b="0" spc="60" dirty="0" smtClean="0"/>
              <a:t>0);      </a:t>
            </a:r>
            <a:endParaRPr lang="en-IN" sz="800" b="0" spc="60" dirty="0"/>
          </a:p>
          <a:p>
            <a:pPr marL="230504" marR="2473960" indent="-218440">
              <a:lnSpc>
                <a:spcPct val="102600"/>
              </a:lnSpc>
              <a:spcBef>
                <a:spcPts val="894"/>
              </a:spcBef>
            </a:pPr>
            <a:r>
              <a:rPr lang="en-IN" sz="800" b="0" spc="60" dirty="0" smtClean="0"/>
              <a:t>S0;			     	S1;</a:t>
            </a:r>
          </a:p>
          <a:p>
            <a:r>
              <a:rPr lang="en-IN" sz="800" b="0" dirty="0" err="1" smtClean="0"/>
              <a:t>inCS</a:t>
            </a:r>
            <a:r>
              <a:rPr lang="en-IN" sz="800" b="0" dirty="0" smtClean="0"/>
              <a:t>[0] = 0; 		      	</a:t>
            </a:r>
            <a:r>
              <a:rPr lang="en-IN" sz="800" b="0" dirty="0" err="1" smtClean="0"/>
              <a:t>inCS</a:t>
            </a:r>
            <a:r>
              <a:rPr lang="en-IN" sz="800" b="0" dirty="0" smtClean="0"/>
              <a:t>[1] = 0;</a:t>
            </a:r>
          </a:p>
          <a:p>
            <a:endParaRPr lang="en-US" sz="800" b="0" dirty="0"/>
          </a:p>
          <a:p>
            <a:pPr marL="230504" marR="2473960" indent="-218440">
              <a:lnSpc>
                <a:spcPct val="102600"/>
              </a:lnSpc>
              <a:spcBef>
                <a:spcPts val="894"/>
              </a:spcBef>
            </a:pPr>
            <a:endParaRPr lang="en-IN" sz="800" b="0" dirty="0" smtClean="0"/>
          </a:p>
          <a:p>
            <a:endParaRPr lang="en-US" sz="1000" b="0" dirty="0" smtClean="0"/>
          </a:p>
          <a:p>
            <a:pPr marL="171450" indent="-171450">
              <a:buFont typeface="Arial" panose="020B0604020202020204" pitchFamily="34" charset="0"/>
              <a:buChar char="•"/>
            </a:pPr>
            <a:r>
              <a:rPr lang="en-US" sz="1000" b="0" dirty="0" err="1"/>
              <a:t>inCS</a:t>
            </a:r>
            <a:r>
              <a:rPr lang="en-US" sz="1000" b="0" dirty="0"/>
              <a:t>[0] and </a:t>
            </a:r>
            <a:r>
              <a:rPr lang="en-US" sz="1000" b="0" dirty="0" err="1"/>
              <a:t>inCS</a:t>
            </a:r>
            <a:r>
              <a:rPr lang="en-US" sz="1000" b="0" dirty="0"/>
              <a:t>[1] are initialized to 0</a:t>
            </a:r>
          </a:p>
          <a:p>
            <a:endParaRPr lang="en-IN" sz="1000" b="0" dirty="0"/>
          </a:p>
          <a:p>
            <a:endParaRPr lang="en-IN" sz="1000" b="0" dirty="0" smtClean="0"/>
          </a:p>
          <a:p>
            <a:endParaRPr lang="en-IN" sz="1000" b="0" dirty="0" smtClean="0"/>
          </a:p>
        </p:txBody>
      </p:sp>
      <p:cxnSp>
        <p:nvCxnSpPr>
          <p:cNvPr id="5" name="Straight Connector 4"/>
          <p:cNvCxnSpPr/>
          <p:nvPr/>
        </p:nvCxnSpPr>
        <p:spPr>
          <a:xfrm>
            <a:off x="2626085" y="413019"/>
            <a:ext cx="0" cy="1524000"/>
          </a:xfrm>
          <a:prstGeom prst="line">
            <a:avLst/>
          </a:prstGeom>
        </p:spPr>
        <p:style>
          <a:lnRef idx="1">
            <a:schemeClr val="accent1"/>
          </a:lnRef>
          <a:fillRef idx="0">
            <a:schemeClr val="accent1"/>
          </a:fillRef>
          <a:effectRef idx="0">
            <a:schemeClr val="accent1"/>
          </a:effectRef>
          <a:fontRef idx="minor">
            <a:schemeClr val="tx1"/>
          </a:fontRef>
        </p:style>
      </p:cxnSp>
      <p:sp>
        <p:nvSpPr>
          <p:cNvPr id="6" name="Right Brace 5"/>
          <p:cNvSpPr/>
          <p:nvPr/>
        </p:nvSpPr>
        <p:spPr>
          <a:xfrm>
            <a:off x="1847850" y="585961"/>
            <a:ext cx="228600" cy="61101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p:cNvSpPr txBox="1"/>
          <p:nvPr/>
        </p:nvSpPr>
        <p:spPr>
          <a:xfrm>
            <a:off x="1950538" y="716741"/>
            <a:ext cx="596638" cy="184666"/>
          </a:xfrm>
          <a:prstGeom prst="rect">
            <a:avLst/>
          </a:prstGeom>
          <a:noFill/>
        </p:spPr>
        <p:txBody>
          <a:bodyPr wrap="none" rtlCol="0">
            <a:spAutoFit/>
          </a:bodyPr>
          <a:lstStyle/>
          <a:p>
            <a:r>
              <a:rPr lang="en-IN" sz="600" dirty="0" smtClean="0"/>
              <a:t>Entry Section</a:t>
            </a:r>
            <a:endParaRPr lang="en-IN" sz="600" dirty="0"/>
          </a:p>
        </p:txBody>
      </p:sp>
      <p:sp>
        <p:nvSpPr>
          <p:cNvPr id="8" name="TextBox 7"/>
          <p:cNvSpPr txBox="1"/>
          <p:nvPr/>
        </p:nvSpPr>
        <p:spPr>
          <a:xfrm>
            <a:off x="628650" y="1425575"/>
            <a:ext cx="545342" cy="184666"/>
          </a:xfrm>
          <a:prstGeom prst="rect">
            <a:avLst/>
          </a:prstGeom>
          <a:noFill/>
        </p:spPr>
        <p:txBody>
          <a:bodyPr wrap="none" rtlCol="0">
            <a:spAutoFit/>
          </a:bodyPr>
          <a:lstStyle/>
          <a:p>
            <a:r>
              <a:rPr lang="en-IN" sz="600" dirty="0" smtClean="0"/>
              <a:t>Exit Section</a:t>
            </a:r>
            <a:endParaRPr lang="en-IN" sz="600" dirty="0"/>
          </a:p>
        </p:txBody>
      </p:sp>
      <p:sp>
        <p:nvSpPr>
          <p:cNvPr id="9" name="TextBox 8"/>
          <p:cNvSpPr txBox="1"/>
          <p:nvPr/>
        </p:nvSpPr>
        <p:spPr>
          <a:xfrm>
            <a:off x="2103541" y="1425575"/>
            <a:ext cx="545342" cy="184666"/>
          </a:xfrm>
          <a:prstGeom prst="rect">
            <a:avLst/>
          </a:prstGeom>
          <a:noFill/>
        </p:spPr>
        <p:txBody>
          <a:bodyPr wrap="none" rtlCol="0">
            <a:spAutoFit/>
          </a:bodyPr>
          <a:lstStyle/>
          <a:p>
            <a:r>
              <a:rPr lang="en-IN" sz="600" dirty="0" smtClean="0"/>
              <a:t>Exit Section</a:t>
            </a:r>
            <a:endParaRPr lang="en-IN" sz="600" dirty="0"/>
          </a:p>
        </p:txBody>
      </p:sp>
      <p:sp>
        <p:nvSpPr>
          <p:cNvPr id="4" name="Left Brace 3"/>
          <p:cNvSpPr/>
          <p:nvPr/>
        </p:nvSpPr>
        <p:spPr>
          <a:xfrm>
            <a:off x="2457450" y="585962"/>
            <a:ext cx="141544" cy="61101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9750055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50" y="71457"/>
            <a:ext cx="4419600" cy="215444"/>
          </a:xfrm>
          <a:prstGeom prst="rect">
            <a:avLst/>
          </a:prstGeom>
        </p:spPr>
        <p:txBody>
          <a:bodyPr vert="horz" wrap="square" lIns="0" tIns="0" rIns="0" bIns="0" rtlCol="0">
            <a:spAutoFit/>
          </a:bodyPr>
          <a:lstStyle/>
          <a:p>
            <a:pPr marL="12700">
              <a:lnSpc>
                <a:spcPct val="100000"/>
              </a:lnSpc>
            </a:pPr>
            <a:r>
              <a:rPr lang="en-IN" spc="15" dirty="0" smtClean="0"/>
              <a:t>Recall: </a:t>
            </a:r>
            <a:r>
              <a:rPr spc="15" dirty="0" smtClean="0"/>
              <a:t>Ba</a:t>
            </a:r>
            <a:r>
              <a:rPr spc="-20" dirty="0" smtClean="0"/>
              <a:t>k</a:t>
            </a:r>
            <a:r>
              <a:rPr spc="15" dirty="0" smtClean="0"/>
              <a:t>e</a:t>
            </a:r>
            <a:r>
              <a:rPr spc="45" dirty="0" smtClean="0"/>
              <a:t>r</a:t>
            </a:r>
            <a:r>
              <a:rPr spc="10" dirty="0" smtClean="0"/>
              <a:t>y</a:t>
            </a:r>
            <a:r>
              <a:rPr spc="5" dirty="0" smtClean="0"/>
              <a:t> </a:t>
            </a:r>
            <a:r>
              <a:rPr spc="10" dirty="0"/>
              <a:t>algo</a:t>
            </a:r>
            <a:r>
              <a:rPr spc="25" dirty="0"/>
              <a:t>r</a:t>
            </a:r>
            <a:r>
              <a:rPr spc="10" dirty="0"/>
              <a:t>ithm</a:t>
            </a:r>
          </a:p>
        </p:txBody>
      </p:sp>
      <p:sp>
        <p:nvSpPr>
          <p:cNvPr id="3" name="object 3"/>
          <p:cNvSpPr txBox="1"/>
          <p:nvPr/>
        </p:nvSpPr>
        <p:spPr>
          <a:xfrm>
            <a:off x="125856" y="659611"/>
            <a:ext cx="3851275" cy="1813830"/>
          </a:xfrm>
          <a:prstGeom prst="rect">
            <a:avLst/>
          </a:prstGeom>
        </p:spPr>
        <p:txBody>
          <a:bodyPr vert="horz" wrap="square" lIns="0" tIns="0" rIns="0" bIns="0" rtlCol="0">
            <a:spAutoFit/>
          </a:bodyPr>
          <a:lstStyle/>
          <a:p>
            <a:pPr marL="12700">
              <a:lnSpc>
                <a:spcPct val="100000"/>
              </a:lnSpc>
            </a:pPr>
            <a:r>
              <a:rPr lang="en-US" sz="900" spc="75" dirty="0" smtClean="0">
                <a:latin typeface="Times New Roman"/>
                <a:cs typeface="Times New Roman"/>
              </a:rPr>
              <a:t>     </a:t>
            </a:r>
            <a:r>
              <a:rPr sz="900" spc="75" dirty="0" smtClean="0">
                <a:latin typeface="Times New Roman"/>
                <a:cs typeface="Times New Roman"/>
              </a:rPr>
              <a:t>shared </a:t>
            </a:r>
            <a:r>
              <a:rPr sz="900" spc="15" dirty="0" smtClean="0">
                <a:latin typeface="Times New Roman"/>
                <a:cs typeface="Times New Roman"/>
              </a:rPr>
              <a:t> </a:t>
            </a:r>
            <a:r>
              <a:rPr sz="900" spc="80" dirty="0">
                <a:latin typeface="Times New Roman"/>
                <a:cs typeface="Times New Roman"/>
              </a:rPr>
              <a:t>char</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choosing[N]</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5" dirty="0">
                <a:latin typeface="Times New Roman"/>
                <a:cs typeface="Times New Roman"/>
              </a:rPr>
              <a:t>{0,</a:t>
            </a:r>
            <a:r>
              <a:rPr sz="900" dirty="0">
                <a:latin typeface="Times New Roman"/>
                <a:cs typeface="Times New Roman"/>
              </a:rPr>
              <a:t> </a:t>
            </a:r>
            <a:r>
              <a:rPr sz="900" spc="20" dirty="0">
                <a:latin typeface="Times New Roman"/>
                <a:cs typeface="Times New Roman"/>
              </a:rPr>
              <a:t> </a:t>
            </a:r>
            <a:r>
              <a:rPr sz="900" spc="2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0};</a:t>
            </a:r>
            <a:endParaRPr sz="900" dirty="0">
              <a:latin typeface="Times New Roman"/>
              <a:cs typeface="Times New Roman"/>
            </a:endParaRPr>
          </a:p>
          <a:p>
            <a:pPr marL="12700">
              <a:lnSpc>
                <a:spcPct val="100000"/>
              </a:lnSpc>
              <a:spcBef>
                <a:spcPts val="15"/>
              </a:spcBef>
            </a:pPr>
            <a:r>
              <a:rPr lang="en-US" sz="900" spc="75" dirty="0">
                <a:latin typeface="Times New Roman"/>
                <a:cs typeface="Times New Roman"/>
              </a:rPr>
              <a:t> </a:t>
            </a:r>
            <a:r>
              <a:rPr lang="en-US" sz="900" spc="75" dirty="0" smtClean="0">
                <a:latin typeface="Times New Roman"/>
                <a:cs typeface="Times New Roman"/>
              </a:rPr>
              <a:t>    </a:t>
            </a:r>
            <a:r>
              <a:rPr sz="900" spc="75" dirty="0" smtClean="0">
                <a:latin typeface="Times New Roman"/>
                <a:cs typeface="Times New Roman"/>
              </a:rPr>
              <a:t>shared </a:t>
            </a:r>
            <a:r>
              <a:rPr sz="900" spc="15" dirty="0" smtClean="0">
                <a:latin typeface="Times New Roman"/>
                <a:cs typeface="Times New Roman"/>
              </a:rPr>
              <a:t> </a:t>
            </a:r>
            <a:r>
              <a:rPr sz="900" spc="150" dirty="0">
                <a:latin typeface="Times New Roman"/>
                <a:cs typeface="Times New Roman"/>
              </a:rPr>
              <a:t>int</a:t>
            </a:r>
            <a:r>
              <a:rPr sz="900" dirty="0">
                <a:latin typeface="Times New Roman"/>
                <a:cs typeface="Times New Roman"/>
              </a:rPr>
              <a:t> </a:t>
            </a:r>
            <a:r>
              <a:rPr sz="900" spc="20" dirty="0">
                <a:latin typeface="Times New Roman"/>
                <a:cs typeface="Times New Roman"/>
              </a:rPr>
              <a:t> number[N]</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5" dirty="0">
                <a:latin typeface="Times New Roman"/>
                <a:cs typeface="Times New Roman"/>
              </a:rPr>
              <a:t>{0,</a:t>
            </a:r>
            <a:r>
              <a:rPr sz="900" dirty="0">
                <a:latin typeface="Times New Roman"/>
                <a:cs typeface="Times New Roman"/>
              </a:rPr>
              <a:t> </a:t>
            </a:r>
            <a:r>
              <a:rPr sz="900" spc="20" dirty="0">
                <a:latin typeface="Times New Roman"/>
                <a:cs typeface="Times New Roman"/>
              </a:rPr>
              <a:t> </a:t>
            </a:r>
            <a:r>
              <a:rPr sz="900" spc="2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0};</a:t>
            </a:r>
            <a:endParaRPr sz="900" dirty="0">
              <a:latin typeface="Times New Roman"/>
              <a:cs typeface="Times New Roman"/>
            </a:endParaRPr>
          </a:p>
          <a:p>
            <a:pPr marL="191770">
              <a:lnSpc>
                <a:spcPct val="100000"/>
              </a:lnSpc>
              <a:spcBef>
                <a:spcPts val="15"/>
              </a:spcBef>
            </a:pPr>
            <a:endParaRPr lang="en-US" sz="900" dirty="0">
              <a:latin typeface="Times New Roman"/>
              <a:cs typeface="Times New Roman"/>
            </a:endParaRPr>
          </a:p>
          <a:p>
            <a:pPr marL="191770">
              <a:lnSpc>
                <a:spcPct val="100000"/>
              </a:lnSpc>
              <a:spcBef>
                <a:spcPts val="15"/>
              </a:spcBef>
            </a:pPr>
            <a:r>
              <a:rPr sz="900" b="1" spc="95" dirty="0" smtClean="0">
                <a:solidFill>
                  <a:srgbClr val="FF0000"/>
                </a:solidFill>
                <a:effectLst>
                  <a:outerShdw blurRad="38100" dist="38100" dir="2700000" algn="tl">
                    <a:srgbClr val="000000">
                      <a:alpha val="43137"/>
                    </a:srgbClr>
                  </a:outerShdw>
                </a:effectLst>
                <a:latin typeface="Times New Roman"/>
                <a:cs typeface="Times New Roman"/>
              </a:rPr>
              <a:t>choosing[</a:t>
            </a:r>
            <a:r>
              <a:rPr sz="900" b="1" spc="95" dirty="0" err="1" smtClean="0">
                <a:solidFill>
                  <a:srgbClr val="FF0000"/>
                </a:solidFill>
                <a:effectLst>
                  <a:outerShdw blurRad="38100" dist="38100" dir="2700000" algn="tl">
                    <a:srgbClr val="000000">
                      <a:alpha val="43137"/>
                    </a:srgbClr>
                  </a:outerShdw>
                </a:effectLst>
                <a:latin typeface="Times New Roman"/>
                <a:cs typeface="Times New Roman"/>
              </a:rPr>
              <a:t>i</a:t>
            </a:r>
            <a:r>
              <a:rPr sz="900" b="1" spc="95" dirty="0">
                <a:solidFill>
                  <a:srgbClr val="FF0000"/>
                </a:solidFill>
                <a:effectLst>
                  <a:outerShdw blurRad="38100" dist="38100" dir="2700000" algn="tl">
                    <a:srgbClr val="000000">
                      <a:alpha val="43137"/>
                    </a:srgbClr>
                  </a:outerShdw>
                </a:effectLst>
                <a:latin typeface="Times New Roman"/>
                <a:cs typeface="Times New Roman"/>
              </a:rPr>
              <a:t>] </a:t>
            </a:r>
            <a:r>
              <a:rPr sz="900" b="1" spc="20" dirty="0">
                <a:solidFill>
                  <a:srgbClr val="FF0000"/>
                </a:solidFill>
                <a:effectLst>
                  <a:outerShdw blurRad="38100" dist="38100" dir="2700000" algn="tl">
                    <a:srgbClr val="000000">
                      <a:alpha val="43137"/>
                    </a:srgbClr>
                  </a:outerShdw>
                </a:effectLst>
                <a:latin typeface="Times New Roman"/>
                <a:cs typeface="Times New Roman"/>
              </a:rPr>
              <a:t> </a:t>
            </a:r>
            <a:r>
              <a:rPr sz="900" b="1" spc="-45" dirty="0">
                <a:solidFill>
                  <a:srgbClr val="FF0000"/>
                </a:solidFill>
                <a:effectLst>
                  <a:outerShdw blurRad="38100" dist="38100" dir="2700000" algn="tl">
                    <a:srgbClr val="000000">
                      <a:alpha val="43137"/>
                    </a:srgbClr>
                  </a:outerShdw>
                </a:effectLst>
                <a:latin typeface="Times New Roman"/>
                <a:cs typeface="Times New Roman"/>
              </a:rPr>
              <a:t>=</a:t>
            </a:r>
            <a:r>
              <a:rPr sz="900" b="1" dirty="0">
                <a:solidFill>
                  <a:srgbClr val="FF0000"/>
                </a:solidFill>
                <a:effectLst>
                  <a:outerShdw blurRad="38100" dist="38100" dir="2700000" algn="tl">
                    <a:srgbClr val="000000">
                      <a:alpha val="43137"/>
                    </a:srgbClr>
                  </a:outerShdw>
                </a:effectLst>
                <a:latin typeface="Times New Roman"/>
                <a:cs typeface="Times New Roman"/>
              </a:rPr>
              <a:t> </a:t>
            </a:r>
            <a:r>
              <a:rPr sz="900" b="1" spc="20" dirty="0">
                <a:solidFill>
                  <a:srgbClr val="FF0000"/>
                </a:solidFill>
                <a:effectLst>
                  <a:outerShdw blurRad="38100" dist="38100" dir="2700000" algn="tl">
                    <a:srgbClr val="000000">
                      <a:alpha val="43137"/>
                    </a:srgbClr>
                  </a:outerShdw>
                </a:effectLst>
                <a:latin typeface="Times New Roman"/>
                <a:cs typeface="Times New Roman"/>
              </a:rPr>
              <a:t> </a:t>
            </a:r>
            <a:r>
              <a:rPr sz="900" b="1" spc="114" dirty="0">
                <a:solidFill>
                  <a:srgbClr val="FF0000"/>
                </a:solidFill>
                <a:effectLst>
                  <a:outerShdw blurRad="38100" dist="38100" dir="2700000" algn="tl">
                    <a:srgbClr val="000000">
                      <a:alpha val="43137"/>
                    </a:srgbClr>
                  </a:outerShdw>
                </a:effectLst>
                <a:latin typeface="Times New Roman"/>
                <a:cs typeface="Times New Roman"/>
              </a:rPr>
              <a:t>1;</a:t>
            </a:r>
            <a:r>
              <a:rPr sz="900" b="1" dirty="0">
                <a:solidFill>
                  <a:srgbClr val="FF0000"/>
                </a:solidFill>
                <a:effectLst>
                  <a:outerShdw blurRad="38100" dist="38100" dir="2700000" algn="tl">
                    <a:srgbClr val="000000">
                      <a:alpha val="43137"/>
                    </a:srgbClr>
                  </a:outerShdw>
                </a:effectLst>
                <a:latin typeface="Times New Roman"/>
                <a:cs typeface="Times New Roman"/>
              </a:rPr>
              <a:t> </a:t>
            </a:r>
            <a:r>
              <a:rPr sz="900" b="1" spc="20" dirty="0">
                <a:solidFill>
                  <a:srgbClr val="FF0000"/>
                </a:solidFill>
                <a:effectLst>
                  <a:outerShdw blurRad="38100" dist="38100" dir="2700000" algn="tl">
                    <a:srgbClr val="000000">
                      <a:alpha val="43137"/>
                    </a:srgbClr>
                  </a:outerShdw>
                </a:effectLst>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dirty="0">
                <a:latin typeface="Times New Roman"/>
                <a:cs typeface="Times New Roman"/>
              </a:rPr>
              <a:t>why??</a:t>
            </a:r>
          </a:p>
          <a:p>
            <a:pPr marL="191770" marR="65405">
              <a:lnSpc>
                <a:spcPct val="101499"/>
              </a:lnSpc>
            </a:pPr>
            <a:r>
              <a:rPr sz="900" spc="65" dirty="0">
                <a:latin typeface="Times New Roman"/>
                <a:cs typeface="Times New Roman"/>
              </a:rPr>
              <a:t>number[i]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5" dirty="0">
                <a:latin typeface="Times New Roman"/>
                <a:cs typeface="Times New Roman"/>
              </a:rPr>
              <a:t>MAX(number[0],</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number[1],</a:t>
            </a:r>
            <a:r>
              <a:rPr sz="900" dirty="0">
                <a:latin typeface="Times New Roman"/>
                <a:cs typeface="Times New Roman"/>
              </a:rPr>
              <a:t> </a:t>
            </a:r>
            <a:r>
              <a:rPr sz="900" spc="20" dirty="0">
                <a:latin typeface="Times New Roman"/>
                <a:cs typeface="Times New Roman"/>
              </a:rPr>
              <a:t> </a:t>
            </a:r>
            <a:r>
              <a:rPr sz="900" spc="2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number[n-1])</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1;</a:t>
            </a:r>
            <a:r>
              <a:rPr sz="900" spc="75" dirty="0">
                <a:latin typeface="Times New Roman"/>
                <a:cs typeface="Times New Roman"/>
              </a:rPr>
              <a:t> </a:t>
            </a:r>
            <a:r>
              <a:rPr sz="900" b="1" spc="95" dirty="0">
                <a:solidFill>
                  <a:srgbClr val="FF0000"/>
                </a:solidFill>
                <a:effectLst>
                  <a:outerShdw blurRad="38100" dist="38100" dir="2700000" algn="tl">
                    <a:srgbClr val="000000">
                      <a:alpha val="43137"/>
                    </a:srgbClr>
                  </a:outerShdw>
                </a:effectLst>
                <a:latin typeface="Times New Roman"/>
                <a:cs typeface="Times New Roman"/>
              </a:rPr>
              <a:t>choosing[i]</a:t>
            </a:r>
            <a:r>
              <a:rPr sz="900" b="1" dirty="0">
                <a:solidFill>
                  <a:srgbClr val="FF0000"/>
                </a:solidFill>
                <a:effectLst>
                  <a:outerShdw blurRad="38100" dist="38100" dir="2700000" algn="tl">
                    <a:srgbClr val="000000">
                      <a:alpha val="43137"/>
                    </a:srgbClr>
                  </a:outerShdw>
                </a:effectLst>
                <a:latin typeface="Times New Roman"/>
                <a:cs typeface="Times New Roman"/>
              </a:rPr>
              <a:t> </a:t>
            </a:r>
            <a:r>
              <a:rPr sz="900" b="1" spc="20" dirty="0">
                <a:solidFill>
                  <a:srgbClr val="FF0000"/>
                </a:solidFill>
                <a:effectLst>
                  <a:outerShdw blurRad="38100" dist="38100" dir="2700000" algn="tl">
                    <a:srgbClr val="000000">
                      <a:alpha val="43137"/>
                    </a:srgbClr>
                  </a:outerShdw>
                </a:effectLst>
                <a:latin typeface="Times New Roman"/>
                <a:cs typeface="Times New Roman"/>
              </a:rPr>
              <a:t> </a:t>
            </a:r>
            <a:r>
              <a:rPr sz="900" b="1" spc="-45" dirty="0">
                <a:solidFill>
                  <a:srgbClr val="FF0000"/>
                </a:solidFill>
                <a:effectLst>
                  <a:outerShdw blurRad="38100" dist="38100" dir="2700000" algn="tl">
                    <a:srgbClr val="000000">
                      <a:alpha val="43137"/>
                    </a:srgbClr>
                  </a:outerShdw>
                </a:effectLst>
                <a:latin typeface="Times New Roman"/>
                <a:cs typeface="Times New Roman"/>
              </a:rPr>
              <a:t>=</a:t>
            </a:r>
            <a:r>
              <a:rPr sz="900" b="1" dirty="0">
                <a:solidFill>
                  <a:srgbClr val="FF0000"/>
                </a:solidFill>
                <a:effectLst>
                  <a:outerShdw blurRad="38100" dist="38100" dir="2700000" algn="tl">
                    <a:srgbClr val="000000">
                      <a:alpha val="43137"/>
                    </a:srgbClr>
                  </a:outerShdw>
                </a:effectLst>
                <a:latin typeface="Times New Roman"/>
                <a:cs typeface="Times New Roman"/>
              </a:rPr>
              <a:t> </a:t>
            </a:r>
            <a:r>
              <a:rPr sz="900" b="1" spc="20" dirty="0">
                <a:solidFill>
                  <a:srgbClr val="FF0000"/>
                </a:solidFill>
                <a:effectLst>
                  <a:outerShdw blurRad="38100" dist="38100" dir="2700000" algn="tl">
                    <a:srgbClr val="000000">
                      <a:alpha val="43137"/>
                    </a:srgbClr>
                  </a:outerShdw>
                </a:effectLst>
                <a:latin typeface="Times New Roman"/>
                <a:cs typeface="Times New Roman"/>
              </a:rPr>
              <a:t> </a:t>
            </a:r>
            <a:r>
              <a:rPr sz="900" b="1" spc="114" dirty="0">
                <a:solidFill>
                  <a:srgbClr val="FF0000"/>
                </a:solidFill>
                <a:effectLst>
                  <a:outerShdw blurRad="38100" dist="38100" dir="2700000" algn="tl">
                    <a:srgbClr val="000000">
                      <a:alpha val="43137"/>
                    </a:srgbClr>
                  </a:outerShdw>
                </a:effectLst>
                <a:latin typeface="Times New Roman"/>
                <a:cs typeface="Times New Roman"/>
              </a:rPr>
              <a:t>0;</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dirty="0">
                <a:latin typeface="Times New Roman"/>
                <a:cs typeface="Times New Roman"/>
              </a:rPr>
              <a:t>why??</a:t>
            </a:r>
          </a:p>
          <a:p>
            <a:pPr marL="430530" marR="2156460" indent="-239395">
              <a:lnSpc>
                <a:spcPct val="101499"/>
              </a:lnSpc>
            </a:pPr>
            <a:r>
              <a:rPr sz="900" spc="114" dirty="0">
                <a:latin typeface="Times New Roman"/>
                <a:cs typeface="Times New Roman"/>
              </a:rPr>
              <a:t>for </a:t>
            </a:r>
            <a:r>
              <a:rPr sz="900" spc="20" dirty="0">
                <a:latin typeface="Times New Roman"/>
                <a:cs typeface="Times New Roman"/>
              </a:rPr>
              <a:t> </a:t>
            </a:r>
            <a:r>
              <a:rPr sz="900" spc="195" dirty="0">
                <a:latin typeface="Times New Roman"/>
                <a:cs typeface="Times New Roman"/>
              </a:rPr>
              <a:t>(j</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0;</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j</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&lt;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r>
              <a:rPr sz="900" dirty="0">
                <a:latin typeface="Times New Roman"/>
                <a:cs typeface="Times New Roman"/>
              </a:rPr>
              <a:t> </a:t>
            </a:r>
            <a:r>
              <a:rPr sz="900" spc="20" dirty="0">
                <a:latin typeface="Times New Roman"/>
                <a:cs typeface="Times New Roman"/>
              </a:rPr>
              <a:t> </a:t>
            </a:r>
            <a:r>
              <a:rPr sz="900" spc="75" dirty="0">
                <a:latin typeface="Times New Roman"/>
                <a:cs typeface="Times New Roman"/>
              </a:rPr>
              <a:t>j++)</a:t>
            </a:r>
            <a:r>
              <a:rPr sz="900" dirty="0">
                <a:latin typeface="Times New Roman"/>
                <a:cs typeface="Times New Roman"/>
              </a:rPr>
              <a:t> </a:t>
            </a:r>
            <a:r>
              <a:rPr sz="900" spc="20" dirty="0">
                <a:latin typeface="Times New Roman"/>
                <a:cs typeface="Times New Roman"/>
              </a:rPr>
              <a:t> </a:t>
            </a:r>
            <a:r>
              <a:rPr sz="900" spc="30" dirty="0">
                <a:latin typeface="Times New Roman"/>
                <a:cs typeface="Times New Roman"/>
              </a:rPr>
              <a:t>{</a:t>
            </a:r>
            <a:r>
              <a:rPr sz="900" spc="15" dirty="0">
                <a:latin typeface="Times New Roman"/>
                <a:cs typeface="Times New Roman"/>
              </a:rPr>
              <a:t> </a:t>
            </a:r>
            <a:r>
              <a:rPr sz="900" b="1" spc="65" dirty="0">
                <a:solidFill>
                  <a:srgbClr val="FF0000"/>
                </a:solidFill>
                <a:effectLst>
                  <a:outerShdw blurRad="38100" dist="38100" dir="2700000" algn="tl">
                    <a:srgbClr val="000000">
                      <a:alpha val="43137"/>
                    </a:srgbClr>
                  </a:outerShdw>
                </a:effectLst>
                <a:latin typeface="Times New Roman"/>
                <a:cs typeface="Times New Roman"/>
              </a:rPr>
              <a:t>while</a:t>
            </a:r>
            <a:r>
              <a:rPr sz="900" b="1" dirty="0">
                <a:solidFill>
                  <a:srgbClr val="FF0000"/>
                </a:solidFill>
                <a:effectLst>
                  <a:outerShdw blurRad="38100" dist="38100" dir="2700000" algn="tl">
                    <a:srgbClr val="000000">
                      <a:alpha val="43137"/>
                    </a:srgbClr>
                  </a:outerShdw>
                </a:effectLst>
                <a:latin typeface="Times New Roman"/>
                <a:cs typeface="Times New Roman"/>
              </a:rPr>
              <a:t> </a:t>
            </a:r>
            <a:r>
              <a:rPr sz="900" b="1" spc="20" dirty="0">
                <a:solidFill>
                  <a:srgbClr val="FF0000"/>
                </a:solidFill>
                <a:effectLst>
                  <a:outerShdw blurRad="38100" dist="38100" dir="2700000" algn="tl">
                    <a:srgbClr val="000000">
                      <a:alpha val="43137"/>
                    </a:srgbClr>
                  </a:outerShdw>
                </a:effectLst>
                <a:latin typeface="Times New Roman"/>
                <a:cs typeface="Times New Roman"/>
              </a:rPr>
              <a:t> </a:t>
            </a:r>
            <a:r>
              <a:rPr sz="900" b="1" spc="105" dirty="0">
                <a:solidFill>
                  <a:srgbClr val="FF0000"/>
                </a:solidFill>
                <a:effectLst>
                  <a:outerShdw blurRad="38100" dist="38100" dir="2700000" algn="tl">
                    <a:srgbClr val="000000">
                      <a:alpha val="43137"/>
                    </a:srgbClr>
                  </a:outerShdw>
                </a:effectLst>
                <a:latin typeface="Times New Roman"/>
                <a:cs typeface="Times New Roman"/>
              </a:rPr>
              <a:t>(choosing[j])</a:t>
            </a:r>
            <a:r>
              <a:rPr sz="900" b="1" dirty="0">
                <a:solidFill>
                  <a:srgbClr val="FF0000"/>
                </a:solidFill>
                <a:effectLst>
                  <a:outerShdw blurRad="38100" dist="38100" dir="2700000" algn="tl">
                    <a:srgbClr val="000000">
                      <a:alpha val="43137"/>
                    </a:srgbClr>
                  </a:outerShdw>
                </a:effectLst>
                <a:latin typeface="Times New Roman"/>
                <a:cs typeface="Times New Roman"/>
              </a:rPr>
              <a:t> </a:t>
            </a:r>
            <a:r>
              <a:rPr sz="900" spc="220" dirty="0" smtClean="0">
                <a:latin typeface="Times New Roman"/>
                <a:cs typeface="Times New Roman"/>
              </a:rPr>
              <a:t>;</a:t>
            </a:r>
            <a:endParaRPr sz="900" dirty="0">
              <a:latin typeface="Times New Roman"/>
              <a:cs typeface="Times New Roman"/>
            </a:endParaRPr>
          </a:p>
          <a:p>
            <a:pPr marL="430530">
              <a:lnSpc>
                <a:spcPct val="100000"/>
              </a:lnSpc>
              <a:spcBef>
                <a:spcPts val="15"/>
              </a:spcBef>
            </a:pPr>
            <a:r>
              <a:rPr sz="900" spc="65" dirty="0">
                <a:latin typeface="Times New Roman"/>
                <a:cs typeface="Times New Roman"/>
              </a:rPr>
              <a:t>while </a:t>
            </a:r>
            <a:r>
              <a:rPr sz="900" spc="20" dirty="0">
                <a:latin typeface="Times New Roman"/>
                <a:cs typeface="Times New Roman"/>
              </a:rPr>
              <a:t> </a:t>
            </a:r>
            <a:r>
              <a:rPr sz="900" spc="85" dirty="0">
                <a:latin typeface="Times New Roman"/>
                <a:cs typeface="Times New Roman"/>
              </a:rPr>
              <a:t>((number[j]</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0)</a:t>
            </a:r>
            <a:r>
              <a:rPr sz="900" dirty="0">
                <a:latin typeface="Times New Roman"/>
                <a:cs typeface="Times New Roman"/>
              </a:rPr>
              <a:t> </a:t>
            </a:r>
            <a:r>
              <a:rPr sz="900" spc="15" dirty="0">
                <a:latin typeface="Times New Roman"/>
                <a:cs typeface="Times New Roman"/>
              </a:rPr>
              <a:t> </a:t>
            </a:r>
            <a:r>
              <a:rPr sz="900" spc="-235" dirty="0">
                <a:latin typeface="Times New Roman"/>
                <a:cs typeface="Times New Roman"/>
              </a:rPr>
              <a:t>&amp;&amp;</a:t>
            </a:r>
            <a:r>
              <a:rPr sz="900" dirty="0">
                <a:latin typeface="Times New Roman"/>
                <a:cs typeface="Times New Roman"/>
              </a:rPr>
              <a:t> </a:t>
            </a:r>
            <a:r>
              <a:rPr sz="900" spc="20" dirty="0">
                <a:latin typeface="Times New Roman"/>
                <a:cs typeface="Times New Roman"/>
              </a:rPr>
              <a:t> </a:t>
            </a:r>
            <a:r>
              <a:rPr sz="900" spc="105" dirty="0">
                <a:latin typeface="Times New Roman"/>
                <a:cs typeface="Times New Roman"/>
              </a:rPr>
              <a:t>(number[j],j</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&lt;</a:t>
            </a:r>
            <a:r>
              <a:rPr sz="900" dirty="0">
                <a:latin typeface="Times New Roman"/>
                <a:cs typeface="Times New Roman"/>
              </a:rPr>
              <a:t> </a:t>
            </a:r>
            <a:r>
              <a:rPr sz="900" spc="20" dirty="0">
                <a:latin typeface="Times New Roman"/>
                <a:cs typeface="Times New Roman"/>
              </a:rPr>
              <a:t> </a:t>
            </a:r>
            <a:r>
              <a:rPr sz="900" spc="105" dirty="0">
                <a:latin typeface="Times New Roman"/>
                <a:cs typeface="Times New Roman"/>
              </a:rPr>
              <a:t>number[i],i))</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endParaRPr sz="900" dirty="0">
              <a:latin typeface="Times New Roman"/>
              <a:cs typeface="Times New Roman"/>
            </a:endParaRPr>
          </a:p>
          <a:p>
            <a:pPr marL="191770">
              <a:lnSpc>
                <a:spcPct val="100000"/>
              </a:lnSpc>
              <a:spcBef>
                <a:spcPts val="15"/>
              </a:spcBef>
            </a:pPr>
            <a:r>
              <a:rPr sz="900" spc="30" dirty="0">
                <a:latin typeface="Times New Roman"/>
                <a:cs typeface="Times New Roman"/>
              </a:rPr>
              <a:t>}</a:t>
            </a:r>
            <a:endParaRPr sz="900" dirty="0">
              <a:latin typeface="Times New Roman"/>
              <a:cs typeface="Times New Roman"/>
            </a:endParaRPr>
          </a:p>
          <a:p>
            <a:pPr marL="191770" marR="2515235">
              <a:lnSpc>
                <a:spcPts val="1100"/>
              </a:lnSpc>
              <a:spcBef>
                <a:spcPts val="35"/>
              </a:spcBef>
            </a:pPr>
            <a:r>
              <a:rPr sz="900" spc="130" dirty="0">
                <a:latin typeface="Times New Roman"/>
                <a:cs typeface="Times New Roman"/>
              </a:rPr>
              <a:t>critical_section(); </a:t>
            </a:r>
            <a:r>
              <a:rPr sz="900" spc="65" dirty="0">
                <a:latin typeface="Times New Roman"/>
                <a:cs typeface="Times New Roman"/>
              </a:rPr>
              <a:t>number[i]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0;</a:t>
            </a:r>
            <a:r>
              <a:rPr sz="900" spc="75" dirty="0">
                <a:latin typeface="Times New Roman"/>
                <a:cs typeface="Times New Roman"/>
              </a:rPr>
              <a:t> </a:t>
            </a:r>
            <a:r>
              <a:rPr sz="900" spc="75" dirty="0" err="1" smtClean="0">
                <a:latin typeface="Times New Roman"/>
                <a:cs typeface="Times New Roman"/>
              </a:rPr>
              <a:t>remainder_section</a:t>
            </a:r>
            <a:endParaRPr sz="900" dirty="0">
              <a:latin typeface="Times New Roman"/>
              <a:cs typeface="Times New Roman"/>
            </a:endParaRPr>
          </a:p>
        </p:txBody>
      </p:sp>
      <p:sp>
        <p:nvSpPr>
          <p:cNvPr id="4" name="object 4"/>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close/>
              </a:path>
            </a:pathLst>
          </a:custGeom>
          <a:solidFill>
            <a:srgbClr val="193F3F"/>
          </a:solidFill>
        </p:spPr>
        <p:txBody>
          <a:bodyPr wrap="square" lIns="0" tIns="0" rIns="0" bIns="0" rtlCol="0"/>
          <a:lstStyle/>
          <a:p>
            <a:endParaRPr/>
          </a:p>
        </p:txBody>
      </p:sp>
      <p:sp>
        <p:nvSpPr>
          <p:cNvPr id="5" name="object 5"/>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close/>
              </a:path>
            </a:pathLst>
          </a:custGeom>
          <a:solidFill>
            <a:srgbClr val="265F5F"/>
          </a:solidFill>
        </p:spPr>
        <p:txBody>
          <a:bodyPr wrap="square" lIns="0" tIns="0" rIns="0" bIns="0" rtlCol="0"/>
          <a:lstStyle/>
          <a:p>
            <a:endParaRPr/>
          </a:p>
        </p:txBody>
      </p:sp>
      <p:sp>
        <p:nvSpPr>
          <p:cNvPr id="6" name="object 6"/>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7" name="object 7"/>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r>
              <a:rPr spc="-5" dirty="0"/>
              <a:t>13 / 28</a:t>
            </a:r>
          </a:p>
        </p:txBody>
      </p:sp>
    </p:spTree>
    <p:extLst>
      <p:ext uri="{BB962C8B-B14F-4D97-AF65-F5344CB8AC3E}">
        <p14:creationId xmlns:p14="http://schemas.microsoft.com/office/powerpoint/2010/main" val="3611611624"/>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50" y="71457"/>
            <a:ext cx="4419600" cy="215444"/>
          </a:xfrm>
          <a:prstGeom prst="rect">
            <a:avLst/>
          </a:prstGeom>
        </p:spPr>
        <p:txBody>
          <a:bodyPr vert="horz" wrap="square" lIns="0" tIns="0" rIns="0" bIns="0" rtlCol="0">
            <a:spAutoFit/>
          </a:bodyPr>
          <a:lstStyle/>
          <a:p>
            <a:pPr marL="12700">
              <a:lnSpc>
                <a:spcPct val="100000"/>
              </a:lnSpc>
            </a:pPr>
            <a:r>
              <a:rPr lang="en-IN" spc="15" dirty="0" smtClean="0"/>
              <a:t>Recall: </a:t>
            </a:r>
            <a:r>
              <a:rPr spc="15" dirty="0" smtClean="0"/>
              <a:t>Ba</a:t>
            </a:r>
            <a:r>
              <a:rPr spc="-20" dirty="0" smtClean="0"/>
              <a:t>k</a:t>
            </a:r>
            <a:r>
              <a:rPr spc="15" dirty="0" smtClean="0"/>
              <a:t>e</a:t>
            </a:r>
            <a:r>
              <a:rPr spc="45" dirty="0" smtClean="0"/>
              <a:t>r</a:t>
            </a:r>
            <a:r>
              <a:rPr spc="10" dirty="0" smtClean="0"/>
              <a:t>y</a:t>
            </a:r>
            <a:r>
              <a:rPr spc="5" dirty="0" smtClean="0"/>
              <a:t> </a:t>
            </a:r>
            <a:r>
              <a:rPr spc="10" dirty="0"/>
              <a:t>algo</a:t>
            </a:r>
            <a:r>
              <a:rPr spc="25" dirty="0"/>
              <a:t>r</a:t>
            </a:r>
            <a:r>
              <a:rPr spc="10" dirty="0"/>
              <a:t>ithm</a:t>
            </a:r>
          </a:p>
        </p:txBody>
      </p:sp>
      <p:sp>
        <p:nvSpPr>
          <p:cNvPr id="3" name="object 3"/>
          <p:cNvSpPr txBox="1"/>
          <p:nvPr/>
        </p:nvSpPr>
        <p:spPr>
          <a:xfrm>
            <a:off x="95250" y="862903"/>
            <a:ext cx="3851275" cy="1275221"/>
          </a:xfrm>
          <a:prstGeom prst="rect">
            <a:avLst/>
          </a:prstGeom>
        </p:spPr>
        <p:txBody>
          <a:bodyPr vert="horz" wrap="square" lIns="0" tIns="0" rIns="0" bIns="0" rtlCol="0">
            <a:spAutoFit/>
          </a:bodyPr>
          <a:lstStyle/>
          <a:p>
            <a:pPr>
              <a:lnSpc>
                <a:spcPct val="100000"/>
              </a:lnSpc>
              <a:spcBef>
                <a:spcPts val="18"/>
              </a:spcBef>
            </a:pPr>
            <a:endParaRPr sz="600" dirty="0">
              <a:latin typeface="Times New Roman"/>
              <a:cs typeface="Times New Roman"/>
            </a:endParaRPr>
          </a:p>
          <a:p>
            <a:pPr marL="12700">
              <a:lnSpc>
                <a:spcPct val="100000"/>
              </a:lnSpc>
            </a:pPr>
            <a:r>
              <a:rPr sz="500" spc="15" dirty="0">
                <a:latin typeface="Times New Roman"/>
                <a:cs typeface="Times New Roman"/>
              </a:rPr>
              <a:t>do  </a:t>
            </a:r>
            <a:r>
              <a:rPr sz="500" spc="30" dirty="0">
                <a:latin typeface="Times New Roman"/>
                <a:cs typeface="Times New Roman"/>
              </a:rPr>
              <a:t>{</a:t>
            </a:r>
            <a:endParaRPr sz="500" dirty="0">
              <a:latin typeface="Times New Roman"/>
              <a:cs typeface="Times New Roman"/>
            </a:endParaRPr>
          </a:p>
          <a:p>
            <a:pPr marL="191770">
              <a:lnSpc>
                <a:spcPct val="100000"/>
              </a:lnSpc>
              <a:spcBef>
                <a:spcPts val="15"/>
              </a:spcBef>
            </a:pPr>
            <a:r>
              <a:rPr sz="500" b="1" spc="95" dirty="0">
                <a:solidFill>
                  <a:srgbClr val="FF0000"/>
                </a:solidFill>
                <a:effectLst>
                  <a:outerShdw blurRad="38100" dist="38100" dir="2700000" algn="tl">
                    <a:srgbClr val="000000">
                      <a:alpha val="43137"/>
                    </a:srgbClr>
                  </a:outerShdw>
                </a:effectLst>
                <a:latin typeface="Times New Roman"/>
                <a:cs typeface="Times New Roman"/>
              </a:rPr>
              <a:t>choosing[i] </a:t>
            </a:r>
            <a:r>
              <a:rPr sz="500" b="1" spc="20" dirty="0">
                <a:solidFill>
                  <a:srgbClr val="FF0000"/>
                </a:solidFill>
                <a:effectLst>
                  <a:outerShdw blurRad="38100" dist="38100" dir="2700000" algn="tl">
                    <a:srgbClr val="000000">
                      <a:alpha val="43137"/>
                    </a:srgbClr>
                  </a:outerShdw>
                </a:effectLst>
                <a:latin typeface="Times New Roman"/>
                <a:cs typeface="Times New Roman"/>
              </a:rPr>
              <a:t> </a:t>
            </a:r>
            <a:r>
              <a:rPr sz="500" b="1" spc="-45" dirty="0">
                <a:solidFill>
                  <a:srgbClr val="FF0000"/>
                </a:solidFill>
                <a:effectLst>
                  <a:outerShdw blurRad="38100" dist="38100" dir="2700000" algn="tl">
                    <a:srgbClr val="000000">
                      <a:alpha val="43137"/>
                    </a:srgbClr>
                  </a:outerShdw>
                </a:effectLst>
                <a:latin typeface="Times New Roman"/>
                <a:cs typeface="Times New Roman"/>
              </a:rPr>
              <a:t>=</a:t>
            </a:r>
            <a:r>
              <a:rPr sz="500" b="1" dirty="0">
                <a:solidFill>
                  <a:srgbClr val="FF0000"/>
                </a:solidFill>
                <a:effectLst>
                  <a:outerShdw blurRad="38100" dist="38100" dir="2700000" algn="tl">
                    <a:srgbClr val="000000">
                      <a:alpha val="43137"/>
                    </a:srgbClr>
                  </a:outerShdw>
                </a:effectLst>
                <a:latin typeface="Times New Roman"/>
                <a:cs typeface="Times New Roman"/>
              </a:rPr>
              <a:t> </a:t>
            </a:r>
            <a:r>
              <a:rPr sz="500" b="1" spc="20" dirty="0">
                <a:solidFill>
                  <a:srgbClr val="FF0000"/>
                </a:solidFill>
                <a:effectLst>
                  <a:outerShdw blurRad="38100" dist="38100" dir="2700000" algn="tl">
                    <a:srgbClr val="000000">
                      <a:alpha val="43137"/>
                    </a:srgbClr>
                  </a:outerShdw>
                </a:effectLst>
                <a:latin typeface="Times New Roman"/>
                <a:cs typeface="Times New Roman"/>
              </a:rPr>
              <a:t> </a:t>
            </a:r>
            <a:r>
              <a:rPr sz="500" b="1" spc="114" dirty="0">
                <a:solidFill>
                  <a:srgbClr val="FF0000"/>
                </a:solidFill>
                <a:effectLst>
                  <a:outerShdw blurRad="38100" dist="38100" dir="2700000" algn="tl">
                    <a:srgbClr val="000000">
                      <a:alpha val="43137"/>
                    </a:srgbClr>
                  </a:outerShdw>
                </a:effectLst>
                <a:latin typeface="Times New Roman"/>
                <a:cs typeface="Times New Roman"/>
              </a:rPr>
              <a:t>1;</a:t>
            </a:r>
            <a:r>
              <a:rPr sz="500" b="1" dirty="0">
                <a:solidFill>
                  <a:srgbClr val="FF0000"/>
                </a:solidFill>
                <a:effectLst>
                  <a:outerShdw blurRad="38100" dist="38100" dir="2700000" algn="tl">
                    <a:srgbClr val="000000">
                      <a:alpha val="43137"/>
                    </a:srgbClr>
                  </a:outerShdw>
                </a:effectLst>
                <a:latin typeface="Times New Roman"/>
                <a:cs typeface="Times New Roman"/>
              </a:rPr>
              <a:t> </a:t>
            </a:r>
            <a:endParaRPr sz="500" dirty="0">
              <a:latin typeface="Times New Roman"/>
              <a:cs typeface="Times New Roman"/>
            </a:endParaRPr>
          </a:p>
          <a:p>
            <a:pPr marL="191770" marR="65405">
              <a:lnSpc>
                <a:spcPct val="101499"/>
              </a:lnSpc>
            </a:pPr>
            <a:r>
              <a:rPr sz="500" spc="65" dirty="0">
                <a:latin typeface="Times New Roman"/>
                <a:cs typeface="Times New Roman"/>
              </a:rPr>
              <a:t>number[i] </a:t>
            </a:r>
            <a:r>
              <a:rPr sz="500" spc="20" dirty="0">
                <a:latin typeface="Times New Roman"/>
                <a:cs typeface="Times New Roman"/>
              </a:rPr>
              <a:t> </a:t>
            </a:r>
            <a:r>
              <a:rPr sz="500" spc="-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5" dirty="0">
                <a:latin typeface="Times New Roman"/>
                <a:cs typeface="Times New Roman"/>
              </a:rPr>
              <a:t>MAX(number[0],</a:t>
            </a:r>
            <a:r>
              <a:rPr sz="500" dirty="0">
                <a:latin typeface="Times New Roman"/>
                <a:cs typeface="Times New Roman"/>
              </a:rPr>
              <a:t> </a:t>
            </a:r>
            <a:r>
              <a:rPr sz="500" spc="20" dirty="0">
                <a:latin typeface="Times New Roman"/>
                <a:cs typeface="Times New Roman"/>
              </a:rPr>
              <a:t> </a:t>
            </a:r>
            <a:r>
              <a:rPr sz="500" spc="60" dirty="0">
                <a:latin typeface="Times New Roman"/>
                <a:cs typeface="Times New Roman"/>
              </a:rPr>
              <a:t>number[1],</a:t>
            </a:r>
            <a:r>
              <a:rPr sz="500" dirty="0">
                <a:latin typeface="Times New Roman"/>
                <a:cs typeface="Times New Roman"/>
              </a:rPr>
              <a:t> </a:t>
            </a:r>
            <a:r>
              <a:rPr sz="500" spc="20" dirty="0">
                <a:latin typeface="Times New Roman"/>
                <a:cs typeface="Times New Roman"/>
              </a:rPr>
              <a:t> </a:t>
            </a:r>
            <a:r>
              <a:rPr sz="500" spc="2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60" dirty="0">
                <a:latin typeface="Times New Roman"/>
                <a:cs typeface="Times New Roman"/>
              </a:rPr>
              <a:t>number[n-1])</a:t>
            </a:r>
            <a:r>
              <a:rPr sz="500" dirty="0">
                <a:latin typeface="Times New Roman"/>
                <a:cs typeface="Times New Roman"/>
              </a:rPr>
              <a:t> </a:t>
            </a:r>
            <a:r>
              <a:rPr sz="500" spc="20" dirty="0">
                <a:latin typeface="Times New Roman"/>
                <a:cs typeface="Times New Roman"/>
              </a:rPr>
              <a:t> </a:t>
            </a:r>
            <a:r>
              <a:rPr sz="500" spc="-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114" dirty="0">
                <a:latin typeface="Times New Roman"/>
                <a:cs typeface="Times New Roman"/>
              </a:rPr>
              <a:t>1;</a:t>
            </a:r>
            <a:r>
              <a:rPr sz="500" spc="75" dirty="0">
                <a:latin typeface="Times New Roman"/>
                <a:cs typeface="Times New Roman"/>
              </a:rPr>
              <a:t> </a:t>
            </a:r>
            <a:endParaRPr lang="en-US" sz="500" spc="75" dirty="0" smtClean="0">
              <a:latin typeface="Times New Roman"/>
              <a:cs typeface="Times New Roman"/>
            </a:endParaRPr>
          </a:p>
          <a:p>
            <a:pPr marL="191770" marR="65405">
              <a:lnSpc>
                <a:spcPct val="101499"/>
              </a:lnSpc>
            </a:pPr>
            <a:r>
              <a:rPr sz="500" b="1" spc="95" dirty="0" smtClean="0">
                <a:solidFill>
                  <a:srgbClr val="FF0000"/>
                </a:solidFill>
                <a:effectLst>
                  <a:outerShdw blurRad="38100" dist="38100" dir="2700000" algn="tl">
                    <a:srgbClr val="000000">
                      <a:alpha val="43137"/>
                    </a:srgbClr>
                  </a:outerShdw>
                </a:effectLst>
                <a:latin typeface="Times New Roman"/>
                <a:cs typeface="Times New Roman"/>
              </a:rPr>
              <a:t>choosing[</a:t>
            </a:r>
            <a:r>
              <a:rPr sz="500" b="1" spc="95" dirty="0" err="1" smtClean="0">
                <a:solidFill>
                  <a:srgbClr val="FF0000"/>
                </a:solidFill>
                <a:effectLst>
                  <a:outerShdw blurRad="38100" dist="38100" dir="2700000" algn="tl">
                    <a:srgbClr val="000000">
                      <a:alpha val="43137"/>
                    </a:srgbClr>
                  </a:outerShdw>
                </a:effectLst>
                <a:latin typeface="Times New Roman"/>
                <a:cs typeface="Times New Roman"/>
              </a:rPr>
              <a:t>i</a:t>
            </a:r>
            <a:r>
              <a:rPr sz="500" b="1" spc="95" dirty="0">
                <a:solidFill>
                  <a:srgbClr val="FF0000"/>
                </a:solidFill>
                <a:effectLst>
                  <a:outerShdw blurRad="38100" dist="38100" dir="2700000" algn="tl">
                    <a:srgbClr val="000000">
                      <a:alpha val="43137"/>
                    </a:srgbClr>
                  </a:outerShdw>
                </a:effectLst>
                <a:latin typeface="Times New Roman"/>
                <a:cs typeface="Times New Roman"/>
              </a:rPr>
              <a:t>]</a:t>
            </a:r>
            <a:r>
              <a:rPr sz="500" b="1" dirty="0">
                <a:solidFill>
                  <a:srgbClr val="FF0000"/>
                </a:solidFill>
                <a:effectLst>
                  <a:outerShdw blurRad="38100" dist="38100" dir="2700000" algn="tl">
                    <a:srgbClr val="000000">
                      <a:alpha val="43137"/>
                    </a:srgbClr>
                  </a:outerShdw>
                </a:effectLst>
                <a:latin typeface="Times New Roman"/>
                <a:cs typeface="Times New Roman"/>
              </a:rPr>
              <a:t> </a:t>
            </a:r>
            <a:r>
              <a:rPr sz="500" b="1" spc="20" dirty="0">
                <a:solidFill>
                  <a:srgbClr val="FF0000"/>
                </a:solidFill>
                <a:effectLst>
                  <a:outerShdw blurRad="38100" dist="38100" dir="2700000" algn="tl">
                    <a:srgbClr val="000000">
                      <a:alpha val="43137"/>
                    </a:srgbClr>
                  </a:outerShdw>
                </a:effectLst>
                <a:latin typeface="Times New Roman"/>
                <a:cs typeface="Times New Roman"/>
              </a:rPr>
              <a:t> </a:t>
            </a:r>
            <a:r>
              <a:rPr sz="500" b="1" spc="-45" dirty="0">
                <a:solidFill>
                  <a:srgbClr val="FF0000"/>
                </a:solidFill>
                <a:effectLst>
                  <a:outerShdw blurRad="38100" dist="38100" dir="2700000" algn="tl">
                    <a:srgbClr val="000000">
                      <a:alpha val="43137"/>
                    </a:srgbClr>
                  </a:outerShdw>
                </a:effectLst>
                <a:latin typeface="Times New Roman"/>
                <a:cs typeface="Times New Roman"/>
              </a:rPr>
              <a:t>=</a:t>
            </a:r>
            <a:r>
              <a:rPr sz="500" b="1" dirty="0">
                <a:solidFill>
                  <a:srgbClr val="FF0000"/>
                </a:solidFill>
                <a:effectLst>
                  <a:outerShdw blurRad="38100" dist="38100" dir="2700000" algn="tl">
                    <a:srgbClr val="000000">
                      <a:alpha val="43137"/>
                    </a:srgbClr>
                  </a:outerShdw>
                </a:effectLst>
                <a:latin typeface="Times New Roman"/>
                <a:cs typeface="Times New Roman"/>
              </a:rPr>
              <a:t> </a:t>
            </a:r>
            <a:r>
              <a:rPr sz="500" b="1" spc="20" dirty="0">
                <a:solidFill>
                  <a:srgbClr val="FF0000"/>
                </a:solidFill>
                <a:effectLst>
                  <a:outerShdw blurRad="38100" dist="38100" dir="2700000" algn="tl">
                    <a:srgbClr val="000000">
                      <a:alpha val="43137"/>
                    </a:srgbClr>
                  </a:outerShdw>
                </a:effectLst>
                <a:latin typeface="Times New Roman"/>
                <a:cs typeface="Times New Roman"/>
              </a:rPr>
              <a:t> </a:t>
            </a:r>
            <a:r>
              <a:rPr sz="500" b="1" spc="114" dirty="0">
                <a:solidFill>
                  <a:srgbClr val="FF0000"/>
                </a:solidFill>
                <a:effectLst>
                  <a:outerShdw blurRad="38100" dist="38100" dir="2700000" algn="tl">
                    <a:srgbClr val="000000">
                      <a:alpha val="43137"/>
                    </a:srgbClr>
                  </a:outerShdw>
                </a:effectLst>
                <a:latin typeface="Times New Roman"/>
                <a:cs typeface="Times New Roman"/>
              </a:rPr>
              <a:t>0</a:t>
            </a:r>
            <a:r>
              <a:rPr sz="500" b="1" spc="114" dirty="0" smtClean="0">
                <a:solidFill>
                  <a:srgbClr val="FF0000"/>
                </a:solidFill>
                <a:effectLst>
                  <a:outerShdw blurRad="38100" dist="38100" dir="2700000" algn="tl">
                    <a:srgbClr val="000000">
                      <a:alpha val="43137"/>
                    </a:srgbClr>
                  </a:outerShdw>
                </a:effectLst>
                <a:latin typeface="Times New Roman"/>
                <a:cs typeface="Times New Roman"/>
              </a:rPr>
              <a:t>;</a:t>
            </a:r>
            <a:endParaRPr sz="500" dirty="0">
              <a:latin typeface="Times New Roman"/>
              <a:cs typeface="Times New Roman"/>
            </a:endParaRPr>
          </a:p>
          <a:p>
            <a:pPr marL="430530" marR="2156460" indent="-239395">
              <a:lnSpc>
                <a:spcPct val="101499"/>
              </a:lnSpc>
            </a:pPr>
            <a:r>
              <a:rPr sz="500" spc="114" dirty="0">
                <a:latin typeface="Times New Roman"/>
                <a:cs typeface="Times New Roman"/>
              </a:rPr>
              <a:t>for </a:t>
            </a:r>
            <a:r>
              <a:rPr sz="500" spc="20" dirty="0">
                <a:latin typeface="Times New Roman"/>
                <a:cs typeface="Times New Roman"/>
              </a:rPr>
              <a:t> </a:t>
            </a:r>
            <a:r>
              <a:rPr sz="500" spc="195" dirty="0" smtClean="0">
                <a:latin typeface="Times New Roman"/>
                <a:cs typeface="Times New Roman"/>
              </a:rPr>
              <a:t>(</a:t>
            </a:r>
            <a:r>
              <a:rPr lang="en-US" sz="500" spc="195" dirty="0" smtClean="0">
                <a:latin typeface="Times New Roman"/>
                <a:cs typeface="Times New Roman"/>
              </a:rPr>
              <a:t>m</a:t>
            </a:r>
            <a:r>
              <a:rPr sz="500" dirty="0" smtClean="0">
                <a:latin typeface="Times New Roman"/>
                <a:cs typeface="Times New Roman"/>
              </a:rPr>
              <a:t> </a:t>
            </a:r>
            <a:r>
              <a:rPr sz="500" spc="20" dirty="0" smtClean="0">
                <a:latin typeface="Times New Roman"/>
                <a:cs typeface="Times New Roman"/>
              </a:rPr>
              <a:t> </a:t>
            </a:r>
            <a:r>
              <a:rPr sz="500" spc="-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114" dirty="0">
                <a:latin typeface="Times New Roman"/>
                <a:cs typeface="Times New Roman"/>
              </a:rPr>
              <a:t>0;</a:t>
            </a:r>
            <a:r>
              <a:rPr sz="500" dirty="0">
                <a:latin typeface="Times New Roman"/>
                <a:cs typeface="Times New Roman"/>
              </a:rPr>
              <a:t> </a:t>
            </a:r>
            <a:r>
              <a:rPr sz="500" spc="20" dirty="0">
                <a:latin typeface="Times New Roman"/>
                <a:cs typeface="Times New Roman"/>
              </a:rPr>
              <a:t> </a:t>
            </a:r>
            <a:r>
              <a:rPr lang="en-US" sz="500" spc="220" dirty="0" smtClean="0">
                <a:latin typeface="Times New Roman"/>
                <a:cs typeface="Times New Roman"/>
              </a:rPr>
              <a:t>m</a:t>
            </a:r>
            <a:r>
              <a:rPr sz="500" dirty="0" smtClean="0">
                <a:latin typeface="Times New Roman"/>
                <a:cs typeface="Times New Roman"/>
              </a:rPr>
              <a:t> </a:t>
            </a:r>
            <a:r>
              <a:rPr sz="500" spc="20" dirty="0" smtClean="0">
                <a:latin typeface="Times New Roman"/>
                <a:cs typeface="Times New Roman"/>
              </a:rPr>
              <a:t> </a:t>
            </a:r>
            <a:r>
              <a:rPr sz="500" spc="-45" dirty="0">
                <a:latin typeface="Times New Roman"/>
                <a:cs typeface="Times New Roman"/>
              </a:rPr>
              <a:t>&lt;</a:t>
            </a:r>
            <a:r>
              <a:rPr sz="500" dirty="0">
                <a:latin typeface="Times New Roman"/>
                <a:cs typeface="Times New Roman"/>
              </a:rPr>
              <a:t> </a:t>
            </a:r>
            <a:r>
              <a:rPr sz="500" spc="20" dirty="0">
                <a:latin typeface="Times New Roman"/>
                <a:cs typeface="Times New Roman"/>
              </a:rPr>
              <a:t> </a:t>
            </a:r>
            <a:r>
              <a:rPr sz="500" spc="114" dirty="0">
                <a:latin typeface="Times New Roman"/>
                <a:cs typeface="Times New Roman"/>
              </a:rPr>
              <a:t>n;</a:t>
            </a:r>
            <a:r>
              <a:rPr sz="500" dirty="0">
                <a:latin typeface="Times New Roman"/>
                <a:cs typeface="Times New Roman"/>
              </a:rPr>
              <a:t> </a:t>
            </a:r>
            <a:r>
              <a:rPr sz="500" spc="20" dirty="0">
                <a:latin typeface="Times New Roman"/>
                <a:cs typeface="Times New Roman"/>
              </a:rPr>
              <a:t> </a:t>
            </a:r>
            <a:r>
              <a:rPr lang="en-US" sz="500" spc="75" dirty="0" smtClean="0">
                <a:latin typeface="Times New Roman"/>
                <a:cs typeface="Times New Roman"/>
              </a:rPr>
              <a:t>m</a:t>
            </a:r>
            <a:r>
              <a:rPr sz="500" spc="75" dirty="0" smtClean="0">
                <a:latin typeface="Times New Roman"/>
                <a:cs typeface="Times New Roman"/>
              </a:rPr>
              <a:t>++)</a:t>
            </a:r>
            <a:r>
              <a:rPr sz="500" dirty="0" smtClean="0">
                <a:latin typeface="Times New Roman"/>
                <a:cs typeface="Times New Roman"/>
              </a:rPr>
              <a:t> </a:t>
            </a:r>
            <a:r>
              <a:rPr sz="500" spc="20" dirty="0" smtClean="0">
                <a:latin typeface="Times New Roman"/>
                <a:cs typeface="Times New Roman"/>
              </a:rPr>
              <a:t> </a:t>
            </a:r>
            <a:r>
              <a:rPr sz="500" spc="30" dirty="0">
                <a:latin typeface="Times New Roman"/>
                <a:cs typeface="Times New Roman"/>
              </a:rPr>
              <a:t>{</a:t>
            </a:r>
            <a:r>
              <a:rPr sz="500" spc="15" dirty="0">
                <a:latin typeface="Times New Roman"/>
                <a:cs typeface="Times New Roman"/>
              </a:rPr>
              <a:t> </a:t>
            </a:r>
            <a:endParaRPr lang="en-US" sz="500" spc="15" dirty="0" smtClean="0">
              <a:latin typeface="Times New Roman"/>
              <a:cs typeface="Times New Roman"/>
            </a:endParaRPr>
          </a:p>
          <a:p>
            <a:pPr marL="430530" marR="2156460" indent="-239395">
              <a:lnSpc>
                <a:spcPct val="101499"/>
              </a:lnSpc>
            </a:pPr>
            <a:r>
              <a:rPr lang="en-US" sz="500" b="1" spc="15" dirty="0">
                <a:solidFill>
                  <a:srgbClr val="FF0000"/>
                </a:solidFill>
                <a:effectLst>
                  <a:outerShdw blurRad="38100" dist="38100" dir="2700000" algn="tl">
                    <a:srgbClr val="000000">
                      <a:alpha val="43137"/>
                    </a:srgbClr>
                  </a:outerShdw>
                </a:effectLst>
                <a:latin typeface="Times New Roman"/>
                <a:cs typeface="Times New Roman"/>
              </a:rPr>
              <a:t>	</a:t>
            </a:r>
            <a:r>
              <a:rPr sz="500" b="1" spc="65" dirty="0" smtClean="0">
                <a:solidFill>
                  <a:srgbClr val="FF0000"/>
                </a:solidFill>
                <a:effectLst>
                  <a:outerShdw blurRad="38100" dist="38100" dir="2700000" algn="tl">
                    <a:srgbClr val="000000">
                      <a:alpha val="43137"/>
                    </a:srgbClr>
                  </a:outerShdw>
                </a:effectLst>
                <a:latin typeface="Times New Roman"/>
                <a:cs typeface="Times New Roman"/>
              </a:rPr>
              <a:t>while</a:t>
            </a:r>
            <a:r>
              <a:rPr sz="500" b="1" dirty="0" smtClean="0">
                <a:solidFill>
                  <a:srgbClr val="FF0000"/>
                </a:solidFill>
                <a:effectLst>
                  <a:outerShdw blurRad="38100" dist="38100" dir="2700000" algn="tl">
                    <a:srgbClr val="000000">
                      <a:alpha val="43137"/>
                    </a:srgbClr>
                  </a:outerShdw>
                </a:effectLst>
                <a:latin typeface="Times New Roman"/>
                <a:cs typeface="Times New Roman"/>
              </a:rPr>
              <a:t> </a:t>
            </a:r>
            <a:r>
              <a:rPr sz="500" b="1" spc="20" dirty="0" smtClean="0">
                <a:solidFill>
                  <a:srgbClr val="FF0000"/>
                </a:solidFill>
                <a:effectLst>
                  <a:outerShdw blurRad="38100" dist="38100" dir="2700000" algn="tl">
                    <a:srgbClr val="000000">
                      <a:alpha val="43137"/>
                    </a:srgbClr>
                  </a:outerShdw>
                </a:effectLst>
                <a:latin typeface="Times New Roman"/>
                <a:cs typeface="Times New Roman"/>
              </a:rPr>
              <a:t> </a:t>
            </a:r>
            <a:r>
              <a:rPr sz="500" b="1" spc="105" dirty="0">
                <a:solidFill>
                  <a:srgbClr val="FF0000"/>
                </a:solidFill>
                <a:effectLst>
                  <a:outerShdw blurRad="38100" dist="38100" dir="2700000" algn="tl">
                    <a:srgbClr val="000000">
                      <a:alpha val="43137"/>
                    </a:srgbClr>
                  </a:outerShdw>
                </a:effectLst>
                <a:latin typeface="Times New Roman"/>
                <a:cs typeface="Times New Roman"/>
              </a:rPr>
              <a:t>(</a:t>
            </a:r>
            <a:r>
              <a:rPr sz="500" b="1" spc="105" dirty="0" smtClean="0">
                <a:solidFill>
                  <a:srgbClr val="FF0000"/>
                </a:solidFill>
                <a:effectLst>
                  <a:outerShdw blurRad="38100" dist="38100" dir="2700000" algn="tl">
                    <a:srgbClr val="000000">
                      <a:alpha val="43137"/>
                    </a:srgbClr>
                  </a:outerShdw>
                </a:effectLst>
                <a:latin typeface="Times New Roman"/>
                <a:cs typeface="Times New Roman"/>
              </a:rPr>
              <a:t>choosing[</a:t>
            </a:r>
            <a:r>
              <a:rPr lang="en-IN" sz="500" b="1" spc="105" smtClean="0">
                <a:solidFill>
                  <a:srgbClr val="FF0000"/>
                </a:solidFill>
                <a:effectLst>
                  <a:outerShdw blurRad="38100" dist="38100" dir="2700000" algn="tl">
                    <a:srgbClr val="000000">
                      <a:alpha val="43137"/>
                    </a:srgbClr>
                  </a:outerShdw>
                </a:effectLst>
                <a:latin typeface="Times New Roman"/>
                <a:cs typeface="Times New Roman"/>
              </a:rPr>
              <a:t>m</a:t>
            </a:r>
            <a:r>
              <a:rPr sz="500" b="1" spc="105" smtClean="0">
                <a:solidFill>
                  <a:srgbClr val="FF0000"/>
                </a:solidFill>
                <a:effectLst>
                  <a:outerShdw blurRad="38100" dist="38100" dir="2700000" algn="tl">
                    <a:srgbClr val="000000">
                      <a:alpha val="43137"/>
                    </a:srgbClr>
                  </a:outerShdw>
                </a:effectLst>
                <a:latin typeface="Times New Roman"/>
                <a:cs typeface="Times New Roman"/>
              </a:rPr>
              <a:t>])</a:t>
            </a:r>
            <a:r>
              <a:rPr sz="500" b="1" smtClean="0">
                <a:solidFill>
                  <a:srgbClr val="FF0000"/>
                </a:solidFill>
                <a:effectLst>
                  <a:outerShdw blurRad="38100" dist="38100" dir="2700000" algn="tl">
                    <a:srgbClr val="000000">
                      <a:alpha val="43137"/>
                    </a:srgbClr>
                  </a:outerShdw>
                </a:effectLst>
                <a:latin typeface="Times New Roman"/>
                <a:cs typeface="Times New Roman"/>
              </a:rPr>
              <a:t> </a:t>
            </a:r>
            <a:r>
              <a:rPr sz="500" spc="220" dirty="0" smtClean="0">
                <a:latin typeface="Times New Roman"/>
                <a:cs typeface="Times New Roman"/>
              </a:rPr>
              <a:t>;</a:t>
            </a:r>
            <a:endParaRPr sz="500" dirty="0">
              <a:latin typeface="Times New Roman"/>
              <a:cs typeface="Times New Roman"/>
            </a:endParaRPr>
          </a:p>
          <a:p>
            <a:pPr marL="430530">
              <a:lnSpc>
                <a:spcPct val="100000"/>
              </a:lnSpc>
              <a:spcBef>
                <a:spcPts val="15"/>
              </a:spcBef>
            </a:pPr>
            <a:r>
              <a:rPr sz="500" spc="65" dirty="0">
                <a:latin typeface="Times New Roman"/>
                <a:cs typeface="Times New Roman"/>
              </a:rPr>
              <a:t>while </a:t>
            </a:r>
            <a:r>
              <a:rPr sz="500" spc="20" dirty="0">
                <a:latin typeface="Times New Roman"/>
                <a:cs typeface="Times New Roman"/>
              </a:rPr>
              <a:t> </a:t>
            </a:r>
            <a:r>
              <a:rPr sz="500" spc="85" dirty="0">
                <a:latin typeface="Times New Roman"/>
                <a:cs typeface="Times New Roman"/>
              </a:rPr>
              <a:t>((</a:t>
            </a:r>
            <a:r>
              <a:rPr sz="500" spc="85" dirty="0" smtClean="0">
                <a:latin typeface="Times New Roman"/>
                <a:cs typeface="Times New Roman"/>
              </a:rPr>
              <a:t>number[</a:t>
            </a:r>
            <a:r>
              <a:rPr lang="en-US" sz="500" spc="85" dirty="0" smtClean="0">
                <a:latin typeface="Times New Roman"/>
                <a:cs typeface="Times New Roman"/>
              </a:rPr>
              <a:t>m</a:t>
            </a:r>
            <a:r>
              <a:rPr sz="500" spc="85" dirty="0" smtClean="0">
                <a:latin typeface="Times New Roman"/>
                <a:cs typeface="Times New Roman"/>
              </a:rPr>
              <a:t>]</a:t>
            </a:r>
            <a:r>
              <a:rPr sz="500" dirty="0" smtClean="0">
                <a:latin typeface="Times New Roman"/>
                <a:cs typeface="Times New Roman"/>
              </a:rPr>
              <a:t> </a:t>
            </a:r>
            <a:r>
              <a:rPr sz="500" spc="20" dirty="0" smtClean="0">
                <a:latin typeface="Times New Roman"/>
                <a:cs typeface="Times New Roman"/>
              </a:rPr>
              <a:t> </a:t>
            </a:r>
            <a:r>
              <a:rPr sz="500" spc="60"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90" dirty="0">
                <a:latin typeface="Times New Roman"/>
                <a:cs typeface="Times New Roman"/>
              </a:rPr>
              <a:t>0)</a:t>
            </a:r>
            <a:r>
              <a:rPr sz="500" dirty="0">
                <a:latin typeface="Times New Roman"/>
                <a:cs typeface="Times New Roman"/>
              </a:rPr>
              <a:t> </a:t>
            </a:r>
            <a:r>
              <a:rPr sz="500" spc="15" dirty="0">
                <a:latin typeface="Times New Roman"/>
                <a:cs typeface="Times New Roman"/>
              </a:rPr>
              <a:t> </a:t>
            </a:r>
            <a:r>
              <a:rPr sz="500" spc="-235" dirty="0">
                <a:latin typeface="Times New Roman"/>
                <a:cs typeface="Times New Roman"/>
              </a:rPr>
              <a:t>&amp;&amp;</a:t>
            </a:r>
            <a:r>
              <a:rPr sz="500" dirty="0">
                <a:latin typeface="Times New Roman"/>
                <a:cs typeface="Times New Roman"/>
              </a:rPr>
              <a:t> </a:t>
            </a:r>
            <a:r>
              <a:rPr sz="500" spc="20" dirty="0">
                <a:latin typeface="Times New Roman"/>
                <a:cs typeface="Times New Roman"/>
              </a:rPr>
              <a:t> </a:t>
            </a:r>
            <a:r>
              <a:rPr sz="500" spc="105" dirty="0">
                <a:latin typeface="Times New Roman"/>
                <a:cs typeface="Times New Roman"/>
              </a:rPr>
              <a:t>(</a:t>
            </a:r>
            <a:r>
              <a:rPr sz="500" spc="105" dirty="0" smtClean="0">
                <a:latin typeface="Times New Roman"/>
                <a:cs typeface="Times New Roman"/>
              </a:rPr>
              <a:t>number[</a:t>
            </a:r>
            <a:r>
              <a:rPr lang="en-US" sz="500" spc="105" dirty="0" smtClean="0">
                <a:latin typeface="Times New Roman"/>
                <a:cs typeface="Times New Roman"/>
              </a:rPr>
              <a:t>m</a:t>
            </a:r>
            <a:r>
              <a:rPr sz="500" spc="105" dirty="0" smtClean="0">
                <a:latin typeface="Times New Roman"/>
                <a:cs typeface="Times New Roman"/>
              </a:rPr>
              <a:t>],</a:t>
            </a:r>
            <a:r>
              <a:rPr lang="en-US" sz="500" spc="105" dirty="0" smtClean="0">
                <a:latin typeface="Times New Roman"/>
                <a:cs typeface="Times New Roman"/>
              </a:rPr>
              <a:t>m</a:t>
            </a:r>
            <a:r>
              <a:rPr sz="500" dirty="0" smtClean="0">
                <a:latin typeface="Times New Roman"/>
                <a:cs typeface="Times New Roman"/>
              </a:rPr>
              <a:t> </a:t>
            </a:r>
            <a:r>
              <a:rPr sz="500" spc="20" dirty="0" smtClean="0">
                <a:latin typeface="Times New Roman"/>
                <a:cs typeface="Times New Roman"/>
              </a:rPr>
              <a:t> </a:t>
            </a:r>
            <a:r>
              <a:rPr sz="500" spc="-45" dirty="0">
                <a:latin typeface="Times New Roman"/>
                <a:cs typeface="Times New Roman"/>
              </a:rPr>
              <a:t>&lt;</a:t>
            </a:r>
            <a:r>
              <a:rPr sz="500" dirty="0">
                <a:latin typeface="Times New Roman"/>
                <a:cs typeface="Times New Roman"/>
              </a:rPr>
              <a:t> </a:t>
            </a:r>
            <a:r>
              <a:rPr sz="500" spc="20" dirty="0">
                <a:latin typeface="Times New Roman"/>
                <a:cs typeface="Times New Roman"/>
              </a:rPr>
              <a:t> </a:t>
            </a:r>
            <a:r>
              <a:rPr sz="500" spc="105" dirty="0">
                <a:latin typeface="Times New Roman"/>
                <a:cs typeface="Times New Roman"/>
              </a:rPr>
              <a:t>number[i],i))</a:t>
            </a:r>
            <a:r>
              <a:rPr sz="500" dirty="0">
                <a:latin typeface="Times New Roman"/>
                <a:cs typeface="Times New Roman"/>
              </a:rPr>
              <a:t> </a:t>
            </a:r>
            <a:r>
              <a:rPr sz="500" spc="20" dirty="0">
                <a:latin typeface="Times New Roman"/>
                <a:cs typeface="Times New Roman"/>
              </a:rPr>
              <a:t> </a:t>
            </a:r>
            <a:r>
              <a:rPr sz="500" spc="220" dirty="0">
                <a:latin typeface="Times New Roman"/>
                <a:cs typeface="Times New Roman"/>
              </a:rPr>
              <a:t>;</a:t>
            </a:r>
            <a:endParaRPr sz="500" dirty="0">
              <a:latin typeface="Times New Roman"/>
              <a:cs typeface="Times New Roman"/>
            </a:endParaRPr>
          </a:p>
          <a:p>
            <a:pPr marL="191770">
              <a:lnSpc>
                <a:spcPct val="100000"/>
              </a:lnSpc>
              <a:spcBef>
                <a:spcPts val="15"/>
              </a:spcBef>
            </a:pPr>
            <a:r>
              <a:rPr sz="500" spc="30" dirty="0">
                <a:latin typeface="Times New Roman"/>
                <a:cs typeface="Times New Roman"/>
              </a:rPr>
              <a:t>}</a:t>
            </a:r>
            <a:endParaRPr sz="500" dirty="0">
              <a:latin typeface="Times New Roman"/>
              <a:cs typeface="Times New Roman"/>
            </a:endParaRPr>
          </a:p>
          <a:p>
            <a:pPr marL="191770" marR="2515235">
              <a:lnSpc>
                <a:spcPts val="1100"/>
              </a:lnSpc>
              <a:spcBef>
                <a:spcPts val="35"/>
              </a:spcBef>
            </a:pPr>
            <a:r>
              <a:rPr sz="500" spc="130" dirty="0">
                <a:latin typeface="Times New Roman"/>
                <a:cs typeface="Times New Roman"/>
              </a:rPr>
              <a:t>critical_section(); </a:t>
            </a:r>
            <a:endParaRPr lang="en-US" sz="500" spc="130" dirty="0" smtClean="0">
              <a:latin typeface="Times New Roman"/>
              <a:cs typeface="Times New Roman"/>
            </a:endParaRPr>
          </a:p>
          <a:p>
            <a:pPr marL="191770" marR="2515235">
              <a:lnSpc>
                <a:spcPts val="1100"/>
              </a:lnSpc>
              <a:spcBef>
                <a:spcPts val="35"/>
              </a:spcBef>
            </a:pPr>
            <a:r>
              <a:rPr sz="500" spc="65" dirty="0" smtClean="0">
                <a:latin typeface="Times New Roman"/>
                <a:cs typeface="Times New Roman"/>
              </a:rPr>
              <a:t>number[</a:t>
            </a:r>
            <a:r>
              <a:rPr sz="500" spc="65" dirty="0" err="1" smtClean="0">
                <a:latin typeface="Times New Roman"/>
                <a:cs typeface="Times New Roman"/>
              </a:rPr>
              <a:t>i</a:t>
            </a:r>
            <a:r>
              <a:rPr sz="500" spc="65" dirty="0">
                <a:latin typeface="Times New Roman"/>
                <a:cs typeface="Times New Roman"/>
              </a:rPr>
              <a:t>] </a:t>
            </a:r>
            <a:r>
              <a:rPr sz="500" spc="20" dirty="0">
                <a:latin typeface="Times New Roman"/>
                <a:cs typeface="Times New Roman"/>
              </a:rPr>
              <a:t> </a:t>
            </a:r>
            <a:r>
              <a:rPr sz="500" spc="-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114" dirty="0">
                <a:latin typeface="Times New Roman"/>
                <a:cs typeface="Times New Roman"/>
              </a:rPr>
              <a:t>0;</a:t>
            </a:r>
            <a:r>
              <a:rPr sz="500" spc="75" dirty="0">
                <a:latin typeface="Times New Roman"/>
                <a:cs typeface="Times New Roman"/>
              </a:rPr>
              <a:t> remainder_section</a:t>
            </a:r>
            <a:endParaRPr sz="500" dirty="0">
              <a:latin typeface="Times New Roman"/>
              <a:cs typeface="Times New Roman"/>
            </a:endParaRPr>
          </a:p>
          <a:p>
            <a:pPr marL="12700">
              <a:lnSpc>
                <a:spcPts val="1055"/>
              </a:lnSpc>
            </a:pPr>
            <a:r>
              <a:rPr sz="500" spc="30" dirty="0">
                <a:latin typeface="Times New Roman"/>
                <a:cs typeface="Times New Roman"/>
              </a:rPr>
              <a:t>} </a:t>
            </a:r>
            <a:r>
              <a:rPr sz="500" spc="15" dirty="0">
                <a:latin typeface="Times New Roman"/>
                <a:cs typeface="Times New Roman"/>
              </a:rPr>
              <a:t> </a:t>
            </a:r>
            <a:r>
              <a:rPr sz="500" spc="65" dirty="0">
                <a:latin typeface="Times New Roman"/>
                <a:cs typeface="Times New Roman"/>
              </a:rPr>
              <a:t>while</a:t>
            </a:r>
            <a:r>
              <a:rPr sz="500" dirty="0">
                <a:latin typeface="Times New Roman"/>
                <a:cs typeface="Times New Roman"/>
              </a:rPr>
              <a:t> </a:t>
            </a:r>
            <a:r>
              <a:rPr sz="500" spc="20" dirty="0">
                <a:latin typeface="Times New Roman"/>
                <a:cs typeface="Times New Roman"/>
              </a:rPr>
              <a:t> </a:t>
            </a:r>
            <a:r>
              <a:rPr sz="500" spc="140" dirty="0">
                <a:latin typeface="Times New Roman"/>
                <a:cs typeface="Times New Roman"/>
              </a:rPr>
              <a:t>(1);</a:t>
            </a:r>
            <a:endParaRPr sz="500" dirty="0">
              <a:latin typeface="Times New Roman"/>
              <a:cs typeface="Times New Roman"/>
            </a:endParaRPr>
          </a:p>
        </p:txBody>
      </p:sp>
      <p:sp>
        <p:nvSpPr>
          <p:cNvPr id="4" name="object 4"/>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close/>
              </a:path>
            </a:pathLst>
          </a:custGeom>
          <a:solidFill>
            <a:srgbClr val="193F3F"/>
          </a:solidFill>
        </p:spPr>
        <p:txBody>
          <a:bodyPr wrap="square" lIns="0" tIns="0" rIns="0" bIns="0" rtlCol="0"/>
          <a:lstStyle/>
          <a:p>
            <a:endParaRPr/>
          </a:p>
        </p:txBody>
      </p:sp>
      <p:sp>
        <p:nvSpPr>
          <p:cNvPr id="5" name="object 5"/>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close/>
              </a:path>
            </a:pathLst>
          </a:custGeom>
          <a:solidFill>
            <a:srgbClr val="265F5F"/>
          </a:solidFill>
        </p:spPr>
        <p:txBody>
          <a:bodyPr wrap="square" lIns="0" tIns="0" rIns="0" bIns="0" rtlCol="0"/>
          <a:lstStyle/>
          <a:p>
            <a:endParaRPr/>
          </a:p>
        </p:txBody>
      </p:sp>
      <p:sp>
        <p:nvSpPr>
          <p:cNvPr id="6" name="object 6"/>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7" name="object 7"/>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r>
              <a:rPr spc="-5" dirty="0"/>
              <a:t>13 / 28</a:t>
            </a:r>
          </a:p>
        </p:txBody>
      </p:sp>
      <p:sp>
        <p:nvSpPr>
          <p:cNvPr id="10" name="TextBox 9"/>
          <p:cNvSpPr txBox="1"/>
          <p:nvPr/>
        </p:nvSpPr>
        <p:spPr>
          <a:xfrm>
            <a:off x="24794" y="386627"/>
            <a:ext cx="2489464" cy="507831"/>
          </a:xfrm>
          <a:prstGeom prst="rect">
            <a:avLst/>
          </a:prstGeom>
          <a:noFill/>
        </p:spPr>
        <p:txBody>
          <a:bodyPr wrap="none" rtlCol="0">
            <a:spAutoFit/>
          </a:bodyPr>
          <a:lstStyle/>
          <a:p>
            <a:pPr marL="12700">
              <a:lnSpc>
                <a:spcPct val="100000"/>
              </a:lnSpc>
            </a:pPr>
            <a:r>
              <a:rPr lang="en-US" sz="900" spc="75" dirty="0">
                <a:latin typeface="Times New Roman"/>
                <a:cs typeface="Times New Roman"/>
              </a:rPr>
              <a:t>shared </a:t>
            </a:r>
            <a:r>
              <a:rPr lang="en-US" sz="900" spc="15" dirty="0">
                <a:latin typeface="Times New Roman"/>
                <a:cs typeface="Times New Roman"/>
              </a:rPr>
              <a:t> </a:t>
            </a:r>
            <a:r>
              <a:rPr lang="en-US" sz="900" spc="80" dirty="0">
                <a:latin typeface="Times New Roman"/>
                <a:cs typeface="Times New Roman"/>
              </a:rPr>
              <a:t>char</a:t>
            </a:r>
            <a:r>
              <a:rPr lang="en-US" sz="900" dirty="0">
                <a:latin typeface="Times New Roman"/>
                <a:cs typeface="Times New Roman"/>
              </a:rPr>
              <a:t> </a:t>
            </a:r>
            <a:r>
              <a:rPr lang="en-US" sz="900" spc="20" dirty="0">
                <a:latin typeface="Times New Roman"/>
                <a:cs typeface="Times New Roman"/>
              </a:rPr>
              <a:t> </a:t>
            </a:r>
            <a:r>
              <a:rPr lang="en-US" sz="900" spc="60" dirty="0">
                <a:latin typeface="Times New Roman"/>
                <a:cs typeface="Times New Roman"/>
              </a:rPr>
              <a:t>choosing[N]</a:t>
            </a:r>
            <a:r>
              <a:rPr lang="en-US" sz="900" dirty="0">
                <a:latin typeface="Times New Roman"/>
                <a:cs typeface="Times New Roman"/>
              </a:rPr>
              <a:t> </a:t>
            </a:r>
            <a:r>
              <a:rPr lang="en-US" sz="900" spc="20" dirty="0">
                <a:latin typeface="Times New Roman"/>
                <a:cs typeface="Times New Roman"/>
              </a:rPr>
              <a:t> </a:t>
            </a:r>
            <a:r>
              <a:rPr lang="en-US" sz="900" spc="-45" dirty="0">
                <a:latin typeface="Times New Roman"/>
                <a:cs typeface="Times New Roman"/>
              </a:rPr>
              <a:t>=</a:t>
            </a:r>
            <a:r>
              <a:rPr lang="en-US" sz="900" dirty="0">
                <a:latin typeface="Times New Roman"/>
                <a:cs typeface="Times New Roman"/>
              </a:rPr>
              <a:t> </a:t>
            </a:r>
            <a:r>
              <a:rPr lang="en-US" sz="900" spc="20" dirty="0">
                <a:latin typeface="Times New Roman"/>
                <a:cs typeface="Times New Roman"/>
              </a:rPr>
              <a:t> </a:t>
            </a:r>
            <a:r>
              <a:rPr lang="en-US" sz="900" spc="95" dirty="0">
                <a:latin typeface="Times New Roman"/>
                <a:cs typeface="Times New Roman"/>
              </a:rPr>
              <a:t>{0,</a:t>
            </a:r>
            <a:r>
              <a:rPr lang="en-US" sz="900" dirty="0">
                <a:latin typeface="Times New Roman"/>
                <a:cs typeface="Times New Roman"/>
              </a:rPr>
              <a:t> </a:t>
            </a:r>
            <a:r>
              <a:rPr lang="en-US" sz="900" spc="20" dirty="0">
                <a:latin typeface="Times New Roman"/>
                <a:cs typeface="Times New Roman"/>
              </a:rPr>
              <a:t> </a:t>
            </a:r>
            <a:r>
              <a:rPr lang="en-US" sz="900" spc="245" dirty="0">
                <a:latin typeface="Times New Roman"/>
                <a:cs typeface="Times New Roman"/>
              </a:rPr>
              <a:t>...,</a:t>
            </a:r>
            <a:r>
              <a:rPr lang="en-US" sz="900" dirty="0">
                <a:latin typeface="Times New Roman"/>
                <a:cs typeface="Times New Roman"/>
              </a:rPr>
              <a:t> </a:t>
            </a:r>
            <a:r>
              <a:rPr lang="en-US" sz="900" spc="20" dirty="0">
                <a:latin typeface="Times New Roman"/>
                <a:cs typeface="Times New Roman"/>
              </a:rPr>
              <a:t> </a:t>
            </a:r>
            <a:r>
              <a:rPr lang="en-US" sz="900" spc="90" dirty="0">
                <a:latin typeface="Times New Roman"/>
                <a:cs typeface="Times New Roman"/>
              </a:rPr>
              <a:t>0};</a:t>
            </a:r>
            <a:endParaRPr lang="en-US" sz="900" dirty="0">
              <a:latin typeface="Times New Roman"/>
              <a:cs typeface="Times New Roman"/>
            </a:endParaRPr>
          </a:p>
          <a:p>
            <a:pPr marL="12700">
              <a:lnSpc>
                <a:spcPct val="100000"/>
              </a:lnSpc>
              <a:spcBef>
                <a:spcPts val="15"/>
              </a:spcBef>
            </a:pPr>
            <a:r>
              <a:rPr lang="en-US" sz="900" spc="75" dirty="0">
                <a:latin typeface="Times New Roman"/>
                <a:cs typeface="Times New Roman"/>
              </a:rPr>
              <a:t>shared </a:t>
            </a:r>
            <a:r>
              <a:rPr lang="en-US" sz="900" spc="15" dirty="0">
                <a:latin typeface="Times New Roman"/>
                <a:cs typeface="Times New Roman"/>
              </a:rPr>
              <a:t> </a:t>
            </a:r>
            <a:r>
              <a:rPr lang="en-US" sz="900" spc="150" dirty="0" err="1">
                <a:latin typeface="Times New Roman"/>
                <a:cs typeface="Times New Roman"/>
              </a:rPr>
              <a:t>int</a:t>
            </a:r>
            <a:r>
              <a:rPr lang="en-US" sz="900" dirty="0">
                <a:latin typeface="Times New Roman"/>
                <a:cs typeface="Times New Roman"/>
              </a:rPr>
              <a:t> </a:t>
            </a:r>
            <a:r>
              <a:rPr lang="en-US" sz="900" spc="20" dirty="0">
                <a:latin typeface="Times New Roman"/>
                <a:cs typeface="Times New Roman"/>
              </a:rPr>
              <a:t> number[N]</a:t>
            </a:r>
            <a:r>
              <a:rPr lang="en-US" sz="900" dirty="0">
                <a:latin typeface="Times New Roman"/>
                <a:cs typeface="Times New Roman"/>
              </a:rPr>
              <a:t> </a:t>
            </a:r>
            <a:r>
              <a:rPr lang="en-US" sz="900" spc="20" dirty="0">
                <a:latin typeface="Times New Roman"/>
                <a:cs typeface="Times New Roman"/>
              </a:rPr>
              <a:t> </a:t>
            </a:r>
            <a:r>
              <a:rPr lang="en-US" sz="900" spc="-45" dirty="0">
                <a:latin typeface="Times New Roman"/>
                <a:cs typeface="Times New Roman"/>
              </a:rPr>
              <a:t>=</a:t>
            </a:r>
            <a:r>
              <a:rPr lang="en-US" sz="900" dirty="0">
                <a:latin typeface="Times New Roman"/>
                <a:cs typeface="Times New Roman"/>
              </a:rPr>
              <a:t> </a:t>
            </a:r>
            <a:r>
              <a:rPr lang="en-US" sz="900" spc="20" dirty="0">
                <a:latin typeface="Times New Roman"/>
                <a:cs typeface="Times New Roman"/>
              </a:rPr>
              <a:t> </a:t>
            </a:r>
            <a:r>
              <a:rPr lang="en-US" sz="900" spc="95" dirty="0">
                <a:latin typeface="Times New Roman"/>
                <a:cs typeface="Times New Roman"/>
              </a:rPr>
              <a:t>{0,</a:t>
            </a:r>
            <a:r>
              <a:rPr lang="en-US" sz="900" dirty="0">
                <a:latin typeface="Times New Roman"/>
                <a:cs typeface="Times New Roman"/>
              </a:rPr>
              <a:t> </a:t>
            </a:r>
            <a:r>
              <a:rPr lang="en-US" sz="900" spc="20" dirty="0">
                <a:latin typeface="Times New Roman"/>
                <a:cs typeface="Times New Roman"/>
              </a:rPr>
              <a:t> </a:t>
            </a:r>
            <a:r>
              <a:rPr lang="en-US" sz="900" spc="245" dirty="0">
                <a:latin typeface="Times New Roman"/>
                <a:cs typeface="Times New Roman"/>
              </a:rPr>
              <a:t>...,</a:t>
            </a:r>
            <a:r>
              <a:rPr lang="en-US" sz="900" dirty="0">
                <a:latin typeface="Times New Roman"/>
                <a:cs typeface="Times New Roman"/>
              </a:rPr>
              <a:t> </a:t>
            </a:r>
            <a:r>
              <a:rPr lang="en-US" sz="900" spc="20" dirty="0">
                <a:latin typeface="Times New Roman"/>
                <a:cs typeface="Times New Roman"/>
              </a:rPr>
              <a:t> </a:t>
            </a:r>
            <a:r>
              <a:rPr lang="en-US" sz="900" spc="90" dirty="0">
                <a:latin typeface="Times New Roman"/>
                <a:cs typeface="Times New Roman"/>
              </a:rPr>
              <a:t>0};</a:t>
            </a:r>
            <a:endParaRPr lang="en-US" sz="900" dirty="0">
              <a:latin typeface="Times New Roman"/>
              <a:cs typeface="Times New Roman"/>
            </a:endParaRPr>
          </a:p>
          <a:p>
            <a:endParaRPr lang="en-IN" sz="900" dirty="0"/>
          </a:p>
        </p:txBody>
      </p:sp>
      <p:sp>
        <p:nvSpPr>
          <p:cNvPr id="11" name="object 3"/>
          <p:cNvSpPr txBox="1"/>
          <p:nvPr/>
        </p:nvSpPr>
        <p:spPr>
          <a:xfrm>
            <a:off x="95250" y="2130751"/>
            <a:ext cx="3851275" cy="1182888"/>
          </a:xfrm>
          <a:prstGeom prst="rect">
            <a:avLst/>
          </a:prstGeom>
        </p:spPr>
        <p:txBody>
          <a:bodyPr vert="horz" wrap="square" lIns="0" tIns="0" rIns="0" bIns="0" rtlCol="0">
            <a:spAutoFit/>
          </a:bodyPr>
          <a:lstStyle/>
          <a:p>
            <a:pPr marL="12700">
              <a:lnSpc>
                <a:spcPct val="100000"/>
              </a:lnSpc>
            </a:pPr>
            <a:r>
              <a:rPr sz="500" spc="15" dirty="0" smtClean="0">
                <a:latin typeface="Times New Roman"/>
                <a:cs typeface="Times New Roman"/>
              </a:rPr>
              <a:t>do  </a:t>
            </a:r>
            <a:r>
              <a:rPr sz="500" spc="30" dirty="0">
                <a:latin typeface="Times New Roman"/>
                <a:cs typeface="Times New Roman"/>
              </a:rPr>
              <a:t>{</a:t>
            </a:r>
            <a:endParaRPr sz="500" dirty="0">
              <a:latin typeface="Times New Roman"/>
              <a:cs typeface="Times New Roman"/>
            </a:endParaRPr>
          </a:p>
          <a:p>
            <a:pPr marL="191770">
              <a:lnSpc>
                <a:spcPct val="100000"/>
              </a:lnSpc>
              <a:spcBef>
                <a:spcPts val="15"/>
              </a:spcBef>
            </a:pPr>
            <a:r>
              <a:rPr sz="500" b="1" spc="95" dirty="0" smtClean="0">
                <a:solidFill>
                  <a:srgbClr val="FF0000"/>
                </a:solidFill>
                <a:effectLst>
                  <a:outerShdw blurRad="38100" dist="38100" dir="2700000" algn="tl">
                    <a:srgbClr val="000000">
                      <a:alpha val="43137"/>
                    </a:srgbClr>
                  </a:outerShdw>
                </a:effectLst>
                <a:latin typeface="Times New Roman"/>
                <a:cs typeface="Times New Roman"/>
              </a:rPr>
              <a:t>choosing[</a:t>
            </a:r>
            <a:r>
              <a:rPr lang="en-US" sz="500" b="1" spc="95" dirty="0" smtClean="0">
                <a:solidFill>
                  <a:srgbClr val="FF0000"/>
                </a:solidFill>
                <a:effectLst>
                  <a:outerShdw blurRad="38100" dist="38100" dir="2700000" algn="tl">
                    <a:srgbClr val="000000">
                      <a:alpha val="43137"/>
                    </a:srgbClr>
                  </a:outerShdw>
                </a:effectLst>
                <a:latin typeface="Times New Roman"/>
                <a:cs typeface="Times New Roman"/>
              </a:rPr>
              <a:t>j</a:t>
            </a:r>
            <a:r>
              <a:rPr sz="500" b="1" spc="95" dirty="0" smtClean="0">
                <a:solidFill>
                  <a:srgbClr val="FF0000"/>
                </a:solidFill>
                <a:effectLst>
                  <a:outerShdw blurRad="38100" dist="38100" dir="2700000" algn="tl">
                    <a:srgbClr val="000000">
                      <a:alpha val="43137"/>
                    </a:srgbClr>
                  </a:outerShdw>
                </a:effectLst>
                <a:latin typeface="Times New Roman"/>
                <a:cs typeface="Times New Roman"/>
              </a:rPr>
              <a:t>] </a:t>
            </a:r>
            <a:r>
              <a:rPr sz="500" b="1" spc="20" dirty="0" smtClean="0">
                <a:solidFill>
                  <a:srgbClr val="FF0000"/>
                </a:solidFill>
                <a:effectLst>
                  <a:outerShdw blurRad="38100" dist="38100" dir="2700000" algn="tl">
                    <a:srgbClr val="000000">
                      <a:alpha val="43137"/>
                    </a:srgbClr>
                  </a:outerShdw>
                </a:effectLst>
                <a:latin typeface="Times New Roman"/>
                <a:cs typeface="Times New Roman"/>
              </a:rPr>
              <a:t> </a:t>
            </a:r>
            <a:r>
              <a:rPr sz="500" b="1" spc="-45" dirty="0">
                <a:solidFill>
                  <a:srgbClr val="FF0000"/>
                </a:solidFill>
                <a:effectLst>
                  <a:outerShdw blurRad="38100" dist="38100" dir="2700000" algn="tl">
                    <a:srgbClr val="000000">
                      <a:alpha val="43137"/>
                    </a:srgbClr>
                  </a:outerShdw>
                </a:effectLst>
                <a:latin typeface="Times New Roman"/>
                <a:cs typeface="Times New Roman"/>
              </a:rPr>
              <a:t>=</a:t>
            </a:r>
            <a:r>
              <a:rPr sz="500" b="1" dirty="0">
                <a:solidFill>
                  <a:srgbClr val="FF0000"/>
                </a:solidFill>
                <a:effectLst>
                  <a:outerShdw blurRad="38100" dist="38100" dir="2700000" algn="tl">
                    <a:srgbClr val="000000">
                      <a:alpha val="43137"/>
                    </a:srgbClr>
                  </a:outerShdw>
                </a:effectLst>
                <a:latin typeface="Times New Roman"/>
                <a:cs typeface="Times New Roman"/>
              </a:rPr>
              <a:t> </a:t>
            </a:r>
            <a:r>
              <a:rPr sz="500" b="1" spc="20" dirty="0">
                <a:solidFill>
                  <a:srgbClr val="FF0000"/>
                </a:solidFill>
                <a:effectLst>
                  <a:outerShdw blurRad="38100" dist="38100" dir="2700000" algn="tl">
                    <a:srgbClr val="000000">
                      <a:alpha val="43137"/>
                    </a:srgbClr>
                  </a:outerShdw>
                </a:effectLst>
                <a:latin typeface="Times New Roman"/>
                <a:cs typeface="Times New Roman"/>
              </a:rPr>
              <a:t> </a:t>
            </a:r>
            <a:r>
              <a:rPr sz="500" b="1" spc="114" dirty="0">
                <a:solidFill>
                  <a:srgbClr val="FF0000"/>
                </a:solidFill>
                <a:effectLst>
                  <a:outerShdw blurRad="38100" dist="38100" dir="2700000" algn="tl">
                    <a:srgbClr val="000000">
                      <a:alpha val="43137"/>
                    </a:srgbClr>
                  </a:outerShdw>
                </a:effectLst>
                <a:latin typeface="Times New Roman"/>
                <a:cs typeface="Times New Roman"/>
              </a:rPr>
              <a:t>1;</a:t>
            </a:r>
            <a:r>
              <a:rPr sz="500" b="1" dirty="0">
                <a:solidFill>
                  <a:srgbClr val="FF0000"/>
                </a:solidFill>
                <a:effectLst>
                  <a:outerShdw blurRad="38100" dist="38100" dir="2700000" algn="tl">
                    <a:srgbClr val="000000">
                      <a:alpha val="43137"/>
                    </a:srgbClr>
                  </a:outerShdw>
                </a:effectLst>
                <a:latin typeface="Times New Roman"/>
                <a:cs typeface="Times New Roman"/>
              </a:rPr>
              <a:t> </a:t>
            </a:r>
            <a:endParaRPr sz="500" dirty="0">
              <a:latin typeface="Times New Roman"/>
              <a:cs typeface="Times New Roman"/>
            </a:endParaRPr>
          </a:p>
          <a:p>
            <a:pPr marL="191770" marR="65405">
              <a:lnSpc>
                <a:spcPct val="101499"/>
              </a:lnSpc>
            </a:pPr>
            <a:r>
              <a:rPr sz="500" spc="65" dirty="0" smtClean="0">
                <a:latin typeface="Times New Roman"/>
                <a:cs typeface="Times New Roman"/>
              </a:rPr>
              <a:t>number[</a:t>
            </a:r>
            <a:r>
              <a:rPr lang="en-US" sz="500" spc="65" dirty="0" smtClean="0">
                <a:latin typeface="Times New Roman"/>
                <a:cs typeface="Times New Roman"/>
              </a:rPr>
              <a:t>j</a:t>
            </a:r>
            <a:r>
              <a:rPr sz="500" spc="65" dirty="0" smtClean="0">
                <a:latin typeface="Times New Roman"/>
                <a:cs typeface="Times New Roman"/>
              </a:rPr>
              <a:t>] </a:t>
            </a:r>
            <a:r>
              <a:rPr sz="500" spc="20" dirty="0" smtClean="0">
                <a:latin typeface="Times New Roman"/>
                <a:cs typeface="Times New Roman"/>
              </a:rPr>
              <a:t> </a:t>
            </a:r>
            <a:r>
              <a:rPr sz="500" spc="-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5" dirty="0">
                <a:latin typeface="Times New Roman"/>
                <a:cs typeface="Times New Roman"/>
              </a:rPr>
              <a:t>MAX(number[0],</a:t>
            </a:r>
            <a:r>
              <a:rPr sz="500" dirty="0">
                <a:latin typeface="Times New Roman"/>
                <a:cs typeface="Times New Roman"/>
              </a:rPr>
              <a:t> </a:t>
            </a:r>
            <a:r>
              <a:rPr sz="500" spc="20" dirty="0">
                <a:latin typeface="Times New Roman"/>
                <a:cs typeface="Times New Roman"/>
              </a:rPr>
              <a:t> </a:t>
            </a:r>
            <a:r>
              <a:rPr sz="500" spc="60" dirty="0">
                <a:latin typeface="Times New Roman"/>
                <a:cs typeface="Times New Roman"/>
              </a:rPr>
              <a:t>number[1],</a:t>
            </a:r>
            <a:r>
              <a:rPr sz="500" dirty="0">
                <a:latin typeface="Times New Roman"/>
                <a:cs typeface="Times New Roman"/>
              </a:rPr>
              <a:t> </a:t>
            </a:r>
            <a:r>
              <a:rPr sz="500" spc="20" dirty="0">
                <a:latin typeface="Times New Roman"/>
                <a:cs typeface="Times New Roman"/>
              </a:rPr>
              <a:t> </a:t>
            </a:r>
            <a:r>
              <a:rPr sz="500" spc="2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60" dirty="0">
                <a:latin typeface="Times New Roman"/>
                <a:cs typeface="Times New Roman"/>
              </a:rPr>
              <a:t>number[n-1])</a:t>
            </a:r>
            <a:r>
              <a:rPr sz="500" dirty="0">
                <a:latin typeface="Times New Roman"/>
                <a:cs typeface="Times New Roman"/>
              </a:rPr>
              <a:t> </a:t>
            </a:r>
            <a:r>
              <a:rPr sz="500" spc="20" dirty="0">
                <a:latin typeface="Times New Roman"/>
                <a:cs typeface="Times New Roman"/>
              </a:rPr>
              <a:t> </a:t>
            </a:r>
            <a:r>
              <a:rPr sz="500" spc="-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114" dirty="0">
                <a:latin typeface="Times New Roman"/>
                <a:cs typeface="Times New Roman"/>
              </a:rPr>
              <a:t>1;</a:t>
            </a:r>
            <a:r>
              <a:rPr sz="500" spc="75" dirty="0">
                <a:latin typeface="Times New Roman"/>
                <a:cs typeface="Times New Roman"/>
              </a:rPr>
              <a:t> </a:t>
            </a:r>
            <a:endParaRPr lang="en-US" sz="500" spc="75" dirty="0" smtClean="0">
              <a:latin typeface="Times New Roman"/>
              <a:cs typeface="Times New Roman"/>
            </a:endParaRPr>
          </a:p>
          <a:p>
            <a:pPr marL="191770" marR="65405">
              <a:lnSpc>
                <a:spcPct val="101499"/>
              </a:lnSpc>
            </a:pPr>
            <a:r>
              <a:rPr sz="500" b="1" spc="95" dirty="0" smtClean="0">
                <a:solidFill>
                  <a:srgbClr val="FF0000"/>
                </a:solidFill>
                <a:effectLst>
                  <a:outerShdw blurRad="38100" dist="38100" dir="2700000" algn="tl">
                    <a:srgbClr val="000000">
                      <a:alpha val="43137"/>
                    </a:srgbClr>
                  </a:outerShdw>
                </a:effectLst>
                <a:latin typeface="Times New Roman"/>
                <a:cs typeface="Times New Roman"/>
              </a:rPr>
              <a:t>choosing[</a:t>
            </a:r>
            <a:r>
              <a:rPr lang="en-US" sz="500" b="1" spc="95" dirty="0" smtClean="0">
                <a:solidFill>
                  <a:srgbClr val="FF0000"/>
                </a:solidFill>
                <a:effectLst>
                  <a:outerShdw blurRad="38100" dist="38100" dir="2700000" algn="tl">
                    <a:srgbClr val="000000">
                      <a:alpha val="43137"/>
                    </a:srgbClr>
                  </a:outerShdw>
                </a:effectLst>
                <a:latin typeface="Times New Roman"/>
                <a:cs typeface="Times New Roman"/>
              </a:rPr>
              <a:t>j</a:t>
            </a:r>
            <a:r>
              <a:rPr sz="500" b="1" spc="95" dirty="0" smtClean="0">
                <a:solidFill>
                  <a:srgbClr val="FF0000"/>
                </a:solidFill>
                <a:effectLst>
                  <a:outerShdw blurRad="38100" dist="38100" dir="2700000" algn="tl">
                    <a:srgbClr val="000000">
                      <a:alpha val="43137"/>
                    </a:srgbClr>
                  </a:outerShdw>
                </a:effectLst>
                <a:latin typeface="Times New Roman"/>
                <a:cs typeface="Times New Roman"/>
              </a:rPr>
              <a:t>]</a:t>
            </a:r>
            <a:r>
              <a:rPr sz="500" b="1" dirty="0" smtClean="0">
                <a:solidFill>
                  <a:srgbClr val="FF0000"/>
                </a:solidFill>
                <a:effectLst>
                  <a:outerShdw blurRad="38100" dist="38100" dir="2700000" algn="tl">
                    <a:srgbClr val="000000">
                      <a:alpha val="43137"/>
                    </a:srgbClr>
                  </a:outerShdw>
                </a:effectLst>
                <a:latin typeface="Times New Roman"/>
                <a:cs typeface="Times New Roman"/>
              </a:rPr>
              <a:t> </a:t>
            </a:r>
            <a:r>
              <a:rPr sz="500" b="1" spc="20" dirty="0" smtClean="0">
                <a:solidFill>
                  <a:srgbClr val="FF0000"/>
                </a:solidFill>
                <a:effectLst>
                  <a:outerShdw blurRad="38100" dist="38100" dir="2700000" algn="tl">
                    <a:srgbClr val="000000">
                      <a:alpha val="43137"/>
                    </a:srgbClr>
                  </a:outerShdw>
                </a:effectLst>
                <a:latin typeface="Times New Roman"/>
                <a:cs typeface="Times New Roman"/>
              </a:rPr>
              <a:t> </a:t>
            </a:r>
            <a:r>
              <a:rPr sz="500" b="1" spc="-45" dirty="0">
                <a:solidFill>
                  <a:srgbClr val="FF0000"/>
                </a:solidFill>
                <a:effectLst>
                  <a:outerShdw blurRad="38100" dist="38100" dir="2700000" algn="tl">
                    <a:srgbClr val="000000">
                      <a:alpha val="43137"/>
                    </a:srgbClr>
                  </a:outerShdw>
                </a:effectLst>
                <a:latin typeface="Times New Roman"/>
                <a:cs typeface="Times New Roman"/>
              </a:rPr>
              <a:t>=</a:t>
            </a:r>
            <a:r>
              <a:rPr sz="500" b="1" dirty="0">
                <a:solidFill>
                  <a:srgbClr val="FF0000"/>
                </a:solidFill>
                <a:effectLst>
                  <a:outerShdw blurRad="38100" dist="38100" dir="2700000" algn="tl">
                    <a:srgbClr val="000000">
                      <a:alpha val="43137"/>
                    </a:srgbClr>
                  </a:outerShdw>
                </a:effectLst>
                <a:latin typeface="Times New Roman"/>
                <a:cs typeface="Times New Roman"/>
              </a:rPr>
              <a:t> </a:t>
            </a:r>
            <a:r>
              <a:rPr sz="500" b="1" spc="20" dirty="0">
                <a:solidFill>
                  <a:srgbClr val="FF0000"/>
                </a:solidFill>
                <a:effectLst>
                  <a:outerShdw blurRad="38100" dist="38100" dir="2700000" algn="tl">
                    <a:srgbClr val="000000">
                      <a:alpha val="43137"/>
                    </a:srgbClr>
                  </a:outerShdw>
                </a:effectLst>
                <a:latin typeface="Times New Roman"/>
                <a:cs typeface="Times New Roman"/>
              </a:rPr>
              <a:t> </a:t>
            </a:r>
            <a:r>
              <a:rPr sz="500" b="1" spc="114" dirty="0">
                <a:solidFill>
                  <a:srgbClr val="FF0000"/>
                </a:solidFill>
                <a:effectLst>
                  <a:outerShdw blurRad="38100" dist="38100" dir="2700000" algn="tl">
                    <a:srgbClr val="000000">
                      <a:alpha val="43137"/>
                    </a:srgbClr>
                  </a:outerShdw>
                </a:effectLst>
                <a:latin typeface="Times New Roman"/>
                <a:cs typeface="Times New Roman"/>
              </a:rPr>
              <a:t>0</a:t>
            </a:r>
            <a:r>
              <a:rPr sz="500" b="1" spc="114" dirty="0" smtClean="0">
                <a:solidFill>
                  <a:srgbClr val="FF0000"/>
                </a:solidFill>
                <a:effectLst>
                  <a:outerShdw blurRad="38100" dist="38100" dir="2700000" algn="tl">
                    <a:srgbClr val="000000">
                      <a:alpha val="43137"/>
                    </a:srgbClr>
                  </a:outerShdw>
                </a:effectLst>
                <a:latin typeface="Times New Roman"/>
                <a:cs typeface="Times New Roman"/>
              </a:rPr>
              <a:t>;</a:t>
            </a:r>
            <a:endParaRPr sz="500" dirty="0">
              <a:latin typeface="Times New Roman"/>
              <a:cs typeface="Times New Roman"/>
            </a:endParaRPr>
          </a:p>
          <a:p>
            <a:pPr marL="430530" marR="2156460" indent="-239395">
              <a:lnSpc>
                <a:spcPct val="101499"/>
              </a:lnSpc>
            </a:pPr>
            <a:r>
              <a:rPr sz="500" spc="114" dirty="0">
                <a:latin typeface="Times New Roman"/>
                <a:cs typeface="Times New Roman"/>
              </a:rPr>
              <a:t>for </a:t>
            </a:r>
            <a:r>
              <a:rPr sz="500" spc="20" dirty="0">
                <a:latin typeface="Times New Roman"/>
                <a:cs typeface="Times New Roman"/>
              </a:rPr>
              <a:t> </a:t>
            </a:r>
            <a:r>
              <a:rPr sz="500" spc="195" dirty="0" smtClean="0">
                <a:latin typeface="Times New Roman"/>
                <a:cs typeface="Times New Roman"/>
              </a:rPr>
              <a:t>(</a:t>
            </a:r>
            <a:r>
              <a:rPr lang="en-US" sz="500" spc="195" dirty="0" smtClean="0">
                <a:latin typeface="Times New Roman"/>
                <a:cs typeface="Times New Roman"/>
              </a:rPr>
              <a:t>m</a:t>
            </a:r>
            <a:r>
              <a:rPr sz="500" dirty="0" smtClean="0">
                <a:latin typeface="Times New Roman"/>
                <a:cs typeface="Times New Roman"/>
              </a:rPr>
              <a:t> </a:t>
            </a:r>
            <a:r>
              <a:rPr sz="500" spc="20" dirty="0" smtClean="0">
                <a:latin typeface="Times New Roman"/>
                <a:cs typeface="Times New Roman"/>
              </a:rPr>
              <a:t> </a:t>
            </a:r>
            <a:r>
              <a:rPr sz="500" spc="-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114" dirty="0">
                <a:latin typeface="Times New Roman"/>
                <a:cs typeface="Times New Roman"/>
              </a:rPr>
              <a:t>0;</a:t>
            </a:r>
            <a:r>
              <a:rPr sz="500" dirty="0">
                <a:latin typeface="Times New Roman"/>
                <a:cs typeface="Times New Roman"/>
              </a:rPr>
              <a:t> </a:t>
            </a:r>
            <a:r>
              <a:rPr lang="en-US" sz="500" spc="20" dirty="0" smtClean="0">
                <a:latin typeface="Times New Roman"/>
                <a:cs typeface="Times New Roman"/>
              </a:rPr>
              <a:t>m</a:t>
            </a:r>
            <a:r>
              <a:rPr sz="500" dirty="0" smtClean="0">
                <a:latin typeface="Times New Roman"/>
                <a:cs typeface="Times New Roman"/>
              </a:rPr>
              <a:t> </a:t>
            </a:r>
            <a:r>
              <a:rPr sz="500" spc="20" dirty="0" smtClean="0">
                <a:latin typeface="Times New Roman"/>
                <a:cs typeface="Times New Roman"/>
              </a:rPr>
              <a:t> </a:t>
            </a:r>
            <a:r>
              <a:rPr sz="500" spc="-45" dirty="0">
                <a:latin typeface="Times New Roman"/>
                <a:cs typeface="Times New Roman"/>
              </a:rPr>
              <a:t>&lt;</a:t>
            </a:r>
            <a:r>
              <a:rPr sz="500" dirty="0">
                <a:latin typeface="Times New Roman"/>
                <a:cs typeface="Times New Roman"/>
              </a:rPr>
              <a:t> </a:t>
            </a:r>
            <a:r>
              <a:rPr sz="500" spc="20" dirty="0">
                <a:latin typeface="Times New Roman"/>
                <a:cs typeface="Times New Roman"/>
              </a:rPr>
              <a:t> </a:t>
            </a:r>
            <a:r>
              <a:rPr sz="500" spc="114" dirty="0">
                <a:latin typeface="Times New Roman"/>
                <a:cs typeface="Times New Roman"/>
              </a:rPr>
              <a:t>n;</a:t>
            </a:r>
            <a:r>
              <a:rPr sz="500" dirty="0">
                <a:latin typeface="Times New Roman"/>
                <a:cs typeface="Times New Roman"/>
              </a:rPr>
              <a:t> </a:t>
            </a:r>
            <a:r>
              <a:rPr sz="500" spc="20" dirty="0">
                <a:latin typeface="Times New Roman"/>
                <a:cs typeface="Times New Roman"/>
              </a:rPr>
              <a:t> </a:t>
            </a:r>
            <a:r>
              <a:rPr lang="en-US" sz="500" spc="75" dirty="0" smtClean="0">
                <a:latin typeface="Times New Roman"/>
                <a:cs typeface="Times New Roman"/>
              </a:rPr>
              <a:t>m</a:t>
            </a:r>
            <a:r>
              <a:rPr sz="500" spc="75" dirty="0" smtClean="0">
                <a:latin typeface="Times New Roman"/>
                <a:cs typeface="Times New Roman"/>
              </a:rPr>
              <a:t>++)</a:t>
            </a:r>
            <a:r>
              <a:rPr sz="500" dirty="0" smtClean="0">
                <a:latin typeface="Times New Roman"/>
                <a:cs typeface="Times New Roman"/>
              </a:rPr>
              <a:t> </a:t>
            </a:r>
            <a:r>
              <a:rPr sz="500" spc="20" dirty="0" smtClean="0">
                <a:latin typeface="Times New Roman"/>
                <a:cs typeface="Times New Roman"/>
              </a:rPr>
              <a:t> </a:t>
            </a:r>
            <a:r>
              <a:rPr sz="500" spc="30" dirty="0">
                <a:latin typeface="Times New Roman"/>
                <a:cs typeface="Times New Roman"/>
              </a:rPr>
              <a:t>{</a:t>
            </a:r>
            <a:r>
              <a:rPr sz="500" spc="15" dirty="0">
                <a:latin typeface="Times New Roman"/>
                <a:cs typeface="Times New Roman"/>
              </a:rPr>
              <a:t> </a:t>
            </a:r>
            <a:endParaRPr lang="en-US" sz="500" spc="15" dirty="0" smtClean="0">
              <a:latin typeface="Times New Roman"/>
              <a:cs typeface="Times New Roman"/>
            </a:endParaRPr>
          </a:p>
          <a:p>
            <a:pPr marL="430530" marR="2156460" indent="-239395">
              <a:lnSpc>
                <a:spcPct val="101499"/>
              </a:lnSpc>
            </a:pPr>
            <a:r>
              <a:rPr lang="en-US" sz="500" b="1" spc="15" dirty="0">
                <a:solidFill>
                  <a:srgbClr val="FF0000"/>
                </a:solidFill>
                <a:effectLst>
                  <a:outerShdw blurRad="38100" dist="38100" dir="2700000" algn="tl">
                    <a:srgbClr val="000000">
                      <a:alpha val="43137"/>
                    </a:srgbClr>
                  </a:outerShdw>
                </a:effectLst>
                <a:latin typeface="Times New Roman"/>
                <a:cs typeface="Times New Roman"/>
              </a:rPr>
              <a:t>	</a:t>
            </a:r>
            <a:r>
              <a:rPr sz="500" b="1" spc="65" dirty="0" smtClean="0">
                <a:solidFill>
                  <a:srgbClr val="FF0000"/>
                </a:solidFill>
                <a:effectLst>
                  <a:outerShdw blurRad="38100" dist="38100" dir="2700000" algn="tl">
                    <a:srgbClr val="000000">
                      <a:alpha val="43137"/>
                    </a:srgbClr>
                  </a:outerShdw>
                </a:effectLst>
                <a:latin typeface="Times New Roman"/>
                <a:cs typeface="Times New Roman"/>
              </a:rPr>
              <a:t>while</a:t>
            </a:r>
            <a:r>
              <a:rPr sz="500" b="1" dirty="0" smtClean="0">
                <a:solidFill>
                  <a:srgbClr val="FF0000"/>
                </a:solidFill>
                <a:effectLst>
                  <a:outerShdw blurRad="38100" dist="38100" dir="2700000" algn="tl">
                    <a:srgbClr val="000000">
                      <a:alpha val="43137"/>
                    </a:srgbClr>
                  </a:outerShdw>
                </a:effectLst>
                <a:latin typeface="Times New Roman"/>
                <a:cs typeface="Times New Roman"/>
              </a:rPr>
              <a:t> </a:t>
            </a:r>
            <a:r>
              <a:rPr sz="500" b="1" spc="20" dirty="0" smtClean="0">
                <a:solidFill>
                  <a:srgbClr val="FF0000"/>
                </a:solidFill>
                <a:effectLst>
                  <a:outerShdw blurRad="38100" dist="38100" dir="2700000" algn="tl">
                    <a:srgbClr val="000000">
                      <a:alpha val="43137"/>
                    </a:srgbClr>
                  </a:outerShdw>
                </a:effectLst>
                <a:latin typeface="Times New Roman"/>
                <a:cs typeface="Times New Roman"/>
              </a:rPr>
              <a:t> </a:t>
            </a:r>
            <a:r>
              <a:rPr sz="500" b="1" spc="105" dirty="0">
                <a:solidFill>
                  <a:srgbClr val="FF0000"/>
                </a:solidFill>
                <a:effectLst>
                  <a:outerShdw blurRad="38100" dist="38100" dir="2700000" algn="tl">
                    <a:srgbClr val="000000">
                      <a:alpha val="43137"/>
                    </a:srgbClr>
                  </a:outerShdw>
                </a:effectLst>
                <a:latin typeface="Times New Roman"/>
                <a:cs typeface="Times New Roman"/>
              </a:rPr>
              <a:t>(</a:t>
            </a:r>
            <a:r>
              <a:rPr sz="500" b="1" spc="105" dirty="0" smtClean="0">
                <a:solidFill>
                  <a:srgbClr val="FF0000"/>
                </a:solidFill>
                <a:effectLst>
                  <a:outerShdw blurRad="38100" dist="38100" dir="2700000" algn="tl">
                    <a:srgbClr val="000000">
                      <a:alpha val="43137"/>
                    </a:srgbClr>
                  </a:outerShdw>
                </a:effectLst>
                <a:latin typeface="Times New Roman"/>
                <a:cs typeface="Times New Roman"/>
              </a:rPr>
              <a:t>choosing[</a:t>
            </a:r>
            <a:r>
              <a:rPr lang="en-US" sz="500" b="1" spc="105" dirty="0" smtClean="0">
                <a:solidFill>
                  <a:srgbClr val="FF0000"/>
                </a:solidFill>
                <a:effectLst>
                  <a:outerShdw blurRad="38100" dist="38100" dir="2700000" algn="tl">
                    <a:srgbClr val="000000">
                      <a:alpha val="43137"/>
                    </a:srgbClr>
                  </a:outerShdw>
                </a:effectLst>
                <a:latin typeface="Times New Roman"/>
                <a:cs typeface="Times New Roman"/>
              </a:rPr>
              <a:t>m</a:t>
            </a:r>
            <a:r>
              <a:rPr sz="500" b="1" spc="105" dirty="0" smtClean="0">
                <a:solidFill>
                  <a:srgbClr val="FF0000"/>
                </a:solidFill>
                <a:effectLst>
                  <a:outerShdw blurRad="38100" dist="38100" dir="2700000" algn="tl">
                    <a:srgbClr val="000000">
                      <a:alpha val="43137"/>
                    </a:srgbClr>
                  </a:outerShdw>
                </a:effectLst>
                <a:latin typeface="Times New Roman"/>
                <a:cs typeface="Times New Roman"/>
              </a:rPr>
              <a:t>])</a:t>
            </a:r>
            <a:r>
              <a:rPr sz="500" b="1" dirty="0" smtClean="0">
                <a:solidFill>
                  <a:srgbClr val="FF0000"/>
                </a:solidFill>
                <a:effectLst>
                  <a:outerShdw blurRad="38100" dist="38100" dir="2700000" algn="tl">
                    <a:srgbClr val="000000">
                      <a:alpha val="43137"/>
                    </a:srgbClr>
                  </a:outerShdw>
                </a:effectLst>
                <a:latin typeface="Times New Roman"/>
                <a:cs typeface="Times New Roman"/>
              </a:rPr>
              <a:t> </a:t>
            </a:r>
            <a:r>
              <a:rPr sz="500" spc="220" dirty="0" smtClean="0">
                <a:latin typeface="Times New Roman"/>
                <a:cs typeface="Times New Roman"/>
              </a:rPr>
              <a:t>;</a:t>
            </a:r>
            <a:endParaRPr sz="500" dirty="0">
              <a:latin typeface="Times New Roman"/>
              <a:cs typeface="Times New Roman"/>
            </a:endParaRPr>
          </a:p>
          <a:p>
            <a:pPr marL="430530">
              <a:lnSpc>
                <a:spcPct val="100000"/>
              </a:lnSpc>
              <a:spcBef>
                <a:spcPts val="15"/>
              </a:spcBef>
            </a:pPr>
            <a:r>
              <a:rPr sz="500" spc="65" dirty="0">
                <a:latin typeface="Times New Roman"/>
                <a:cs typeface="Times New Roman"/>
              </a:rPr>
              <a:t>while </a:t>
            </a:r>
            <a:r>
              <a:rPr sz="500" spc="20" dirty="0">
                <a:latin typeface="Times New Roman"/>
                <a:cs typeface="Times New Roman"/>
              </a:rPr>
              <a:t> </a:t>
            </a:r>
            <a:r>
              <a:rPr sz="500" spc="85" dirty="0">
                <a:latin typeface="Times New Roman"/>
                <a:cs typeface="Times New Roman"/>
              </a:rPr>
              <a:t>((</a:t>
            </a:r>
            <a:r>
              <a:rPr sz="500" spc="85" dirty="0" smtClean="0">
                <a:latin typeface="Times New Roman"/>
                <a:cs typeface="Times New Roman"/>
              </a:rPr>
              <a:t>number[</a:t>
            </a:r>
            <a:r>
              <a:rPr lang="en-US" sz="500" spc="85" dirty="0" smtClean="0">
                <a:latin typeface="Times New Roman"/>
                <a:cs typeface="Times New Roman"/>
              </a:rPr>
              <a:t>m</a:t>
            </a:r>
            <a:r>
              <a:rPr sz="500" spc="85" dirty="0" smtClean="0">
                <a:latin typeface="Times New Roman"/>
                <a:cs typeface="Times New Roman"/>
              </a:rPr>
              <a:t>]</a:t>
            </a:r>
            <a:r>
              <a:rPr sz="500" dirty="0" smtClean="0">
                <a:latin typeface="Times New Roman"/>
                <a:cs typeface="Times New Roman"/>
              </a:rPr>
              <a:t> </a:t>
            </a:r>
            <a:r>
              <a:rPr sz="500" spc="20" dirty="0" smtClean="0">
                <a:latin typeface="Times New Roman"/>
                <a:cs typeface="Times New Roman"/>
              </a:rPr>
              <a:t> </a:t>
            </a:r>
            <a:r>
              <a:rPr sz="500" spc="60"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90" dirty="0">
                <a:latin typeface="Times New Roman"/>
                <a:cs typeface="Times New Roman"/>
              </a:rPr>
              <a:t>0)</a:t>
            </a:r>
            <a:r>
              <a:rPr sz="500" dirty="0">
                <a:latin typeface="Times New Roman"/>
                <a:cs typeface="Times New Roman"/>
              </a:rPr>
              <a:t> </a:t>
            </a:r>
            <a:r>
              <a:rPr sz="500" spc="15" dirty="0">
                <a:latin typeface="Times New Roman"/>
                <a:cs typeface="Times New Roman"/>
              </a:rPr>
              <a:t> </a:t>
            </a:r>
            <a:r>
              <a:rPr sz="500" spc="-235" dirty="0">
                <a:latin typeface="Times New Roman"/>
                <a:cs typeface="Times New Roman"/>
              </a:rPr>
              <a:t>&amp;&amp;</a:t>
            </a:r>
            <a:r>
              <a:rPr sz="500" dirty="0">
                <a:latin typeface="Times New Roman"/>
                <a:cs typeface="Times New Roman"/>
              </a:rPr>
              <a:t> </a:t>
            </a:r>
            <a:r>
              <a:rPr sz="500" spc="20" dirty="0">
                <a:latin typeface="Times New Roman"/>
                <a:cs typeface="Times New Roman"/>
              </a:rPr>
              <a:t> </a:t>
            </a:r>
            <a:r>
              <a:rPr sz="500" spc="105" dirty="0">
                <a:latin typeface="Times New Roman"/>
                <a:cs typeface="Times New Roman"/>
              </a:rPr>
              <a:t>(</a:t>
            </a:r>
            <a:r>
              <a:rPr sz="500" spc="105" dirty="0" smtClean="0">
                <a:latin typeface="Times New Roman"/>
                <a:cs typeface="Times New Roman"/>
              </a:rPr>
              <a:t>number[</a:t>
            </a:r>
            <a:r>
              <a:rPr lang="en-US" sz="500" spc="105" dirty="0" smtClean="0">
                <a:latin typeface="Times New Roman"/>
                <a:cs typeface="Times New Roman"/>
              </a:rPr>
              <a:t>m</a:t>
            </a:r>
            <a:r>
              <a:rPr sz="500" spc="105" dirty="0" smtClean="0">
                <a:latin typeface="Times New Roman"/>
                <a:cs typeface="Times New Roman"/>
              </a:rPr>
              <a:t>],</a:t>
            </a:r>
            <a:r>
              <a:rPr lang="en-US" sz="500" spc="105" dirty="0" smtClean="0">
                <a:latin typeface="Times New Roman"/>
                <a:cs typeface="Times New Roman"/>
              </a:rPr>
              <a:t>m</a:t>
            </a:r>
            <a:r>
              <a:rPr sz="500" dirty="0" smtClean="0">
                <a:latin typeface="Times New Roman"/>
                <a:cs typeface="Times New Roman"/>
              </a:rPr>
              <a:t> </a:t>
            </a:r>
            <a:r>
              <a:rPr sz="500" spc="20" dirty="0" smtClean="0">
                <a:latin typeface="Times New Roman"/>
                <a:cs typeface="Times New Roman"/>
              </a:rPr>
              <a:t> </a:t>
            </a:r>
            <a:r>
              <a:rPr sz="500" spc="-45" dirty="0">
                <a:latin typeface="Times New Roman"/>
                <a:cs typeface="Times New Roman"/>
              </a:rPr>
              <a:t>&lt;</a:t>
            </a:r>
            <a:r>
              <a:rPr sz="500" dirty="0">
                <a:latin typeface="Times New Roman"/>
                <a:cs typeface="Times New Roman"/>
              </a:rPr>
              <a:t> </a:t>
            </a:r>
            <a:r>
              <a:rPr sz="500" spc="20" dirty="0">
                <a:latin typeface="Times New Roman"/>
                <a:cs typeface="Times New Roman"/>
              </a:rPr>
              <a:t> </a:t>
            </a:r>
            <a:r>
              <a:rPr sz="500" spc="105" dirty="0" smtClean="0">
                <a:latin typeface="Times New Roman"/>
                <a:cs typeface="Times New Roman"/>
              </a:rPr>
              <a:t>number[</a:t>
            </a:r>
            <a:r>
              <a:rPr lang="en-US" sz="500" spc="105" dirty="0" smtClean="0">
                <a:latin typeface="Times New Roman"/>
                <a:cs typeface="Times New Roman"/>
              </a:rPr>
              <a:t>j</a:t>
            </a:r>
            <a:r>
              <a:rPr sz="500" spc="105" dirty="0" smtClean="0">
                <a:latin typeface="Times New Roman"/>
                <a:cs typeface="Times New Roman"/>
              </a:rPr>
              <a:t>],</a:t>
            </a:r>
            <a:r>
              <a:rPr lang="en-US" sz="500" spc="105" dirty="0">
                <a:latin typeface="Times New Roman"/>
                <a:cs typeface="Times New Roman"/>
              </a:rPr>
              <a:t>j</a:t>
            </a:r>
            <a:r>
              <a:rPr sz="500" spc="105" dirty="0" smtClean="0">
                <a:latin typeface="Times New Roman"/>
                <a:cs typeface="Times New Roman"/>
              </a:rPr>
              <a:t>))</a:t>
            </a:r>
            <a:r>
              <a:rPr sz="500" dirty="0" smtClean="0">
                <a:latin typeface="Times New Roman"/>
                <a:cs typeface="Times New Roman"/>
              </a:rPr>
              <a:t> </a:t>
            </a:r>
            <a:r>
              <a:rPr sz="500" spc="20" dirty="0" smtClean="0">
                <a:latin typeface="Times New Roman"/>
                <a:cs typeface="Times New Roman"/>
              </a:rPr>
              <a:t> </a:t>
            </a:r>
            <a:r>
              <a:rPr sz="500" spc="220" dirty="0">
                <a:latin typeface="Times New Roman"/>
                <a:cs typeface="Times New Roman"/>
              </a:rPr>
              <a:t>;</a:t>
            </a:r>
            <a:endParaRPr sz="500" dirty="0">
              <a:latin typeface="Times New Roman"/>
              <a:cs typeface="Times New Roman"/>
            </a:endParaRPr>
          </a:p>
          <a:p>
            <a:pPr marL="191770">
              <a:lnSpc>
                <a:spcPct val="100000"/>
              </a:lnSpc>
              <a:spcBef>
                <a:spcPts val="15"/>
              </a:spcBef>
            </a:pPr>
            <a:r>
              <a:rPr sz="500" spc="30" dirty="0">
                <a:latin typeface="Times New Roman"/>
                <a:cs typeface="Times New Roman"/>
              </a:rPr>
              <a:t>}</a:t>
            </a:r>
            <a:endParaRPr sz="500" dirty="0">
              <a:latin typeface="Times New Roman"/>
              <a:cs typeface="Times New Roman"/>
            </a:endParaRPr>
          </a:p>
          <a:p>
            <a:pPr marL="191770" marR="2515235">
              <a:lnSpc>
                <a:spcPts val="1100"/>
              </a:lnSpc>
              <a:spcBef>
                <a:spcPts val="35"/>
              </a:spcBef>
            </a:pPr>
            <a:r>
              <a:rPr sz="500" spc="130" dirty="0">
                <a:latin typeface="Times New Roman"/>
                <a:cs typeface="Times New Roman"/>
              </a:rPr>
              <a:t>critical_section(); </a:t>
            </a:r>
            <a:endParaRPr lang="en-US" sz="500" spc="130" dirty="0" smtClean="0">
              <a:latin typeface="Times New Roman"/>
              <a:cs typeface="Times New Roman"/>
            </a:endParaRPr>
          </a:p>
          <a:p>
            <a:pPr marL="191770" marR="2515235">
              <a:lnSpc>
                <a:spcPts val="1100"/>
              </a:lnSpc>
              <a:spcBef>
                <a:spcPts val="35"/>
              </a:spcBef>
            </a:pPr>
            <a:r>
              <a:rPr sz="500" spc="65" dirty="0" smtClean="0">
                <a:latin typeface="Times New Roman"/>
                <a:cs typeface="Times New Roman"/>
              </a:rPr>
              <a:t>number[</a:t>
            </a:r>
            <a:r>
              <a:rPr lang="en-US" sz="500" spc="65" dirty="0">
                <a:latin typeface="Times New Roman"/>
                <a:cs typeface="Times New Roman"/>
              </a:rPr>
              <a:t>j</a:t>
            </a:r>
            <a:r>
              <a:rPr sz="500" spc="65" dirty="0" smtClean="0">
                <a:latin typeface="Times New Roman"/>
                <a:cs typeface="Times New Roman"/>
              </a:rPr>
              <a:t>] </a:t>
            </a:r>
            <a:r>
              <a:rPr sz="500" spc="20" dirty="0" smtClean="0">
                <a:latin typeface="Times New Roman"/>
                <a:cs typeface="Times New Roman"/>
              </a:rPr>
              <a:t> </a:t>
            </a:r>
            <a:r>
              <a:rPr sz="500" spc="-45" dirty="0">
                <a:latin typeface="Times New Roman"/>
                <a:cs typeface="Times New Roman"/>
              </a:rPr>
              <a:t>=</a:t>
            </a:r>
            <a:r>
              <a:rPr sz="500" dirty="0">
                <a:latin typeface="Times New Roman"/>
                <a:cs typeface="Times New Roman"/>
              </a:rPr>
              <a:t> </a:t>
            </a:r>
            <a:r>
              <a:rPr sz="500" spc="20" dirty="0">
                <a:latin typeface="Times New Roman"/>
                <a:cs typeface="Times New Roman"/>
              </a:rPr>
              <a:t> </a:t>
            </a:r>
            <a:r>
              <a:rPr sz="500" spc="114" dirty="0">
                <a:latin typeface="Times New Roman"/>
                <a:cs typeface="Times New Roman"/>
              </a:rPr>
              <a:t>0;</a:t>
            </a:r>
            <a:r>
              <a:rPr sz="500" spc="75" dirty="0">
                <a:latin typeface="Times New Roman"/>
                <a:cs typeface="Times New Roman"/>
              </a:rPr>
              <a:t> remainder_section</a:t>
            </a:r>
            <a:endParaRPr sz="500" dirty="0">
              <a:latin typeface="Times New Roman"/>
              <a:cs typeface="Times New Roman"/>
            </a:endParaRPr>
          </a:p>
          <a:p>
            <a:pPr marL="12700">
              <a:lnSpc>
                <a:spcPts val="1055"/>
              </a:lnSpc>
            </a:pPr>
            <a:r>
              <a:rPr sz="500" spc="30" dirty="0">
                <a:latin typeface="Times New Roman"/>
                <a:cs typeface="Times New Roman"/>
              </a:rPr>
              <a:t>} </a:t>
            </a:r>
            <a:r>
              <a:rPr sz="500" spc="15" dirty="0">
                <a:latin typeface="Times New Roman"/>
                <a:cs typeface="Times New Roman"/>
              </a:rPr>
              <a:t> </a:t>
            </a:r>
            <a:r>
              <a:rPr sz="500" spc="65" dirty="0">
                <a:latin typeface="Times New Roman"/>
                <a:cs typeface="Times New Roman"/>
              </a:rPr>
              <a:t>while</a:t>
            </a:r>
            <a:r>
              <a:rPr sz="500" dirty="0">
                <a:latin typeface="Times New Roman"/>
                <a:cs typeface="Times New Roman"/>
              </a:rPr>
              <a:t> </a:t>
            </a:r>
            <a:r>
              <a:rPr sz="500" spc="20" dirty="0">
                <a:latin typeface="Times New Roman"/>
                <a:cs typeface="Times New Roman"/>
              </a:rPr>
              <a:t> </a:t>
            </a:r>
            <a:r>
              <a:rPr sz="500" spc="140" dirty="0">
                <a:latin typeface="Times New Roman"/>
                <a:cs typeface="Times New Roman"/>
              </a:rPr>
              <a:t>(1);</a:t>
            </a:r>
            <a:endParaRPr sz="500" dirty="0">
              <a:latin typeface="Times New Roman"/>
              <a:cs typeface="Times New Roman"/>
            </a:endParaRPr>
          </a:p>
        </p:txBody>
      </p:sp>
      <p:sp>
        <p:nvSpPr>
          <p:cNvPr id="13" name="TextBox 12"/>
          <p:cNvSpPr txBox="1"/>
          <p:nvPr/>
        </p:nvSpPr>
        <p:spPr>
          <a:xfrm>
            <a:off x="24794" y="1235605"/>
            <a:ext cx="284052" cy="184666"/>
          </a:xfrm>
          <a:prstGeom prst="rect">
            <a:avLst/>
          </a:prstGeom>
          <a:noFill/>
        </p:spPr>
        <p:txBody>
          <a:bodyPr wrap="none" rtlCol="0">
            <a:spAutoFit/>
          </a:bodyPr>
          <a:lstStyle/>
          <a:p>
            <a:r>
              <a:rPr lang="en-US" sz="600" b="1" u="sng" dirty="0" err="1" smtClean="0"/>
              <a:t>P_j</a:t>
            </a:r>
            <a:endParaRPr lang="en-IN" sz="600" b="1" u="sng" dirty="0"/>
          </a:p>
        </p:txBody>
      </p:sp>
      <p:sp>
        <p:nvSpPr>
          <p:cNvPr id="14" name="TextBox 13"/>
          <p:cNvSpPr txBox="1"/>
          <p:nvPr/>
        </p:nvSpPr>
        <p:spPr>
          <a:xfrm>
            <a:off x="-2776" y="2522067"/>
            <a:ext cx="284052" cy="184666"/>
          </a:xfrm>
          <a:prstGeom prst="rect">
            <a:avLst/>
          </a:prstGeom>
          <a:noFill/>
        </p:spPr>
        <p:txBody>
          <a:bodyPr wrap="none" rtlCol="0">
            <a:spAutoFit/>
          </a:bodyPr>
          <a:lstStyle/>
          <a:p>
            <a:r>
              <a:rPr lang="en-US" sz="600" b="1" u="sng" dirty="0" err="1" smtClean="0"/>
              <a:t>P_j</a:t>
            </a:r>
            <a:endParaRPr lang="en-IN" sz="600" b="1" u="sng" dirty="0"/>
          </a:p>
        </p:txBody>
      </p:sp>
    </p:spTree>
    <p:extLst>
      <p:ext uri="{BB962C8B-B14F-4D97-AF65-F5344CB8AC3E}">
        <p14:creationId xmlns:p14="http://schemas.microsoft.com/office/powerpoint/2010/main" val="1208003757"/>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Recall</a:t>
            </a:r>
            <a:endParaRPr lang="en-IN" dirty="0"/>
          </a:p>
        </p:txBody>
      </p:sp>
      <p:sp>
        <p:nvSpPr>
          <p:cNvPr id="3" name="Text Placeholder 2"/>
          <p:cNvSpPr>
            <a:spLocks noGrp="1"/>
          </p:cNvSpPr>
          <p:nvPr>
            <p:ph type="body" idx="1"/>
          </p:nvPr>
        </p:nvSpPr>
        <p:spPr>
          <a:xfrm>
            <a:off x="125856" y="521302"/>
            <a:ext cx="4358386" cy="1354217"/>
          </a:xfrm>
        </p:spPr>
        <p:txBody>
          <a:bodyPr/>
          <a:lstStyle/>
          <a:p>
            <a:pPr marL="171450" indent="-171450">
              <a:buFont typeface="Arial" panose="020B0604020202020204" pitchFamily="34" charset="0"/>
              <a:buChar char="•"/>
            </a:pPr>
            <a:r>
              <a:rPr lang="en-US" b="0" dirty="0" smtClean="0">
                <a:effectLst>
                  <a:outerShdw blurRad="38100" dist="38100" dir="2700000" algn="tl">
                    <a:srgbClr val="000000">
                      <a:alpha val="43137"/>
                    </a:srgbClr>
                  </a:outerShdw>
                </a:effectLst>
              </a:rPr>
              <a:t>Algorithm 3 and </a:t>
            </a:r>
            <a:r>
              <a:rPr lang="en-US" b="0" dirty="0" err="1" smtClean="0">
                <a:effectLst>
                  <a:outerShdw blurRad="38100" dist="38100" dir="2700000" algn="tl">
                    <a:srgbClr val="000000">
                      <a:alpha val="43137"/>
                    </a:srgbClr>
                  </a:outerShdw>
                </a:effectLst>
              </a:rPr>
              <a:t>Lamport’s</a:t>
            </a:r>
            <a:r>
              <a:rPr lang="en-US" b="0" dirty="0" smtClean="0">
                <a:effectLst>
                  <a:outerShdw blurRad="38100" dist="38100" dir="2700000" algn="tl">
                    <a:srgbClr val="000000">
                      <a:alpha val="43137"/>
                    </a:srgbClr>
                  </a:outerShdw>
                </a:effectLst>
              </a:rPr>
              <a:t> Bakery works if you have atomic memory update operation for reading and writing</a:t>
            </a:r>
          </a:p>
          <a:p>
            <a:pPr marL="171450" indent="-171450">
              <a:buFont typeface="Arial" panose="020B0604020202020204" pitchFamily="34" charset="0"/>
              <a:buChar char="•"/>
            </a:pPr>
            <a:endParaRPr lang="en-US" b="0" dirty="0">
              <a:effectLst>
                <a:outerShdw blurRad="38100" dist="38100" dir="2700000" algn="tl">
                  <a:srgbClr val="000000">
                    <a:alpha val="43137"/>
                  </a:srgbClr>
                </a:outerShdw>
              </a:effectLst>
            </a:endParaRPr>
          </a:p>
          <a:p>
            <a:pPr marL="171450" indent="-171450">
              <a:buFont typeface="Arial" panose="020B0604020202020204" pitchFamily="34" charset="0"/>
              <a:buChar char="•"/>
            </a:pPr>
            <a:r>
              <a:rPr lang="en-US" b="0" dirty="0" smtClean="0">
                <a:effectLst>
                  <a:outerShdw blurRad="38100" dist="38100" dir="2700000" algn="tl">
                    <a:srgbClr val="000000">
                      <a:alpha val="43137"/>
                    </a:srgbClr>
                  </a:outerShdw>
                </a:effectLst>
              </a:rPr>
              <a:t>Only assumption that we made: Memory operations atomic</a:t>
            </a:r>
          </a:p>
          <a:p>
            <a:pPr marL="171450" indent="-171450">
              <a:buFont typeface="Arial" panose="020B0604020202020204" pitchFamily="34" charset="0"/>
              <a:buChar char="•"/>
            </a:pPr>
            <a:endParaRPr lang="en-US" b="0" dirty="0">
              <a:effectLst>
                <a:outerShdw blurRad="38100" dist="38100" dir="2700000" algn="tl">
                  <a:srgbClr val="000000">
                    <a:alpha val="43137"/>
                  </a:srgbClr>
                </a:outerShdw>
              </a:effectLst>
            </a:endParaRPr>
          </a:p>
          <a:p>
            <a:pPr marL="171450" indent="-171450">
              <a:buFont typeface="Arial" panose="020B0604020202020204" pitchFamily="34" charset="0"/>
              <a:buChar char="•"/>
            </a:pPr>
            <a:r>
              <a:rPr lang="en-US" b="0" dirty="0" smtClean="0">
                <a:effectLst>
                  <a:outerShdw blurRad="38100" dist="38100" dir="2700000" algn="tl">
                    <a:srgbClr val="000000">
                      <a:alpha val="43137"/>
                    </a:srgbClr>
                  </a:outerShdw>
                </a:effectLst>
              </a:rPr>
              <a:t>Both work but are relatively non-trivial</a:t>
            </a:r>
          </a:p>
          <a:p>
            <a:pPr marL="171450" indent="-171450">
              <a:buFont typeface="Arial" panose="020B0604020202020204" pitchFamily="34" charset="0"/>
              <a:buChar char="•"/>
            </a:pPr>
            <a:endParaRPr lang="en-US" b="0" dirty="0">
              <a:effectLst>
                <a:outerShdw blurRad="38100" dist="38100" dir="2700000" algn="tl">
                  <a:srgbClr val="000000">
                    <a:alpha val="43137"/>
                  </a:srgbClr>
                </a:outerShdw>
              </a:effectLst>
            </a:endParaRPr>
          </a:p>
          <a:p>
            <a:pPr marL="171450" indent="-171450">
              <a:buFont typeface="Arial" panose="020B0604020202020204" pitchFamily="34" charset="0"/>
              <a:buChar char="•"/>
            </a:pPr>
            <a:r>
              <a:rPr lang="en-US" b="0" dirty="0" smtClean="0">
                <a:effectLst>
                  <a:outerShdw blurRad="38100" dist="38100" dir="2700000" algn="tl">
                    <a:srgbClr val="000000">
                      <a:alpha val="43137"/>
                    </a:srgbClr>
                  </a:outerShdw>
                </a:effectLst>
              </a:rPr>
              <a:t>We want something simpler for the programmer </a:t>
            </a:r>
            <a:endParaRPr lang="en-IN" b="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7492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Assumptions</a:t>
            </a:r>
            <a:endParaRPr lang="en-IN" dirty="0"/>
          </a:p>
        </p:txBody>
      </p:sp>
      <p:sp>
        <p:nvSpPr>
          <p:cNvPr id="3" name="Text Placeholder 2"/>
          <p:cNvSpPr>
            <a:spLocks noGrp="1"/>
          </p:cNvSpPr>
          <p:nvPr>
            <p:ph type="body" idx="1"/>
          </p:nvPr>
        </p:nvSpPr>
        <p:spPr>
          <a:xfrm>
            <a:off x="95250" y="382984"/>
            <a:ext cx="4514850" cy="2769989"/>
          </a:xfrm>
        </p:spPr>
        <p:txBody>
          <a:bodyPr/>
          <a:lstStyle/>
          <a:p>
            <a:pPr marL="171450" indent="-171450">
              <a:buFont typeface="Arial" panose="020B0604020202020204" pitchFamily="34" charset="0"/>
              <a:buChar char="•"/>
            </a:pPr>
            <a:endParaRPr lang="en-US" sz="900" b="0" spc="60" dirty="0"/>
          </a:p>
          <a:p>
            <a:r>
              <a:rPr lang="en-US" sz="900" b="0" u="sng" spc="60" dirty="0" smtClean="0"/>
              <a:t>Code for process P[</a:t>
            </a:r>
            <a:r>
              <a:rPr lang="en-US" sz="900" b="0" u="sng" spc="60" dirty="0" err="1" smtClean="0"/>
              <a:t>i</a:t>
            </a:r>
            <a:r>
              <a:rPr lang="en-US" sz="900" b="0" u="sng" spc="60" dirty="0" smtClean="0"/>
              <a:t>]</a:t>
            </a:r>
          </a:p>
          <a:p>
            <a:pPr marL="171450" indent="-171450">
              <a:buFont typeface="Arial" panose="020B0604020202020204" pitchFamily="34" charset="0"/>
              <a:buChar char="•"/>
            </a:pPr>
            <a:endParaRPr lang="en-US" sz="900" b="0" spc="60" dirty="0"/>
          </a:p>
          <a:p>
            <a:pPr marL="171450" indent="-171450">
              <a:buFont typeface="Arial" panose="020B0604020202020204" pitchFamily="34" charset="0"/>
              <a:buChar char="•"/>
            </a:pPr>
            <a:r>
              <a:rPr lang="en-US" sz="900" b="0" spc="60" dirty="0" smtClean="0"/>
              <a:t>1. If P[j] (j != </a:t>
            </a:r>
            <a:r>
              <a:rPr lang="en-US" sz="900" b="0" spc="60" dirty="0" err="1" smtClean="0"/>
              <a:t>i</a:t>
            </a:r>
            <a:r>
              <a:rPr lang="en-US" sz="900" b="0" spc="60" dirty="0" smtClean="0"/>
              <a:t>) is in </a:t>
            </a:r>
            <a:r>
              <a:rPr lang="en-US" sz="900" b="0" spc="60" dirty="0"/>
              <a:t>CS 		</a:t>
            </a:r>
            <a:r>
              <a:rPr lang="en-US" sz="900" b="0" spc="60" dirty="0" smtClean="0"/>
              <a:t>1.  </a:t>
            </a:r>
            <a:r>
              <a:rPr lang="en-US" sz="900" b="0" spc="60" dirty="0"/>
              <a:t>If </a:t>
            </a:r>
            <a:r>
              <a:rPr lang="en-US" sz="900" b="0" spc="60" dirty="0" smtClean="0"/>
              <a:t>(</a:t>
            </a:r>
            <a:r>
              <a:rPr lang="en-US" sz="900" b="0" spc="60" dirty="0" err="1" smtClean="0"/>
              <a:t>inCS</a:t>
            </a:r>
            <a:r>
              <a:rPr lang="en-US" sz="900" b="0" spc="60" dirty="0" smtClean="0"/>
              <a:t>[j] == 1)  </a:t>
            </a:r>
          </a:p>
          <a:p>
            <a:r>
              <a:rPr lang="en-US" sz="900" b="0" spc="60" dirty="0" smtClean="0"/>
              <a:t>              </a:t>
            </a:r>
            <a:r>
              <a:rPr lang="en-US" sz="900" b="0" spc="60" dirty="0" err="1" smtClean="0"/>
              <a:t>goto</a:t>
            </a:r>
            <a:r>
              <a:rPr lang="en-US" sz="900" b="0" spc="60" dirty="0" smtClean="0"/>
              <a:t> 1		       </a:t>
            </a:r>
            <a:r>
              <a:rPr lang="en-US" sz="900" b="0" spc="60" dirty="0" err="1" smtClean="0"/>
              <a:t>goto</a:t>
            </a:r>
            <a:r>
              <a:rPr lang="en-US" sz="900" b="0" spc="60" dirty="0" smtClean="0"/>
              <a:t> </a:t>
            </a:r>
            <a:r>
              <a:rPr lang="en-US" sz="900" b="0" spc="60" dirty="0"/>
              <a:t>1</a:t>
            </a:r>
            <a:endParaRPr lang="en-US" sz="900" b="0" spc="60" dirty="0" smtClean="0"/>
          </a:p>
          <a:p>
            <a:r>
              <a:rPr lang="en-US" sz="900" b="0" spc="60" dirty="0"/>
              <a:t> </a:t>
            </a:r>
            <a:r>
              <a:rPr lang="en-US" sz="900" b="0" spc="60" dirty="0" smtClean="0"/>
              <a:t>   2. Enter CS			2.  </a:t>
            </a:r>
            <a:r>
              <a:rPr lang="en-US" sz="900" b="0" spc="60" dirty="0" err="1" smtClean="0"/>
              <a:t>inCS</a:t>
            </a:r>
            <a:r>
              <a:rPr lang="en-US" sz="900" b="0" spc="60" dirty="0" smtClean="0"/>
              <a:t>[</a:t>
            </a:r>
            <a:r>
              <a:rPr lang="en-US" sz="900" b="0" spc="60" dirty="0" err="1" smtClean="0"/>
              <a:t>i</a:t>
            </a:r>
            <a:r>
              <a:rPr lang="en-US" sz="900" b="0" spc="60" dirty="0" smtClean="0"/>
              <a:t>] = 1</a:t>
            </a:r>
          </a:p>
          <a:p>
            <a:r>
              <a:rPr lang="en-US" sz="900" b="0" spc="60" dirty="0"/>
              <a:t>	</a:t>
            </a:r>
            <a:r>
              <a:rPr lang="en-US" sz="900" b="0" spc="60" dirty="0" smtClean="0"/>
              <a:t>		     CS</a:t>
            </a:r>
          </a:p>
          <a:p>
            <a:endParaRPr lang="en-US" sz="900" b="0" spc="60" dirty="0"/>
          </a:p>
          <a:p>
            <a:pPr marL="171450" indent="-171450">
              <a:buFont typeface="Arial" panose="020B0604020202020204" pitchFamily="34" charset="0"/>
              <a:buChar char="•"/>
            </a:pPr>
            <a:r>
              <a:rPr lang="en-US" sz="900" b="0" spc="60" dirty="0" smtClean="0"/>
              <a:t>Any P[</a:t>
            </a:r>
            <a:r>
              <a:rPr lang="en-US" sz="900" b="0" spc="60" dirty="0" err="1" smtClean="0"/>
              <a:t>i</a:t>
            </a:r>
            <a:r>
              <a:rPr lang="en-US" sz="900" b="0" spc="60" dirty="0" smtClean="0"/>
              <a:t>] from the set of co-operating processes tries to check if any other P[j] is in CS. If so, it repeats the check. If not, go in.</a:t>
            </a:r>
          </a:p>
          <a:p>
            <a:pPr marL="171450" indent="-171450">
              <a:buFont typeface="Arial" panose="020B0604020202020204" pitchFamily="34" charset="0"/>
              <a:buChar char="•"/>
            </a:pPr>
            <a:endParaRPr lang="en-US" sz="900" b="0" spc="60" dirty="0"/>
          </a:p>
          <a:p>
            <a:pPr marL="171450" indent="-171450">
              <a:buFont typeface="Arial" panose="020B0604020202020204" pitchFamily="34" charset="0"/>
              <a:buChar char="•"/>
            </a:pPr>
            <a:r>
              <a:rPr lang="en-US" sz="900" b="0" spc="60" dirty="0" smtClean="0"/>
              <a:t>Unfortunate Interleave: Everybody checks and sees nobody in CS. And all enter, leading to Mutual Exclusion violation</a:t>
            </a:r>
          </a:p>
          <a:p>
            <a:pPr marL="171450" indent="-171450">
              <a:buFont typeface="Arial" panose="020B0604020202020204" pitchFamily="34" charset="0"/>
              <a:buChar char="•"/>
            </a:pPr>
            <a:endParaRPr lang="en-US" sz="900" b="0" spc="60" dirty="0" smtClean="0"/>
          </a:p>
          <a:p>
            <a:pPr marL="171450" indent="-171450">
              <a:buFont typeface="Arial" panose="020B0604020202020204" pitchFamily="34" charset="0"/>
              <a:buChar char="•"/>
            </a:pPr>
            <a:r>
              <a:rPr lang="en-US" sz="900" b="0" spc="60" dirty="0" smtClean="0"/>
              <a:t>Solution: Can we make these operations happen together? </a:t>
            </a:r>
            <a:endParaRPr lang="en-US" sz="900" b="0" spc="60" dirty="0"/>
          </a:p>
          <a:p>
            <a:pPr marL="171450" indent="-171450">
              <a:buFont typeface="Arial" panose="020B0604020202020204" pitchFamily="34" charset="0"/>
              <a:buChar char="•"/>
            </a:pPr>
            <a:endParaRPr lang="en-US" sz="900" b="0" i="1" spc="60" dirty="0" smtClean="0"/>
          </a:p>
          <a:p>
            <a:pPr marL="171450" indent="-171450">
              <a:buFont typeface="Arial" panose="020B0604020202020204" pitchFamily="34" charset="0"/>
              <a:buChar char="•"/>
            </a:pPr>
            <a:r>
              <a:rPr lang="en-US" sz="900" b="0" i="1" spc="60" dirty="0" smtClean="0"/>
              <a:t>No context switch allowed in between 1 and 2 </a:t>
            </a:r>
            <a:r>
              <a:rPr lang="en-US" sz="900" b="0" spc="60" dirty="0" smtClean="0"/>
              <a:t>will ensure we are done</a:t>
            </a:r>
          </a:p>
          <a:p>
            <a:pPr marL="171450" indent="-171450">
              <a:buFont typeface="Arial" panose="020B0604020202020204" pitchFamily="34" charset="0"/>
              <a:buChar char="•"/>
            </a:pPr>
            <a:endParaRPr lang="en-US" sz="900" b="0" spc="60" dirty="0">
              <a:solidFill>
                <a:schemeClr val="tx1"/>
              </a:solidFill>
            </a:endParaRPr>
          </a:p>
          <a:p>
            <a:pPr marL="171450" indent="-171450">
              <a:buFont typeface="Arial" panose="020B0604020202020204" pitchFamily="34" charset="0"/>
              <a:buChar char="•"/>
            </a:pPr>
            <a:endParaRPr lang="en-IN" sz="900" spc="60" dirty="0">
              <a:solidFill>
                <a:schemeClr val="tx1"/>
              </a:solidFill>
            </a:endParaRPr>
          </a:p>
          <a:p>
            <a:pPr marL="628650" lvl="1" indent="-171450">
              <a:buFont typeface="Arial" panose="020B0604020202020204" pitchFamily="34" charset="0"/>
              <a:buChar char="•"/>
            </a:pPr>
            <a:endParaRPr lang="en-IN" sz="900" spc="60" dirty="0">
              <a:solidFill>
                <a:schemeClr val="tx1"/>
              </a:solidFill>
              <a:latin typeface="Arial"/>
              <a:cs typeface="Arial"/>
            </a:endParaRPr>
          </a:p>
        </p:txBody>
      </p:sp>
      <p:sp>
        <p:nvSpPr>
          <p:cNvPr id="4" name="Oval 3"/>
          <p:cNvSpPr/>
          <p:nvPr/>
        </p:nvSpPr>
        <p:spPr>
          <a:xfrm>
            <a:off x="247650" y="739775"/>
            <a:ext cx="1524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p:cNvSpPr/>
          <p:nvPr/>
        </p:nvSpPr>
        <p:spPr>
          <a:xfrm>
            <a:off x="2762250" y="766070"/>
            <a:ext cx="15240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p:cNvCxnSpPr/>
          <p:nvPr/>
        </p:nvCxnSpPr>
        <p:spPr>
          <a:xfrm>
            <a:off x="1695450" y="1044575"/>
            <a:ext cx="76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724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Hardware support</a:t>
            </a:r>
            <a:endParaRPr lang="en-IN" dirty="0"/>
          </a:p>
        </p:txBody>
      </p:sp>
      <p:sp>
        <p:nvSpPr>
          <p:cNvPr id="3" name="Text Placeholder 2"/>
          <p:cNvSpPr>
            <a:spLocks noGrp="1"/>
          </p:cNvSpPr>
          <p:nvPr>
            <p:ph type="body" idx="1"/>
          </p:nvPr>
        </p:nvSpPr>
        <p:spPr>
          <a:xfrm>
            <a:off x="125857" y="434975"/>
            <a:ext cx="4358386" cy="3323987"/>
          </a:xfrm>
        </p:spPr>
        <p:txBody>
          <a:bodyPr/>
          <a:lstStyle/>
          <a:p>
            <a:r>
              <a:rPr lang="en-US" sz="900" b="0" dirty="0" smtClean="0">
                <a:solidFill>
                  <a:srgbClr val="FF0000"/>
                </a:solidFill>
              </a:rPr>
              <a:t>Disable Interrupts</a:t>
            </a:r>
          </a:p>
          <a:p>
            <a:r>
              <a:rPr lang="en-US" sz="900" b="0" dirty="0" smtClean="0"/>
              <a:t>1. If </a:t>
            </a:r>
            <a:r>
              <a:rPr lang="en-US" sz="900" b="0" dirty="0" err="1" smtClean="0"/>
              <a:t>inCS</a:t>
            </a:r>
            <a:r>
              <a:rPr lang="en-US" sz="900" b="0" dirty="0" smtClean="0"/>
              <a:t>[j] == 1</a:t>
            </a:r>
          </a:p>
          <a:p>
            <a:r>
              <a:rPr lang="en-US" sz="900" b="0" dirty="0"/>
              <a:t> </a:t>
            </a:r>
            <a:r>
              <a:rPr lang="en-US" sz="900" b="0" dirty="0" smtClean="0"/>
              <a:t>      </a:t>
            </a:r>
            <a:r>
              <a:rPr lang="en-US" sz="900" b="0" dirty="0" err="1" smtClean="0"/>
              <a:t>goto</a:t>
            </a:r>
            <a:r>
              <a:rPr lang="en-US" sz="900" b="0" dirty="0" smtClean="0"/>
              <a:t> 1</a:t>
            </a:r>
          </a:p>
          <a:p>
            <a:r>
              <a:rPr lang="en-US" sz="900" b="0" dirty="0" smtClean="0"/>
              <a:t>2. </a:t>
            </a:r>
            <a:r>
              <a:rPr lang="en-US" sz="900" b="0" dirty="0" err="1" smtClean="0"/>
              <a:t>inCS</a:t>
            </a:r>
            <a:r>
              <a:rPr lang="en-US" sz="900" b="0" dirty="0" smtClean="0"/>
              <a:t>[</a:t>
            </a:r>
            <a:r>
              <a:rPr lang="en-US" sz="900" b="0" dirty="0" err="1" smtClean="0"/>
              <a:t>i</a:t>
            </a:r>
            <a:r>
              <a:rPr lang="en-US" sz="900" b="0" dirty="0" smtClean="0"/>
              <a:t>] = 1</a:t>
            </a:r>
          </a:p>
          <a:p>
            <a:r>
              <a:rPr lang="en-US" sz="900" b="0" dirty="0" smtClean="0"/>
              <a:t>    CS</a:t>
            </a:r>
          </a:p>
          <a:p>
            <a:r>
              <a:rPr lang="en-US" sz="900" b="0" dirty="0" smtClean="0">
                <a:solidFill>
                  <a:srgbClr val="FF0000"/>
                </a:solidFill>
              </a:rPr>
              <a:t> Enable Interrupts</a:t>
            </a:r>
          </a:p>
          <a:p>
            <a:endParaRPr lang="en-US" sz="900" b="0" dirty="0"/>
          </a:p>
          <a:p>
            <a:r>
              <a:rPr lang="en-US" sz="900" b="0" dirty="0" smtClean="0"/>
              <a:t>2 ways I can implement: </a:t>
            </a:r>
          </a:p>
          <a:p>
            <a:pPr marL="228600" indent="-228600">
              <a:buAutoNum type="alphaUcParenR"/>
            </a:pPr>
            <a:r>
              <a:rPr lang="en-US" sz="900" b="0" dirty="0" smtClean="0"/>
              <a:t>Interrupt Disable and Enable – ordinary processes should NOT do this</a:t>
            </a:r>
          </a:p>
          <a:p>
            <a:pPr marL="685800" lvl="1" indent="-228600">
              <a:buFont typeface="Arial" panose="020B0604020202020204" pitchFamily="34" charset="0"/>
              <a:buChar char="•"/>
            </a:pPr>
            <a:r>
              <a:rPr lang="en-US" sz="900" dirty="0" smtClean="0"/>
              <a:t>Can be done ONLY in kernel mode </a:t>
            </a:r>
          </a:p>
          <a:p>
            <a:pPr marL="685800" lvl="1" indent="-228600">
              <a:buFont typeface="Arial" panose="020B0604020202020204" pitchFamily="34" charset="0"/>
              <a:buChar char="•"/>
            </a:pPr>
            <a:endParaRPr lang="en-US" sz="900" b="0" dirty="0" smtClean="0"/>
          </a:p>
          <a:p>
            <a:r>
              <a:rPr lang="en-US" sz="900" b="0" dirty="0" smtClean="0"/>
              <a:t>B</a:t>
            </a:r>
            <a:r>
              <a:rPr lang="en-US" sz="900" b="0" dirty="0"/>
              <a:t>) </a:t>
            </a:r>
            <a:r>
              <a:rPr lang="en-US" sz="900" b="0" dirty="0" smtClean="0"/>
              <a:t>Hardware </a:t>
            </a:r>
            <a:r>
              <a:rPr lang="en-US" sz="900" b="0" dirty="0"/>
              <a:t>provided special instruction </a:t>
            </a:r>
            <a:r>
              <a:rPr lang="en-US" sz="900" b="0" u="sng" dirty="0"/>
              <a:t>atomic test-and-set </a:t>
            </a:r>
          </a:p>
          <a:p>
            <a:r>
              <a:rPr lang="en-US" sz="900" b="0" dirty="0" smtClean="0"/>
              <a:t>   </a:t>
            </a:r>
          </a:p>
          <a:p>
            <a:r>
              <a:rPr lang="en-US" sz="900" b="0" dirty="0" smtClean="0"/>
              <a:t>Checks and returns current value of argument, sets argument to a value</a:t>
            </a:r>
          </a:p>
          <a:p>
            <a:r>
              <a:rPr lang="en-US" sz="900" b="0" dirty="0"/>
              <a:t> </a:t>
            </a:r>
            <a:r>
              <a:rPr lang="en-US" sz="900" b="0" dirty="0" smtClean="0"/>
              <a:t>   Executed as a single machine instruction</a:t>
            </a:r>
          </a:p>
          <a:p>
            <a:r>
              <a:rPr lang="en-US" sz="900" b="0" dirty="0"/>
              <a:t> </a:t>
            </a:r>
            <a:r>
              <a:rPr lang="en-US" sz="900" b="0" dirty="0" smtClean="0"/>
              <a:t>   No context switches in between</a:t>
            </a:r>
          </a:p>
          <a:p>
            <a:r>
              <a:rPr lang="en-US" sz="900" b="0" dirty="0"/>
              <a:t> </a:t>
            </a:r>
            <a:r>
              <a:rPr lang="en-US" sz="900" b="0" dirty="0" smtClean="0"/>
              <a:t>   Can do with 1 memory location for 2 processes (2 separate locations not needed)</a:t>
            </a:r>
          </a:p>
          <a:p>
            <a:endParaRPr lang="en-US" sz="900" b="0" dirty="0" smtClean="0"/>
          </a:p>
          <a:p>
            <a:r>
              <a:rPr lang="en-US" sz="900" b="0" dirty="0"/>
              <a:t>	</a:t>
            </a:r>
            <a:r>
              <a:rPr lang="en-US" sz="900" b="0" dirty="0" smtClean="0"/>
              <a:t>1. if </a:t>
            </a:r>
            <a:r>
              <a:rPr lang="en-US" sz="900" b="0" dirty="0" err="1" smtClean="0"/>
              <a:t>CSbusy</a:t>
            </a:r>
            <a:r>
              <a:rPr lang="en-US" sz="900" b="0" dirty="0" smtClean="0"/>
              <a:t> == 1</a:t>
            </a:r>
          </a:p>
          <a:p>
            <a:r>
              <a:rPr lang="en-US" sz="900" b="0" dirty="0"/>
              <a:t> </a:t>
            </a:r>
            <a:r>
              <a:rPr lang="en-US" sz="900" b="0" dirty="0" smtClean="0"/>
              <a:t>                                  </a:t>
            </a:r>
            <a:r>
              <a:rPr lang="en-US" sz="900" b="0" dirty="0" err="1" smtClean="0"/>
              <a:t>goto</a:t>
            </a:r>
            <a:r>
              <a:rPr lang="en-US" sz="900" b="0" dirty="0" smtClean="0"/>
              <a:t> 1</a:t>
            </a:r>
          </a:p>
          <a:p>
            <a:r>
              <a:rPr lang="en-US" sz="900" b="0" dirty="0"/>
              <a:t> </a:t>
            </a:r>
            <a:r>
              <a:rPr lang="en-US" sz="900" b="0" dirty="0" smtClean="0"/>
              <a:t>                            2. </a:t>
            </a:r>
            <a:r>
              <a:rPr lang="en-US" sz="900" b="0" dirty="0" err="1" smtClean="0"/>
              <a:t>CSbusy</a:t>
            </a:r>
            <a:r>
              <a:rPr lang="en-US" sz="900" b="0" dirty="0" smtClean="0"/>
              <a:t> = 1</a:t>
            </a:r>
          </a:p>
          <a:p>
            <a:endParaRPr lang="en-US" sz="900" b="0" dirty="0"/>
          </a:p>
          <a:p>
            <a:endParaRPr lang="en-US" sz="900" b="0" dirty="0"/>
          </a:p>
          <a:p>
            <a:endParaRPr lang="en-IN" sz="900" b="0" dirty="0"/>
          </a:p>
        </p:txBody>
      </p:sp>
      <p:cxnSp>
        <p:nvCxnSpPr>
          <p:cNvPr id="5" name="Straight Arrow Connector 4"/>
          <p:cNvCxnSpPr/>
          <p:nvPr/>
        </p:nvCxnSpPr>
        <p:spPr>
          <a:xfrm>
            <a:off x="1085850" y="784453"/>
            <a:ext cx="45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43050" y="676731"/>
            <a:ext cx="1066800" cy="215444"/>
          </a:xfrm>
          <a:prstGeom prst="rect">
            <a:avLst/>
          </a:prstGeom>
          <a:noFill/>
        </p:spPr>
        <p:txBody>
          <a:bodyPr wrap="square" rtlCol="0">
            <a:spAutoFit/>
          </a:bodyPr>
          <a:lstStyle/>
          <a:p>
            <a:r>
              <a:rPr lang="en-US" sz="800" dirty="0" smtClean="0"/>
              <a:t>No context switch</a:t>
            </a:r>
            <a:endParaRPr lang="en-IN" sz="800" dirty="0"/>
          </a:p>
        </p:txBody>
      </p:sp>
      <p:sp>
        <p:nvSpPr>
          <p:cNvPr id="7" name="Right Brace 6"/>
          <p:cNvSpPr/>
          <p:nvPr/>
        </p:nvSpPr>
        <p:spPr>
          <a:xfrm>
            <a:off x="989147" y="593953"/>
            <a:ext cx="45719" cy="381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8" name="Oval 7"/>
          <p:cNvSpPr/>
          <p:nvPr/>
        </p:nvSpPr>
        <p:spPr>
          <a:xfrm>
            <a:off x="1024890" y="2797175"/>
            <a:ext cx="121919" cy="609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9719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18" end="18"/>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19" end="19"/>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5" dirty="0"/>
              <a:t>Hard</a:t>
            </a:r>
            <a:r>
              <a:rPr dirty="0"/>
              <a:t>w</a:t>
            </a:r>
            <a:r>
              <a:rPr spc="10" dirty="0"/>
              <a:t>are</a:t>
            </a:r>
            <a:r>
              <a:rPr spc="5" dirty="0"/>
              <a:t> </a:t>
            </a:r>
            <a:r>
              <a:rPr spc="10" dirty="0"/>
              <a:t>solutions</a:t>
            </a:r>
          </a:p>
        </p:txBody>
      </p:sp>
      <p:sp>
        <p:nvSpPr>
          <p:cNvPr id="3" name="object 3"/>
          <p:cNvSpPr txBox="1"/>
          <p:nvPr/>
        </p:nvSpPr>
        <p:spPr>
          <a:xfrm>
            <a:off x="1695195" y="411226"/>
            <a:ext cx="1217930" cy="160020"/>
          </a:xfrm>
          <a:prstGeom prst="rect">
            <a:avLst/>
          </a:prstGeom>
          <a:ln w="5054">
            <a:solidFill>
              <a:srgbClr val="000000"/>
            </a:solidFill>
          </a:ln>
        </p:spPr>
        <p:txBody>
          <a:bodyPr vert="horz" wrap="square" lIns="0" tIns="0" rIns="0" bIns="0" rtlCol="0">
            <a:spAutoFit/>
          </a:bodyPr>
          <a:lstStyle/>
          <a:p>
            <a:pPr marL="37465">
              <a:lnSpc>
                <a:spcPct val="100000"/>
              </a:lnSpc>
            </a:pPr>
            <a:r>
              <a:rPr sz="900" spc="-25" dirty="0">
                <a:latin typeface="Century"/>
                <a:cs typeface="Century"/>
              </a:rPr>
              <a:t>Reference: </a:t>
            </a:r>
            <a:r>
              <a:rPr sz="900" spc="-95" dirty="0">
                <a:latin typeface="Century"/>
                <a:cs typeface="Century"/>
              </a:rPr>
              <a:t> </a:t>
            </a:r>
            <a:r>
              <a:rPr sz="900" spc="-25" dirty="0">
                <a:latin typeface="Century"/>
                <a:cs typeface="Century"/>
              </a:rPr>
              <a:t>Section</a:t>
            </a:r>
            <a:r>
              <a:rPr sz="900" spc="55" dirty="0">
                <a:latin typeface="Century"/>
                <a:cs typeface="Century"/>
              </a:rPr>
              <a:t> </a:t>
            </a:r>
            <a:r>
              <a:rPr sz="900" spc="-30" dirty="0">
                <a:latin typeface="Century"/>
                <a:cs typeface="Century"/>
              </a:rPr>
              <a:t>6.3</a:t>
            </a:r>
            <a:endParaRPr sz="900">
              <a:latin typeface="Century"/>
              <a:cs typeface="Century"/>
            </a:endParaRPr>
          </a:p>
        </p:txBody>
      </p:sp>
      <p:sp>
        <p:nvSpPr>
          <p:cNvPr id="4" name="object 4"/>
          <p:cNvSpPr/>
          <p:nvPr/>
        </p:nvSpPr>
        <p:spPr>
          <a:xfrm>
            <a:off x="273938" y="910336"/>
            <a:ext cx="73025" cy="73025"/>
          </a:xfrm>
          <a:custGeom>
            <a:avLst/>
            <a:gdLst/>
            <a:ahLst/>
            <a:cxnLst/>
            <a:rect l="l" t="t" r="r" b="b"/>
            <a:pathLst>
              <a:path w="73025" h="73025">
                <a:moveTo>
                  <a:pt x="0" y="72516"/>
                </a:moveTo>
                <a:lnTo>
                  <a:pt x="72517" y="72516"/>
                </a:lnTo>
                <a:lnTo>
                  <a:pt x="72517" y="0"/>
                </a:lnTo>
                <a:lnTo>
                  <a:pt x="0" y="0"/>
                </a:lnTo>
                <a:lnTo>
                  <a:pt x="0" y="72516"/>
                </a:lnTo>
                <a:close/>
              </a:path>
            </a:pathLst>
          </a:custGeom>
          <a:solidFill>
            <a:srgbClr val="337F7F"/>
          </a:solidFill>
        </p:spPr>
        <p:txBody>
          <a:bodyPr wrap="square" lIns="0" tIns="0" rIns="0" bIns="0" rtlCol="0"/>
          <a:lstStyle/>
          <a:p>
            <a:endParaRPr/>
          </a:p>
        </p:txBody>
      </p:sp>
      <p:sp>
        <p:nvSpPr>
          <p:cNvPr id="6" name="object 6"/>
          <p:cNvSpPr txBox="1"/>
          <p:nvPr/>
        </p:nvSpPr>
        <p:spPr>
          <a:xfrm>
            <a:off x="98612" y="685195"/>
            <a:ext cx="3139633" cy="669414"/>
          </a:xfrm>
          <a:prstGeom prst="rect">
            <a:avLst/>
          </a:prstGeom>
        </p:spPr>
        <p:txBody>
          <a:bodyPr vert="horz" wrap="square" lIns="0" tIns="0" rIns="0" bIns="0" rtlCol="0">
            <a:spAutoFit/>
          </a:bodyPr>
          <a:lstStyle/>
          <a:p>
            <a:pPr marL="12700">
              <a:lnSpc>
                <a:spcPct val="100000"/>
              </a:lnSpc>
            </a:pPr>
            <a:r>
              <a:rPr lang="en-IN" sz="1100" b="1" spc="-10" dirty="0">
                <a:latin typeface="Arial"/>
                <a:cs typeface="Arial"/>
              </a:rPr>
              <a:t>Atomic</a:t>
            </a:r>
            <a:r>
              <a:rPr lang="en-IN" sz="1100" b="1" spc="-5" dirty="0">
                <a:latin typeface="Arial"/>
                <a:cs typeface="Arial"/>
              </a:rPr>
              <a:t> </a:t>
            </a:r>
            <a:r>
              <a:rPr lang="en-IN" sz="1100" b="1" spc="-10" dirty="0">
                <a:latin typeface="Arial"/>
                <a:cs typeface="Arial"/>
              </a:rPr>
              <a:t>test-and-set</a:t>
            </a:r>
            <a:endParaRPr lang="en-IN" sz="1100" dirty="0">
              <a:latin typeface="Arial"/>
              <a:cs typeface="Arial"/>
            </a:endParaRPr>
          </a:p>
          <a:p>
            <a:pPr marL="289560">
              <a:lnSpc>
                <a:spcPct val="100000"/>
              </a:lnSpc>
              <a:spcBef>
                <a:spcPts val="35"/>
              </a:spcBef>
            </a:pPr>
            <a:r>
              <a:rPr lang="en-US" sz="1100" spc="-10" dirty="0" smtClean="0">
                <a:latin typeface="Arial"/>
                <a:cs typeface="Arial"/>
              </a:rPr>
              <a:t>Atomic instruction (operation) that returns current value and sets argument to 1</a:t>
            </a:r>
            <a:endParaRPr sz="1100" dirty="0" smtClean="0">
              <a:latin typeface="Arial"/>
              <a:cs typeface="Arial"/>
            </a:endParaRPr>
          </a:p>
          <a:p>
            <a:pPr>
              <a:lnSpc>
                <a:spcPct val="100000"/>
              </a:lnSpc>
              <a:spcBef>
                <a:spcPts val="23"/>
              </a:spcBef>
            </a:pPr>
            <a:endParaRPr sz="1050" dirty="0">
              <a:latin typeface="Times New Roman"/>
              <a:cs typeface="Times New Roman"/>
            </a:endParaRPr>
          </a:p>
        </p:txBody>
      </p:sp>
      <p:sp>
        <p:nvSpPr>
          <p:cNvPr id="7" name="object 7"/>
          <p:cNvSpPr/>
          <p:nvPr/>
        </p:nvSpPr>
        <p:spPr>
          <a:xfrm>
            <a:off x="273938" y="1667002"/>
            <a:ext cx="73025" cy="73025"/>
          </a:xfrm>
          <a:custGeom>
            <a:avLst/>
            <a:gdLst/>
            <a:ahLst/>
            <a:cxnLst/>
            <a:rect l="l" t="t" r="r" b="b"/>
            <a:pathLst>
              <a:path w="73025" h="73025">
                <a:moveTo>
                  <a:pt x="0" y="72517"/>
                </a:moveTo>
                <a:lnTo>
                  <a:pt x="72517" y="72517"/>
                </a:lnTo>
                <a:lnTo>
                  <a:pt x="72517" y="0"/>
                </a:lnTo>
                <a:lnTo>
                  <a:pt x="0" y="0"/>
                </a:lnTo>
                <a:lnTo>
                  <a:pt x="0" y="72517"/>
                </a:lnTo>
                <a:close/>
              </a:path>
            </a:pathLst>
          </a:custGeom>
          <a:solidFill>
            <a:srgbClr val="337F7F"/>
          </a:solidFill>
        </p:spPr>
        <p:txBody>
          <a:bodyPr wrap="square" lIns="0" tIns="0" rIns="0" bIns="0" rtlCol="0"/>
          <a:lstStyle/>
          <a:p>
            <a:endParaRPr/>
          </a:p>
        </p:txBody>
      </p:sp>
      <p:sp>
        <p:nvSpPr>
          <p:cNvPr id="8" name="object 8"/>
          <p:cNvSpPr/>
          <p:nvPr/>
        </p:nvSpPr>
        <p:spPr>
          <a:xfrm>
            <a:off x="273938" y="2173097"/>
            <a:ext cx="73025" cy="73025"/>
          </a:xfrm>
          <a:custGeom>
            <a:avLst/>
            <a:gdLst/>
            <a:ahLst/>
            <a:cxnLst/>
            <a:rect l="l" t="t" r="r" b="b"/>
            <a:pathLst>
              <a:path w="73025" h="73025">
                <a:moveTo>
                  <a:pt x="0" y="72516"/>
                </a:moveTo>
                <a:lnTo>
                  <a:pt x="72517" y="72516"/>
                </a:lnTo>
                <a:lnTo>
                  <a:pt x="72517" y="0"/>
                </a:lnTo>
                <a:lnTo>
                  <a:pt x="0" y="0"/>
                </a:lnTo>
                <a:lnTo>
                  <a:pt x="0" y="72516"/>
                </a:lnTo>
                <a:close/>
              </a:path>
            </a:pathLst>
          </a:custGeom>
          <a:solidFill>
            <a:srgbClr val="337F7F"/>
          </a:solidFill>
        </p:spPr>
        <p:txBody>
          <a:bodyPr wrap="square" lIns="0" tIns="0" rIns="0" bIns="0" rtlCol="0"/>
          <a:lstStyle/>
          <a:p>
            <a:endParaRPr/>
          </a:p>
        </p:txBody>
      </p:sp>
      <p:sp>
        <p:nvSpPr>
          <p:cNvPr id="9" name="object 9"/>
          <p:cNvSpPr txBox="1"/>
          <p:nvPr/>
        </p:nvSpPr>
        <p:spPr>
          <a:xfrm>
            <a:off x="402970" y="1620169"/>
            <a:ext cx="2835275" cy="1510670"/>
          </a:xfrm>
          <a:prstGeom prst="rect">
            <a:avLst/>
          </a:prstGeom>
        </p:spPr>
        <p:txBody>
          <a:bodyPr vert="horz" wrap="square" lIns="0" tIns="0" rIns="0" bIns="0" rtlCol="0">
            <a:spAutoFit/>
          </a:bodyPr>
          <a:lstStyle/>
          <a:p>
            <a:pPr marL="12700">
              <a:lnSpc>
                <a:spcPct val="100000"/>
              </a:lnSpc>
            </a:pPr>
            <a:r>
              <a:rPr sz="1100" spc="-145" dirty="0">
                <a:latin typeface="Arial"/>
                <a:cs typeface="Arial"/>
              </a:rPr>
              <a:t>T</a:t>
            </a:r>
            <a:r>
              <a:rPr sz="1100" spc="-10" dirty="0">
                <a:latin typeface="Arial"/>
                <a:cs typeface="Arial"/>
              </a:rPr>
              <a:t>estAndSet</a:t>
            </a:r>
            <a:r>
              <a:rPr sz="1100" spc="-5" dirty="0">
                <a:latin typeface="Arial"/>
                <a:cs typeface="Arial"/>
              </a:rPr>
              <a:t> </a:t>
            </a:r>
            <a:r>
              <a:rPr sz="1100" spc="-10" dirty="0">
                <a:latin typeface="Arial"/>
                <a:cs typeface="Arial"/>
              </a:rPr>
              <a:t>p</a:t>
            </a:r>
            <a:r>
              <a:rPr sz="1100" spc="5" dirty="0">
                <a:latin typeface="Arial"/>
                <a:cs typeface="Arial"/>
              </a:rPr>
              <a:t>r</a:t>
            </a:r>
            <a:r>
              <a:rPr sz="1100" spc="-5" dirty="0">
                <a:latin typeface="Arial"/>
                <a:cs typeface="Arial"/>
              </a:rPr>
              <a:t>imiti</a:t>
            </a:r>
            <a:r>
              <a:rPr sz="1100" spc="-40" dirty="0">
                <a:latin typeface="Arial"/>
                <a:cs typeface="Arial"/>
              </a:rPr>
              <a:t>v</a:t>
            </a:r>
            <a:r>
              <a:rPr sz="1100" spc="-5" dirty="0">
                <a:latin typeface="Arial"/>
                <a:cs typeface="Arial"/>
              </a:rPr>
              <a:t>e:</a:t>
            </a:r>
            <a:endParaRPr sz="1100" dirty="0">
              <a:latin typeface="Arial"/>
              <a:cs typeface="Arial"/>
            </a:endParaRPr>
          </a:p>
          <a:p>
            <a:pPr marL="12700">
              <a:lnSpc>
                <a:spcPct val="100000"/>
              </a:lnSpc>
              <a:spcBef>
                <a:spcPts val="275"/>
              </a:spcBef>
            </a:pPr>
            <a:r>
              <a:rPr sz="900" spc="80" dirty="0">
                <a:latin typeface="Times New Roman"/>
                <a:cs typeface="Times New Roman"/>
              </a:rPr>
              <a:t>char </a:t>
            </a:r>
            <a:r>
              <a:rPr sz="900" spc="15" dirty="0">
                <a:latin typeface="Times New Roman"/>
                <a:cs typeface="Times New Roman"/>
              </a:rPr>
              <a:t> </a:t>
            </a:r>
            <a:r>
              <a:rPr sz="900" spc="60" dirty="0">
                <a:latin typeface="Times New Roman"/>
                <a:cs typeface="Times New Roman"/>
              </a:rPr>
              <a:t>TestAndSet(char</a:t>
            </a:r>
            <a:r>
              <a:rPr sz="900" dirty="0">
                <a:latin typeface="Times New Roman"/>
                <a:cs typeface="Times New Roman"/>
              </a:rPr>
              <a:t> </a:t>
            </a:r>
            <a:r>
              <a:rPr sz="900" spc="20" dirty="0">
                <a:latin typeface="Times New Roman"/>
                <a:cs typeface="Times New Roman"/>
              </a:rPr>
              <a:t> </a:t>
            </a:r>
            <a:r>
              <a:rPr sz="900" spc="110" dirty="0">
                <a:latin typeface="Times New Roman"/>
                <a:cs typeface="Times New Roman"/>
              </a:rPr>
              <a:t>*flag)</a:t>
            </a:r>
            <a:endParaRPr sz="900" dirty="0">
              <a:latin typeface="Times New Roman"/>
              <a:cs typeface="Times New Roman"/>
            </a:endParaRPr>
          </a:p>
          <a:p>
            <a:pPr marL="12700">
              <a:lnSpc>
                <a:spcPct val="100000"/>
              </a:lnSpc>
              <a:spcBef>
                <a:spcPts val="15"/>
              </a:spcBef>
            </a:pPr>
            <a:r>
              <a:rPr sz="900" spc="30" dirty="0">
                <a:latin typeface="Times New Roman"/>
                <a:cs typeface="Times New Roman"/>
              </a:rPr>
              <a:t>{ </a:t>
            </a:r>
            <a:r>
              <a:rPr sz="900" spc="15" dirty="0">
                <a:latin typeface="Times New Roman"/>
                <a:cs typeface="Times New Roman"/>
              </a:rPr>
              <a:t> </a:t>
            </a:r>
            <a:r>
              <a:rPr sz="900" spc="80" dirty="0">
                <a:latin typeface="Times New Roman"/>
                <a:cs typeface="Times New Roman"/>
              </a:rPr>
              <a:t>char</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rv</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*flag;</a:t>
            </a:r>
            <a:r>
              <a:rPr sz="900" dirty="0">
                <a:latin typeface="Times New Roman"/>
                <a:cs typeface="Times New Roman"/>
              </a:rPr>
              <a:t> </a:t>
            </a:r>
            <a:r>
              <a:rPr sz="900" spc="20" dirty="0">
                <a:latin typeface="Times New Roman"/>
                <a:cs typeface="Times New Roman"/>
              </a:rPr>
              <a:t> </a:t>
            </a:r>
            <a:r>
              <a:rPr sz="900" spc="95" dirty="0">
                <a:latin typeface="Times New Roman"/>
                <a:cs typeface="Times New Roman"/>
              </a:rPr>
              <a:t>*flag</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1;</a:t>
            </a:r>
            <a:r>
              <a:rPr sz="900" dirty="0">
                <a:latin typeface="Times New Roman"/>
                <a:cs typeface="Times New Roman"/>
              </a:rPr>
              <a:t> </a:t>
            </a:r>
            <a:r>
              <a:rPr sz="900" spc="20" dirty="0">
                <a:latin typeface="Times New Roman"/>
                <a:cs typeface="Times New Roman"/>
              </a:rPr>
              <a:t> </a:t>
            </a:r>
            <a:r>
              <a:rPr sz="900" spc="110" dirty="0">
                <a:latin typeface="Times New Roman"/>
                <a:cs typeface="Times New Roman"/>
              </a:rPr>
              <a:t>return</a:t>
            </a:r>
            <a:r>
              <a:rPr sz="900" dirty="0">
                <a:latin typeface="Times New Roman"/>
                <a:cs typeface="Times New Roman"/>
              </a:rPr>
              <a:t> </a:t>
            </a:r>
            <a:r>
              <a:rPr sz="900" spc="20" dirty="0">
                <a:latin typeface="Times New Roman"/>
                <a:cs typeface="Times New Roman"/>
              </a:rPr>
              <a:t> </a:t>
            </a:r>
            <a:r>
              <a:rPr sz="900" spc="135" dirty="0">
                <a:latin typeface="Times New Roman"/>
                <a:cs typeface="Times New Roman"/>
              </a:rPr>
              <a:t>rv;</a:t>
            </a:r>
            <a:r>
              <a:rPr sz="900" dirty="0">
                <a:latin typeface="Times New Roman"/>
                <a:cs typeface="Times New Roman"/>
              </a:rPr>
              <a:t> </a:t>
            </a:r>
            <a:r>
              <a:rPr sz="900" spc="20" dirty="0">
                <a:latin typeface="Times New Roman"/>
                <a:cs typeface="Times New Roman"/>
              </a:rPr>
              <a:t> </a:t>
            </a:r>
            <a:r>
              <a:rPr sz="900" spc="30" dirty="0">
                <a:latin typeface="Times New Roman"/>
                <a:cs typeface="Times New Roman"/>
              </a:rPr>
              <a:t>}</a:t>
            </a:r>
            <a:endParaRPr sz="900" dirty="0">
              <a:latin typeface="Times New Roman"/>
              <a:cs typeface="Times New Roman"/>
            </a:endParaRPr>
          </a:p>
          <a:p>
            <a:pPr marL="12700">
              <a:lnSpc>
                <a:spcPts val="1310"/>
              </a:lnSpc>
              <a:spcBef>
                <a:spcPts val="215"/>
              </a:spcBef>
            </a:pPr>
            <a:r>
              <a:rPr sz="1100" spc="-10" dirty="0">
                <a:latin typeface="Arial"/>
                <a:cs typeface="Arial"/>
              </a:rPr>
              <a:t>CSP</a:t>
            </a:r>
            <a:r>
              <a:rPr sz="1100" spc="-5" dirty="0">
                <a:latin typeface="Arial"/>
                <a:cs typeface="Arial"/>
              </a:rPr>
              <a:t> solution:</a:t>
            </a:r>
            <a:endParaRPr sz="1100" dirty="0">
              <a:latin typeface="Arial"/>
              <a:cs typeface="Arial"/>
            </a:endParaRPr>
          </a:p>
          <a:p>
            <a:pPr marL="12700">
              <a:lnSpc>
                <a:spcPts val="1070"/>
              </a:lnSpc>
            </a:pPr>
            <a:r>
              <a:rPr sz="900" spc="75" dirty="0">
                <a:latin typeface="Times New Roman"/>
                <a:cs typeface="Times New Roman"/>
              </a:rPr>
              <a:t>shared </a:t>
            </a:r>
            <a:r>
              <a:rPr sz="900" spc="15" dirty="0">
                <a:latin typeface="Times New Roman"/>
                <a:cs typeface="Times New Roman"/>
              </a:rPr>
              <a:t> </a:t>
            </a:r>
            <a:r>
              <a:rPr sz="900" spc="80" dirty="0">
                <a:latin typeface="Times New Roman"/>
                <a:cs typeface="Times New Roman"/>
              </a:rPr>
              <a:t>char</a:t>
            </a:r>
            <a:r>
              <a:rPr sz="900" dirty="0">
                <a:latin typeface="Times New Roman"/>
                <a:cs typeface="Times New Roman"/>
              </a:rPr>
              <a:t> </a:t>
            </a:r>
            <a:r>
              <a:rPr sz="900" spc="20" dirty="0">
                <a:latin typeface="Times New Roman"/>
                <a:cs typeface="Times New Roman"/>
              </a:rPr>
              <a:t> </a:t>
            </a:r>
            <a:r>
              <a:rPr sz="900" spc="80" dirty="0">
                <a:latin typeface="Times New Roman"/>
                <a:cs typeface="Times New Roman"/>
              </a:rPr>
              <a:t>lock</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0;</a:t>
            </a:r>
            <a:endParaRPr sz="900" dirty="0">
              <a:latin typeface="Times New Roman"/>
              <a:cs typeface="Times New Roman"/>
            </a:endParaRPr>
          </a:p>
          <a:p>
            <a:pPr marL="12700">
              <a:lnSpc>
                <a:spcPct val="100000"/>
              </a:lnSpc>
              <a:spcBef>
                <a:spcPts val="15"/>
              </a:spcBef>
            </a:pPr>
            <a:r>
              <a:rPr sz="900" spc="245" dirty="0">
                <a:latin typeface="Times New Roman"/>
                <a:cs typeface="Times New Roman"/>
              </a:rPr>
              <a:t>...</a:t>
            </a:r>
            <a:endParaRPr sz="900" dirty="0">
              <a:latin typeface="Times New Roman"/>
              <a:cs typeface="Times New Roman"/>
            </a:endParaRPr>
          </a:p>
          <a:p>
            <a:pPr marL="12700">
              <a:lnSpc>
                <a:spcPct val="100000"/>
              </a:lnSpc>
              <a:spcBef>
                <a:spcPts val="15"/>
              </a:spcBef>
            </a:pPr>
            <a:r>
              <a:rPr sz="900" spc="65" dirty="0">
                <a:latin typeface="Times New Roman"/>
                <a:cs typeface="Times New Roman"/>
              </a:rPr>
              <a:t>while </a:t>
            </a:r>
            <a:r>
              <a:rPr sz="900" spc="15" dirty="0">
                <a:latin typeface="Times New Roman"/>
                <a:cs typeface="Times New Roman"/>
              </a:rPr>
              <a:t> </a:t>
            </a:r>
            <a:r>
              <a:rPr sz="900" spc="70" dirty="0">
                <a:latin typeface="Times New Roman"/>
                <a:cs typeface="Times New Roman"/>
              </a:rPr>
              <a:t>(TestAndSet(&amp;lock));</a:t>
            </a:r>
            <a:r>
              <a:rPr sz="900" dirty="0">
                <a:latin typeface="Times New Roman"/>
                <a:cs typeface="Times New Roman"/>
              </a:rPr>
              <a:t>   </a:t>
            </a:r>
            <a:r>
              <a:rPr sz="900" spc="40" dirty="0">
                <a:latin typeface="Times New Roman"/>
                <a:cs typeface="Times New Roman"/>
              </a:rPr>
              <a:t> </a:t>
            </a:r>
            <a:endParaRPr lang="en-US" sz="900" spc="40" dirty="0" smtClean="0">
              <a:latin typeface="Times New Roman"/>
              <a:cs typeface="Times New Roman"/>
            </a:endParaRPr>
          </a:p>
          <a:p>
            <a:pPr marL="12700">
              <a:lnSpc>
                <a:spcPct val="100000"/>
              </a:lnSpc>
              <a:spcBef>
                <a:spcPts val="15"/>
              </a:spcBef>
            </a:pPr>
            <a:r>
              <a:rPr sz="900" spc="130" dirty="0" err="1" smtClean="0">
                <a:latin typeface="Times New Roman"/>
                <a:cs typeface="Times New Roman"/>
              </a:rPr>
              <a:t>critical_section</a:t>
            </a:r>
            <a:r>
              <a:rPr sz="900" spc="130" dirty="0">
                <a:latin typeface="Times New Roman"/>
                <a:cs typeface="Times New Roman"/>
              </a:rPr>
              <a:t>();</a:t>
            </a:r>
            <a:endParaRPr sz="900" dirty="0">
              <a:latin typeface="Times New Roman"/>
              <a:cs typeface="Times New Roman"/>
            </a:endParaRPr>
          </a:p>
          <a:p>
            <a:pPr marL="12700">
              <a:lnSpc>
                <a:spcPct val="100000"/>
              </a:lnSpc>
              <a:spcBef>
                <a:spcPts val="15"/>
              </a:spcBef>
            </a:pPr>
            <a:endParaRPr lang="en-US" sz="900" spc="245" dirty="0" smtClean="0">
              <a:latin typeface="Times New Roman"/>
              <a:cs typeface="Times New Roman"/>
            </a:endParaRPr>
          </a:p>
          <a:p>
            <a:pPr marL="12700">
              <a:lnSpc>
                <a:spcPct val="100000"/>
              </a:lnSpc>
              <a:spcBef>
                <a:spcPts val="15"/>
              </a:spcBef>
            </a:pPr>
            <a:r>
              <a:rPr sz="900" spc="245" dirty="0" smtClean="0">
                <a:latin typeface="Times New Roman"/>
                <a:cs typeface="Times New Roman"/>
              </a:rPr>
              <a:t>...</a:t>
            </a:r>
            <a:endParaRPr sz="900" dirty="0">
              <a:latin typeface="Times New Roman"/>
              <a:cs typeface="Times New Roman"/>
            </a:endParaRPr>
          </a:p>
        </p:txBody>
      </p:sp>
      <p:sp>
        <p:nvSpPr>
          <p:cNvPr id="10" name="object 10"/>
          <p:cNvSpPr txBox="1"/>
          <p:nvPr/>
        </p:nvSpPr>
        <p:spPr>
          <a:xfrm>
            <a:off x="402970" y="2847254"/>
            <a:ext cx="563880" cy="139700"/>
          </a:xfrm>
          <a:prstGeom prst="rect">
            <a:avLst/>
          </a:prstGeom>
        </p:spPr>
        <p:txBody>
          <a:bodyPr vert="horz" wrap="square" lIns="0" tIns="0" rIns="0" bIns="0" rtlCol="0">
            <a:spAutoFit/>
          </a:bodyPr>
          <a:lstStyle/>
          <a:p>
            <a:pPr marL="12700">
              <a:lnSpc>
                <a:spcPct val="100000"/>
              </a:lnSpc>
            </a:pPr>
            <a:r>
              <a:rPr sz="900" spc="80" dirty="0">
                <a:latin typeface="Times New Roman"/>
                <a:cs typeface="Times New Roman"/>
              </a:rPr>
              <a:t>lock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0;</a:t>
            </a:r>
            <a:endParaRPr sz="900" dirty="0">
              <a:latin typeface="Times New Roman"/>
              <a:cs typeface="Times New Roman"/>
            </a:endParaRPr>
          </a:p>
        </p:txBody>
      </p:sp>
      <p:sp>
        <p:nvSpPr>
          <p:cNvPr id="11" name="object 11"/>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close/>
              </a:path>
            </a:pathLst>
          </a:custGeom>
          <a:solidFill>
            <a:srgbClr val="193F3F"/>
          </a:solidFill>
        </p:spPr>
        <p:txBody>
          <a:bodyPr wrap="square" lIns="0" tIns="0" rIns="0" bIns="0" rtlCol="0"/>
          <a:lstStyle/>
          <a:p>
            <a:endParaRPr/>
          </a:p>
        </p:txBody>
      </p:sp>
      <p:sp>
        <p:nvSpPr>
          <p:cNvPr id="12" name="object 12"/>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close/>
              </a:path>
            </a:pathLst>
          </a:custGeom>
          <a:solidFill>
            <a:srgbClr val="265F5F"/>
          </a:solidFill>
        </p:spPr>
        <p:txBody>
          <a:bodyPr wrap="square" lIns="0" tIns="0" rIns="0" bIns="0" rtlCol="0"/>
          <a:lstStyle/>
          <a:p>
            <a:endParaRPr/>
          </a:p>
        </p:txBody>
      </p:sp>
      <p:sp>
        <p:nvSpPr>
          <p:cNvPr id="13" name="object 13"/>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14" name="object 14"/>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15" name="object 1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r>
              <a:rPr spc="-5" dirty="0"/>
              <a:t>14 / 28</a:t>
            </a:r>
          </a:p>
        </p:txBody>
      </p:sp>
    </p:spTree>
    <p:extLst>
      <p:ext uri="{BB962C8B-B14F-4D97-AF65-F5344CB8AC3E}">
        <p14:creationId xmlns:p14="http://schemas.microsoft.com/office/powerpoint/2010/main" val="342081068"/>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All is Well?</a:t>
            </a:r>
            <a:endParaRPr lang="en-IN" dirty="0"/>
          </a:p>
        </p:txBody>
      </p:sp>
      <p:sp>
        <p:nvSpPr>
          <p:cNvPr id="3" name="Text Placeholder 2"/>
          <p:cNvSpPr>
            <a:spLocks noGrp="1"/>
          </p:cNvSpPr>
          <p:nvPr>
            <p:ph type="body" idx="1"/>
          </p:nvPr>
        </p:nvSpPr>
        <p:spPr>
          <a:xfrm>
            <a:off x="125856" y="521302"/>
            <a:ext cx="4358386" cy="2785378"/>
          </a:xfrm>
        </p:spPr>
        <p:txBody>
          <a:bodyPr/>
          <a:lstStyle/>
          <a:p>
            <a:r>
              <a:rPr lang="en-US" dirty="0" err="1" smtClean="0"/>
              <a:t>TestAndSet</a:t>
            </a:r>
            <a:r>
              <a:rPr lang="en-US" dirty="0" smtClean="0"/>
              <a:t> </a:t>
            </a:r>
            <a:r>
              <a:rPr lang="en-US" b="0" dirty="0" smtClean="0"/>
              <a:t>is a valid solution for n-processes</a:t>
            </a:r>
          </a:p>
          <a:p>
            <a:pPr marL="628650" lvl="1" indent="-171450">
              <a:buFont typeface="Arial" panose="020B0604020202020204" pitchFamily="34" charset="0"/>
              <a:buChar char="•"/>
            </a:pPr>
            <a:r>
              <a:rPr lang="en-US" sz="1100" dirty="0">
                <a:solidFill>
                  <a:schemeClr val="tx1"/>
                </a:solidFill>
                <a:latin typeface="Arial"/>
                <a:cs typeface="Arial"/>
              </a:rPr>
              <a:t>Whichever process is able to execute </a:t>
            </a:r>
            <a:r>
              <a:rPr lang="en-US" sz="1100" dirty="0" err="1">
                <a:solidFill>
                  <a:schemeClr val="tx1"/>
                </a:solidFill>
                <a:latin typeface="Arial"/>
                <a:cs typeface="Arial"/>
              </a:rPr>
              <a:t>TestAndSet</a:t>
            </a:r>
            <a:r>
              <a:rPr lang="en-US" sz="1100" dirty="0">
                <a:solidFill>
                  <a:schemeClr val="tx1"/>
                </a:solidFill>
                <a:latin typeface="Arial"/>
                <a:cs typeface="Arial"/>
              </a:rPr>
              <a:t> first enters, rest </a:t>
            </a:r>
            <a:r>
              <a:rPr lang="en-US" sz="1100" dirty="0" smtClean="0">
                <a:solidFill>
                  <a:schemeClr val="tx1"/>
                </a:solidFill>
                <a:latin typeface="Arial"/>
                <a:cs typeface="Arial"/>
              </a:rPr>
              <a:t>loop until the first process exits…</a:t>
            </a:r>
            <a:endParaRPr lang="en-US" sz="1100" dirty="0">
              <a:solidFill>
                <a:schemeClr val="tx1"/>
              </a:solidFill>
              <a:latin typeface="Arial"/>
              <a:cs typeface="Arial"/>
            </a:endParaRPr>
          </a:p>
          <a:p>
            <a:endParaRPr lang="en-US" dirty="0" smtClean="0"/>
          </a:p>
          <a:p>
            <a:r>
              <a:rPr lang="en-US" dirty="0" smtClean="0"/>
              <a:t>Mutual Exclusion</a:t>
            </a:r>
            <a:r>
              <a:rPr lang="en-US" b="0" dirty="0" smtClean="0"/>
              <a:t>: satisfied</a:t>
            </a:r>
          </a:p>
          <a:p>
            <a:endParaRPr lang="en-US" b="0" dirty="0"/>
          </a:p>
          <a:p>
            <a:r>
              <a:rPr lang="en-US" dirty="0" smtClean="0"/>
              <a:t>Progress</a:t>
            </a:r>
            <a:r>
              <a:rPr lang="en-US" b="0" dirty="0" smtClean="0"/>
              <a:t>: satisfied as well</a:t>
            </a:r>
          </a:p>
          <a:p>
            <a:r>
              <a:rPr lang="en-US" b="0" dirty="0" smtClean="0"/>
              <a:t>     If one process tries to enter, it can enter. If both try to enter, the one   </a:t>
            </a:r>
          </a:p>
          <a:p>
            <a:r>
              <a:rPr lang="en-US" b="0" dirty="0"/>
              <a:t> </a:t>
            </a:r>
            <a:r>
              <a:rPr lang="en-US" b="0" dirty="0" smtClean="0"/>
              <a:t>    which is able to execute test-and-set first gets to enter, other waits</a:t>
            </a:r>
          </a:p>
          <a:p>
            <a:endParaRPr lang="en-US" b="0" dirty="0"/>
          </a:p>
          <a:p>
            <a:r>
              <a:rPr lang="en-US" dirty="0" smtClean="0"/>
              <a:t>Bounded Wait</a:t>
            </a:r>
            <a:r>
              <a:rPr lang="en-US" b="0" dirty="0" smtClean="0"/>
              <a:t>: </a:t>
            </a:r>
            <a:r>
              <a:rPr lang="en-US" b="0" u="sng" dirty="0" smtClean="0">
                <a:effectLst>
                  <a:outerShdw blurRad="38100" dist="38100" dir="2700000" algn="tl">
                    <a:srgbClr val="000000">
                      <a:alpha val="43137"/>
                    </a:srgbClr>
                  </a:outerShdw>
                </a:effectLst>
              </a:rPr>
              <a:t>not satisfied</a:t>
            </a:r>
          </a:p>
          <a:p>
            <a:pPr lvl="1"/>
            <a:r>
              <a:rPr lang="en-US" sz="1200" b="0" dirty="0" smtClean="0"/>
              <a:t>After the lock is set by P0 once, it enters CS and exits CS</a:t>
            </a:r>
          </a:p>
          <a:p>
            <a:pPr lvl="1"/>
            <a:r>
              <a:rPr lang="en-US" sz="1200" b="0" dirty="0" smtClean="0"/>
              <a:t>P1 does not get the CPU at that time</a:t>
            </a:r>
          </a:p>
          <a:p>
            <a:pPr lvl="1"/>
            <a:r>
              <a:rPr lang="en-US" sz="1200" b="0" dirty="0" smtClean="0"/>
              <a:t>P0 executes test-and-set again quickly in succession</a:t>
            </a:r>
          </a:p>
          <a:p>
            <a:pPr lvl="1"/>
            <a:r>
              <a:rPr lang="en-US" sz="1200" b="0" dirty="0" smtClean="0"/>
              <a:t>P0 enters twice in succession</a:t>
            </a:r>
          </a:p>
          <a:p>
            <a:pPr lvl="1"/>
            <a:r>
              <a:rPr lang="en-US" sz="1200" dirty="0" smtClean="0"/>
              <a:t>No guarantee which one will get</a:t>
            </a:r>
            <a:endParaRPr lang="en-IN" sz="1200" b="0" dirty="0"/>
          </a:p>
        </p:txBody>
      </p:sp>
    </p:spTree>
    <p:extLst>
      <p:ext uri="{BB962C8B-B14F-4D97-AF65-F5344CB8AC3E}">
        <p14:creationId xmlns:p14="http://schemas.microsoft.com/office/powerpoint/2010/main" val="342490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pPr marL="12700">
              <a:lnSpc>
                <a:spcPct val="100000"/>
              </a:lnSpc>
            </a:pPr>
            <a:r>
              <a:rPr lang="en-IN" b="1" i="1" dirty="0"/>
              <a:t>n</a:t>
            </a:r>
            <a:r>
              <a:rPr lang="en-IN" b="1" spc="-10" dirty="0"/>
              <a:t>-p</a:t>
            </a:r>
            <a:r>
              <a:rPr lang="en-IN" b="1" spc="-30" dirty="0"/>
              <a:t>r</a:t>
            </a:r>
            <a:r>
              <a:rPr lang="en-IN" b="1" spc="-10" dirty="0"/>
              <a:t>ocess</a:t>
            </a:r>
            <a:r>
              <a:rPr lang="en-IN" b="1" spc="-5" dirty="0"/>
              <a:t> </a:t>
            </a:r>
            <a:r>
              <a:rPr lang="en-IN" b="1" spc="-10" dirty="0" smtClean="0"/>
              <a:t>CSP</a:t>
            </a:r>
            <a:endParaRPr lang="en-IN" dirty="0"/>
          </a:p>
        </p:txBody>
      </p:sp>
      <p:sp>
        <p:nvSpPr>
          <p:cNvPr id="3" name="Text Placeholder 2"/>
          <p:cNvSpPr>
            <a:spLocks noGrp="1"/>
          </p:cNvSpPr>
          <p:nvPr>
            <p:ph type="body" idx="1"/>
          </p:nvPr>
        </p:nvSpPr>
        <p:spPr>
          <a:xfrm>
            <a:off x="125856" y="521302"/>
            <a:ext cx="4358386" cy="2400657"/>
          </a:xfrm>
        </p:spPr>
        <p:txBody>
          <a:bodyPr/>
          <a:lstStyle/>
          <a:p>
            <a:endParaRPr lang="en-US" sz="1200" b="0" dirty="0"/>
          </a:p>
          <a:p>
            <a:r>
              <a:rPr lang="en-US" sz="1200" b="0" dirty="0" smtClean="0"/>
              <a:t>All execute </a:t>
            </a:r>
            <a:r>
              <a:rPr lang="en-US" sz="1200" b="0" dirty="0" err="1" smtClean="0"/>
              <a:t>TestAndSet</a:t>
            </a:r>
            <a:r>
              <a:rPr lang="en-US" sz="1200" b="0" dirty="0" smtClean="0"/>
              <a:t>(&amp;lock)</a:t>
            </a:r>
          </a:p>
          <a:p>
            <a:endParaRPr lang="en-US" sz="1200" b="0" dirty="0"/>
          </a:p>
          <a:p>
            <a:r>
              <a:rPr lang="en-US" sz="1200" b="0" dirty="0" smtClean="0"/>
              <a:t>Whoever executes this first, gets in, rest have to wait</a:t>
            </a:r>
          </a:p>
          <a:p>
            <a:endParaRPr lang="en-US" sz="1200" b="0" dirty="0"/>
          </a:p>
          <a:p>
            <a:r>
              <a:rPr lang="en-US" sz="1200" b="0" dirty="0" smtClean="0"/>
              <a:t>When a process comes out, another executes CS among the remaining processes (including itself) – whoever executes </a:t>
            </a:r>
            <a:r>
              <a:rPr lang="en-US" sz="1200" b="0" dirty="0" err="1" smtClean="0"/>
              <a:t>TestAndSet</a:t>
            </a:r>
            <a:r>
              <a:rPr lang="en-US" sz="1200" b="0" dirty="0" smtClean="0"/>
              <a:t> first, enters</a:t>
            </a:r>
          </a:p>
          <a:p>
            <a:endParaRPr lang="en-US" sz="1200" b="0" dirty="0"/>
          </a:p>
          <a:p>
            <a:r>
              <a:rPr lang="en-US" sz="1200" b="0" dirty="0" smtClean="0"/>
              <a:t>Bounded Wait is not satisfied</a:t>
            </a:r>
          </a:p>
          <a:p>
            <a:pPr marL="228600" indent="-228600">
              <a:buAutoNum type="arabicPeriod"/>
            </a:pPr>
            <a:r>
              <a:rPr lang="en-US" sz="1200" b="0" dirty="0" smtClean="0"/>
              <a:t>P[</a:t>
            </a:r>
            <a:r>
              <a:rPr lang="en-US" sz="1200" b="0" dirty="0" err="1" smtClean="0"/>
              <a:t>i</a:t>
            </a:r>
            <a:r>
              <a:rPr lang="en-US" sz="1200" b="0" dirty="0" smtClean="0"/>
              <a:t>] tests and sets lock</a:t>
            </a:r>
          </a:p>
          <a:p>
            <a:pPr marL="228600" indent="-228600">
              <a:buAutoNum type="arabicPeriod"/>
            </a:pPr>
            <a:r>
              <a:rPr lang="en-US" sz="1200" b="0" dirty="0" smtClean="0"/>
              <a:t>P[</a:t>
            </a:r>
            <a:r>
              <a:rPr lang="en-US" sz="1200" b="0" dirty="0" err="1" smtClean="0"/>
              <a:t>i</a:t>
            </a:r>
            <a:r>
              <a:rPr lang="en-US" sz="1200" b="0" dirty="0" smtClean="0"/>
              <a:t>] enters CS</a:t>
            </a:r>
          </a:p>
          <a:p>
            <a:pPr marL="228600" indent="-228600">
              <a:buAutoNum type="arabicPeriod"/>
            </a:pPr>
            <a:r>
              <a:rPr lang="en-US" sz="1200" b="0" dirty="0" smtClean="0"/>
              <a:t>P[</a:t>
            </a:r>
            <a:r>
              <a:rPr lang="en-US" sz="1200" b="0" dirty="0" err="1" smtClean="0"/>
              <a:t>i</a:t>
            </a:r>
            <a:r>
              <a:rPr lang="en-US" sz="1200" b="0" dirty="0" smtClean="0"/>
              <a:t>] sets lock to 0</a:t>
            </a:r>
            <a:endParaRPr lang="en-IN" sz="1200" b="0" dirty="0"/>
          </a:p>
        </p:txBody>
      </p:sp>
      <p:cxnSp>
        <p:nvCxnSpPr>
          <p:cNvPr id="8" name="Straight Arrow Connector 7"/>
          <p:cNvCxnSpPr/>
          <p:nvPr/>
        </p:nvCxnSpPr>
        <p:spPr>
          <a:xfrm flipH="1">
            <a:off x="1543051" y="2949575"/>
            <a:ext cx="761998" cy="107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381250" y="2797175"/>
            <a:ext cx="1257075" cy="230832"/>
          </a:xfrm>
          <a:prstGeom prst="rect">
            <a:avLst/>
          </a:prstGeom>
          <a:noFill/>
        </p:spPr>
        <p:txBody>
          <a:bodyPr wrap="none" rtlCol="0">
            <a:spAutoFit/>
          </a:bodyPr>
          <a:lstStyle/>
          <a:p>
            <a:r>
              <a:rPr lang="en-US" sz="900" dirty="0" smtClean="0"/>
              <a:t>Anyone can enter here</a:t>
            </a:r>
            <a:endParaRPr lang="en-IN" sz="900" dirty="0"/>
          </a:p>
        </p:txBody>
      </p:sp>
    </p:spTree>
    <p:extLst>
      <p:ext uri="{BB962C8B-B14F-4D97-AF65-F5344CB8AC3E}">
        <p14:creationId xmlns:p14="http://schemas.microsoft.com/office/powerpoint/2010/main" val="303991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Structured lock handover mechanism</a:t>
            </a:r>
            <a:endParaRPr lang="en-IN" dirty="0"/>
          </a:p>
        </p:txBody>
      </p:sp>
      <p:sp>
        <p:nvSpPr>
          <p:cNvPr id="3" name="Text Placeholder 2"/>
          <p:cNvSpPr>
            <a:spLocks noGrp="1"/>
          </p:cNvSpPr>
          <p:nvPr>
            <p:ph type="body" idx="1"/>
          </p:nvPr>
        </p:nvSpPr>
        <p:spPr>
          <a:xfrm>
            <a:off x="125856" y="521302"/>
            <a:ext cx="4358386" cy="2539157"/>
          </a:xfrm>
        </p:spPr>
        <p:txBody>
          <a:bodyPr/>
          <a:lstStyle/>
          <a:p>
            <a:r>
              <a:rPr lang="en-US" b="0" dirty="0" smtClean="0"/>
              <a:t>Interested processes are kept in a list</a:t>
            </a:r>
          </a:p>
          <a:p>
            <a:endParaRPr lang="en-US" b="0" dirty="0" smtClean="0"/>
          </a:p>
          <a:p>
            <a:r>
              <a:rPr lang="en-US" b="0" dirty="0" smtClean="0"/>
              <a:t>P[</a:t>
            </a:r>
            <a:r>
              <a:rPr lang="en-US" b="0" dirty="0" err="1" smtClean="0"/>
              <a:t>i</a:t>
            </a:r>
            <a:r>
              <a:rPr lang="en-US" b="0" dirty="0" smtClean="0"/>
              <a:t>] comes out of CS, checks the list in order, first process which it finds is interested to enter CS is given the chance</a:t>
            </a:r>
          </a:p>
          <a:p>
            <a:endParaRPr lang="en-US" b="0" dirty="0"/>
          </a:p>
          <a:p>
            <a:r>
              <a:rPr lang="en-US" b="0" dirty="0" smtClean="0"/>
              <a:t>Arbitrary contention decided by scheduler goes away</a:t>
            </a:r>
          </a:p>
          <a:p>
            <a:endParaRPr lang="en-US" b="0" dirty="0"/>
          </a:p>
          <a:p>
            <a:r>
              <a:rPr lang="en-US" b="0" dirty="0" smtClean="0"/>
              <a:t>Question: In what order should P[</a:t>
            </a:r>
            <a:r>
              <a:rPr lang="en-US" b="0" dirty="0" err="1" smtClean="0"/>
              <a:t>i</a:t>
            </a:r>
            <a:r>
              <a:rPr lang="en-US" b="0" dirty="0" smtClean="0"/>
              <a:t>] scan the list? </a:t>
            </a:r>
          </a:p>
          <a:p>
            <a:endParaRPr lang="en-US" b="0" dirty="0"/>
          </a:p>
          <a:p>
            <a:r>
              <a:rPr lang="en-US" b="0" dirty="0" smtClean="0"/>
              <a:t>Pitfalls: If list is sorted with </a:t>
            </a:r>
            <a:r>
              <a:rPr lang="en-US" b="0" dirty="0" err="1" smtClean="0"/>
              <a:t>pids</a:t>
            </a:r>
            <a:r>
              <a:rPr lang="en-US" b="0" dirty="0" smtClean="0"/>
              <a:t>, then lower </a:t>
            </a:r>
            <a:r>
              <a:rPr lang="en-US" b="0" dirty="0" err="1" smtClean="0"/>
              <a:t>pids</a:t>
            </a:r>
            <a:r>
              <a:rPr lang="en-US" b="0" dirty="0" smtClean="0"/>
              <a:t> get undue preference</a:t>
            </a:r>
          </a:p>
          <a:p>
            <a:endParaRPr lang="en-US" b="0" dirty="0"/>
          </a:p>
          <a:p>
            <a:r>
              <a:rPr lang="en-US" b="0" dirty="0" smtClean="0"/>
              <a:t>Solution: </a:t>
            </a:r>
          </a:p>
          <a:p>
            <a:r>
              <a:rPr lang="en-US" b="0" dirty="0" smtClean="0"/>
              <a:t>P[</a:t>
            </a:r>
            <a:r>
              <a:rPr lang="en-US" b="0" dirty="0" err="1" smtClean="0"/>
              <a:t>i</a:t>
            </a:r>
            <a:r>
              <a:rPr lang="en-US" b="0" dirty="0" smtClean="0"/>
              <a:t>] starts scanning from P[i+1], and wraps around</a:t>
            </a:r>
          </a:p>
          <a:p>
            <a:r>
              <a:rPr lang="en-US" b="0" dirty="0" smtClean="0"/>
              <a:t>In a complete scan, if no process is found to be interested, keep lock as it was</a:t>
            </a:r>
            <a:endParaRPr lang="en-IN" b="0" dirty="0"/>
          </a:p>
        </p:txBody>
      </p:sp>
    </p:spTree>
    <p:extLst>
      <p:ext uri="{BB962C8B-B14F-4D97-AF65-F5344CB8AC3E}">
        <p14:creationId xmlns:p14="http://schemas.microsoft.com/office/powerpoint/2010/main" val="402201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The code for P[</a:t>
            </a:r>
            <a:r>
              <a:rPr lang="en-US" dirty="0" err="1" smtClean="0"/>
              <a:t>i</a:t>
            </a:r>
            <a:r>
              <a:rPr lang="en-US" dirty="0" smtClean="0"/>
              <a:t>]</a:t>
            </a:r>
            <a:endParaRPr lang="en-IN" dirty="0"/>
          </a:p>
        </p:txBody>
      </p:sp>
      <p:sp>
        <p:nvSpPr>
          <p:cNvPr id="3" name="Text Placeholder 2"/>
          <p:cNvSpPr>
            <a:spLocks noGrp="1"/>
          </p:cNvSpPr>
          <p:nvPr>
            <p:ph type="body" idx="1"/>
          </p:nvPr>
        </p:nvSpPr>
        <p:spPr>
          <a:xfrm>
            <a:off x="95250" y="434975"/>
            <a:ext cx="4369368" cy="3262432"/>
          </a:xfrm>
        </p:spPr>
        <p:txBody>
          <a:bodyPr/>
          <a:lstStyle/>
          <a:p>
            <a:r>
              <a:rPr lang="en-US" sz="900" b="0" dirty="0"/>
              <a:t>w</a:t>
            </a:r>
            <a:r>
              <a:rPr lang="en-US" sz="900" b="0" dirty="0" smtClean="0"/>
              <a:t>ant[</a:t>
            </a:r>
            <a:r>
              <a:rPr lang="en-US" sz="900" b="0" dirty="0" err="1" smtClean="0"/>
              <a:t>i</a:t>
            </a:r>
            <a:r>
              <a:rPr lang="en-US" sz="900" b="0" dirty="0" smtClean="0"/>
              <a:t>] = 1; 	/* want is a shared data structure */</a:t>
            </a:r>
          </a:p>
          <a:p>
            <a:r>
              <a:rPr lang="en-US" sz="900" b="0" dirty="0" smtClean="0"/>
              <a:t>shared lock = 0;</a:t>
            </a:r>
          </a:p>
          <a:p>
            <a:endParaRPr lang="en-US" sz="900" b="0" dirty="0"/>
          </a:p>
          <a:p>
            <a:r>
              <a:rPr lang="en-US" sz="900" b="0" dirty="0" smtClean="0"/>
              <a:t>while (</a:t>
            </a:r>
            <a:r>
              <a:rPr lang="en-US" sz="900" b="0" dirty="0" err="1" smtClean="0"/>
              <a:t>TestAndSet</a:t>
            </a:r>
            <a:r>
              <a:rPr lang="en-US" sz="900" b="0" dirty="0" smtClean="0"/>
              <a:t>(&amp;lock) &amp;&amp; want[</a:t>
            </a:r>
            <a:r>
              <a:rPr lang="en-US" sz="900" b="0" dirty="0" err="1" smtClean="0"/>
              <a:t>i</a:t>
            </a:r>
            <a:r>
              <a:rPr lang="en-US" sz="900" b="0" dirty="0" smtClean="0"/>
              <a:t>]); </a:t>
            </a:r>
            <a:r>
              <a:rPr lang="en-US" sz="900" b="0" dirty="0" smtClean="0">
                <a:solidFill>
                  <a:srgbClr val="FF0000"/>
                </a:solidFill>
              </a:rPr>
              <a:t>--</a:t>
            </a:r>
            <a:r>
              <a:rPr lang="en-US" sz="900" b="0" dirty="0" smtClean="0"/>
              <a:t> </a:t>
            </a:r>
            <a:r>
              <a:rPr lang="en-US" sz="900" b="0" i="1" dirty="0" smtClean="0">
                <a:solidFill>
                  <a:srgbClr val="FF0000"/>
                </a:solidFill>
              </a:rPr>
              <a:t>Either of these keys open the room</a:t>
            </a:r>
          </a:p>
          <a:p>
            <a:r>
              <a:rPr lang="en-US" sz="900" b="0" dirty="0" smtClean="0"/>
              <a:t>want[</a:t>
            </a:r>
            <a:r>
              <a:rPr lang="en-US" sz="900" b="0" dirty="0" err="1" smtClean="0"/>
              <a:t>i</a:t>
            </a:r>
            <a:r>
              <a:rPr lang="en-US" sz="900" b="0" dirty="0" smtClean="0"/>
              <a:t>] = 0; </a:t>
            </a:r>
            <a:r>
              <a:rPr lang="en-US" sz="900" b="0" dirty="0" smtClean="0">
                <a:solidFill>
                  <a:srgbClr val="FF0000"/>
                </a:solidFill>
              </a:rPr>
              <a:t>--</a:t>
            </a:r>
            <a:r>
              <a:rPr lang="en-US" sz="900" b="0" dirty="0" smtClean="0"/>
              <a:t> </a:t>
            </a:r>
            <a:r>
              <a:rPr lang="en-US" sz="900" b="0" i="1" dirty="0">
                <a:solidFill>
                  <a:srgbClr val="FF0000"/>
                </a:solidFill>
              </a:rPr>
              <a:t>N</a:t>
            </a:r>
            <a:r>
              <a:rPr lang="en-US" sz="900" b="0" i="1" dirty="0" smtClean="0">
                <a:solidFill>
                  <a:srgbClr val="FF0000"/>
                </a:solidFill>
              </a:rPr>
              <a:t>eeded for no contention case to let others know</a:t>
            </a:r>
          </a:p>
          <a:p>
            <a:endParaRPr lang="en-US" sz="900" b="0" dirty="0" smtClean="0"/>
          </a:p>
          <a:p>
            <a:r>
              <a:rPr lang="en-US" sz="900" b="0" dirty="0" err="1" smtClean="0"/>
              <a:t>CriticalSection</a:t>
            </a:r>
            <a:r>
              <a:rPr lang="en-US" sz="900" b="0" dirty="0" smtClean="0"/>
              <a:t>();</a:t>
            </a:r>
          </a:p>
          <a:p>
            <a:endParaRPr lang="en-US" sz="900" b="0" dirty="0"/>
          </a:p>
          <a:p>
            <a:r>
              <a:rPr lang="en-US" sz="900" b="0" dirty="0" smtClean="0"/>
              <a:t>for (j=(i+1)%n; j != </a:t>
            </a:r>
            <a:r>
              <a:rPr lang="en-US" sz="900" b="0" dirty="0" err="1" smtClean="0"/>
              <a:t>i</a:t>
            </a:r>
            <a:r>
              <a:rPr lang="en-US" sz="900" b="0" dirty="0" smtClean="0"/>
              <a:t>; j = (j+1)%n) {</a:t>
            </a:r>
          </a:p>
          <a:p>
            <a:r>
              <a:rPr lang="en-US" sz="900" b="0" dirty="0"/>
              <a:t> </a:t>
            </a:r>
            <a:r>
              <a:rPr lang="en-US" sz="900" b="0" dirty="0" smtClean="0"/>
              <a:t>     if (want[j]) {</a:t>
            </a:r>
          </a:p>
          <a:p>
            <a:r>
              <a:rPr lang="en-US" sz="900" b="0" dirty="0" smtClean="0"/>
              <a:t>           want[j] = 0;</a:t>
            </a:r>
          </a:p>
          <a:p>
            <a:r>
              <a:rPr lang="en-US" sz="900" b="0" dirty="0"/>
              <a:t> </a:t>
            </a:r>
            <a:r>
              <a:rPr lang="en-US" sz="900" b="0" dirty="0" smtClean="0"/>
              <a:t>          break;</a:t>
            </a:r>
          </a:p>
          <a:p>
            <a:r>
              <a:rPr lang="en-US" sz="900" b="0" dirty="0"/>
              <a:t> </a:t>
            </a:r>
            <a:r>
              <a:rPr lang="en-US" sz="900" b="0" dirty="0" smtClean="0"/>
              <a:t>     }</a:t>
            </a:r>
          </a:p>
          <a:p>
            <a:r>
              <a:rPr lang="en-US" sz="900" b="0" dirty="0" smtClean="0"/>
              <a:t>}</a:t>
            </a:r>
          </a:p>
          <a:p>
            <a:r>
              <a:rPr lang="en-US" sz="900" b="0" dirty="0" smtClean="0"/>
              <a:t>if (j == </a:t>
            </a:r>
            <a:r>
              <a:rPr lang="en-US" sz="900" b="0" dirty="0" err="1" smtClean="0"/>
              <a:t>i</a:t>
            </a:r>
            <a:r>
              <a:rPr lang="en-US" sz="900" b="0" dirty="0" smtClean="0"/>
              <a:t>)  </a:t>
            </a:r>
            <a:r>
              <a:rPr lang="en-US" sz="900" b="0" i="1" dirty="0" smtClean="0">
                <a:solidFill>
                  <a:srgbClr val="FF0000"/>
                </a:solidFill>
              </a:rPr>
              <a:t>-- Wrapped around to myself, nobody else wants to enter CS</a:t>
            </a:r>
          </a:p>
          <a:p>
            <a:r>
              <a:rPr lang="en-US" sz="900" b="0" dirty="0"/>
              <a:t> </a:t>
            </a:r>
            <a:r>
              <a:rPr lang="en-US" sz="900" b="0" dirty="0" smtClean="0"/>
              <a:t>   lock = 0;</a:t>
            </a:r>
          </a:p>
          <a:p>
            <a:endParaRPr lang="en-US" sz="900" b="0" dirty="0" smtClean="0"/>
          </a:p>
          <a:p>
            <a:r>
              <a:rPr lang="en-US" sz="900" u="sng" dirty="0" smtClean="0"/>
              <a:t>Notes:</a:t>
            </a:r>
          </a:p>
          <a:p>
            <a:pPr marL="171450" indent="-171450">
              <a:buFont typeface="Arial" panose="020B0604020202020204" pitchFamily="34" charset="0"/>
              <a:buChar char="•"/>
            </a:pPr>
            <a:r>
              <a:rPr lang="en-US" sz="800" b="0" dirty="0" smtClean="0"/>
              <a:t>if lock is 0, P[</a:t>
            </a:r>
            <a:r>
              <a:rPr lang="en-US" sz="800" b="0" dirty="0" err="1" smtClean="0"/>
              <a:t>i</a:t>
            </a:r>
            <a:r>
              <a:rPr lang="en-US" sz="800" b="0" dirty="0" smtClean="0"/>
              <a:t>] can enter as well</a:t>
            </a:r>
          </a:p>
          <a:p>
            <a:pPr marL="171450" indent="-171450">
              <a:buFont typeface="Arial" panose="020B0604020202020204" pitchFamily="34" charset="0"/>
              <a:buChar char="•"/>
            </a:pPr>
            <a:r>
              <a:rPr lang="en-US" sz="800" b="0" dirty="0" smtClean="0"/>
              <a:t>if want[</a:t>
            </a:r>
            <a:r>
              <a:rPr lang="en-US" sz="800" b="0" dirty="0" err="1" smtClean="0"/>
              <a:t>i</a:t>
            </a:r>
            <a:r>
              <a:rPr lang="en-US" sz="800" b="0" dirty="0" smtClean="0"/>
              <a:t>] is 0, P[</a:t>
            </a:r>
            <a:r>
              <a:rPr lang="en-US" sz="800" b="0" dirty="0" err="1" smtClean="0"/>
              <a:t>i</a:t>
            </a:r>
            <a:r>
              <a:rPr lang="en-US" sz="800" b="0" dirty="0" smtClean="0"/>
              <a:t>] can enter as well</a:t>
            </a:r>
          </a:p>
          <a:p>
            <a:pPr marL="171450" indent="-171450">
              <a:buFont typeface="Arial" panose="020B0604020202020204" pitchFamily="34" charset="0"/>
              <a:buChar char="•"/>
            </a:pPr>
            <a:r>
              <a:rPr lang="en-US" sz="800" b="0" dirty="0" smtClean="0"/>
              <a:t>want[</a:t>
            </a:r>
            <a:r>
              <a:rPr lang="en-US" sz="800" b="0" dirty="0" err="1" smtClean="0"/>
              <a:t>i</a:t>
            </a:r>
            <a:r>
              <a:rPr lang="en-US" sz="800" b="0" dirty="0" smtClean="0"/>
              <a:t>] can </a:t>
            </a:r>
            <a:r>
              <a:rPr lang="en-US" sz="800" b="0" dirty="0"/>
              <a:t>only be </a:t>
            </a:r>
            <a:r>
              <a:rPr lang="en-US" sz="800" b="0" dirty="0" smtClean="0"/>
              <a:t>0, if </a:t>
            </a:r>
            <a:r>
              <a:rPr lang="en-US" sz="800" b="0" dirty="0"/>
              <a:t>someone else changes my want </a:t>
            </a:r>
            <a:r>
              <a:rPr lang="en-US" sz="800" b="0" dirty="0" smtClean="0"/>
              <a:t>flag</a:t>
            </a:r>
          </a:p>
          <a:p>
            <a:pPr marL="171450" indent="-171450">
              <a:buFont typeface="Arial" panose="020B0604020202020204" pitchFamily="34" charset="0"/>
              <a:buChar char="•"/>
            </a:pPr>
            <a:r>
              <a:rPr lang="en-US" sz="800" b="0" dirty="0" smtClean="0"/>
              <a:t>Exiting process will not do anything to lock, just set want flag of a target process</a:t>
            </a:r>
            <a:endParaRPr lang="en-US" sz="800" b="0" dirty="0"/>
          </a:p>
          <a:p>
            <a:pPr lvl="1"/>
            <a:endParaRPr lang="en-US" sz="900" b="0" dirty="0" smtClean="0"/>
          </a:p>
          <a:p>
            <a:endParaRPr lang="en-IN" sz="900" b="0" dirty="0"/>
          </a:p>
        </p:txBody>
      </p:sp>
    </p:spTree>
    <p:extLst>
      <p:ext uri="{BB962C8B-B14F-4D97-AF65-F5344CB8AC3E}">
        <p14:creationId xmlns:p14="http://schemas.microsoft.com/office/powerpoint/2010/main" val="369888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4" end="1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7" end="1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8" end="1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9" end="1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20" end="2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Bounded waiting</a:t>
            </a:r>
            <a:endParaRPr lang="en-IN" dirty="0"/>
          </a:p>
        </p:txBody>
      </p:sp>
      <p:sp>
        <p:nvSpPr>
          <p:cNvPr id="3" name="Text Placeholder 2"/>
          <p:cNvSpPr>
            <a:spLocks noGrp="1"/>
          </p:cNvSpPr>
          <p:nvPr>
            <p:ph type="body" idx="1"/>
          </p:nvPr>
        </p:nvSpPr>
        <p:spPr>
          <a:xfrm>
            <a:off x="125856" y="521302"/>
            <a:ext cx="4358386" cy="1354217"/>
          </a:xfrm>
        </p:spPr>
        <p:txBody>
          <a:bodyPr/>
          <a:lstStyle/>
          <a:p>
            <a:r>
              <a:rPr lang="en-US" b="0" dirty="0" smtClean="0"/>
              <a:t>Suppose P[</a:t>
            </a:r>
            <a:r>
              <a:rPr lang="en-US" b="0" dirty="0" err="1" smtClean="0"/>
              <a:t>i</a:t>
            </a:r>
            <a:r>
              <a:rPr lang="en-US" b="0" dirty="0" smtClean="0"/>
              <a:t>] wishes to enter CS – after it wants, may have to wait at most n-1 rounds</a:t>
            </a:r>
          </a:p>
          <a:p>
            <a:endParaRPr lang="en-US" b="0" dirty="0" smtClean="0"/>
          </a:p>
          <a:p>
            <a:r>
              <a:rPr lang="en-US" b="0" dirty="0" smtClean="0"/>
              <a:t>Claim: Each P[j] (j != </a:t>
            </a:r>
            <a:r>
              <a:rPr lang="en-US" b="0" dirty="0" err="1" smtClean="0"/>
              <a:t>i</a:t>
            </a:r>
            <a:r>
              <a:rPr lang="en-US" b="0" dirty="0" smtClean="0"/>
              <a:t>) can enter CS before P[</a:t>
            </a:r>
            <a:r>
              <a:rPr lang="en-US" b="0" dirty="0" err="1" smtClean="0"/>
              <a:t>i</a:t>
            </a:r>
            <a:r>
              <a:rPr lang="en-US" b="0" dirty="0" smtClean="0"/>
              <a:t>] at most once before P[</a:t>
            </a:r>
            <a:r>
              <a:rPr lang="en-US" b="0" dirty="0" err="1" smtClean="0"/>
              <a:t>i</a:t>
            </a:r>
            <a:r>
              <a:rPr lang="en-US" b="0" dirty="0" smtClean="0"/>
              <a:t>] is able to </a:t>
            </a:r>
            <a:r>
              <a:rPr lang="en-US" b="0" dirty="0"/>
              <a:t>e</a:t>
            </a:r>
            <a:r>
              <a:rPr lang="en-US" b="0" dirty="0" smtClean="0"/>
              <a:t>nter</a:t>
            </a:r>
          </a:p>
          <a:p>
            <a:endParaRPr lang="en-US" b="0" dirty="0"/>
          </a:p>
          <a:p>
            <a:r>
              <a:rPr lang="en-US" b="0" dirty="0" smtClean="0"/>
              <a:t>Proof: Think of the worst case – P[</a:t>
            </a:r>
            <a:r>
              <a:rPr lang="en-US" b="0" dirty="0" err="1" smtClean="0"/>
              <a:t>i</a:t>
            </a:r>
            <a:r>
              <a:rPr lang="en-US" b="0" dirty="0" smtClean="0"/>
              <a:t>] has just missed, and P[i+1] is entering CS. …</a:t>
            </a:r>
            <a:endParaRPr lang="en-IN" b="0" dirty="0"/>
          </a:p>
        </p:txBody>
      </p:sp>
    </p:spTree>
    <p:extLst>
      <p:ext uri="{BB962C8B-B14F-4D97-AF65-F5344CB8AC3E}">
        <p14:creationId xmlns:p14="http://schemas.microsoft.com/office/powerpoint/2010/main" val="19581318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Putting everything together</a:t>
            </a:r>
            <a:endParaRPr lang="en-IN" dirty="0"/>
          </a:p>
        </p:txBody>
      </p:sp>
      <p:sp>
        <p:nvSpPr>
          <p:cNvPr id="3" name="Text Placeholder 2"/>
          <p:cNvSpPr>
            <a:spLocks noGrp="1"/>
          </p:cNvSpPr>
          <p:nvPr>
            <p:ph type="body" idx="1"/>
          </p:nvPr>
        </p:nvSpPr>
        <p:spPr>
          <a:xfrm>
            <a:off x="30606" y="434975"/>
            <a:ext cx="4484244" cy="2200602"/>
          </a:xfrm>
        </p:spPr>
        <p:txBody>
          <a:bodyPr/>
          <a:lstStyle/>
          <a:p>
            <a:r>
              <a:rPr lang="en-US" b="0" dirty="0" smtClean="0"/>
              <a:t>Case I: No atomic </a:t>
            </a:r>
            <a:r>
              <a:rPr lang="en-US" b="0" dirty="0" err="1"/>
              <a:t>T</a:t>
            </a:r>
            <a:r>
              <a:rPr lang="en-US" b="0" dirty="0" err="1" smtClean="0"/>
              <a:t>estAndSet</a:t>
            </a:r>
            <a:r>
              <a:rPr lang="en-US" b="0" dirty="0" smtClean="0"/>
              <a:t> instruction available</a:t>
            </a:r>
          </a:p>
          <a:p>
            <a:r>
              <a:rPr lang="en-US" b="0" dirty="0" smtClean="0"/>
              <a:t>             Use Algorithm 3 for 2 processes </a:t>
            </a:r>
          </a:p>
          <a:p>
            <a:r>
              <a:rPr lang="en-US" b="0" dirty="0" smtClean="0"/>
              <a:t>             </a:t>
            </a:r>
            <a:r>
              <a:rPr lang="en-US" b="0" dirty="0" err="1" smtClean="0"/>
              <a:t>Lamport’s</a:t>
            </a:r>
            <a:r>
              <a:rPr lang="en-US" b="0" dirty="0" smtClean="0"/>
              <a:t> Bakery for n-processes</a:t>
            </a:r>
          </a:p>
          <a:p>
            <a:r>
              <a:rPr lang="en-US" b="0" dirty="0"/>
              <a:t> </a:t>
            </a:r>
            <a:r>
              <a:rPr lang="en-US" b="0" dirty="0" smtClean="0"/>
              <a:t>            -- both can be applied if atomic load stores available</a:t>
            </a:r>
          </a:p>
          <a:p>
            <a:endParaRPr lang="en-US" b="0" dirty="0"/>
          </a:p>
          <a:p>
            <a:r>
              <a:rPr lang="en-US" b="0" dirty="0" smtClean="0"/>
              <a:t>Case 2: Atomic </a:t>
            </a:r>
            <a:r>
              <a:rPr lang="en-US" b="0" dirty="0" err="1"/>
              <a:t>T</a:t>
            </a:r>
            <a:r>
              <a:rPr lang="en-US" b="0" dirty="0" err="1" smtClean="0"/>
              <a:t>estAndSet</a:t>
            </a:r>
            <a:r>
              <a:rPr lang="en-US" b="0" dirty="0" smtClean="0"/>
              <a:t>  instruction available in </a:t>
            </a:r>
            <a:r>
              <a:rPr lang="en-US" b="0" u="sng" dirty="0" smtClean="0"/>
              <a:t>architecture</a:t>
            </a:r>
          </a:p>
          <a:p>
            <a:r>
              <a:rPr lang="en-US" b="0" dirty="0"/>
              <a:t> </a:t>
            </a:r>
            <a:r>
              <a:rPr lang="en-US" b="0" dirty="0" smtClean="0"/>
              <a:t>             Use n-process hardware CSP with </a:t>
            </a:r>
            <a:r>
              <a:rPr lang="en-US" b="0" u="sng" dirty="0" smtClean="0"/>
              <a:t>proper key handover</a:t>
            </a:r>
          </a:p>
          <a:p>
            <a:r>
              <a:rPr lang="en-US" b="0" dirty="0" smtClean="0"/>
              <a:t>              Instruction: Available in hardware</a:t>
            </a:r>
          </a:p>
          <a:p>
            <a:r>
              <a:rPr lang="en-US" b="0" dirty="0" smtClean="0"/>
              <a:t>              </a:t>
            </a:r>
          </a:p>
          <a:p>
            <a:r>
              <a:rPr lang="en-US" b="0" dirty="0"/>
              <a:t> </a:t>
            </a:r>
            <a:r>
              <a:rPr lang="en-US" b="0" dirty="0" smtClean="0"/>
              <a:t>             If not, </a:t>
            </a:r>
            <a:r>
              <a:rPr lang="en-US" b="0" dirty="0" err="1" smtClean="0"/>
              <a:t>TestAndSet</a:t>
            </a:r>
            <a:r>
              <a:rPr lang="en-US" b="0" dirty="0" smtClean="0"/>
              <a:t> </a:t>
            </a:r>
            <a:r>
              <a:rPr lang="en-US" b="0" dirty="0"/>
              <a:t>can </a:t>
            </a:r>
            <a:r>
              <a:rPr lang="en-US" b="0" dirty="0" smtClean="0"/>
              <a:t>be provided by kernel as a system call</a:t>
            </a:r>
          </a:p>
          <a:p>
            <a:r>
              <a:rPr lang="en-US" b="0" dirty="0"/>
              <a:t>	</a:t>
            </a:r>
            <a:r>
              <a:rPr lang="en-US" b="0" dirty="0" smtClean="0"/>
              <a:t>Load, Store, and return value by Interrupt disable / enable</a:t>
            </a:r>
          </a:p>
          <a:p>
            <a:r>
              <a:rPr lang="en-US" b="0" dirty="0"/>
              <a:t>	</a:t>
            </a:r>
            <a:r>
              <a:rPr lang="en-US" b="0" dirty="0" smtClean="0"/>
              <a:t>Setting correct value happens in kernel mode</a:t>
            </a:r>
          </a:p>
          <a:p>
            <a:r>
              <a:rPr lang="en-US" b="0" dirty="0"/>
              <a:t>	</a:t>
            </a:r>
            <a:r>
              <a:rPr lang="en-US" b="0" dirty="0" smtClean="0"/>
              <a:t>Even without hardware support, can be done</a:t>
            </a:r>
            <a:endParaRPr lang="en-US" b="0" dirty="0"/>
          </a:p>
        </p:txBody>
      </p:sp>
    </p:spTree>
    <p:extLst>
      <p:ext uri="{BB962C8B-B14F-4D97-AF65-F5344CB8AC3E}">
        <p14:creationId xmlns:p14="http://schemas.microsoft.com/office/powerpoint/2010/main" val="12603782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Other classes of solutions</a:t>
            </a:r>
            <a:endParaRPr lang="en-IN" dirty="0"/>
          </a:p>
        </p:txBody>
      </p:sp>
      <p:sp>
        <p:nvSpPr>
          <p:cNvPr id="3" name="Text Placeholder 2"/>
          <p:cNvSpPr>
            <a:spLocks noGrp="1"/>
          </p:cNvSpPr>
          <p:nvPr>
            <p:ph type="body" idx="1"/>
          </p:nvPr>
        </p:nvSpPr>
        <p:spPr>
          <a:xfrm>
            <a:off x="89647" y="434975"/>
            <a:ext cx="4358386" cy="1985159"/>
          </a:xfrm>
        </p:spPr>
        <p:txBody>
          <a:bodyPr/>
          <a:lstStyle/>
          <a:p>
            <a:r>
              <a:rPr lang="en-US" sz="1050" b="0" dirty="0" smtClean="0"/>
              <a:t>Managing CS using the entry and exit section code is a headache for application programmers</a:t>
            </a:r>
          </a:p>
          <a:p>
            <a:endParaRPr lang="en-US" sz="1050" b="0" dirty="0"/>
          </a:p>
          <a:p>
            <a:r>
              <a:rPr lang="en-US" sz="1050" b="0" dirty="0" smtClean="0"/>
              <a:t>In case of multiple shared data structures (e.g. bookmarks, history etc. in multiple windows), each shared data structure has to be put in separate CS and for each shared data structure, need </a:t>
            </a:r>
            <a:r>
              <a:rPr lang="en-US" sz="1050" b="0" u="sng" dirty="0" smtClean="0"/>
              <a:t>separate</a:t>
            </a:r>
            <a:r>
              <a:rPr lang="en-US" sz="1050" b="0" dirty="0" smtClean="0"/>
              <a:t> bakery – </a:t>
            </a:r>
            <a:r>
              <a:rPr lang="en-US" sz="1050" b="0" i="1" dirty="0" smtClean="0">
                <a:solidFill>
                  <a:srgbClr val="FF0000"/>
                </a:solidFill>
                <a:effectLst>
                  <a:outerShdw blurRad="38100" dist="38100" dir="2700000" algn="tl">
                    <a:srgbClr val="000000">
                      <a:alpha val="43137"/>
                    </a:srgbClr>
                  </a:outerShdw>
                </a:effectLst>
              </a:rPr>
              <a:t>Why?</a:t>
            </a:r>
          </a:p>
          <a:p>
            <a:pPr marL="628650" lvl="1" indent="-171450">
              <a:buFont typeface="Arial" panose="020B0604020202020204" pitchFamily="34" charset="0"/>
              <a:buChar char="•"/>
            </a:pPr>
            <a:r>
              <a:rPr lang="en-US" sz="1200" i="1" dirty="0" smtClean="0">
                <a:solidFill>
                  <a:srgbClr val="FF0000"/>
                </a:solidFill>
                <a:effectLst>
                  <a:outerShdw blurRad="38100" dist="38100" dir="2700000" algn="tl">
                    <a:srgbClr val="000000">
                      <a:alpha val="43137"/>
                    </a:srgbClr>
                  </a:outerShdw>
                </a:effectLst>
              </a:rPr>
              <a:t>Single bakery works but lose concurrency</a:t>
            </a:r>
          </a:p>
          <a:p>
            <a:pPr marL="628650" lvl="1" indent="-171450">
              <a:buFont typeface="Arial" panose="020B0604020202020204" pitchFamily="34" charset="0"/>
              <a:buChar char="•"/>
            </a:pPr>
            <a:r>
              <a:rPr lang="en-US" sz="1200" b="0" i="1" dirty="0" smtClean="0">
                <a:solidFill>
                  <a:srgbClr val="FF0000"/>
                </a:solidFill>
                <a:effectLst>
                  <a:outerShdw blurRad="38100" dist="38100" dir="2700000" algn="tl">
                    <a:srgbClr val="000000">
                      <a:alpha val="43137"/>
                    </a:srgbClr>
                  </a:outerShdw>
                </a:effectLst>
              </a:rPr>
              <a:t>2 processes working on bookmarks, but a 3</a:t>
            </a:r>
            <a:r>
              <a:rPr lang="en-US" sz="1200" b="0" i="1" baseline="30000" dirty="0" smtClean="0">
                <a:solidFill>
                  <a:srgbClr val="FF0000"/>
                </a:solidFill>
                <a:effectLst>
                  <a:outerShdw blurRad="38100" dist="38100" dir="2700000" algn="tl">
                    <a:srgbClr val="000000">
                      <a:alpha val="43137"/>
                    </a:srgbClr>
                  </a:outerShdw>
                </a:effectLst>
              </a:rPr>
              <a:t>rd</a:t>
            </a:r>
            <a:r>
              <a:rPr lang="en-US" sz="1200" b="0" i="1" dirty="0" smtClean="0">
                <a:solidFill>
                  <a:srgbClr val="FF0000"/>
                </a:solidFill>
                <a:effectLst>
                  <a:outerShdw blurRad="38100" dist="38100" dir="2700000" algn="tl">
                    <a:srgbClr val="000000">
                      <a:alpha val="43137"/>
                    </a:srgbClr>
                  </a:outerShdw>
                </a:effectLst>
              </a:rPr>
              <a:t> process wishes to access history. </a:t>
            </a:r>
          </a:p>
          <a:p>
            <a:pPr marL="628650" lvl="1" indent="-171450">
              <a:buFont typeface="Arial" panose="020B0604020202020204" pitchFamily="34" charset="0"/>
              <a:buChar char="•"/>
            </a:pPr>
            <a:r>
              <a:rPr lang="en-US" sz="1200" i="1" dirty="0" smtClean="0">
                <a:solidFill>
                  <a:srgbClr val="FF0000"/>
                </a:solidFill>
                <a:effectLst>
                  <a:outerShdw blurRad="38100" dist="38100" dir="2700000" algn="tl">
                    <a:srgbClr val="000000">
                      <a:alpha val="43137"/>
                    </a:srgbClr>
                  </a:outerShdw>
                </a:effectLst>
              </a:rPr>
              <a:t>3</a:t>
            </a:r>
            <a:r>
              <a:rPr lang="en-US" sz="1200" i="1" baseline="30000" dirty="0" smtClean="0">
                <a:solidFill>
                  <a:srgbClr val="FF0000"/>
                </a:solidFill>
                <a:effectLst>
                  <a:outerShdw blurRad="38100" dist="38100" dir="2700000" algn="tl">
                    <a:srgbClr val="000000">
                      <a:alpha val="43137"/>
                    </a:srgbClr>
                  </a:outerShdw>
                </a:effectLst>
              </a:rPr>
              <a:t>rd</a:t>
            </a:r>
            <a:r>
              <a:rPr lang="en-US" sz="1200" i="1" dirty="0" smtClean="0">
                <a:solidFill>
                  <a:srgbClr val="FF0000"/>
                </a:solidFill>
                <a:effectLst>
                  <a:outerShdw blurRad="38100" dist="38100" dir="2700000" algn="tl">
                    <a:srgbClr val="000000">
                      <a:alpha val="43137"/>
                    </a:srgbClr>
                  </a:outerShdw>
                </a:effectLst>
              </a:rPr>
              <a:t> process has to wait for bookmarks activity to get finished</a:t>
            </a:r>
            <a:endParaRPr lang="en-US" sz="1200" b="0" i="1" dirty="0" smtClean="0">
              <a:solidFill>
                <a:srgbClr val="FF0000"/>
              </a:solidFill>
              <a:effectLst>
                <a:outerShdw blurRad="38100" dist="38100" dir="2700000" algn="tl">
                  <a:srgbClr val="000000">
                    <a:alpha val="43137"/>
                  </a:srgbClr>
                </a:outerShdw>
              </a:effectLst>
            </a:endParaRPr>
          </a:p>
          <a:p>
            <a:endParaRPr lang="en-US" sz="900" b="0" i="1" dirty="0" smtClean="0">
              <a:solidFill>
                <a:srgbClr val="FF0000"/>
              </a:solidFill>
              <a:effectLst>
                <a:outerShdw blurRad="38100" dist="38100" dir="2700000" algn="tl">
                  <a:srgbClr val="000000">
                    <a:alpha val="43137"/>
                  </a:srgbClr>
                </a:outerShdw>
              </a:effectLst>
            </a:endParaRPr>
          </a:p>
          <a:p>
            <a:endParaRPr lang="en-US" sz="900" b="0" dirty="0"/>
          </a:p>
        </p:txBody>
      </p:sp>
    </p:spTree>
    <p:extLst>
      <p:ext uri="{BB962C8B-B14F-4D97-AF65-F5344CB8AC3E}">
        <p14:creationId xmlns:p14="http://schemas.microsoft.com/office/powerpoint/2010/main" val="4993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Other classes of solutions</a:t>
            </a:r>
            <a:endParaRPr lang="en-IN" dirty="0"/>
          </a:p>
        </p:txBody>
      </p:sp>
      <p:sp>
        <p:nvSpPr>
          <p:cNvPr id="3" name="Text Placeholder 2"/>
          <p:cNvSpPr>
            <a:spLocks noGrp="1"/>
          </p:cNvSpPr>
          <p:nvPr>
            <p:ph type="body" idx="1"/>
          </p:nvPr>
        </p:nvSpPr>
        <p:spPr>
          <a:xfrm>
            <a:off x="89647" y="434975"/>
            <a:ext cx="4358386" cy="2908489"/>
          </a:xfrm>
        </p:spPr>
        <p:txBody>
          <a:bodyPr/>
          <a:lstStyle/>
          <a:p>
            <a:r>
              <a:rPr lang="en-US" sz="900" b="0" dirty="0" smtClean="0"/>
              <a:t>Managing CS using the entry and exit section code is a headache for application programmers</a:t>
            </a:r>
          </a:p>
          <a:p>
            <a:endParaRPr lang="en-US" sz="900" b="0" dirty="0"/>
          </a:p>
          <a:p>
            <a:r>
              <a:rPr lang="en-US" sz="900" b="0" dirty="0" smtClean="0"/>
              <a:t>In case of multiple shared data structures (e.g. bookmarks, history etc. in multiple windows), each shared data structure has to be put in separate CS and for each shared data structure, need </a:t>
            </a:r>
            <a:r>
              <a:rPr lang="en-US" sz="900" b="0" u="sng" dirty="0" smtClean="0"/>
              <a:t>separate</a:t>
            </a:r>
            <a:r>
              <a:rPr lang="en-US" sz="900" b="0" dirty="0" smtClean="0"/>
              <a:t> bakery – </a:t>
            </a:r>
            <a:r>
              <a:rPr lang="en-US" sz="900" b="0" i="1" dirty="0" smtClean="0">
                <a:solidFill>
                  <a:srgbClr val="FF0000"/>
                </a:solidFill>
                <a:effectLst>
                  <a:outerShdw blurRad="38100" dist="38100" dir="2700000" algn="tl">
                    <a:srgbClr val="000000">
                      <a:alpha val="43137"/>
                    </a:srgbClr>
                  </a:outerShdw>
                </a:effectLst>
              </a:rPr>
              <a:t>Why?</a:t>
            </a:r>
          </a:p>
          <a:p>
            <a:endParaRPr lang="en-US" sz="900" b="0" i="1" dirty="0" smtClean="0">
              <a:solidFill>
                <a:srgbClr val="FF0000"/>
              </a:solidFill>
              <a:effectLst>
                <a:outerShdw blurRad="38100" dist="38100" dir="2700000" algn="tl">
                  <a:srgbClr val="000000">
                    <a:alpha val="43137"/>
                  </a:srgbClr>
                </a:outerShdw>
              </a:effectLst>
            </a:endParaRPr>
          </a:p>
          <a:p>
            <a:r>
              <a:rPr lang="en-US" sz="900" b="0" dirty="0" smtClean="0"/>
              <a:t>Need concurrency</a:t>
            </a:r>
          </a:p>
          <a:p>
            <a:endParaRPr lang="en-US" sz="900" b="0" dirty="0" smtClean="0"/>
          </a:p>
          <a:p>
            <a:r>
              <a:rPr lang="en-US" sz="900" b="0" dirty="0" smtClean="0"/>
              <a:t>For applications like browser, n is also changing</a:t>
            </a:r>
          </a:p>
          <a:p>
            <a:endParaRPr lang="en-US" sz="900" b="0" dirty="0"/>
          </a:p>
          <a:p>
            <a:r>
              <a:rPr lang="en-US" sz="900" b="0" dirty="0" smtClean="0"/>
              <a:t>Want a system call which can be invoked at entry and exit, and the rest is automatically managed</a:t>
            </a:r>
          </a:p>
          <a:p>
            <a:endParaRPr lang="en-US" sz="900" b="0" dirty="0"/>
          </a:p>
          <a:p>
            <a:r>
              <a:rPr lang="en-US" sz="900" b="0" dirty="0" smtClean="0"/>
              <a:t>Programmer want: </a:t>
            </a:r>
          </a:p>
          <a:p>
            <a:r>
              <a:rPr lang="en-US" sz="900" b="0" dirty="0">
                <a:solidFill>
                  <a:srgbClr val="FF0000"/>
                </a:solidFill>
                <a:effectLst>
                  <a:outerShdw blurRad="38100" dist="38100" dir="2700000" algn="tl">
                    <a:srgbClr val="000000">
                      <a:alpha val="43137"/>
                    </a:srgbClr>
                  </a:outerShdw>
                </a:effectLst>
              </a:rPr>
              <a:t>	</a:t>
            </a:r>
            <a:r>
              <a:rPr lang="en-US" sz="900" dirty="0" smtClean="0">
                <a:solidFill>
                  <a:srgbClr val="FF0000"/>
                </a:solidFill>
                <a:effectLst>
                  <a:outerShdw blurRad="38100" dist="38100" dir="2700000" algn="tl">
                    <a:srgbClr val="000000">
                      <a:alpha val="43137"/>
                    </a:srgbClr>
                  </a:outerShdw>
                </a:effectLst>
              </a:rPr>
              <a:t>entry(); </a:t>
            </a:r>
          </a:p>
          <a:p>
            <a:r>
              <a:rPr lang="en-US" sz="900" dirty="0" smtClean="0">
                <a:solidFill>
                  <a:srgbClr val="0070C0"/>
                </a:solidFill>
                <a:effectLst>
                  <a:outerShdw blurRad="38100" dist="38100" dir="2700000" algn="tl">
                    <a:srgbClr val="000000">
                      <a:alpha val="43137"/>
                    </a:srgbClr>
                  </a:outerShdw>
                </a:effectLst>
              </a:rPr>
              <a:t>	  CS</a:t>
            </a:r>
            <a:r>
              <a:rPr lang="en-US" sz="900" dirty="0" smtClean="0">
                <a:solidFill>
                  <a:srgbClr val="FF0000"/>
                </a:solidFill>
                <a:effectLst>
                  <a:outerShdw blurRad="38100" dist="38100" dir="2700000" algn="tl">
                    <a:srgbClr val="000000">
                      <a:alpha val="43137"/>
                    </a:srgbClr>
                  </a:outerShdw>
                </a:effectLst>
              </a:rPr>
              <a:t>; </a:t>
            </a:r>
          </a:p>
          <a:p>
            <a:r>
              <a:rPr lang="en-US" sz="900" dirty="0">
                <a:solidFill>
                  <a:srgbClr val="FF0000"/>
                </a:solidFill>
                <a:effectLst>
                  <a:outerShdw blurRad="38100" dist="38100" dir="2700000" algn="tl">
                    <a:srgbClr val="000000">
                      <a:alpha val="43137"/>
                    </a:srgbClr>
                  </a:outerShdw>
                </a:effectLst>
              </a:rPr>
              <a:t>	</a:t>
            </a:r>
            <a:r>
              <a:rPr lang="en-US" sz="900" dirty="0" smtClean="0">
                <a:solidFill>
                  <a:srgbClr val="FF0000"/>
                </a:solidFill>
                <a:effectLst>
                  <a:outerShdw blurRad="38100" dist="38100" dir="2700000" algn="tl">
                    <a:srgbClr val="000000">
                      <a:alpha val="43137"/>
                    </a:srgbClr>
                  </a:outerShdw>
                </a:effectLst>
              </a:rPr>
              <a:t>exit()</a:t>
            </a:r>
          </a:p>
          <a:p>
            <a:endParaRPr lang="en-US" sz="900" b="0" dirty="0"/>
          </a:p>
          <a:p>
            <a:pPr marL="171450" indent="-171450">
              <a:buFont typeface="Arial" panose="020B0604020202020204" pitchFamily="34" charset="0"/>
              <a:buChar char="•"/>
            </a:pPr>
            <a:r>
              <a:rPr lang="en-US" sz="900" b="0" dirty="0" smtClean="0"/>
              <a:t>Semaphores </a:t>
            </a:r>
            <a:endParaRPr lang="en-US" sz="900" b="0" dirty="0"/>
          </a:p>
          <a:p>
            <a:pPr marL="171450" indent="-171450">
              <a:buFont typeface="Arial" panose="020B0604020202020204" pitchFamily="34" charset="0"/>
              <a:buChar char="•"/>
            </a:pPr>
            <a:r>
              <a:rPr lang="en-US" sz="900" b="0" dirty="0"/>
              <a:t>Monitors (Java</a:t>
            </a:r>
            <a:r>
              <a:rPr lang="en-US" sz="900" b="0" dirty="0" smtClean="0"/>
              <a:t>)</a:t>
            </a:r>
          </a:p>
        </p:txBody>
      </p:sp>
    </p:spTree>
    <p:extLst>
      <p:ext uri="{BB962C8B-B14F-4D97-AF65-F5344CB8AC3E}">
        <p14:creationId xmlns:p14="http://schemas.microsoft.com/office/powerpoint/2010/main" val="359763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Semaphores</a:t>
            </a:r>
            <a:endParaRPr lang="en-IN" dirty="0"/>
          </a:p>
        </p:txBody>
      </p:sp>
      <p:sp>
        <p:nvSpPr>
          <p:cNvPr id="3" name="Text Placeholder 2"/>
          <p:cNvSpPr>
            <a:spLocks noGrp="1"/>
          </p:cNvSpPr>
          <p:nvPr>
            <p:ph type="body" idx="1"/>
          </p:nvPr>
        </p:nvSpPr>
        <p:spPr>
          <a:xfrm>
            <a:off x="62928" y="358775"/>
            <a:ext cx="4484244" cy="3031599"/>
          </a:xfrm>
        </p:spPr>
        <p:txBody>
          <a:bodyPr/>
          <a:lstStyle/>
          <a:p>
            <a:r>
              <a:rPr lang="en-US" u="sng" dirty="0" smtClean="0"/>
              <a:t>Application Program</a:t>
            </a:r>
          </a:p>
          <a:p>
            <a:r>
              <a:rPr lang="en-US" b="0" dirty="0" smtClean="0"/>
              <a:t>wait (x)   </a:t>
            </a:r>
            <a:r>
              <a:rPr lang="en-US" b="0" i="1" dirty="0" smtClean="0">
                <a:solidFill>
                  <a:srgbClr val="FF0000"/>
                </a:solidFill>
              </a:rPr>
              <a:t>-- single function for an application to enter CS</a:t>
            </a:r>
          </a:p>
          <a:p>
            <a:endParaRPr lang="en-US" b="0" dirty="0"/>
          </a:p>
          <a:p>
            <a:r>
              <a:rPr lang="en-US" b="0" dirty="0" smtClean="0"/>
              <a:t>   CS</a:t>
            </a:r>
          </a:p>
          <a:p>
            <a:endParaRPr lang="en-US" b="0" dirty="0"/>
          </a:p>
          <a:p>
            <a:r>
              <a:rPr lang="en-US" b="0" dirty="0" smtClean="0"/>
              <a:t>signal (x</a:t>
            </a:r>
            <a:r>
              <a:rPr lang="en-US" b="0" dirty="0"/>
              <a:t>) </a:t>
            </a:r>
            <a:r>
              <a:rPr lang="en-US" b="0" i="1" dirty="0">
                <a:solidFill>
                  <a:srgbClr val="FF0000"/>
                </a:solidFill>
              </a:rPr>
              <a:t>-- single function for an application to </a:t>
            </a:r>
            <a:r>
              <a:rPr lang="en-US" b="0" i="1" dirty="0" smtClean="0">
                <a:solidFill>
                  <a:srgbClr val="FF0000"/>
                </a:solidFill>
              </a:rPr>
              <a:t>exit </a:t>
            </a:r>
            <a:r>
              <a:rPr lang="en-US" b="0" i="1" dirty="0">
                <a:solidFill>
                  <a:srgbClr val="FF0000"/>
                </a:solidFill>
              </a:rPr>
              <a:t>CS</a:t>
            </a:r>
          </a:p>
          <a:p>
            <a:endParaRPr lang="en-US" b="0" dirty="0" smtClean="0"/>
          </a:p>
          <a:p>
            <a:r>
              <a:rPr lang="en-US" b="0" dirty="0" smtClean="0"/>
              <a:t>For each shared data structure, I have a CS</a:t>
            </a:r>
          </a:p>
          <a:p>
            <a:pPr marL="628650" lvl="1" indent="-171450">
              <a:buFont typeface="Arial" panose="020B0604020202020204" pitchFamily="34" charset="0"/>
              <a:buChar char="•"/>
            </a:pPr>
            <a:r>
              <a:rPr lang="en-US" sz="1000" dirty="0" smtClean="0"/>
              <a:t>1 x for CS identifier for Bookmarks, 1 for History</a:t>
            </a:r>
            <a:endParaRPr lang="en-US" sz="1000" b="0" dirty="0" smtClean="0"/>
          </a:p>
          <a:p>
            <a:endParaRPr lang="en-US" b="0" dirty="0" smtClean="0"/>
          </a:p>
          <a:p>
            <a:r>
              <a:rPr lang="en-US" b="0" dirty="0" smtClean="0"/>
              <a:t>Wait and signal specific to the CS I wish to enter -- needs a CS identifier</a:t>
            </a:r>
          </a:p>
          <a:p>
            <a:pPr marL="628650" lvl="1" indent="-171450">
              <a:buFont typeface="Arial" panose="020B0604020202020204" pitchFamily="34" charset="0"/>
              <a:buChar char="•"/>
            </a:pPr>
            <a:r>
              <a:rPr lang="en-US" sz="1100" b="0" i="1" dirty="0">
                <a:solidFill>
                  <a:srgbClr val="FF0000"/>
                </a:solidFill>
              </a:rPr>
              <a:t>wait (x</a:t>
            </a:r>
            <a:r>
              <a:rPr lang="en-US" sz="1100" b="0" i="1" dirty="0" smtClean="0">
                <a:solidFill>
                  <a:srgbClr val="FF0000"/>
                </a:solidFill>
              </a:rPr>
              <a:t>) and signal(x) – </a:t>
            </a:r>
            <a:r>
              <a:rPr lang="en-US" sz="1100" b="0" i="1" u="sng" dirty="0" smtClean="0">
                <a:solidFill>
                  <a:srgbClr val="0070C0"/>
                </a:solidFill>
              </a:rPr>
              <a:t>specific to CS on variable x</a:t>
            </a:r>
            <a:r>
              <a:rPr lang="en-US" sz="1100" b="0" i="1" dirty="0" smtClean="0">
                <a:solidFill>
                  <a:srgbClr val="0070C0"/>
                </a:solidFill>
              </a:rPr>
              <a:t> </a:t>
            </a:r>
            <a:r>
              <a:rPr lang="en-US" sz="1100" b="0" i="1" dirty="0" smtClean="0">
                <a:solidFill>
                  <a:srgbClr val="FF0000"/>
                </a:solidFill>
              </a:rPr>
              <a:t>(semaphore)</a:t>
            </a:r>
          </a:p>
          <a:p>
            <a:pPr marL="628650" lvl="1" indent="-171450">
              <a:buFont typeface="Arial" panose="020B0604020202020204" pitchFamily="34" charset="0"/>
              <a:buChar char="•"/>
            </a:pPr>
            <a:r>
              <a:rPr lang="en-US" sz="1100" i="1" dirty="0" smtClean="0">
                <a:solidFill>
                  <a:srgbClr val="FF0000"/>
                </a:solidFill>
              </a:rPr>
              <a:t>E.g. 1 </a:t>
            </a:r>
            <a:r>
              <a:rPr lang="en-US" sz="1100" i="1" dirty="0" smtClean="0">
                <a:solidFill>
                  <a:srgbClr val="00B050"/>
                </a:solidFill>
              </a:rPr>
              <a:t>wait (bookmark) </a:t>
            </a:r>
            <a:r>
              <a:rPr lang="en-US" sz="1100" i="1" dirty="0" smtClean="0">
                <a:solidFill>
                  <a:srgbClr val="FF0000"/>
                </a:solidFill>
              </a:rPr>
              <a:t>and another </a:t>
            </a:r>
            <a:r>
              <a:rPr lang="en-US" sz="1100" i="1" dirty="0" smtClean="0">
                <a:solidFill>
                  <a:srgbClr val="0070C0"/>
                </a:solidFill>
              </a:rPr>
              <a:t>wait (history)</a:t>
            </a:r>
          </a:p>
          <a:p>
            <a:pPr marL="628650" lvl="1" indent="-171450">
              <a:buFont typeface="Arial" panose="020B0604020202020204" pitchFamily="34" charset="0"/>
              <a:buChar char="•"/>
            </a:pPr>
            <a:r>
              <a:rPr lang="en-US" sz="1100" i="1" dirty="0" smtClean="0">
                <a:solidFill>
                  <a:srgbClr val="FF0000"/>
                </a:solidFill>
              </a:rPr>
              <a:t>Wait and signal are the </a:t>
            </a:r>
            <a:r>
              <a:rPr lang="en-US" sz="1100" i="1" dirty="0" smtClean="0">
                <a:solidFill>
                  <a:srgbClr val="00B050"/>
                </a:solidFill>
              </a:rPr>
              <a:t>ONLY</a:t>
            </a:r>
            <a:r>
              <a:rPr lang="en-US" sz="1100" i="1" dirty="0" smtClean="0">
                <a:solidFill>
                  <a:srgbClr val="FF0000"/>
                </a:solidFill>
              </a:rPr>
              <a:t> operations that can be performed on the semaphore variable</a:t>
            </a:r>
          </a:p>
          <a:p>
            <a:pPr marL="628650" lvl="1" indent="-171450">
              <a:buFont typeface="Arial" panose="020B0604020202020204" pitchFamily="34" charset="0"/>
              <a:buChar char="•"/>
            </a:pPr>
            <a:r>
              <a:rPr lang="en-US" sz="1100" b="0" i="1" dirty="0" smtClean="0">
                <a:solidFill>
                  <a:srgbClr val="FF0000"/>
                </a:solidFill>
              </a:rPr>
              <a:t>Wait and signal are implemented atomically by the kernel</a:t>
            </a:r>
          </a:p>
          <a:p>
            <a:r>
              <a:rPr lang="en-US" b="0" dirty="0" smtClean="0"/>
              <a:t>Challenge as kernel designer: correct and efficient design of wait / signal</a:t>
            </a:r>
          </a:p>
          <a:p>
            <a:pPr marL="628650" lvl="1" indent="-171450">
              <a:buFont typeface="Arial" panose="020B0604020202020204" pitchFamily="34" charset="0"/>
              <a:buChar char="•"/>
            </a:pPr>
            <a:r>
              <a:rPr lang="en-US" sz="1100" i="1" dirty="0">
                <a:solidFill>
                  <a:srgbClr val="FF0000"/>
                </a:solidFill>
              </a:rPr>
              <a:t>All properties of CS should hold</a:t>
            </a:r>
            <a:endParaRPr lang="en-IN" sz="1100" i="1" dirty="0">
              <a:solidFill>
                <a:srgbClr val="FF0000"/>
              </a:solidFill>
            </a:endParaRPr>
          </a:p>
        </p:txBody>
      </p:sp>
      <p:cxnSp>
        <p:nvCxnSpPr>
          <p:cNvPr id="5" name="Straight Arrow Connector 4"/>
          <p:cNvCxnSpPr/>
          <p:nvPr/>
        </p:nvCxnSpPr>
        <p:spPr>
          <a:xfrm>
            <a:off x="552450" y="739775"/>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704850" y="1044575"/>
            <a:ext cx="1524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57250" y="812998"/>
            <a:ext cx="1081002" cy="307777"/>
          </a:xfrm>
          <a:prstGeom prst="rect">
            <a:avLst/>
          </a:prstGeom>
          <a:noFill/>
        </p:spPr>
        <p:txBody>
          <a:bodyPr wrap="none" rtlCol="0">
            <a:spAutoFit/>
          </a:bodyPr>
          <a:lstStyle/>
          <a:p>
            <a:r>
              <a:rPr lang="en-IN" sz="1400" dirty="0" smtClean="0"/>
              <a:t>System Calls</a:t>
            </a:r>
            <a:endParaRPr lang="en-IN" sz="1400" dirty="0"/>
          </a:p>
        </p:txBody>
      </p:sp>
    </p:spTree>
    <p:extLst>
      <p:ext uri="{BB962C8B-B14F-4D97-AF65-F5344CB8AC3E}">
        <p14:creationId xmlns:p14="http://schemas.microsoft.com/office/powerpoint/2010/main" val="13701247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50" y="71457"/>
            <a:ext cx="4419600" cy="215444"/>
          </a:xfrm>
          <a:prstGeom prst="rect">
            <a:avLst/>
          </a:prstGeom>
        </p:spPr>
        <p:txBody>
          <a:bodyPr vert="horz" wrap="square" lIns="0" tIns="0" rIns="0" bIns="0" rtlCol="0">
            <a:spAutoFit/>
          </a:bodyPr>
          <a:lstStyle/>
          <a:p>
            <a:pPr marL="12700">
              <a:lnSpc>
                <a:spcPct val="100000"/>
              </a:lnSpc>
            </a:pPr>
            <a:r>
              <a:rPr spc="15" dirty="0" smtClean="0"/>
              <a:t>Semaphore</a:t>
            </a:r>
            <a:r>
              <a:rPr lang="en-IN" spc="15" dirty="0" smtClean="0"/>
              <a:t> Behaviour</a:t>
            </a:r>
            <a:endParaRPr spc="15" dirty="0"/>
          </a:p>
        </p:txBody>
      </p:sp>
      <p:sp>
        <p:nvSpPr>
          <p:cNvPr id="3" name="object 3"/>
          <p:cNvSpPr txBox="1"/>
          <p:nvPr/>
        </p:nvSpPr>
        <p:spPr>
          <a:xfrm>
            <a:off x="1695195" y="411226"/>
            <a:ext cx="1217930" cy="160020"/>
          </a:xfrm>
          <a:prstGeom prst="rect">
            <a:avLst/>
          </a:prstGeom>
          <a:ln w="5054">
            <a:solidFill>
              <a:srgbClr val="000000"/>
            </a:solidFill>
          </a:ln>
        </p:spPr>
        <p:txBody>
          <a:bodyPr vert="horz" wrap="square" lIns="0" tIns="0" rIns="0" bIns="0" rtlCol="0">
            <a:spAutoFit/>
          </a:bodyPr>
          <a:lstStyle/>
          <a:p>
            <a:pPr marL="37465">
              <a:lnSpc>
                <a:spcPct val="100000"/>
              </a:lnSpc>
            </a:pPr>
            <a:r>
              <a:rPr sz="900" spc="-25" dirty="0">
                <a:latin typeface="Century"/>
                <a:cs typeface="Century"/>
              </a:rPr>
              <a:t>Reference: </a:t>
            </a:r>
            <a:r>
              <a:rPr sz="900" spc="-95" dirty="0">
                <a:latin typeface="Century"/>
                <a:cs typeface="Century"/>
              </a:rPr>
              <a:t> </a:t>
            </a:r>
            <a:r>
              <a:rPr sz="900" spc="-25" dirty="0">
                <a:latin typeface="Century"/>
                <a:cs typeface="Century"/>
              </a:rPr>
              <a:t>Section</a:t>
            </a:r>
            <a:r>
              <a:rPr sz="900" spc="55" dirty="0">
                <a:latin typeface="Century"/>
                <a:cs typeface="Century"/>
              </a:rPr>
              <a:t> </a:t>
            </a:r>
            <a:r>
              <a:rPr sz="900" spc="-30" dirty="0">
                <a:latin typeface="Century"/>
                <a:cs typeface="Century"/>
              </a:rPr>
              <a:t>6.4</a:t>
            </a:r>
            <a:endParaRPr sz="900">
              <a:latin typeface="Century"/>
              <a:cs typeface="Century"/>
            </a:endParaRPr>
          </a:p>
        </p:txBody>
      </p:sp>
      <p:sp>
        <p:nvSpPr>
          <p:cNvPr id="4" name="object 4"/>
          <p:cNvSpPr txBox="1"/>
          <p:nvPr/>
        </p:nvSpPr>
        <p:spPr>
          <a:xfrm>
            <a:off x="125856" y="691418"/>
            <a:ext cx="4297045" cy="523028"/>
          </a:xfrm>
          <a:prstGeom prst="rect">
            <a:avLst/>
          </a:prstGeom>
        </p:spPr>
        <p:txBody>
          <a:bodyPr vert="horz" wrap="square" lIns="0" tIns="0" rIns="0" bIns="0" rtlCol="0">
            <a:spAutoFit/>
          </a:bodyPr>
          <a:lstStyle/>
          <a:p>
            <a:pPr marL="12700" marR="5080">
              <a:lnSpc>
                <a:spcPct val="102699"/>
              </a:lnSpc>
            </a:pPr>
            <a:r>
              <a:rPr sz="1100" b="1" spc="-5" dirty="0">
                <a:latin typeface="Arial"/>
                <a:cs typeface="Arial"/>
              </a:rPr>
              <a:t>Definition:</a:t>
            </a:r>
            <a:r>
              <a:rPr sz="1100" b="1" spc="65" dirty="0">
                <a:latin typeface="Arial"/>
                <a:cs typeface="Arial"/>
              </a:rPr>
              <a:t> </a:t>
            </a:r>
            <a:r>
              <a:rPr sz="1100" spc="-10" dirty="0">
                <a:latin typeface="Arial"/>
                <a:cs typeface="Arial"/>
              </a:rPr>
              <a:t>a</a:t>
            </a:r>
            <a:r>
              <a:rPr sz="1100" spc="-5" dirty="0">
                <a:latin typeface="Arial"/>
                <a:cs typeface="Arial"/>
              </a:rPr>
              <a:t> </a:t>
            </a:r>
            <a:r>
              <a:rPr sz="1100" spc="-10" dirty="0">
                <a:latin typeface="Arial"/>
                <a:cs typeface="Arial"/>
              </a:rPr>
              <a:t>counting</a:t>
            </a:r>
            <a:r>
              <a:rPr sz="1100" spc="-5" dirty="0">
                <a:latin typeface="Arial"/>
                <a:cs typeface="Arial"/>
              </a:rPr>
              <a:t> </a:t>
            </a:r>
            <a:r>
              <a:rPr sz="1100" spc="-10" dirty="0">
                <a:latin typeface="Arial"/>
                <a:cs typeface="Arial"/>
              </a:rPr>
              <a:t>semaphore</a:t>
            </a:r>
            <a:r>
              <a:rPr sz="1100" spc="-5" dirty="0">
                <a:latin typeface="Arial"/>
                <a:cs typeface="Arial"/>
              </a:rPr>
              <a:t> </a:t>
            </a:r>
            <a:r>
              <a:rPr sz="1100" i="1" spc="55" dirty="0">
                <a:latin typeface="Palatino Linotype"/>
                <a:cs typeface="Palatino Linotype"/>
              </a:rPr>
              <a:t>S</a:t>
            </a:r>
            <a:r>
              <a:rPr sz="1100" i="1" spc="90" dirty="0">
                <a:latin typeface="Palatino Linotype"/>
                <a:cs typeface="Palatino Linotype"/>
              </a:rPr>
              <a:t> </a:t>
            </a:r>
            <a:r>
              <a:rPr sz="1100" spc="-5" dirty="0">
                <a:latin typeface="Arial"/>
                <a:cs typeface="Arial"/>
              </a:rPr>
              <a:t>is </a:t>
            </a:r>
            <a:r>
              <a:rPr sz="1100" spc="-10" dirty="0">
                <a:latin typeface="Arial"/>
                <a:cs typeface="Arial"/>
              </a:rPr>
              <a:t>an</a:t>
            </a:r>
            <a:r>
              <a:rPr sz="1100" spc="-5" dirty="0">
                <a:latin typeface="Arial"/>
                <a:cs typeface="Arial"/>
              </a:rPr>
              <a:t> </a:t>
            </a:r>
            <a:r>
              <a:rPr sz="1100" u="sng" spc="-5" dirty="0">
                <a:latin typeface="Arial"/>
                <a:cs typeface="Arial"/>
              </a:rPr>
              <a:t>integer</a:t>
            </a:r>
            <a:r>
              <a:rPr sz="1100" spc="-5" dirty="0">
                <a:latin typeface="Arial"/>
                <a:cs typeface="Arial"/>
              </a:rPr>
              <a:t> </a:t>
            </a:r>
            <a:r>
              <a:rPr sz="1100" spc="-40" dirty="0">
                <a:latin typeface="Arial"/>
                <a:cs typeface="Arial"/>
              </a:rPr>
              <a:t>v</a:t>
            </a:r>
            <a:r>
              <a:rPr sz="1100" spc="-10" dirty="0">
                <a:latin typeface="Arial"/>
                <a:cs typeface="Arial"/>
              </a:rPr>
              <a:t>a</a:t>
            </a:r>
            <a:r>
              <a:rPr sz="1100" spc="5" dirty="0">
                <a:latin typeface="Arial"/>
                <a:cs typeface="Arial"/>
              </a:rPr>
              <a:t>r</a:t>
            </a:r>
            <a:r>
              <a:rPr sz="1100" spc="-5" dirty="0">
                <a:latin typeface="Arial"/>
                <a:cs typeface="Arial"/>
              </a:rPr>
              <a:t>ia</a:t>
            </a:r>
            <a:r>
              <a:rPr sz="1100" spc="-35" dirty="0">
                <a:latin typeface="Arial"/>
                <a:cs typeface="Arial"/>
              </a:rPr>
              <a:t>b</a:t>
            </a:r>
            <a:r>
              <a:rPr sz="1100" spc="-5" dirty="0">
                <a:latin typeface="Arial"/>
                <a:cs typeface="Arial"/>
              </a:rPr>
              <a:t>le that </a:t>
            </a:r>
            <a:r>
              <a:rPr sz="1100" spc="-10" dirty="0">
                <a:latin typeface="Arial"/>
                <a:cs typeface="Arial"/>
              </a:rPr>
              <a:t>can</a:t>
            </a:r>
            <a:r>
              <a:rPr sz="1100" spc="-5" dirty="0">
                <a:latin typeface="Arial"/>
                <a:cs typeface="Arial"/>
              </a:rPr>
              <a:t> </a:t>
            </a:r>
            <a:r>
              <a:rPr sz="1100" spc="-10" dirty="0">
                <a:latin typeface="Arial"/>
                <a:cs typeface="Arial"/>
              </a:rPr>
              <a:t>be accessed</a:t>
            </a:r>
            <a:r>
              <a:rPr sz="1100" spc="-5" dirty="0">
                <a:latin typeface="Arial"/>
                <a:cs typeface="Arial"/>
              </a:rPr>
              <a:t> only </a:t>
            </a:r>
            <a:r>
              <a:rPr sz="1100" spc="-10" dirty="0">
                <a:latin typeface="Arial"/>
                <a:cs typeface="Arial"/>
              </a:rPr>
              <a:t>through</a:t>
            </a:r>
            <a:r>
              <a:rPr sz="1100" spc="-5" dirty="0">
                <a:latin typeface="Arial"/>
                <a:cs typeface="Arial"/>
              </a:rPr>
              <a:t> t</a:t>
            </a:r>
            <a:r>
              <a:rPr sz="1100" spc="-20" dirty="0">
                <a:latin typeface="Arial"/>
                <a:cs typeface="Arial"/>
              </a:rPr>
              <a:t>w</a:t>
            </a:r>
            <a:r>
              <a:rPr sz="1100" spc="-10" dirty="0">
                <a:latin typeface="Arial"/>
                <a:cs typeface="Arial"/>
              </a:rPr>
              <a:t>o</a:t>
            </a:r>
            <a:r>
              <a:rPr sz="1100" spc="-5" dirty="0">
                <a:latin typeface="Arial"/>
                <a:cs typeface="Arial"/>
              </a:rPr>
              <a:t> </a:t>
            </a:r>
            <a:r>
              <a:rPr sz="1100" u="sng" spc="-10" dirty="0">
                <a:latin typeface="Arial"/>
                <a:cs typeface="Arial"/>
              </a:rPr>
              <a:t>atomic</a:t>
            </a:r>
            <a:r>
              <a:rPr sz="1100" spc="-5" dirty="0">
                <a:latin typeface="Arial"/>
                <a:cs typeface="Arial"/>
              </a:rPr>
              <a:t> </a:t>
            </a:r>
            <a:r>
              <a:rPr sz="1100" spc="-10" dirty="0">
                <a:latin typeface="Arial"/>
                <a:cs typeface="Arial"/>
              </a:rPr>
              <a:t>ope</a:t>
            </a:r>
            <a:r>
              <a:rPr sz="1100" spc="-15" dirty="0">
                <a:latin typeface="Arial"/>
                <a:cs typeface="Arial"/>
              </a:rPr>
              <a:t>r</a:t>
            </a:r>
            <a:r>
              <a:rPr sz="1100" spc="-5" dirty="0">
                <a:latin typeface="Arial"/>
                <a:cs typeface="Arial"/>
              </a:rPr>
              <a:t>ation</a:t>
            </a:r>
            <a:r>
              <a:rPr sz="1100" spc="-30" dirty="0">
                <a:latin typeface="Arial"/>
                <a:cs typeface="Arial"/>
              </a:rPr>
              <a:t>s</a:t>
            </a:r>
            <a:r>
              <a:rPr sz="1100" spc="-5" dirty="0">
                <a:latin typeface="Arial"/>
                <a:cs typeface="Arial"/>
              </a:rPr>
              <a:t>, </a:t>
            </a:r>
            <a:r>
              <a:rPr sz="1100" i="1" spc="-55" dirty="0">
                <a:latin typeface="Trebuchet MS"/>
                <a:cs typeface="Trebuchet MS"/>
              </a:rPr>
              <a:t>wait</a:t>
            </a:r>
            <a:r>
              <a:rPr sz="1100" i="1" spc="-229" dirty="0">
                <a:latin typeface="Trebuchet MS"/>
                <a:cs typeface="Trebuchet MS"/>
              </a:rPr>
              <a:t> </a:t>
            </a:r>
            <a:r>
              <a:rPr sz="1100" dirty="0">
                <a:latin typeface="Tahoma"/>
                <a:cs typeface="Tahoma"/>
              </a:rPr>
              <a:t>(</a:t>
            </a:r>
            <a:r>
              <a:rPr sz="1100" i="1" spc="75" dirty="0">
                <a:latin typeface="Trebuchet MS"/>
                <a:cs typeface="Trebuchet MS"/>
              </a:rPr>
              <a:t>S</a:t>
            </a:r>
            <a:r>
              <a:rPr sz="1100" i="1" spc="-204" dirty="0">
                <a:latin typeface="Trebuchet MS"/>
                <a:cs typeface="Trebuchet MS"/>
              </a:rPr>
              <a:t> </a:t>
            </a:r>
            <a:r>
              <a:rPr sz="1100" dirty="0">
                <a:latin typeface="Tahoma"/>
                <a:cs typeface="Tahoma"/>
              </a:rPr>
              <a:t>)</a:t>
            </a:r>
            <a:r>
              <a:rPr sz="1100" spc="-40" dirty="0">
                <a:latin typeface="Tahoma"/>
                <a:cs typeface="Tahoma"/>
              </a:rPr>
              <a:t> </a:t>
            </a:r>
            <a:r>
              <a:rPr sz="1100" spc="-5" dirty="0">
                <a:latin typeface="Arial"/>
                <a:cs typeface="Arial"/>
              </a:rPr>
              <a:t>(or </a:t>
            </a:r>
            <a:r>
              <a:rPr sz="1100" i="1" spc="25" dirty="0">
                <a:latin typeface="Palatino Linotype"/>
                <a:cs typeface="Palatino Linotype"/>
              </a:rPr>
              <a:t>P</a:t>
            </a:r>
            <a:r>
              <a:rPr sz="1100" i="1" spc="-125" dirty="0">
                <a:latin typeface="Palatino Linotype"/>
                <a:cs typeface="Palatino Linotype"/>
              </a:rPr>
              <a:t> </a:t>
            </a:r>
            <a:r>
              <a:rPr sz="1100" dirty="0">
                <a:latin typeface="Tahoma"/>
                <a:cs typeface="Tahoma"/>
              </a:rPr>
              <a:t>(</a:t>
            </a:r>
            <a:r>
              <a:rPr sz="1100" i="1" spc="114" dirty="0">
                <a:latin typeface="Palatino Linotype"/>
                <a:cs typeface="Palatino Linotype"/>
              </a:rPr>
              <a:t>S</a:t>
            </a:r>
            <a:r>
              <a:rPr sz="1100" dirty="0">
                <a:latin typeface="Tahoma"/>
                <a:cs typeface="Tahoma"/>
              </a:rPr>
              <a:t>)</a:t>
            </a:r>
            <a:r>
              <a:rPr sz="1100" spc="-5" dirty="0">
                <a:latin typeface="Arial"/>
                <a:cs typeface="Arial"/>
              </a:rPr>
              <a:t>) </a:t>
            </a:r>
            <a:r>
              <a:rPr sz="1100" spc="-10" dirty="0">
                <a:latin typeface="Arial"/>
                <a:cs typeface="Arial"/>
              </a:rPr>
              <a:t>and</a:t>
            </a:r>
            <a:r>
              <a:rPr sz="1100" spc="-5" dirty="0">
                <a:latin typeface="Arial"/>
                <a:cs typeface="Arial"/>
              </a:rPr>
              <a:t> </a:t>
            </a:r>
            <a:r>
              <a:rPr sz="1100" i="1" spc="-25" dirty="0">
                <a:latin typeface="Trebuchet MS"/>
                <a:cs typeface="Trebuchet MS"/>
              </a:rPr>
              <a:t>signal</a:t>
            </a:r>
            <a:r>
              <a:rPr sz="1100" i="1" spc="-225" dirty="0">
                <a:latin typeface="Trebuchet MS"/>
                <a:cs typeface="Trebuchet MS"/>
              </a:rPr>
              <a:t> </a:t>
            </a:r>
            <a:r>
              <a:rPr sz="1100" dirty="0">
                <a:latin typeface="Tahoma"/>
                <a:cs typeface="Tahoma"/>
              </a:rPr>
              <a:t>(</a:t>
            </a:r>
            <a:r>
              <a:rPr sz="1100" i="1" spc="75" dirty="0">
                <a:latin typeface="Trebuchet MS"/>
                <a:cs typeface="Trebuchet MS"/>
              </a:rPr>
              <a:t>S</a:t>
            </a:r>
            <a:r>
              <a:rPr sz="1100" i="1" spc="-204" dirty="0">
                <a:latin typeface="Trebuchet MS"/>
                <a:cs typeface="Trebuchet MS"/>
              </a:rPr>
              <a:t> </a:t>
            </a:r>
            <a:r>
              <a:rPr sz="1100" dirty="0">
                <a:latin typeface="Tahoma"/>
                <a:cs typeface="Tahoma"/>
              </a:rPr>
              <a:t>)</a:t>
            </a:r>
            <a:r>
              <a:rPr sz="1100" spc="-45" dirty="0">
                <a:latin typeface="Tahoma"/>
                <a:cs typeface="Tahoma"/>
              </a:rPr>
              <a:t> </a:t>
            </a:r>
            <a:r>
              <a:rPr sz="1100" spc="-5" dirty="0">
                <a:latin typeface="Arial"/>
                <a:cs typeface="Arial"/>
              </a:rPr>
              <a:t>(or </a:t>
            </a:r>
            <a:r>
              <a:rPr sz="1100" i="1" spc="-95" dirty="0">
                <a:latin typeface="Palatino Linotype"/>
                <a:cs typeface="Palatino Linotype"/>
              </a:rPr>
              <a:t>V</a:t>
            </a:r>
            <a:r>
              <a:rPr sz="1100" i="1" spc="-35" dirty="0">
                <a:latin typeface="Palatino Linotype"/>
                <a:cs typeface="Palatino Linotype"/>
              </a:rPr>
              <a:t> </a:t>
            </a:r>
            <a:r>
              <a:rPr sz="1100" dirty="0">
                <a:latin typeface="Tahoma"/>
                <a:cs typeface="Tahoma"/>
              </a:rPr>
              <a:t>(</a:t>
            </a:r>
            <a:r>
              <a:rPr sz="1100" i="1" spc="114" dirty="0">
                <a:latin typeface="Palatino Linotype"/>
                <a:cs typeface="Palatino Linotype"/>
              </a:rPr>
              <a:t>S</a:t>
            </a:r>
            <a:r>
              <a:rPr sz="1100" dirty="0">
                <a:latin typeface="Tahoma"/>
                <a:cs typeface="Tahoma"/>
              </a:rPr>
              <a:t>)</a:t>
            </a:r>
            <a:r>
              <a:rPr sz="1100" spc="-5" dirty="0">
                <a:latin typeface="Arial"/>
                <a:cs typeface="Arial"/>
              </a:rPr>
              <a:t>)</a:t>
            </a:r>
            <a:endParaRPr sz="1100" dirty="0">
              <a:latin typeface="Arial"/>
              <a:cs typeface="Arial"/>
            </a:endParaRPr>
          </a:p>
        </p:txBody>
      </p:sp>
      <p:sp>
        <p:nvSpPr>
          <p:cNvPr id="5" name="object 5"/>
          <p:cNvSpPr txBox="1"/>
          <p:nvPr/>
        </p:nvSpPr>
        <p:spPr>
          <a:xfrm>
            <a:off x="125856" y="1283619"/>
            <a:ext cx="628015" cy="339090"/>
          </a:xfrm>
          <a:prstGeom prst="rect">
            <a:avLst/>
          </a:prstGeom>
        </p:spPr>
        <p:txBody>
          <a:bodyPr vert="horz" wrap="square" lIns="0" tIns="0" rIns="0" bIns="0" rtlCol="0">
            <a:spAutoFit/>
          </a:bodyPr>
          <a:lstStyle/>
          <a:p>
            <a:pPr marL="12700" marR="5080">
              <a:lnSpc>
                <a:spcPct val="102699"/>
              </a:lnSpc>
            </a:pPr>
            <a:r>
              <a:rPr sz="1100" i="1" spc="-55" dirty="0">
                <a:latin typeface="Trebuchet MS"/>
                <a:cs typeface="Trebuchet MS"/>
              </a:rPr>
              <a:t>wait</a:t>
            </a:r>
            <a:r>
              <a:rPr sz="1100" i="1" spc="-229" dirty="0">
                <a:latin typeface="Trebuchet MS"/>
                <a:cs typeface="Trebuchet MS"/>
              </a:rPr>
              <a:t> </a:t>
            </a:r>
            <a:r>
              <a:rPr sz="1100" dirty="0">
                <a:latin typeface="Tahoma"/>
                <a:cs typeface="Tahoma"/>
              </a:rPr>
              <a:t>(</a:t>
            </a:r>
            <a:r>
              <a:rPr sz="1100" i="1" spc="75" dirty="0">
                <a:latin typeface="Trebuchet MS"/>
                <a:cs typeface="Trebuchet MS"/>
              </a:rPr>
              <a:t>S</a:t>
            </a:r>
            <a:r>
              <a:rPr sz="1100" i="1" spc="-204" dirty="0">
                <a:latin typeface="Trebuchet MS"/>
                <a:cs typeface="Trebuchet MS"/>
              </a:rPr>
              <a:t> </a:t>
            </a:r>
            <a:r>
              <a:rPr sz="1100" dirty="0">
                <a:latin typeface="Tahoma"/>
                <a:cs typeface="Tahoma"/>
              </a:rPr>
              <a:t>)</a:t>
            </a:r>
            <a:r>
              <a:rPr sz="1100" spc="-5" dirty="0">
                <a:latin typeface="Arial"/>
                <a:cs typeface="Arial"/>
              </a:rPr>
              <a:t>: </a:t>
            </a:r>
            <a:r>
              <a:rPr sz="1100" i="1" spc="-25" dirty="0">
                <a:latin typeface="Trebuchet MS"/>
                <a:cs typeface="Trebuchet MS"/>
              </a:rPr>
              <a:t>signal</a:t>
            </a:r>
            <a:r>
              <a:rPr sz="1100" i="1" spc="-225" dirty="0">
                <a:latin typeface="Trebuchet MS"/>
                <a:cs typeface="Trebuchet MS"/>
              </a:rPr>
              <a:t> </a:t>
            </a:r>
            <a:r>
              <a:rPr sz="1100" dirty="0">
                <a:latin typeface="Tahoma"/>
                <a:cs typeface="Tahoma"/>
              </a:rPr>
              <a:t>(</a:t>
            </a:r>
            <a:r>
              <a:rPr sz="1100" i="1" spc="75" dirty="0">
                <a:latin typeface="Trebuchet MS"/>
                <a:cs typeface="Trebuchet MS"/>
              </a:rPr>
              <a:t>S</a:t>
            </a:r>
            <a:r>
              <a:rPr sz="1100" i="1" spc="-204" dirty="0">
                <a:latin typeface="Trebuchet MS"/>
                <a:cs typeface="Trebuchet MS"/>
              </a:rPr>
              <a:t> </a:t>
            </a:r>
            <a:r>
              <a:rPr sz="1100" dirty="0">
                <a:latin typeface="Tahoma"/>
                <a:cs typeface="Tahoma"/>
              </a:rPr>
              <a:t>)</a:t>
            </a:r>
            <a:r>
              <a:rPr sz="1100" spc="-5" dirty="0">
                <a:latin typeface="Arial"/>
                <a:cs typeface="Arial"/>
              </a:rPr>
              <a:t>:</a:t>
            </a:r>
            <a:endParaRPr sz="1100" dirty="0">
              <a:latin typeface="Arial"/>
              <a:cs typeface="Arial"/>
            </a:endParaRPr>
          </a:p>
        </p:txBody>
      </p:sp>
      <p:sp>
        <p:nvSpPr>
          <p:cNvPr id="6" name="object 6"/>
          <p:cNvSpPr txBox="1"/>
          <p:nvPr/>
        </p:nvSpPr>
        <p:spPr>
          <a:xfrm>
            <a:off x="969772" y="1286472"/>
            <a:ext cx="3301237" cy="348685"/>
          </a:xfrm>
          <a:prstGeom prst="rect">
            <a:avLst/>
          </a:prstGeom>
        </p:spPr>
        <p:txBody>
          <a:bodyPr vert="horz" wrap="square" lIns="0" tIns="0" rIns="0" bIns="0" rtlCol="0">
            <a:spAutoFit/>
          </a:bodyPr>
          <a:lstStyle/>
          <a:p>
            <a:pPr marL="36195" marR="5080" indent="-24130">
              <a:lnSpc>
                <a:spcPct val="102699"/>
              </a:lnSpc>
            </a:pPr>
            <a:r>
              <a:rPr lang="en-IN" sz="1100" spc="70" dirty="0" smtClean="0">
                <a:latin typeface="Arial"/>
                <a:cs typeface="Arial"/>
              </a:rPr>
              <a:t>{ </a:t>
            </a:r>
            <a:r>
              <a:rPr sz="1100" spc="70" dirty="0" smtClean="0">
                <a:latin typeface="Arial"/>
                <a:cs typeface="Arial"/>
              </a:rPr>
              <a:t>while </a:t>
            </a:r>
            <a:r>
              <a:rPr sz="1100" spc="-40" dirty="0" smtClean="0">
                <a:latin typeface="Arial"/>
                <a:cs typeface="Arial"/>
              </a:rPr>
              <a:t> </a:t>
            </a:r>
            <a:r>
              <a:rPr sz="1100" spc="20" dirty="0">
                <a:latin typeface="Arial"/>
                <a:cs typeface="Arial"/>
              </a:rPr>
              <a:t>(S</a:t>
            </a:r>
            <a:r>
              <a:rPr sz="1100" dirty="0">
                <a:latin typeface="Arial"/>
                <a:cs typeface="Arial"/>
              </a:rPr>
              <a:t> </a:t>
            </a:r>
            <a:r>
              <a:rPr sz="1100" spc="-40" dirty="0">
                <a:latin typeface="Arial"/>
                <a:cs typeface="Arial"/>
              </a:rPr>
              <a:t> </a:t>
            </a:r>
            <a:r>
              <a:rPr sz="1100" spc="-75" dirty="0">
                <a:latin typeface="Arial"/>
                <a:cs typeface="Arial"/>
              </a:rPr>
              <a:t>&lt;=</a:t>
            </a:r>
            <a:r>
              <a:rPr sz="1100" dirty="0">
                <a:latin typeface="Arial"/>
                <a:cs typeface="Arial"/>
              </a:rPr>
              <a:t> </a:t>
            </a:r>
            <a:r>
              <a:rPr sz="1100" spc="-40" dirty="0">
                <a:latin typeface="Arial"/>
                <a:cs typeface="Arial"/>
              </a:rPr>
              <a:t> </a:t>
            </a:r>
            <a:r>
              <a:rPr sz="1100" spc="140" dirty="0">
                <a:latin typeface="Arial"/>
                <a:cs typeface="Arial"/>
              </a:rPr>
              <a:t>0);</a:t>
            </a:r>
            <a:r>
              <a:rPr sz="1100" dirty="0">
                <a:latin typeface="Arial"/>
                <a:cs typeface="Arial"/>
              </a:rPr>
              <a:t> </a:t>
            </a:r>
            <a:r>
              <a:rPr sz="1100" spc="-40" dirty="0">
                <a:latin typeface="Arial"/>
                <a:cs typeface="Arial"/>
              </a:rPr>
              <a:t> </a:t>
            </a:r>
            <a:r>
              <a:rPr sz="1100" spc="20" dirty="0">
                <a:latin typeface="Arial"/>
                <a:cs typeface="Arial"/>
              </a:rPr>
              <a:t>S-</a:t>
            </a:r>
            <a:r>
              <a:rPr sz="1100" spc="-114" dirty="0">
                <a:latin typeface="Arial"/>
                <a:cs typeface="Arial"/>
              </a:rPr>
              <a:t> </a:t>
            </a:r>
            <a:r>
              <a:rPr sz="1100" spc="235" dirty="0" smtClean="0">
                <a:latin typeface="Arial"/>
                <a:cs typeface="Arial"/>
              </a:rPr>
              <a:t>-;</a:t>
            </a:r>
            <a:r>
              <a:rPr lang="en-IN" sz="1100" spc="235" dirty="0" smtClean="0">
                <a:latin typeface="Arial"/>
                <a:cs typeface="Arial"/>
              </a:rPr>
              <a:t> } </a:t>
            </a:r>
            <a:r>
              <a:rPr lang="en-IN" sz="1100" spc="-10" dirty="0">
                <a:latin typeface="Arial"/>
                <a:cs typeface="Arial"/>
              </a:rPr>
              <a:t>/* Done atomically */</a:t>
            </a:r>
            <a:r>
              <a:rPr sz="1100" spc="-10" dirty="0">
                <a:latin typeface="Arial"/>
                <a:cs typeface="Arial"/>
              </a:rPr>
              <a:t> </a:t>
            </a:r>
            <a:endParaRPr lang="en-IN" sz="1100" spc="-10" dirty="0">
              <a:latin typeface="Arial"/>
              <a:cs typeface="Arial"/>
            </a:endParaRPr>
          </a:p>
          <a:p>
            <a:pPr marL="36195" marR="5080" indent="-24130">
              <a:lnSpc>
                <a:spcPct val="102699"/>
              </a:lnSpc>
            </a:pPr>
            <a:r>
              <a:rPr lang="en-IN" sz="1100" spc="210" dirty="0" smtClean="0">
                <a:latin typeface="Arial"/>
                <a:cs typeface="Arial"/>
              </a:rPr>
              <a:t>{ </a:t>
            </a:r>
            <a:r>
              <a:rPr sz="1100" spc="-15" dirty="0" smtClean="0">
                <a:latin typeface="Arial"/>
                <a:cs typeface="Arial"/>
              </a:rPr>
              <a:t>S++;</a:t>
            </a:r>
            <a:r>
              <a:rPr lang="en-IN" sz="1100" spc="-15" dirty="0" smtClean="0">
                <a:latin typeface="Arial"/>
                <a:cs typeface="Arial"/>
              </a:rPr>
              <a:t> } </a:t>
            </a:r>
            <a:r>
              <a:rPr lang="en-IN" sz="1100" spc="-10" dirty="0">
                <a:latin typeface="Arial"/>
                <a:cs typeface="Arial"/>
              </a:rPr>
              <a:t>/* Done atomically */ </a:t>
            </a:r>
          </a:p>
        </p:txBody>
      </p:sp>
      <p:sp>
        <p:nvSpPr>
          <p:cNvPr id="7" name="object 7"/>
          <p:cNvSpPr txBox="1"/>
          <p:nvPr/>
        </p:nvSpPr>
        <p:spPr>
          <a:xfrm>
            <a:off x="125856" y="1748630"/>
            <a:ext cx="4388994" cy="1502847"/>
          </a:xfrm>
          <a:prstGeom prst="rect">
            <a:avLst/>
          </a:prstGeom>
        </p:spPr>
        <p:txBody>
          <a:bodyPr vert="horz" wrap="square" lIns="0" tIns="0" rIns="0" bIns="0" rtlCol="0">
            <a:spAutoFit/>
          </a:bodyPr>
          <a:lstStyle/>
          <a:p>
            <a:pPr marL="12700">
              <a:lnSpc>
                <a:spcPct val="100000"/>
              </a:lnSpc>
            </a:pPr>
            <a:r>
              <a:rPr sz="1050" b="1" i="1" spc="0" dirty="0">
                <a:latin typeface="Arial"/>
                <a:cs typeface="Arial"/>
              </a:rPr>
              <a:t>n</a:t>
            </a:r>
            <a:r>
              <a:rPr sz="1050" b="1" spc="-10" dirty="0">
                <a:latin typeface="Arial"/>
                <a:cs typeface="Arial"/>
              </a:rPr>
              <a:t>-p</a:t>
            </a:r>
            <a:r>
              <a:rPr sz="1050" b="1" spc="-30" dirty="0">
                <a:latin typeface="Arial"/>
                <a:cs typeface="Arial"/>
              </a:rPr>
              <a:t>r</a:t>
            </a:r>
            <a:r>
              <a:rPr sz="1050" b="1" spc="-10" dirty="0">
                <a:latin typeface="Arial"/>
                <a:cs typeface="Arial"/>
              </a:rPr>
              <a:t>ocess</a:t>
            </a:r>
            <a:r>
              <a:rPr sz="1050" b="1" spc="-5" dirty="0">
                <a:latin typeface="Arial"/>
                <a:cs typeface="Arial"/>
              </a:rPr>
              <a:t> </a:t>
            </a:r>
            <a:r>
              <a:rPr sz="1050" b="1" spc="-10" dirty="0">
                <a:latin typeface="Arial"/>
                <a:cs typeface="Arial"/>
              </a:rPr>
              <a:t>CSP:</a:t>
            </a:r>
            <a:endParaRPr sz="1050" dirty="0">
              <a:latin typeface="Arial"/>
              <a:cs typeface="Arial"/>
            </a:endParaRPr>
          </a:p>
          <a:p>
            <a:pPr marL="12700" marR="1678939">
              <a:lnSpc>
                <a:spcPct val="101400"/>
              </a:lnSpc>
              <a:spcBef>
                <a:spcPts val="855"/>
              </a:spcBef>
            </a:pPr>
            <a:r>
              <a:rPr sz="800" spc="75" dirty="0">
                <a:latin typeface="Times New Roman"/>
                <a:cs typeface="Times New Roman"/>
              </a:rPr>
              <a:t>shared </a:t>
            </a:r>
            <a:r>
              <a:rPr sz="800" spc="15" dirty="0">
                <a:latin typeface="Times New Roman"/>
                <a:cs typeface="Times New Roman"/>
              </a:rPr>
              <a:t> </a:t>
            </a:r>
            <a:r>
              <a:rPr sz="800" spc="30" dirty="0">
                <a:latin typeface="Times New Roman"/>
                <a:cs typeface="Times New Roman"/>
              </a:rPr>
              <a:t>semaphore</a:t>
            </a:r>
            <a:r>
              <a:rPr sz="800" dirty="0">
                <a:latin typeface="Times New Roman"/>
                <a:cs typeface="Times New Roman"/>
              </a:rPr>
              <a:t> </a:t>
            </a:r>
            <a:r>
              <a:rPr sz="800" spc="20" dirty="0">
                <a:latin typeface="Times New Roman"/>
                <a:cs typeface="Times New Roman"/>
              </a:rPr>
              <a:t> </a:t>
            </a:r>
            <a:r>
              <a:rPr sz="800" spc="15" dirty="0">
                <a:latin typeface="Times New Roman"/>
                <a:cs typeface="Times New Roman"/>
              </a:rPr>
              <a:t>mutex</a:t>
            </a:r>
            <a:r>
              <a:rPr sz="800" dirty="0">
                <a:latin typeface="Times New Roman"/>
                <a:cs typeface="Times New Roman"/>
              </a:rPr>
              <a:t> </a:t>
            </a:r>
            <a:r>
              <a:rPr sz="800" spc="20" dirty="0">
                <a:latin typeface="Times New Roman"/>
                <a:cs typeface="Times New Roman"/>
              </a:rPr>
              <a:t> </a:t>
            </a:r>
            <a:r>
              <a:rPr sz="800" spc="-45" dirty="0">
                <a:latin typeface="Times New Roman"/>
                <a:cs typeface="Times New Roman"/>
              </a:rPr>
              <a:t>=</a:t>
            </a:r>
            <a:r>
              <a:rPr sz="800" dirty="0">
                <a:latin typeface="Times New Roman"/>
                <a:cs typeface="Times New Roman"/>
              </a:rPr>
              <a:t> </a:t>
            </a:r>
            <a:r>
              <a:rPr sz="800" spc="20" dirty="0">
                <a:latin typeface="Times New Roman"/>
                <a:cs typeface="Times New Roman"/>
              </a:rPr>
              <a:t> </a:t>
            </a:r>
            <a:r>
              <a:rPr sz="800" spc="114" dirty="0">
                <a:latin typeface="Times New Roman"/>
                <a:cs typeface="Times New Roman"/>
              </a:rPr>
              <a:t>1;</a:t>
            </a:r>
            <a:r>
              <a:rPr sz="800" spc="75" dirty="0">
                <a:latin typeface="Times New Roman"/>
                <a:cs typeface="Times New Roman"/>
              </a:rPr>
              <a:t> </a:t>
            </a:r>
            <a:endParaRPr lang="en-IN" sz="800" spc="75" dirty="0" smtClean="0">
              <a:latin typeface="Times New Roman"/>
              <a:cs typeface="Times New Roman"/>
            </a:endParaRPr>
          </a:p>
          <a:p>
            <a:pPr marL="12700" marR="1678939">
              <a:lnSpc>
                <a:spcPct val="101400"/>
              </a:lnSpc>
              <a:spcBef>
                <a:spcPts val="855"/>
              </a:spcBef>
            </a:pPr>
            <a:r>
              <a:rPr sz="800" spc="105" dirty="0" err="1" smtClean="0">
                <a:latin typeface="Times New Roman"/>
                <a:cs typeface="Times New Roman"/>
              </a:rPr>
              <a:t>P_i</a:t>
            </a:r>
            <a:r>
              <a:rPr sz="800" spc="105" dirty="0">
                <a:latin typeface="Times New Roman"/>
                <a:cs typeface="Times New Roman"/>
              </a:rPr>
              <a:t>()</a:t>
            </a:r>
            <a:endParaRPr sz="800" dirty="0">
              <a:latin typeface="Times New Roman"/>
              <a:cs typeface="Times New Roman"/>
            </a:endParaRPr>
          </a:p>
          <a:p>
            <a:pPr marL="12700">
              <a:lnSpc>
                <a:spcPct val="100000"/>
              </a:lnSpc>
              <a:spcBef>
                <a:spcPts val="15"/>
              </a:spcBef>
            </a:pPr>
            <a:r>
              <a:rPr sz="800" spc="30" dirty="0">
                <a:latin typeface="Times New Roman"/>
                <a:cs typeface="Times New Roman"/>
              </a:rPr>
              <a:t>{ </a:t>
            </a:r>
            <a:r>
              <a:rPr sz="800" spc="15" dirty="0">
                <a:latin typeface="Times New Roman"/>
                <a:cs typeface="Times New Roman"/>
              </a:rPr>
              <a:t> </a:t>
            </a:r>
            <a:r>
              <a:rPr sz="800" spc="80" dirty="0">
                <a:latin typeface="Times New Roman"/>
                <a:cs typeface="Times New Roman"/>
              </a:rPr>
              <a:t>wait(mutex);</a:t>
            </a:r>
            <a:r>
              <a:rPr sz="800" dirty="0">
                <a:latin typeface="Times New Roman"/>
                <a:cs typeface="Times New Roman"/>
              </a:rPr>
              <a:t> </a:t>
            </a:r>
            <a:r>
              <a:rPr sz="800" spc="20" dirty="0">
                <a:latin typeface="Times New Roman"/>
                <a:cs typeface="Times New Roman"/>
              </a:rPr>
              <a:t> </a:t>
            </a:r>
            <a:endParaRPr lang="en-US" sz="800" spc="20" dirty="0" smtClean="0">
              <a:latin typeface="Times New Roman"/>
              <a:cs typeface="Times New Roman"/>
            </a:endParaRPr>
          </a:p>
          <a:p>
            <a:pPr marL="12700">
              <a:lnSpc>
                <a:spcPct val="100000"/>
              </a:lnSpc>
              <a:spcBef>
                <a:spcPts val="15"/>
              </a:spcBef>
            </a:pPr>
            <a:r>
              <a:rPr lang="en-US" sz="800" spc="20" dirty="0">
                <a:latin typeface="Times New Roman"/>
                <a:cs typeface="Times New Roman"/>
              </a:rPr>
              <a:t> </a:t>
            </a:r>
            <a:r>
              <a:rPr lang="en-US" sz="800" spc="20" dirty="0" smtClean="0">
                <a:latin typeface="Times New Roman"/>
                <a:cs typeface="Times New Roman"/>
              </a:rPr>
              <a:t>   </a:t>
            </a:r>
            <a:r>
              <a:rPr sz="800" spc="130" dirty="0" err="1" smtClean="0">
                <a:latin typeface="Times New Roman"/>
                <a:cs typeface="Times New Roman"/>
              </a:rPr>
              <a:t>critical_section</a:t>
            </a:r>
            <a:r>
              <a:rPr sz="800" spc="130" dirty="0">
                <a:latin typeface="Times New Roman"/>
                <a:cs typeface="Times New Roman"/>
              </a:rPr>
              <a:t>();</a:t>
            </a:r>
            <a:r>
              <a:rPr sz="800" dirty="0">
                <a:latin typeface="Times New Roman"/>
                <a:cs typeface="Times New Roman"/>
              </a:rPr>
              <a:t> </a:t>
            </a:r>
            <a:r>
              <a:rPr sz="800" spc="20" dirty="0">
                <a:latin typeface="Times New Roman"/>
                <a:cs typeface="Times New Roman"/>
              </a:rPr>
              <a:t> </a:t>
            </a:r>
            <a:endParaRPr lang="en-US" sz="800" spc="20" dirty="0" smtClean="0">
              <a:latin typeface="Times New Roman"/>
              <a:cs typeface="Times New Roman"/>
            </a:endParaRPr>
          </a:p>
          <a:p>
            <a:pPr marL="12700">
              <a:lnSpc>
                <a:spcPct val="100000"/>
              </a:lnSpc>
              <a:spcBef>
                <a:spcPts val="15"/>
              </a:spcBef>
            </a:pPr>
            <a:r>
              <a:rPr lang="en-US" sz="800" spc="20" dirty="0">
                <a:latin typeface="Times New Roman"/>
                <a:cs typeface="Times New Roman"/>
              </a:rPr>
              <a:t> </a:t>
            </a:r>
            <a:r>
              <a:rPr lang="en-US" sz="800" spc="20" dirty="0" smtClean="0">
                <a:latin typeface="Times New Roman"/>
                <a:cs typeface="Times New Roman"/>
              </a:rPr>
              <a:t>   </a:t>
            </a:r>
            <a:r>
              <a:rPr sz="800" spc="90" dirty="0" smtClean="0">
                <a:latin typeface="Times New Roman"/>
                <a:cs typeface="Times New Roman"/>
              </a:rPr>
              <a:t>signal(</a:t>
            </a:r>
            <a:r>
              <a:rPr sz="800" spc="90" dirty="0" err="1" smtClean="0">
                <a:latin typeface="Times New Roman"/>
                <a:cs typeface="Times New Roman"/>
              </a:rPr>
              <a:t>mutex</a:t>
            </a:r>
            <a:r>
              <a:rPr sz="800" spc="90" dirty="0">
                <a:latin typeface="Times New Roman"/>
                <a:cs typeface="Times New Roman"/>
              </a:rPr>
              <a:t>);</a:t>
            </a:r>
            <a:r>
              <a:rPr sz="800" dirty="0">
                <a:latin typeface="Times New Roman"/>
                <a:cs typeface="Times New Roman"/>
              </a:rPr>
              <a:t> </a:t>
            </a:r>
            <a:r>
              <a:rPr sz="800" spc="20" dirty="0">
                <a:latin typeface="Times New Roman"/>
                <a:cs typeface="Times New Roman"/>
              </a:rPr>
              <a:t> </a:t>
            </a:r>
            <a:r>
              <a:rPr sz="800" spc="245" dirty="0">
                <a:latin typeface="Times New Roman"/>
                <a:cs typeface="Times New Roman"/>
              </a:rPr>
              <a:t>...</a:t>
            </a:r>
            <a:r>
              <a:rPr sz="800" dirty="0">
                <a:latin typeface="Times New Roman"/>
                <a:cs typeface="Times New Roman"/>
              </a:rPr>
              <a:t> </a:t>
            </a:r>
            <a:r>
              <a:rPr sz="800" spc="20" dirty="0">
                <a:latin typeface="Times New Roman"/>
                <a:cs typeface="Times New Roman"/>
              </a:rPr>
              <a:t> </a:t>
            </a:r>
            <a:endParaRPr lang="en-US" sz="800" spc="20" dirty="0" smtClean="0">
              <a:latin typeface="Times New Roman"/>
              <a:cs typeface="Times New Roman"/>
            </a:endParaRPr>
          </a:p>
          <a:p>
            <a:pPr marL="12700">
              <a:lnSpc>
                <a:spcPct val="100000"/>
              </a:lnSpc>
              <a:spcBef>
                <a:spcPts val="15"/>
              </a:spcBef>
            </a:pPr>
            <a:r>
              <a:rPr sz="800" spc="30" dirty="0" smtClean="0">
                <a:latin typeface="Times New Roman"/>
                <a:cs typeface="Times New Roman"/>
              </a:rPr>
              <a:t>}</a:t>
            </a:r>
            <a:endParaRPr lang="en-US" sz="800" spc="30" dirty="0" smtClean="0">
              <a:latin typeface="Times New Roman"/>
              <a:cs typeface="Times New Roman"/>
            </a:endParaRPr>
          </a:p>
          <a:p>
            <a:pPr marL="12700">
              <a:lnSpc>
                <a:spcPct val="100000"/>
              </a:lnSpc>
              <a:spcBef>
                <a:spcPts val="15"/>
              </a:spcBef>
            </a:pPr>
            <a:endParaRPr lang="en-US" sz="800" spc="30" dirty="0">
              <a:latin typeface="Times New Roman"/>
              <a:cs typeface="Times New Roman"/>
            </a:endParaRPr>
          </a:p>
          <a:p>
            <a:pPr marL="12700">
              <a:lnSpc>
                <a:spcPct val="100000"/>
              </a:lnSpc>
              <a:spcBef>
                <a:spcPts val="15"/>
              </a:spcBef>
            </a:pPr>
            <a:r>
              <a:rPr lang="en-US" sz="800" b="1" spc="30" dirty="0" smtClean="0">
                <a:latin typeface="Times New Roman"/>
                <a:cs typeface="Times New Roman"/>
              </a:rPr>
              <a:t>Note</a:t>
            </a:r>
            <a:r>
              <a:rPr lang="en-US" sz="800" spc="30" dirty="0" smtClean="0">
                <a:latin typeface="Times New Roman"/>
                <a:cs typeface="Times New Roman"/>
              </a:rPr>
              <a:t>: semaphore S initialized to # of processes that can call wait concurrently without blocking. For our purpose, initialization can ONLY be 1 for the kind of CS applications we want.</a:t>
            </a:r>
            <a:endParaRPr sz="800" dirty="0">
              <a:latin typeface="Times New Roman"/>
              <a:cs typeface="Times New Roman"/>
            </a:endParaRPr>
          </a:p>
        </p:txBody>
      </p:sp>
      <p:sp>
        <p:nvSpPr>
          <p:cNvPr id="8" name="object 8"/>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close/>
              </a:path>
            </a:pathLst>
          </a:custGeom>
          <a:solidFill>
            <a:srgbClr val="193F3F"/>
          </a:solidFill>
        </p:spPr>
        <p:txBody>
          <a:bodyPr wrap="square" lIns="0" tIns="0" rIns="0" bIns="0" rtlCol="0"/>
          <a:lstStyle/>
          <a:p>
            <a:endParaRPr/>
          </a:p>
        </p:txBody>
      </p:sp>
      <p:sp>
        <p:nvSpPr>
          <p:cNvPr id="9" name="object 9"/>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close/>
              </a:path>
            </a:pathLst>
          </a:custGeom>
          <a:solidFill>
            <a:srgbClr val="265F5F"/>
          </a:solidFill>
        </p:spPr>
        <p:txBody>
          <a:bodyPr wrap="square" lIns="0" tIns="0" rIns="0" bIns="0" rtlCol="0"/>
          <a:lstStyle/>
          <a:p>
            <a:endParaRPr/>
          </a:p>
        </p:txBody>
      </p:sp>
      <p:sp>
        <p:nvSpPr>
          <p:cNvPr id="10" name="object 10"/>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11" name="object 11"/>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r>
              <a:rPr spc="-5" dirty="0"/>
              <a:t>17 / 28</a:t>
            </a:r>
          </a:p>
        </p:txBody>
      </p:sp>
    </p:spTree>
    <p:extLst>
      <p:ext uri="{BB962C8B-B14F-4D97-AF65-F5344CB8AC3E}">
        <p14:creationId xmlns:p14="http://schemas.microsoft.com/office/powerpoint/2010/main" val="1272000613"/>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spc="15" dirty="0"/>
              <a:t>Semaphore </a:t>
            </a:r>
            <a:r>
              <a:rPr lang="en-IN" spc="15" dirty="0" smtClean="0"/>
              <a:t>Behaviour</a:t>
            </a:r>
            <a:endParaRPr lang="en-IN" dirty="0"/>
          </a:p>
        </p:txBody>
      </p:sp>
      <p:sp>
        <p:nvSpPr>
          <p:cNvPr id="3" name="Text Placeholder 2"/>
          <p:cNvSpPr>
            <a:spLocks noGrp="1"/>
          </p:cNvSpPr>
          <p:nvPr>
            <p:ph type="body" idx="1"/>
          </p:nvPr>
        </p:nvSpPr>
        <p:spPr>
          <a:xfrm>
            <a:off x="125856" y="521302"/>
            <a:ext cx="4358386" cy="1862048"/>
          </a:xfrm>
        </p:spPr>
        <p:txBody>
          <a:bodyPr/>
          <a:lstStyle/>
          <a:p>
            <a:r>
              <a:rPr lang="en-IN" b="0" dirty="0" smtClean="0"/>
              <a:t>S = 1</a:t>
            </a:r>
          </a:p>
          <a:p>
            <a:endParaRPr lang="en-IN" b="0" dirty="0"/>
          </a:p>
          <a:p>
            <a:r>
              <a:rPr lang="en-IN" b="0" dirty="0" smtClean="0"/>
              <a:t>P1 calls wait </a:t>
            </a:r>
            <a:r>
              <a:rPr lang="en-IN" b="0" dirty="0" smtClean="0">
                <a:sym typeface="Wingdings" panose="05000000000000000000" pitchFamily="2" charset="2"/>
              </a:rPr>
              <a:t> </a:t>
            </a:r>
            <a:r>
              <a:rPr lang="en-IN" b="0" dirty="0" smtClean="0"/>
              <a:t>does not get stuck in wait </a:t>
            </a:r>
            <a:r>
              <a:rPr lang="en-IN" b="0" dirty="0" smtClean="0">
                <a:sym typeface="Wingdings" panose="05000000000000000000" pitchFamily="2" charset="2"/>
              </a:rPr>
              <a:t> S is now 0</a:t>
            </a:r>
          </a:p>
          <a:p>
            <a:endParaRPr lang="en-IN" b="0" dirty="0">
              <a:sym typeface="Wingdings" panose="05000000000000000000" pitchFamily="2" charset="2"/>
            </a:endParaRPr>
          </a:p>
          <a:p>
            <a:r>
              <a:rPr lang="en-IN" b="0" dirty="0" smtClean="0">
                <a:sym typeface="Wingdings" panose="05000000000000000000" pitchFamily="2" charset="2"/>
              </a:rPr>
              <a:t>P2 calls wait  gets stuck</a:t>
            </a:r>
          </a:p>
          <a:p>
            <a:endParaRPr lang="en-IN" b="0" dirty="0">
              <a:sym typeface="Wingdings" panose="05000000000000000000" pitchFamily="2" charset="2"/>
            </a:endParaRPr>
          </a:p>
          <a:p>
            <a:r>
              <a:rPr lang="en-IN" b="0" dirty="0" smtClean="0">
                <a:sym typeface="Wingdings" panose="05000000000000000000" pitchFamily="2" charset="2"/>
              </a:rPr>
              <a:t>P1 calls signal (S)  S goes from 0 to 1</a:t>
            </a:r>
          </a:p>
          <a:p>
            <a:endParaRPr lang="en-IN" b="0" dirty="0">
              <a:sym typeface="Wingdings" panose="05000000000000000000" pitchFamily="2" charset="2"/>
            </a:endParaRPr>
          </a:p>
          <a:p>
            <a:r>
              <a:rPr lang="en-IN" b="0" dirty="0" smtClean="0">
                <a:sym typeface="Wingdings" panose="05000000000000000000" pitchFamily="2" charset="2"/>
              </a:rPr>
              <a:t>P2 comes out of while loop, decrements CS  S = 0</a:t>
            </a:r>
          </a:p>
          <a:p>
            <a:endParaRPr lang="en-IN" b="0" dirty="0">
              <a:sym typeface="Wingdings" panose="05000000000000000000" pitchFamily="2" charset="2"/>
            </a:endParaRPr>
          </a:p>
          <a:p>
            <a:r>
              <a:rPr lang="en-IN" b="0" dirty="0" smtClean="0">
                <a:sym typeface="Wingdings" panose="05000000000000000000" pitchFamily="2" charset="2"/>
              </a:rPr>
              <a:t>Initialized S to 1  1 process can enter CS at a time </a:t>
            </a:r>
            <a:endParaRPr lang="en-IN" b="0" dirty="0"/>
          </a:p>
        </p:txBody>
      </p:sp>
    </p:spTree>
    <p:extLst>
      <p:ext uri="{BB962C8B-B14F-4D97-AF65-F5344CB8AC3E}">
        <p14:creationId xmlns:p14="http://schemas.microsoft.com/office/powerpoint/2010/main" val="27540068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spc="15" dirty="0"/>
              <a:t>Semaphore </a:t>
            </a:r>
            <a:r>
              <a:rPr lang="en-IN" spc="15" dirty="0" smtClean="0"/>
              <a:t>Behaviour</a:t>
            </a:r>
            <a:endParaRPr lang="en-IN" dirty="0"/>
          </a:p>
        </p:txBody>
      </p:sp>
      <p:sp>
        <p:nvSpPr>
          <p:cNvPr id="3" name="Text Placeholder 2"/>
          <p:cNvSpPr>
            <a:spLocks noGrp="1"/>
          </p:cNvSpPr>
          <p:nvPr>
            <p:ph type="body" idx="1"/>
          </p:nvPr>
        </p:nvSpPr>
        <p:spPr>
          <a:xfrm>
            <a:off x="125856" y="521302"/>
            <a:ext cx="4358386" cy="2200602"/>
          </a:xfrm>
        </p:spPr>
        <p:txBody>
          <a:bodyPr/>
          <a:lstStyle/>
          <a:p>
            <a:r>
              <a:rPr lang="en-IN" b="0" dirty="0" smtClean="0"/>
              <a:t>S = 2</a:t>
            </a:r>
          </a:p>
          <a:p>
            <a:endParaRPr lang="en-IN" b="0" dirty="0"/>
          </a:p>
          <a:p>
            <a:r>
              <a:rPr lang="en-IN" b="0" dirty="0" smtClean="0"/>
              <a:t>P1 calls wait </a:t>
            </a:r>
            <a:r>
              <a:rPr lang="en-IN" b="0" dirty="0" smtClean="0">
                <a:sym typeface="Wingdings" panose="05000000000000000000" pitchFamily="2" charset="2"/>
              </a:rPr>
              <a:t> </a:t>
            </a:r>
            <a:r>
              <a:rPr lang="en-IN" b="0" dirty="0" smtClean="0"/>
              <a:t>does not get stuck in wait </a:t>
            </a:r>
            <a:r>
              <a:rPr lang="en-IN" b="0" dirty="0" smtClean="0">
                <a:sym typeface="Wingdings" panose="05000000000000000000" pitchFamily="2" charset="2"/>
              </a:rPr>
              <a:t> S is now 1</a:t>
            </a:r>
          </a:p>
          <a:p>
            <a:endParaRPr lang="en-IN" b="0" dirty="0">
              <a:sym typeface="Wingdings" panose="05000000000000000000" pitchFamily="2" charset="2"/>
            </a:endParaRPr>
          </a:p>
          <a:p>
            <a:r>
              <a:rPr lang="en-IN" b="0" dirty="0" smtClean="0">
                <a:sym typeface="Wingdings" panose="05000000000000000000" pitchFamily="2" charset="2"/>
              </a:rPr>
              <a:t>P2 calls wait  does not get stuck  S is now 0</a:t>
            </a:r>
          </a:p>
          <a:p>
            <a:endParaRPr lang="en-IN" b="0" dirty="0">
              <a:sym typeface="Wingdings" panose="05000000000000000000" pitchFamily="2" charset="2"/>
            </a:endParaRPr>
          </a:p>
          <a:p>
            <a:r>
              <a:rPr lang="en-IN" b="0" dirty="0" smtClean="0">
                <a:sym typeface="Wingdings" panose="05000000000000000000" pitchFamily="2" charset="2"/>
              </a:rPr>
              <a:t>P3 calls wait  gets stuck</a:t>
            </a:r>
          </a:p>
          <a:p>
            <a:endParaRPr lang="en-IN" b="0" dirty="0">
              <a:sym typeface="Wingdings" panose="05000000000000000000" pitchFamily="2" charset="2"/>
            </a:endParaRPr>
          </a:p>
          <a:p>
            <a:r>
              <a:rPr lang="en-IN" b="0" dirty="0" smtClean="0">
                <a:sym typeface="Wingdings" panose="05000000000000000000" pitchFamily="2" charset="2"/>
              </a:rPr>
              <a:t>Either P1 or P2 calls signal (S)  S goes from 0 to 1</a:t>
            </a:r>
          </a:p>
          <a:p>
            <a:endParaRPr lang="en-IN" b="0" dirty="0">
              <a:sym typeface="Wingdings" panose="05000000000000000000" pitchFamily="2" charset="2"/>
            </a:endParaRPr>
          </a:p>
          <a:p>
            <a:r>
              <a:rPr lang="en-IN" b="0" dirty="0" smtClean="0">
                <a:sym typeface="Wingdings" panose="05000000000000000000" pitchFamily="2" charset="2"/>
              </a:rPr>
              <a:t>P3 comes out of while loop, decrements CS  S = 0</a:t>
            </a:r>
          </a:p>
          <a:p>
            <a:endParaRPr lang="en-IN" b="0" dirty="0">
              <a:sym typeface="Wingdings" panose="05000000000000000000" pitchFamily="2" charset="2"/>
            </a:endParaRPr>
          </a:p>
          <a:p>
            <a:r>
              <a:rPr lang="en-IN" b="0" dirty="0" smtClean="0">
                <a:sym typeface="Wingdings" panose="05000000000000000000" pitchFamily="2" charset="2"/>
              </a:rPr>
              <a:t>Initialized S to 2  2 processes can enter CS simultaneously </a:t>
            </a:r>
            <a:endParaRPr lang="en-IN" b="0" dirty="0"/>
          </a:p>
        </p:txBody>
      </p:sp>
    </p:spTree>
    <p:extLst>
      <p:ext uri="{BB962C8B-B14F-4D97-AF65-F5344CB8AC3E}">
        <p14:creationId xmlns:p14="http://schemas.microsoft.com/office/powerpoint/2010/main" val="11302604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Semaphore implementation</a:t>
            </a:r>
            <a:endParaRPr lang="en-IN" dirty="0"/>
          </a:p>
        </p:txBody>
      </p:sp>
      <p:sp>
        <p:nvSpPr>
          <p:cNvPr id="3" name="Text Placeholder 2"/>
          <p:cNvSpPr>
            <a:spLocks noGrp="1"/>
          </p:cNvSpPr>
          <p:nvPr>
            <p:ph type="body" idx="1"/>
          </p:nvPr>
        </p:nvSpPr>
        <p:spPr>
          <a:xfrm>
            <a:off x="95250" y="413308"/>
            <a:ext cx="4358386" cy="2339102"/>
          </a:xfrm>
        </p:spPr>
        <p:txBody>
          <a:bodyPr/>
          <a:lstStyle/>
          <a:p>
            <a:endParaRPr lang="en-US" sz="1000" b="0" dirty="0" smtClean="0"/>
          </a:p>
          <a:p>
            <a:endParaRPr lang="en-US" sz="1000" b="0" dirty="0"/>
          </a:p>
          <a:p>
            <a:endParaRPr lang="en-US" sz="1000" b="0" dirty="0" smtClean="0"/>
          </a:p>
          <a:p>
            <a:endParaRPr lang="en-US" sz="1000" b="0" dirty="0"/>
          </a:p>
          <a:p>
            <a:endParaRPr lang="en-US" sz="1000" b="0" dirty="0" smtClean="0"/>
          </a:p>
          <a:p>
            <a:r>
              <a:rPr lang="en-US" sz="1000" b="0" dirty="0" smtClean="0"/>
              <a:t>Challenges: </a:t>
            </a:r>
          </a:p>
          <a:p>
            <a:endParaRPr lang="en-US" sz="1000" b="0" dirty="0" smtClean="0"/>
          </a:p>
          <a:p>
            <a:pPr marL="171450" indent="-171450">
              <a:buFont typeface="Arial" panose="020B0604020202020204" pitchFamily="34" charset="0"/>
              <a:buChar char="•"/>
            </a:pPr>
            <a:r>
              <a:rPr lang="en-US" sz="1000" b="0" dirty="0" smtClean="0"/>
              <a:t>wait and signal have to be </a:t>
            </a:r>
            <a:r>
              <a:rPr lang="en-US" sz="1000" b="0" u="sng" dirty="0" smtClean="0"/>
              <a:t>implemented atomically</a:t>
            </a:r>
            <a:r>
              <a:rPr lang="en-US" sz="1000" b="0" dirty="0" smtClean="0"/>
              <a:t> in the kernel</a:t>
            </a:r>
          </a:p>
          <a:p>
            <a:pPr marL="628650" lvl="1" indent="-171450">
              <a:buFont typeface="Arial" panose="020B0604020202020204" pitchFamily="34" charset="0"/>
              <a:buChar char="•"/>
            </a:pPr>
            <a:r>
              <a:rPr lang="en-US" sz="1100" b="0" dirty="0" smtClean="0"/>
              <a:t>If it was implemented like S++ and S--, we would have the same issues at the kernel with S, due to context switches in between</a:t>
            </a:r>
          </a:p>
          <a:p>
            <a:pPr marL="171450" indent="-171450">
              <a:buFont typeface="Arial" panose="020B0604020202020204" pitchFamily="34" charset="0"/>
              <a:buChar char="•"/>
            </a:pPr>
            <a:endParaRPr lang="en-US" sz="1000" b="0" dirty="0"/>
          </a:p>
          <a:p>
            <a:pPr marL="171450" indent="-171450">
              <a:buFont typeface="Arial" panose="020B0604020202020204" pitchFamily="34" charset="0"/>
              <a:buChar char="•"/>
            </a:pPr>
            <a:r>
              <a:rPr lang="en-US" sz="1000" b="0" dirty="0" smtClean="0"/>
              <a:t>We want S++ (increment) and S– (decrement) to be implemented as atomic operations</a:t>
            </a:r>
          </a:p>
          <a:p>
            <a:endParaRPr lang="en-US" sz="1000" b="0" dirty="0"/>
          </a:p>
          <a:p>
            <a:pPr marL="171450" indent="-171450">
              <a:buFont typeface="Arial" panose="020B0604020202020204" pitchFamily="34" charset="0"/>
              <a:buChar char="•"/>
            </a:pPr>
            <a:r>
              <a:rPr lang="en-US" sz="1000" b="0" dirty="0" smtClean="0"/>
              <a:t>S-- and S++ </a:t>
            </a:r>
            <a:r>
              <a:rPr lang="en-US" sz="1000" b="0" u="sng" dirty="0" smtClean="0"/>
              <a:t>together</a:t>
            </a:r>
            <a:r>
              <a:rPr lang="en-US" sz="1000" b="0" dirty="0" smtClean="0"/>
              <a:t> needed to ensure a CS</a:t>
            </a:r>
            <a:endParaRPr lang="en-IN" sz="1000" b="0" dirty="0" smtClean="0"/>
          </a:p>
        </p:txBody>
      </p:sp>
      <p:sp>
        <p:nvSpPr>
          <p:cNvPr id="4" name="object 5"/>
          <p:cNvSpPr txBox="1"/>
          <p:nvPr/>
        </p:nvSpPr>
        <p:spPr>
          <a:xfrm>
            <a:off x="125856" y="540637"/>
            <a:ext cx="628015" cy="523028"/>
          </a:xfrm>
          <a:prstGeom prst="rect">
            <a:avLst/>
          </a:prstGeom>
        </p:spPr>
        <p:txBody>
          <a:bodyPr vert="horz" wrap="square" lIns="0" tIns="0" rIns="0" bIns="0" rtlCol="0">
            <a:spAutoFit/>
          </a:bodyPr>
          <a:lstStyle/>
          <a:p>
            <a:pPr marL="12700" marR="5080">
              <a:lnSpc>
                <a:spcPct val="102699"/>
              </a:lnSpc>
            </a:pPr>
            <a:r>
              <a:rPr sz="1100" i="1" spc="-55" dirty="0">
                <a:latin typeface="Trebuchet MS"/>
                <a:cs typeface="Trebuchet MS"/>
              </a:rPr>
              <a:t>wait</a:t>
            </a:r>
            <a:r>
              <a:rPr sz="1100" i="1" spc="-229" dirty="0">
                <a:latin typeface="Trebuchet MS"/>
                <a:cs typeface="Trebuchet MS"/>
              </a:rPr>
              <a:t> </a:t>
            </a:r>
            <a:r>
              <a:rPr sz="1100" dirty="0">
                <a:latin typeface="Tahoma"/>
                <a:cs typeface="Tahoma"/>
              </a:rPr>
              <a:t>(</a:t>
            </a:r>
            <a:r>
              <a:rPr sz="1100" i="1" spc="75" dirty="0">
                <a:latin typeface="Trebuchet MS"/>
                <a:cs typeface="Trebuchet MS"/>
              </a:rPr>
              <a:t>S</a:t>
            </a:r>
            <a:r>
              <a:rPr sz="1100" i="1" spc="-204" dirty="0">
                <a:latin typeface="Trebuchet MS"/>
                <a:cs typeface="Trebuchet MS"/>
              </a:rPr>
              <a:t> </a:t>
            </a:r>
            <a:r>
              <a:rPr sz="1100" dirty="0">
                <a:latin typeface="Tahoma"/>
                <a:cs typeface="Tahoma"/>
              </a:rPr>
              <a:t>)</a:t>
            </a:r>
            <a:r>
              <a:rPr sz="1100" spc="-5" dirty="0">
                <a:latin typeface="Arial"/>
                <a:cs typeface="Arial"/>
              </a:rPr>
              <a:t>: </a:t>
            </a:r>
            <a:endParaRPr lang="en-IN" sz="1100" spc="-5" dirty="0" smtClean="0">
              <a:latin typeface="Arial"/>
              <a:cs typeface="Arial"/>
            </a:endParaRPr>
          </a:p>
          <a:p>
            <a:pPr marL="12700" marR="5080">
              <a:lnSpc>
                <a:spcPct val="102699"/>
              </a:lnSpc>
            </a:pPr>
            <a:r>
              <a:rPr lang="en-IN" sz="1100" i="1" spc="-5" dirty="0" smtClean="0">
                <a:latin typeface="Arial"/>
                <a:cs typeface="Arial"/>
              </a:rPr>
              <a:t>      </a:t>
            </a:r>
            <a:r>
              <a:rPr lang="en-IN" sz="1100" spc="-5" dirty="0" smtClean="0">
                <a:solidFill>
                  <a:srgbClr val="92D050"/>
                </a:solidFill>
                <a:effectLst>
                  <a:outerShdw blurRad="38100" dist="38100" dir="2700000" algn="tl">
                    <a:srgbClr val="000000">
                      <a:alpha val="43137"/>
                    </a:srgbClr>
                  </a:outerShdw>
                </a:effectLst>
                <a:latin typeface="Arial"/>
                <a:cs typeface="Arial"/>
              </a:rPr>
              <a:t>CS</a:t>
            </a:r>
            <a:endParaRPr lang="en-IN" sz="1100" spc="-5" dirty="0">
              <a:solidFill>
                <a:srgbClr val="92D050"/>
              </a:solidFill>
              <a:effectLst>
                <a:outerShdw blurRad="38100" dist="38100" dir="2700000" algn="tl">
                  <a:srgbClr val="000000">
                    <a:alpha val="43137"/>
                  </a:srgbClr>
                </a:outerShdw>
              </a:effectLst>
              <a:latin typeface="Arial"/>
              <a:cs typeface="Arial"/>
            </a:endParaRPr>
          </a:p>
          <a:p>
            <a:pPr marL="12700" marR="5080">
              <a:lnSpc>
                <a:spcPct val="102699"/>
              </a:lnSpc>
            </a:pPr>
            <a:r>
              <a:rPr sz="1100" i="1" spc="-25" dirty="0" smtClean="0">
                <a:latin typeface="Trebuchet MS"/>
                <a:cs typeface="Trebuchet MS"/>
              </a:rPr>
              <a:t>signal</a:t>
            </a:r>
            <a:r>
              <a:rPr sz="1100" i="1" spc="-225" dirty="0" smtClean="0">
                <a:latin typeface="Trebuchet MS"/>
                <a:cs typeface="Trebuchet MS"/>
              </a:rPr>
              <a:t> </a:t>
            </a:r>
            <a:r>
              <a:rPr sz="1100" dirty="0">
                <a:latin typeface="Tahoma"/>
                <a:cs typeface="Tahoma"/>
              </a:rPr>
              <a:t>(</a:t>
            </a:r>
            <a:r>
              <a:rPr sz="1100" i="1" spc="75" dirty="0">
                <a:latin typeface="Trebuchet MS"/>
                <a:cs typeface="Trebuchet MS"/>
              </a:rPr>
              <a:t>S</a:t>
            </a:r>
            <a:r>
              <a:rPr sz="1100" i="1" spc="-204" dirty="0">
                <a:latin typeface="Trebuchet MS"/>
                <a:cs typeface="Trebuchet MS"/>
              </a:rPr>
              <a:t> </a:t>
            </a:r>
            <a:r>
              <a:rPr sz="1100" dirty="0">
                <a:latin typeface="Tahoma"/>
                <a:cs typeface="Tahoma"/>
              </a:rPr>
              <a:t>)</a:t>
            </a:r>
            <a:r>
              <a:rPr sz="1100" spc="-5" dirty="0">
                <a:latin typeface="Arial"/>
                <a:cs typeface="Arial"/>
              </a:rPr>
              <a:t>:</a:t>
            </a:r>
            <a:endParaRPr sz="1100" dirty="0">
              <a:latin typeface="Arial"/>
              <a:cs typeface="Arial"/>
            </a:endParaRPr>
          </a:p>
        </p:txBody>
      </p:sp>
      <p:sp>
        <p:nvSpPr>
          <p:cNvPr id="5" name="object 6"/>
          <p:cNvSpPr txBox="1"/>
          <p:nvPr/>
        </p:nvSpPr>
        <p:spPr>
          <a:xfrm>
            <a:off x="969772" y="543490"/>
            <a:ext cx="3301237" cy="523028"/>
          </a:xfrm>
          <a:prstGeom prst="rect">
            <a:avLst/>
          </a:prstGeom>
        </p:spPr>
        <p:txBody>
          <a:bodyPr vert="horz" wrap="square" lIns="0" tIns="0" rIns="0" bIns="0" rtlCol="0">
            <a:spAutoFit/>
          </a:bodyPr>
          <a:lstStyle/>
          <a:p>
            <a:pPr marL="36195" marR="5080" indent="-24130">
              <a:lnSpc>
                <a:spcPct val="102699"/>
              </a:lnSpc>
            </a:pPr>
            <a:r>
              <a:rPr lang="en-IN" sz="1100" spc="70" dirty="0" smtClean="0">
                <a:latin typeface="Arial"/>
                <a:cs typeface="Arial"/>
              </a:rPr>
              <a:t>{ </a:t>
            </a:r>
            <a:r>
              <a:rPr sz="1100" spc="70" dirty="0" smtClean="0">
                <a:latin typeface="Arial"/>
                <a:cs typeface="Arial"/>
              </a:rPr>
              <a:t>while </a:t>
            </a:r>
            <a:r>
              <a:rPr sz="1100" spc="-40" dirty="0" smtClean="0">
                <a:latin typeface="Arial"/>
                <a:cs typeface="Arial"/>
              </a:rPr>
              <a:t> </a:t>
            </a:r>
            <a:r>
              <a:rPr sz="1100" spc="20" dirty="0">
                <a:latin typeface="Arial"/>
                <a:cs typeface="Arial"/>
              </a:rPr>
              <a:t>(S</a:t>
            </a:r>
            <a:r>
              <a:rPr sz="1100" dirty="0">
                <a:latin typeface="Arial"/>
                <a:cs typeface="Arial"/>
              </a:rPr>
              <a:t> </a:t>
            </a:r>
            <a:r>
              <a:rPr sz="1100" spc="-40" dirty="0">
                <a:latin typeface="Arial"/>
                <a:cs typeface="Arial"/>
              </a:rPr>
              <a:t> </a:t>
            </a:r>
            <a:r>
              <a:rPr sz="1100" spc="-75" dirty="0">
                <a:latin typeface="Arial"/>
                <a:cs typeface="Arial"/>
              </a:rPr>
              <a:t>&lt;=</a:t>
            </a:r>
            <a:r>
              <a:rPr sz="1100" dirty="0">
                <a:latin typeface="Arial"/>
                <a:cs typeface="Arial"/>
              </a:rPr>
              <a:t> </a:t>
            </a:r>
            <a:r>
              <a:rPr sz="1100" spc="-40" dirty="0">
                <a:latin typeface="Arial"/>
                <a:cs typeface="Arial"/>
              </a:rPr>
              <a:t> </a:t>
            </a:r>
            <a:r>
              <a:rPr sz="1100" spc="140" dirty="0">
                <a:latin typeface="Arial"/>
                <a:cs typeface="Arial"/>
              </a:rPr>
              <a:t>0);</a:t>
            </a:r>
            <a:r>
              <a:rPr sz="1100" dirty="0">
                <a:latin typeface="Arial"/>
                <a:cs typeface="Arial"/>
              </a:rPr>
              <a:t> </a:t>
            </a:r>
            <a:r>
              <a:rPr sz="1100" spc="-40" dirty="0">
                <a:latin typeface="Arial"/>
                <a:cs typeface="Arial"/>
              </a:rPr>
              <a:t> </a:t>
            </a:r>
            <a:r>
              <a:rPr sz="1100" spc="20" dirty="0">
                <a:latin typeface="Arial"/>
                <a:cs typeface="Arial"/>
              </a:rPr>
              <a:t>S-</a:t>
            </a:r>
            <a:r>
              <a:rPr sz="1100" spc="-114" dirty="0">
                <a:latin typeface="Arial"/>
                <a:cs typeface="Arial"/>
              </a:rPr>
              <a:t> </a:t>
            </a:r>
            <a:r>
              <a:rPr sz="1100" spc="235" dirty="0" smtClean="0">
                <a:latin typeface="Arial"/>
                <a:cs typeface="Arial"/>
              </a:rPr>
              <a:t>-;</a:t>
            </a:r>
            <a:r>
              <a:rPr lang="en-IN" sz="1100" spc="235" dirty="0" smtClean="0">
                <a:latin typeface="Arial"/>
                <a:cs typeface="Arial"/>
              </a:rPr>
              <a:t> } </a:t>
            </a:r>
            <a:r>
              <a:rPr lang="en-IN" sz="1100" spc="-10" dirty="0">
                <a:latin typeface="Arial"/>
                <a:cs typeface="Arial"/>
              </a:rPr>
              <a:t>/* Done atomically */</a:t>
            </a:r>
            <a:r>
              <a:rPr sz="1100" spc="-10" dirty="0">
                <a:latin typeface="Arial"/>
                <a:cs typeface="Arial"/>
              </a:rPr>
              <a:t> </a:t>
            </a:r>
            <a:endParaRPr lang="en-IN" sz="1100" spc="-10" dirty="0">
              <a:latin typeface="Arial"/>
              <a:cs typeface="Arial"/>
            </a:endParaRPr>
          </a:p>
          <a:p>
            <a:pPr marL="36195" marR="5080" indent="-24130">
              <a:lnSpc>
                <a:spcPct val="102699"/>
              </a:lnSpc>
            </a:pPr>
            <a:endParaRPr lang="en-IN" sz="1100" spc="210" dirty="0" smtClean="0">
              <a:latin typeface="Arial"/>
              <a:cs typeface="Arial"/>
            </a:endParaRPr>
          </a:p>
          <a:p>
            <a:pPr marL="36195" marR="5080" indent="-24130">
              <a:lnSpc>
                <a:spcPct val="102699"/>
              </a:lnSpc>
            </a:pPr>
            <a:r>
              <a:rPr lang="en-IN" sz="1100" spc="210" dirty="0" smtClean="0">
                <a:latin typeface="Arial"/>
                <a:cs typeface="Arial"/>
              </a:rPr>
              <a:t>{ </a:t>
            </a:r>
            <a:r>
              <a:rPr sz="1100" spc="-15" dirty="0" smtClean="0">
                <a:latin typeface="Arial"/>
                <a:cs typeface="Arial"/>
              </a:rPr>
              <a:t>S++;</a:t>
            </a:r>
            <a:r>
              <a:rPr lang="en-IN" sz="1100" spc="-15" dirty="0" smtClean="0">
                <a:latin typeface="Arial"/>
                <a:cs typeface="Arial"/>
              </a:rPr>
              <a:t> } </a:t>
            </a:r>
            <a:r>
              <a:rPr lang="en-IN" sz="1100" spc="-10" dirty="0">
                <a:latin typeface="Arial"/>
                <a:cs typeface="Arial"/>
              </a:rPr>
              <a:t>/* Done atomically */ </a:t>
            </a:r>
          </a:p>
        </p:txBody>
      </p:sp>
    </p:spTree>
    <p:extLst>
      <p:ext uri="{BB962C8B-B14F-4D97-AF65-F5344CB8AC3E}">
        <p14:creationId xmlns:p14="http://schemas.microsoft.com/office/powerpoint/2010/main" val="25995205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Semaphore implementation: Notes</a:t>
            </a:r>
            <a:endParaRPr lang="en-IN" dirty="0"/>
          </a:p>
        </p:txBody>
      </p:sp>
      <p:sp>
        <p:nvSpPr>
          <p:cNvPr id="3" name="Text Placeholder 2"/>
          <p:cNvSpPr>
            <a:spLocks noGrp="1"/>
          </p:cNvSpPr>
          <p:nvPr>
            <p:ph type="body" idx="1"/>
          </p:nvPr>
        </p:nvSpPr>
        <p:spPr>
          <a:xfrm>
            <a:off x="95250" y="413308"/>
            <a:ext cx="4358386" cy="1231106"/>
          </a:xfrm>
        </p:spPr>
        <p:txBody>
          <a:bodyPr/>
          <a:lstStyle/>
          <a:p>
            <a:r>
              <a:rPr lang="en-US" sz="1000" b="0" dirty="0" smtClean="0"/>
              <a:t>We have given S++ and S-- to solve the application CS problem</a:t>
            </a:r>
          </a:p>
          <a:p>
            <a:endParaRPr lang="en-US" sz="1000" b="0" dirty="0" smtClean="0"/>
          </a:p>
          <a:p>
            <a:r>
              <a:rPr lang="en-US" sz="1000" b="0" dirty="0" smtClean="0"/>
              <a:t>We need CS for S++ and S-- now</a:t>
            </a:r>
          </a:p>
          <a:p>
            <a:endParaRPr lang="en-US" sz="1000" b="0" dirty="0" smtClean="0"/>
          </a:p>
          <a:p>
            <a:r>
              <a:rPr lang="en-US" sz="1000" b="0" dirty="0" smtClean="0"/>
              <a:t>Semaphores </a:t>
            </a:r>
            <a:r>
              <a:rPr lang="en-US" sz="1000" b="0" u="sng" dirty="0" smtClean="0"/>
              <a:t>cannot</a:t>
            </a:r>
            <a:r>
              <a:rPr lang="en-US" sz="1000" b="0" dirty="0" smtClean="0"/>
              <a:t> be used here</a:t>
            </a:r>
          </a:p>
          <a:p>
            <a:endParaRPr lang="en-US" sz="1000" b="0" dirty="0" smtClean="0"/>
          </a:p>
          <a:p>
            <a:r>
              <a:rPr lang="en-US" sz="1000" b="0" dirty="0" err="1" smtClean="0"/>
              <a:t>Lamport’s</a:t>
            </a:r>
            <a:r>
              <a:rPr lang="en-US" sz="1000" b="0" dirty="0" smtClean="0"/>
              <a:t> Bakery / test-and-set for n-CSP comes to rescue</a:t>
            </a:r>
            <a:endParaRPr lang="en-US" sz="1000" b="0" dirty="0"/>
          </a:p>
          <a:p>
            <a:endParaRPr lang="en-US" sz="1000" b="0" dirty="0" smtClean="0"/>
          </a:p>
        </p:txBody>
      </p:sp>
    </p:spTree>
    <p:extLst>
      <p:ext uri="{BB962C8B-B14F-4D97-AF65-F5344CB8AC3E}">
        <p14:creationId xmlns:p14="http://schemas.microsoft.com/office/powerpoint/2010/main" val="26472682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2895</TotalTime>
  <Words>1712</Words>
  <Application>Microsoft Office PowerPoint</Application>
  <PresentationFormat>Custom</PresentationFormat>
  <Paragraphs>332</Paragraphs>
  <Slides>22</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Century</vt:lpstr>
      <vt:lpstr>Palatino Linotype</vt:lpstr>
      <vt:lpstr>Tahoma</vt:lpstr>
      <vt:lpstr>Times New Roman</vt:lpstr>
      <vt:lpstr>Trebuchet MS</vt:lpstr>
      <vt:lpstr>Wingdings</vt:lpstr>
      <vt:lpstr>Office Theme</vt:lpstr>
      <vt:lpstr>PowerPoint Presentation</vt:lpstr>
      <vt:lpstr>Recall: Algorithm 3 for 2 processes</vt:lpstr>
      <vt:lpstr>Recall: Bakery algorithm</vt:lpstr>
      <vt:lpstr>Recall: Bakery algorithm</vt:lpstr>
      <vt:lpstr>Recall</vt:lpstr>
      <vt:lpstr>Assumptions</vt:lpstr>
      <vt:lpstr>Hardware support</vt:lpstr>
      <vt:lpstr>Hardware solutions</vt:lpstr>
      <vt:lpstr>All is Well?</vt:lpstr>
      <vt:lpstr>n-process CSP</vt:lpstr>
      <vt:lpstr>Structured lock handover mechanism</vt:lpstr>
      <vt:lpstr>The code for P[i]</vt:lpstr>
      <vt:lpstr>Bounded waiting</vt:lpstr>
      <vt:lpstr>Putting everything together</vt:lpstr>
      <vt:lpstr>Other classes of solutions</vt:lpstr>
      <vt:lpstr>Other classes of solutions</vt:lpstr>
      <vt:lpstr>Semaphores</vt:lpstr>
      <vt:lpstr>Semaphore Behaviour</vt:lpstr>
      <vt:lpstr>Semaphore Behaviour</vt:lpstr>
      <vt:lpstr>Semaphore Behaviour</vt:lpstr>
      <vt:lpstr>Semaphore implementation</vt:lpstr>
      <vt:lpstr>Semaphore implementation: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Synchronization</dc:title>
  <dc:creator>Mandar Mitra</dc:creator>
  <cp:lastModifiedBy>PC</cp:lastModifiedBy>
  <cp:revision>198</cp:revision>
  <dcterms:created xsi:type="dcterms:W3CDTF">2020-03-13T20:49:06Z</dcterms:created>
  <dcterms:modified xsi:type="dcterms:W3CDTF">2026-02-06T16:54:31Z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2017-04-14T00:00:00Z</vt:filetime>
  </property>
  <property fmtid="{D5CDD505-2E9C-101B-9397-08002B2CF9AE}" pid="3" name="LastSaved">
    <vt:filetime>2020-03-13T00:00:00Z</vt:filetime>
  </property>
</Properties>
</file>
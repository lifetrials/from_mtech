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43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39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1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33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41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44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tags+xml" PartName="/ppt/tags/tag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3460750" cx="4610100"/>
  <p:notesSz cx="4610100" cy="3460750"/>
  <p:custDataLst>
    <p:tags r:id="rId51"/>
  </p:custDataLst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tags" Target="tags/tag1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2577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7904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6105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1788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19155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6178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22695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83375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93250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325851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498199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41154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785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0506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153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797381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9046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8052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69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 28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4608195" cy="360045"/>
          </a:xfrm>
          <a:custGeom>
            <a:avLst/>
            <a:gdLst/>
            <a:ahLst/>
            <a:cxnLst/>
            <a:rect l="l" t="t" r="r" b="b"/>
            <a:pathLst>
              <a:path w="4608195" h="360045">
                <a:moveTo>
                  <a:pt x="0" y="360045"/>
                </a:moveTo>
                <a:lnTo>
                  <a:pt x="4607940" y="360045"/>
                </a:lnTo>
                <a:lnTo>
                  <a:pt x="4607940" y="0"/>
                </a:lnTo>
                <a:lnTo>
                  <a:pt x="0" y="0"/>
                </a:lnTo>
                <a:lnTo>
                  <a:pt x="0" y="360045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0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2075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873630" y="3345157"/>
            <a:ext cx="861060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1009" y="3345157"/>
            <a:ext cx="270510" cy="10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‹#›</a:t>
            </a:fld>
            <a:r>
              <a:rPr spc="-5" dirty="0"/>
              <a:t> / 28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iming>
    <p:tnLst>
      <p:par>
        <p:cTn id="1" dur="indefinite" restart="never" nodeType="tmRoot"/>
      </p:par>
    </p:tnLst>
  </p:timing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556" y="1034161"/>
            <a:ext cx="4331335" cy="215444"/>
          </a:xfrm>
          <a:prstGeom prst="rect">
            <a:avLst/>
          </a:prstGeom>
          <a:solidFill>
            <a:srgbClr val="337F7F"/>
          </a:solidFill>
        </p:spPr>
        <p:txBody>
          <a:bodyPr vert="horz" wrap="square" lIns="0" tIns="0" rIns="0" bIns="0" rtlCol="0">
            <a:spAutoFit/>
          </a:bodyPr>
          <a:lstStyle/>
          <a:p>
            <a:pPr marL="1162685">
              <a:lnSpc>
                <a:spcPct val="100000"/>
              </a:lnSpc>
            </a:pP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smtClean="0">
                <a:solidFill>
                  <a:srgbClr val="FFFFFF"/>
                </a:solidFill>
                <a:latin typeface="Arial"/>
                <a:cs typeface="Arial"/>
              </a:rPr>
              <a:t>Synchronization</a:t>
            </a:r>
            <a:r>
              <a:rPr lang="en-US" sz="1400" spc="10" smtClean="0">
                <a:solidFill>
                  <a:srgbClr val="FFFFFF"/>
                </a:solidFill>
                <a:latin typeface="Arial"/>
                <a:cs typeface="Arial"/>
              </a:rPr>
              <a:t>-4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1</a:t>
            </a:fld>
            <a:r>
              <a:rPr spc="-5" dirty="0"/>
              <a:t> / 28</a:t>
            </a:r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 smtClean="0"/>
              <a:t>Semaphore</a:t>
            </a:r>
            <a:r>
              <a:rPr lang="en-IN" spc="15" dirty="0" smtClean="0"/>
              <a:t> Behaviour</a:t>
            </a:r>
            <a:endParaRPr spc="15" dirty="0"/>
          </a:p>
        </p:txBody>
      </p:sp>
      <p:sp>
        <p:nvSpPr>
          <p:cNvPr id="3" name="object 3"/>
          <p:cNvSpPr txBox="1"/>
          <p:nvPr/>
        </p:nvSpPr>
        <p:spPr>
          <a:xfrm>
            <a:off x="1695195" y="411226"/>
            <a:ext cx="1217930" cy="16002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ct val="100000"/>
              </a:lnSpc>
            </a:pPr>
            <a:r>
              <a:rPr sz="900" spc="-25" dirty="0">
                <a:latin typeface="Century"/>
                <a:cs typeface="Century"/>
              </a:rPr>
              <a:t>Reference: </a:t>
            </a:r>
            <a:r>
              <a:rPr sz="900" spc="-95" dirty="0">
                <a:latin typeface="Century"/>
                <a:cs typeface="Century"/>
              </a:rPr>
              <a:t> </a:t>
            </a:r>
            <a:r>
              <a:rPr sz="900" spc="-25" dirty="0">
                <a:latin typeface="Century"/>
                <a:cs typeface="Century"/>
              </a:rPr>
              <a:t>Section</a:t>
            </a:r>
            <a:r>
              <a:rPr sz="900" spc="55" dirty="0">
                <a:latin typeface="Century"/>
                <a:cs typeface="Century"/>
              </a:rPr>
              <a:t> </a:t>
            </a:r>
            <a:r>
              <a:rPr sz="900" spc="-30" dirty="0">
                <a:latin typeface="Century"/>
                <a:cs typeface="Century"/>
              </a:rPr>
              <a:t>6.4</a:t>
            </a:r>
            <a:endParaRPr sz="900">
              <a:latin typeface="Century"/>
              <a:cs typeface="Century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856" y="691418"/>
            <a:ext cx="4297045" cy="523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sz="1100" b="1" spc="-5" dirty="0">
                <a:latin typeface="Arial"/>
                <a:cs typeface="Arial"/>
              </a:rPr>
              <a:t>Definition: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counting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semaphore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55" dirty="0">
                <a:latin typeface="Palatino Linotype"/>
                <a:cs typeface="Palatino Linotype"/>
              </a:rPr>
              <a:t>S</a:t>
            </a:r>
            <a:r>
              <a:rPr sz="1100" i="1" spc="90" dirty="0">
                <a:latin typeface="Palatino Linotype"/>
                <a:cs typeface="Palatino Linotype"/>
              </a:rPr>
              <a:t> </a:t>
            </a:r>
            <a:r>
              <a:rPr sz="1100" spc="-5" dirty="0">
                <a:latin typeface="Arial"/>
                <a:cs typeface="Arial"/>
              </a:rPr>
              <a:t>is </a:t>
            </a:r>
            <a:r>
              <a:rPr sz="1100" spc="-10" dirty="0">
                <a:latin typeface="Arial"/>
                <a:cs typeface="Arial"/>
              </a:rPr>
              <a:t>an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u="sng" spc="-5" dirty="0">
                <a:latin typeface="Arial"/>
                <a:cs typeface="Arial"/>
              </a:rPr>
              <a:t>integer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ia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5" dirty="0">
                <a:latin typeface="Arial"/>
                <a:cs typeface="Arial"/>
              </a:rPr>
              <a:t>le that </a:t>
            </a:r>
            <a:r>
              <a:rPr sz="1100" spc="-10" dirty="0">
                <a:latin typeface="Arial"/>
                <a:cs typeface="Arial"/>
              </a:rPr>
              <a:t>can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 accessed</a:t>
            </a:r>
            <a:r>
              <a:rPr sz="1100" spc="-5" dirty="0">
                <a:latin typeface="Arial"/>
                <a:cs typeface="Arial"/>
              </a:rPr>
              <a:t> only </a:t>
            </a:r>
            <a:r>
              <a:rPr sz="1100" spc="-10" dirty="0">
                <a:latin typeface="Arial"/>
                <a:cs typeface="Arial"/>
              </a:rPr>
              <a:t>through</a:t>
            </a:r>
            <a:r>
              <a:rPr sz="1100" spc="-5" dirty="0">
                <a:latin typeface="Arial"/>
                <a:cs typeface="Arial"/>
              </a:rPr>
              <a:t> t</a:t>
            </a:r>
            <a:r>
              <a:rPr sz="1100" spc="-20" dirty="0">
                <a:latin typeface="Arial"/>
                <a:cs typeface="Arial"/>
              </a:rPr>
              <a:t>w</a:t>
            </a:r>
            <a:r>
              <a:rPr sz="1100" spc="-10" dirty="0">
                <a:latin typeface="Arial"/>
                <a:cs typeface="Arial"/>
              </a:rPr>
              <a:t>o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u="sng" spc="-10" dirty="0">
                <a:latin typeface="Arial"/>
                <a:cs typeface="Arial"/>
              </a:rPr>
              <a:t>atomic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ope</a:t>
            </a:r>
            <a:r>
              <a:rPr sz="1100" spc="-1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ation</a:t>
            </a:r>
            <a:r>
              <a:rPr sz="1100" spc="-30" dirty="0">
                <a:latin typeface="Arial"/>
                <a:cs typeface="Arial"/>
              </a:rPr>
              <a:t>s</a:t>
            </a:r>
            <a:r>
              <a:rPr sz="1100" spc="-5" dirty="0">
                <a:latin typeface="Arial"/>
                <a:cs typeface="Arial"/>
              </a:rPr>
              <a:t>, </a:t>
            </a:r>
            <a:r>
              <a:rPr sz="1100" i="1" spc="-55" dirty="0">
                <a:latin typeface="Trebuchet MS"/>
                <a:cs typeface="Trebuchet MS"/>
              </a:rPr>
              <a:t>wait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spc="75" dirty="0">
                <a:latin typeface="Trebuchet MS"/>
                <a:cs typeface="Trebuchet MS"/>
              </a:rPr>
              <a:t>S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" dirty="0">
                <a:latin typeface="Arial"/>
                <a:cs typeface="Arial"/>
              </a:rPr>
              <a:t>(or </a:t>
            </a:r>
            <a:r>
              <a:rPr sz="1100" i="1" spc="25" dirty="0">
                <a:latin typeface="Palatino Linotype"/>
                <a:cs typeface="Palatino Linotype"/>
              </a:rPr>
              <a:t>P</a:t>
            </a:r>
            <a:r>
              <a:rPr sz="1100" i="1" spc="-12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spc="114" dirty="0">
                <a:latin typeface="Palatino Linotype"/>
                <a:cs typeface="Palatino Linotype"/>
              </a:rPr>
              <a:t>S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" dirty="0">
                <a:latin typeface="Arial"/>
                <a:cs typeface="Arial"/>
              </a:rPr>
              <a:t>) </a:t>
            </a:r>
            <a:r>
              <a:rPr sz="1100" spc="-10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-25" dirty="0">
                <a:latin typeface="Trebuchet MS"/>
                <a:cs typeface="Trebuchet MS"/>
              </a:rPr>
              <a:t>signal</a:t>
            </a:r>
            <a:r>
              <a:rPr sz="1100" i="1" spc="-2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spc="75" dirty="0">
                <a:latin typeface="Trebuchet MS"/>
                <a:cs typeface="Trebuchet MS"/>
              </a:rPr>
              <a:t>S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" dirty="0">
                <a:latin typeface="Arial"/>
                <a:cs typeface="Arial"/>
              </a:rPr>
              <a:t>(or </a:t>
            </a:r>
            <a:r>
              <a:rPr sz="1100" i="1" spc="-95" dirty="0">
                <a:latin typeface="Palatino Linotype"/>
                <a:cs typeface="Palatino Linotype"/>
              </a:rPr>
              <a:t>V</a:t>
            </a:r>
            <a:r>
              <a:rPr sz="1100" i="1" spc="-35" dirty="0">
                <a:latin typeface="Palatino Linotype"/>
                <a:cs typeface="Palatino Linotype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spc="114" dirty="0">
                <a:latin typeface="Palatino Linotype"/>
                <a:cs typeface="Palatino Linotype"/>
              </a:rPr>
              <a:t>S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" dirty="0">
                <a:latin typeface="Arial"/>
                <a:cs typeface="Arial"/>
              </a:rPr>
              <a:t>)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56" y="1283619"/>
            <a:ext cx="62801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sz="1100" i="1" spc="-55" dirty="0">
                <a:latin typeface="Trebuchet MS"/>
                <a:cs typeface="Trebuchet MS"/>
              </a:rPr>
              <a:t>wait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spc="75" dirty="0">
                <a:latin typeface="Trebuchet MS"/>
                <a:cs typeface="Trebuchet MS"/>
              </a:rPr>
              <a:t>S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" dirty="0">
                <a:latin typeface="Arial"/>
                <a:cs typeface="Arial"/>
              </a:rPr>
              <a:t>: </a:t>
            </a:r>
            <a:r>
              <a:rPr sz="1100" i="1" spc="-25" dirty="0">
                <a:latin typeface="Trebuchet MS"/>
                <a:cs typeface="Trebuchet MS"/>
              </a:rPr>
              <a:t>signal</a:t>
            </a:r>
            <a:r>
              <a:rPr sz="1100" i="1" spc="-2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spc="75" dirty="0">
                <a:latin typeface="Trebuchet MS"/>
                <a:cs typeface="Trebuchet MS"/>
              </a:rPr>
              <a:t>S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" dirty="0">
                <a:latin typeface="Arial"/>
                <a:cs typeface="Arial"/>
              </a:rPr>
              <a:t>: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9772" y="1286472"/>
            <a:ext cx="3301237" cy="348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 marR="5080" indent="-24130">
              <a:lnSpc>
                <a:spcPct val="102699"/>
              </a:lnSpc>
            </a:pPr>
            <a:r>
              <a:rPr lang="en-IN" sz="1100" spc="70" dirty="0" smtClean="0">
                <a:latin typeface="Arial"/>
                <a:cs typeface="Arial"/>
              </a:rPr>
              <a:t>{ </a:t>
            </a:r>
            <a:r>
              <a:rPr sz="1100" spc="70" dirty="0" smtClean="0">
                <a:latin typeface="Arial"/>
                <a:cs typeface="Arial"/>
              </a:rPr>
              <a:t>while </a:t>
            </a:r>
            <a:r>
              <a:rPr sz="1100" spc="-40" dirty="0" smtClean="0">
                <a:latin typeface="Arial"/>
                <a:cs typeface="Arial"/>
              </a:rPr>
              <a:t> </a:t>
            </a:r>
            <a:r>
              <a:rPr sz="1100" spc="20" dirty="0">
                <a:latin typeface="Arial"/>
                <a:cs typeface="Arial"/>
              </a:rPr>
              <a:t>(S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&lt;=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140" dirty="0">
                <a:latin typeface="Arial"/>
                <a:cs typeface="Arial"/>
              </a:rPr>
              <a:t>0);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20" dirty="0">
                <a:latin typeface="Arial"/>
                <a:cs typeface="Arial"/>
              </a:rPr>
              <a:t>S-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spc="235" dirty="0" smtClean="0">
                <a:latin typeface="Arial"/>
                <a:cs typeface="Arial"/>
              </a:rPr>
              <a:t>-;</a:t>
            </a:r>
            <a:r>
              <a:rPr lang="en-IN" sz="1100" spc="235" dirty="0" smtClean="0">
                <a:latin typeface="Arial"/>
                <a:cs typeface="Arial"/>
              </a:rPr>
              <a:t> } </a:t>
            </a:r>
            <a:r>
              <a:rPr lang="en-IN" sz="1100" spc="-10" dirty="0">
                <a:latin typeface="Arial"/>
                <a:cs typeface="Arial"/>
              </a:rPr>
              <a:t>/* Done atomically */</a:t>
            </a:r>
            <a:r>
              <a:rPr sz="1100" spc="-10" dirty="0">
                <a:latin typeface="Arial"/>
                <a:cs typeface="Arial"/>
              </a:rPr>
              <a:t> </a:t>
            </a:r>
            <a:endParaRPr lang="en-IN" sz="1100" spc="-10" dirty="0">
              <a:latin typeface="Arial"/>
              <a:cs typeface="Arial"/>
            </a:endParaRPr>
          </a:p>
          <a:p>
            <a:pPr marL="36195" marR="5080" indent="-24130">
              <a:lnSpc>
                <a:spcPct val="102699"/>
              </a:lnSpc>
            </a:pPr>
            <a:r>
              <a:rPr lang="en-IN" sz="1100" spc="210" dirty="0" smtClean="0">
                <a:latin typeface="Arial"/>
                <a:cs typeface="Arial"/>
              </a:rPr>
              <a:t>{ </a:t>
            </a:r>
            <a:r>
              <a:rPr sz="1100" spc="-15" dirty="0" smtClean="0">
                <a:latin typeface="Arial"/>
                <a:cs typeface="Arial"/>
              </a:rPr>
              <a:t>S++;</a:t>
            </a:r>
            <a:r>
              <a:rPr lang="en-IN" sz="1100" spc="-15" dirty="0" smtClean="0">
                <a:latin typeface="Arial"/>
                <a:cs typeface="Arial"/>
              </a:rPr>
              <a:t> } </a:t>
            </a:r>
            <a:r>
              <a:rPr lang="en-IN" sz="1100" spc="-10" dirty="0">
                <a:latin typeface="Arial"/>
                <a:cs typeface="Arial"/>
              </a:rPr>
              <a:t>/* Done atomically */ 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5856" y="1748630"/>
            <a:ext cx="4388994" cy="150284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b="1" i="1" spc="0" dirty="0">
                <a:latin typeface="Arial"/>
                <a:cs typeface="Arial"/>
              </a:rPr>
              <a:t>n</a:t>
            </a:r>
            <a:r>
              <a:rPr sz="1050" b="1" spc="-10" dirty="0">
                <a:latin typeface="Arial"/>
                <a:cs typeface="Arial"/>
              </a:rPr>
              <a:t>-p</a:t>
            </a:r>
            <a:r>
              <a:rPr sz="1050" b="1" spc="-30" dirty="0">
                <a:latin typeface="Arial"/>
                <a:cs typeface="Arial"/>
              </a:rPr>
              <a:t>r</a:t>
            </a:r>
            <a:r>
              <a:rPr sz="1050" b="1" spc="-10" dirty="0">
                <a:latin typeface="Arial"/>
                <a:cs typeface="Arial"/>
              </a:rPr>
              <a:t>ocess</a:t>
            </a:r>
            <a:r>
              <a:rPr sz="1050" b="1" spc="-5" dirty="0">
                <a:latin typeface="Arial"/>
                <a:cs typeface="Arial"/>
              </a:rPr>
              <a:t> </a:t>
            </a:r>
            <a:r>
              <a:rPr sz="1050" b="1" spc="-10" dirty="0">
                <a:latin typeface="Arial"/>
                <a:cs typeface="Arial"/>
              </a:rPr>
              <a:t>CSP:</a:t>
            </a:r>
            <a:endParaRPr sz="1050" dirty="0">
              <a:latin typeface="Arial"/>
              <a:cs typeface="Arial"/>
            </a:endParaRPr>
          </a:p>
          <a:p>
            <a:pPr marL="12700" marR="1678939">
              <a:lnSpc>
                <a:spcPct val="101400"/>
              </a:lnSpc>
              <a:spcBef>
                <a:spcPts val="855"/>
              </a:spcBef>
            </a:pPr>
            <a:r>
              <a:rPr sz="800" spc="75" dirty="0">
                <a:latin typeface="Times New Roman"/>
                <a:cs typeface="Times New Roman"/>
              </a:rPr>
              <a:t>shared </a:t>
            </a:r>
            <a:r>
              <a:rPr sz="800" spc="15" dirty="0">
                <a:latin typeface="Times New Roman"/>
                <a:cs typeface="Times New Roman"/>
              </a:rPr>
              <a:t> </a:t>
            </a:r>
            <a:r>
              <a:rPr sz="800" spc="30" dirty="0">
                <a:latin typeface="Times New Roman"/>
                <a:cs typeface="Times New Roman"/>
              </a:rPr>
              <a:t>semaphore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r>
              <a:rPr sz="800" spc="15" dirty="0">
                <a:latin typeface="Times New Roman"/>
                <a:cs typeface="Times New Roman"/>
              </a:rPr>
              <a:t>mutex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r>
              <a:rPr sz="800" spc="-45" dirty="0">
                <a:latin typeface="Times New Roman"/>
                <a:cs typeface="Times New Roman"/>
              </a:rPr>
              <a:t>=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r>
              <a:rPr sz="800" spc="114" dirty="0">
                <a:latin typeface="Times New Roman"/>
                <a:cs typeface="Times New Roman"/>
              </a:rPr>
              <a:t>1;</a:t>
            </a:r>
            <a:r>
              <a:rPr sz="800" spc="75" dirty="0">
                <a:latin typeface="Times New Roman"/>
                <a:cs typeface="Times New Roman"/>
              </a:rPr>
              <a:t> </a:t>
            </a:r>
            <a:endParaRPr lang="en-IN" sz="800" spc="75" dirty="0" smtClean="0">
              <a:latin typeface="Times New Roman"/>
              <a:cs typeface="Times New Roman"/>
            </a:endParaRPr>
          </a:p>
          <a:p>
            <a:pPr marL="12700" marR="1678939">
              <a:lnSpc>
                <a:spcPct val="101400"/>
              </a:lnSpc>
              <a:spcBef>
                <a:spcPts val="855"/>
              </a:spcBef>
            </a:pPr>
            <a:r>
              <a:rPr sz="800" spc="105" dirty="0" err="1" smtClean="0">
                <a:latin typeface="Times New Roman"/>
                <a:cs typeface="Times New Roman"/>
              </a:rPr>
              <a:t>P_i</a:t>
            </a:r>
            <a:r>
              <a:rPr sz="800" spc="105" dirty="0">
                <a:latin typeface="Times New Roman"/>
                <a:cs typeface="Times New Roman"/>
              </a:rPr>
              <a:t>()</a:t>
            </a:r>
            <a:endParaRPr sz="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30" dirty="0">
                <a:latin typeface="Times New Roman"/>
                <a:cs typeface="Times New Roman"/>
              </a:rPr>
              <a:t>{ </a:t>
            </a:r>
            <a:r>
              <a:rPr sz="800" spc="15" dirty="0">
                <a:latin typeface="Times New Roman"/>
                <a:cs typeface="Times New Roman"/>
              </a:rPr>
              <a:t> </a:t>
            </a:r>
            <a:r>
              <a:rPr sz="800" spc="80" dirty="0">
                <a:latin typeface="Times New Roman"/>
                <a:cs typeface="Times New Roman"/>
              </a:rPr>
              <a:t>wait(mutex);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endParaRPr lang="en-US" sz="800" spc="2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800" spc="20" dirty="0">
                <a:latin typeface="Times New Roman"/>
                <a:cs typeface="Times New Roman"/>
              </a:rPr>
              <a:t> </a:t>
            </a:r>
            <a:r>
              <a:rPr lang="en-US" sz="800" spc="20" dirty="0" smtClean="0">
                <a:latin typeface="Times New Roman"/>
                <a:cs typeface="Times New Roman"/>
              </a:rPr>
              <a:t>   </a:t>
            </a:r>
            <a:r>
              <a:rPr sz="800" spc="130" dirty="0" err="1" smtClean="0">
                <a:latin typeface="Times New Roman"/>
                <a:cs typeface="Times New Roman"/>
              </a:rPr>
              <a:t>critical_section</a:t>
            </a:r>
            <a:r>
              <a:rPr sz="800" spc="130" dirty="0">
                <a:latin typeface="Times New Roman"/>
                <a:cs typeface="Times New Roman"/>
              </a:rPr>
              <a:t>();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endParaRPr lang="en-US" sz="800" spc="2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800" spc="20" dirty="0">
                <a:latin typeface="Times New Roman"/>
                <a:cs typeface="Times New Roman"/>
              </a:rPr>
              <a:t> </a:t>
            </a:r>
            <a:r>
              <a:rPr lang="en-US" sz="800" spc="20" dirty="0" smtClean="0">
                <a:latin typeface="Times New Roman"/>
                <a:cs typeface="Times New Roman"/>
              </a:rPr>
              <a:t>   </a:t>
            </a:r>
            <a:r>
              <a:rPr sz="800" spc="90" dirty="0" smtClean="0">
                <a:latin typeface="Times New Roman"/>
                <a:cs typeface="Times New Roman"/>
              </a:rPr>
              <a:t>signal(</a:t>
            </a:r>
            <a:r>
              <a:rPr sz="800" spc="90" dirty="0" err="1" smtClean="0">
                <a:latin typeface="Times New Roman"/>
                <a:cs typeface="Times New Roman"/>
              </a:rPr>
              <a:t>mutex</a:t>
            </a:r>
            <a:r>
              <a:rPr sz="800" spc="90" dirty="0">
                <a:latin typeface="Times New Roman"/>
                <a:cs typeface="Times New Roman"/>
              </a:rPr>
              <a:t>);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r>
              <a:rPr sz="800" spc="245" dirty="0">
                <a:latin typeface="Times New Roman"/>
                <a:cs typeface="Times New Roman"/>
              </a:rPr>
              <a:t>...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endParaRPr lang="en-US" sz="800" spc="2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30" dirty="0" smtClean="0">
                <a:latin typeface="Times New Roman"/>
                <a:cs typeface="Times New Roman"/>
              </a:rPr>
              <a:t>}</a:t>
            </a:r>
            <a:endParaRPr lang="en-US" sz="800" spc="3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endParaRPr lang="en-US" sz="800" spc="3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800" b="1" spc="30" dirty="0" smtClean="0">
                <a:latin typeface="Times New Roman"/>
                <a:cs typeface="Times New Roman"/>
              </a:rPr>
              <a:t>Note</a:t>
            </a:r>
            <a:r>
              <a:rPr lang="en-US" sz="800" spc="30" dirty="0" smtClean="0">
                <a:latin typeface="Times New Roman"/>
                <a:cs typeface="Times New Roman"/>
              </a:rPr>
              <a:t>: semaphore S initialized to # of processes that can call wait concurrently without blocking. For our purpose, initialization can ONLY be 1 for the kind of CS applications we want.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17 / 28</a:t>
            </a:r>
          </a:p>
        </p:txBody>
      </p:sp>
    </p:spTree>
    <p:extLst>
      <p:ext uri="{BB962C8B-B14F-4D97-AF65-F5344CB8AC3E}">
        <p14:creationId xmlns:p14="http://schemas.microsoft.com/office/powerpoint/2010/main" val="127200061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spc="15" dirty="0"/>
              <a:t>Semaphore </a:t>
            </a:r>
            <a:r>
              <a:rPr lang="en-IN" spc="15" dirty="0" smtClean="0"/>
              <a:t>Behaviour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1862048"/>
          </a:xfrm>
        </p:spPr>
        <p:txBody>
          <a:bodyPr/>
          <a:lstStyle/>
          <a:p>
            <a:r>
              <a:rPr lang="en-IN" b="0" dirty="0" smtClean="0"/>
              <a:t>S = 1</a:t>
            </a:r>
          </a:p>
          <a:p>
            <a:endParaRPr lang="en-IN" b="0" dirty="0"/>
          </a:p>
          <a:p>
            <a:r>
              <a:rPr lang="en-IN" b="0" dirty="0" smtClean="0"/>
              <a:t>P1 calls wait </a:t>
            </a:r>
            <a:r>
              <a:rPr lang="en-IN" b="0" dirty="0" smtClean="0">
                <a:sym typeface="Wingdings" panose="05000000000000000000" pitchFamily="2" charset="2"/>
              </a:rPr>
              <a:t> </a:t>
            </a:r>
            <a:r>
              <a:rPr lang="en-IN" b="0" dirty="0" smtClean="0"/>
              <a:t>does not get stuck in wait </a:t>
            </a:r>
            <a:r>
              <a:rPr lang="en-IN" b="0" dirty="0" smtClean="0">
                <a:sym typeface="Wingdings" panose="05000000000000000000" pitchFamily="2" charset="2"/>
              </a:rPr>
              <a:t> S is now 0</a:t>
            </a:r>
          </a:p>
          <a:p>
            <a:endParaRPr lang="en-IN" b="0" dirty="0">
              <a:sym typeface="Wingdings" panose="05000000000000000000" pitchFamily="2" charset="2"/>
            </a:endParaRPr>
          </a:p>
          <a:p>
            <a:r>
              <a:rPr lang="en-IN" b="0" dirty="0" smtClean="0">
                <a:sym typeface="Wingdings" panose="05000000000000000000" pitchFamily="2" charset="2"/>
              </a:rPr>
              <a:t>P2 calls wait  gets stuck</a:t>
            </a:r>
          </a:p>
          <a:p>
            <a:endParaRPr lang="en-IN" b="0" dirty="0">
              <a:sym typeface="Wingdings" panose="05000000000000000000" pitchFamily="2" charset="2"/>
            </a:endParaRPr>
          </a:p>
          <a:p>
            <a:r>
              <a:rPr lang="en-IN" b="0" dirty="0" smtClean="0">
                <a:sym typeface="Wingdings" panose="05000000000000000000" pitchFamily="2" charset="2"/>
              </a:rPr>
              <a:t>P1 calls signal (S)  S goes from 0 to 1</a:t>
            </a:r>
          </a:p>
          <a:p>
            <a:endParaRPr lang="en-IN" b="0" dirty="0">
              <a:sym typeface="Wingdings" panose="05000000000000000000" pitchFamily="2" charset="2"/>
            </a:endParaRPr>
          </a:p>
          <a:p>
            <a:r>
              <a:rPr lang="en-IN" b="0" dirty="0" smtClean="0">
                <a:sym typeface="Wingdings" panose="05000000000000000000" pitchFamily="2" charset="2"/>
              </a:rPr>
              <a:t>P2 comes out of while loop, decrements CS  S = 0</a:t>
            </a:r>
          </a:p>
          <a:p>
            <a:endParaRPr lang="en-IN" b="0" dirty="0">
              <a:sym typeface="Wingdings" panose="05000000000000000000" pitchFamily="2" charset="2"/>
            </a:endParaRPr>
          </a:p>
          <a:p>
            <a:r>
              <a:rPr lang="en-IN" b="0" dirty="0" smtClean="0">
                <a:sym typeface="Wingdings" panose="05000000000000000000" pitchFamily="2" charset="2"/>
              </a:rPr>
              <a:t>Initialized S to 1  1 process can enter CS at a time </a:t>
            </a:r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2754006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spc="15" dirty="0"/>
              <a:t>Semaphore </a:t>
            </a:r>
            <a:r>
              <a:rPr lang="en-IN" spc="15" dirty="0" smtClean="0"/>
              <a:t>Behaviour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2200602"/>
          </a:xfrm>
        </p:spPr>
        <p:txBody>
          <a:bodyPr/>
          <a:lstStyle/>
          <a:p>
            <a:r>
              <a:rPr lang="en-IN" b="0" dirty="0" smtClean="0"/>
              <a:t>S = 2</a:t>
            </a:r>
          </a:p>
          <a:p>
            <a:endParaRPr lang="en-IN" b="0" dirty="0"/>
          </a:p>
          <a:p>
            <a:r>
              <a:rPr lang="en-IN" b="0" dirty="0" smtClean="0"/>
              <a:t>P1 calls wait </a:t>
            </a:r>
            <a:r>
              <a:rPr lang="en-IN" b="0" dirty="0" smtClean="0">
                <a:sym typeface="Wingdings" panose="05000000000000000000" pitchFamily="2" charset="2"/>
              </a:rPr>
              <a:t> </a:t>
            </a:r>
            <a:r>
              <a:rPr lang="en-IN" b="0" dirty="0" smtClean="0"/>
              <a:t>does not get stuck in wait </a:t>
            </a:r>
            <a:r>
              <a:rPr lang="en-IN" b="0" dirty="0" smtClean="0">
                <a:sym typeface="Wingdings" panose="05000000000000000000" pitchFamily="2" charset="2"/>
              </a:rPr>
              <a:t> S is now 1</a:t>
            </a:r>
          </a:p>
          <a:p>
            <a:endParaRPr lang="en-IN" b="0" dirty="0">
              <a:sym typeface="Wingdings" panose="05000000000000000000" pitchFamily="2" charset="2"/>
            </a:endParaRPr>
          </a:p>
          <a:p>
            <a:r>
              <a:rPr lang="en-IN" b="0" dirty="0" smtClean="0">
                <a:sym typeface="Wingdings" panose="05000000000000000000" pitchFamily="2" charset="2"/>
              </a:rPr>
              <a:t>P2 calls wait  does not get stuck  S is now 0</a:t>
            </a:r>
          </a:p>
          <a:p>
            <a:endParaRPr lang="en-IN" b="0" dirty="0">
              <a:sym typeface="Wingdings" panose="05000000000000000000" pitchFamily="2" charset="2"/>
            </a:endParaRPr>
          </a:p>
          <a:p>
            <a:r>
              <a:rPr lang="en-IN" b="0" dirty="0" smtClean="0">
                <a:sym typeface="Wingdings" panose="05000000000000000000" pitchFamily="2" charset="2"/>
              </a:rPr>
              <a:t>P3 calls wait  gets stuck</a:t>
            </a:r>
          </a:p>
          <a:p>
            <a:endParaRPr lang="en-IN" b="0" dirty="0">
              <a:sym typeface="Wingdings" panose="05000000000000000000" pitchFamily="2" charset="2"/>
            </a:endParaRPr>
          </a:p>
          <a:p>
            <a:r>
              <a:rPr lang="en-IN" b="0" dirty="0" smtClean="0">
                <a:sym typeface="Wingdings" panose="05000000000000000000" pitchFamily="2" charset="2"/>
              </a:rPr>
              <a:t>Either P1 or P2 calls signal (S)  S goes from 0 to 1</a:t>
            </a:r>
          </a:p>
          <a:p>
            <a:endParaRPr lang="en-IN" b="0" dirty="0">
              <a:sym typeface="Wingdings" panose="05000000000000000000" pitchFamily="2" charset="2"/>
            </a:endParaRPr>
          </a:p>
          <a:p>
            <a:r>
              <a:rPr lang="en-IN" b="0" dirty="0" smtClean="0">
                <a:sym typeface="Wingdings" panose="05000000000000000000" pitchFamily="2" charset="2"/>
              </a:rPr>
              <a:t>P3 comes out of while loop, decrements CS  S = 0</a:t>
            </a:r>
          </a:p>
          <a:p>
            <a:endParaRPr lang="en-IN" b="0" dirty="0">
              <a:sym typeface="Wingdings" panose="05000000000000000000" pitchFamily="2" charset="2"/>
            </a:endParaRPr>
          </a:p>
          <a:p>
            <a:r>
              <a:rPr lang="en-IN" b="0" dirty="0" smtClean="0">
                <a:sym typeface="Wingdings" panose="05000000000000000000" pitchFamily="2" charset="2"/>
              </a:rPr>
              <a:t>Initialized S to 2  2 processes can enter CS simultaneously </a:t>
            </a:r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113026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Semaphore implementation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413308"/>
            <a:ext cx="4358386" cy="2339102"/>
          </a:xfrm>
        </p:spPr>
        <p:txBody>
          <a:bodyPr/>
          <a:lstStyle/>
          <a:p>
            <a:endParaRPr lang="en-US" sz="1000" b="0" dirty="0" smtClean="0"/>
          </a:p>
          <a:p>
            <a:endParaRPr lang="en-US" sz="1000" b="0" dirty="0"/>
          </a:p>
          <a:p>
            <a:endParaRPr lang="en-US" sz="1000" b="0" dirty="0" smtClean="0"/>
          </a:p>
          <a:p>
            <a:endParaRPr lang="en-US" sz="1000" b="0" dirty="0"/>
          </a:p>
          <a:p>
            <a:endParaRPr lang="en-US" sz="1000" b="0" dirty="0" smtClean="0"/>
          </a:p>
          <a:p>
            <a:r>
              <a:rPr lang="en-US" sz="1000" b="0" dirty="0" smtClean="0"/>
              <a:t>Challenges: </a:t>
            </a:r>
          </a:p>
          <a:p>
            <a:endParaRPr lang="en-US" sz="1000" b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smtClean="0"/>
              <a:t>wait and signal have to be </a:t>
            </a:r>
            <a:r>
              <a:rPr lang="en-US" sz="1000" b="0" u="sng" dirty="0" smtClean="0"/>
              <a:t>implemented atomically</a:t>
            </a:r>
            <a:r>
              <a:rPr lang="en-US" sz="1000" b="0" dirty="0" smtClean="0"/>
              <a:t> in the kernel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100" b="0" dirty="0" smtClean="0"/>
              <a:t>If it was implemented like S++ and S--, we would have the same issues at the kernel with S, due to context switches in between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smtClean="0"/>
              <a:t>We want S++ (increment) and S– (decrement) to be implemented as atomic operations</a:t>
            </a:r>
          </a:p>
          <a:p>
            <a:endParaRPr lang="en-US" sz="10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b="0" dirty="0" smtClean="0"/>
              <a:t>S-- and S++ </a:t>
            </a:r>
            <a:r>
              <a:rPr lang="en-US" sz="1000" b="0" u="sng" dirty="0" smtClean="0"/>
              <a:t>together</a:t>
            </a:r>
            <a:r>
              <a:rPr lang="en-US" sz="1000" b="0" dirty="0" smtClean="0"/>
              <a:t> needed to ensure a CS</a:t>
            </a:r>
            <a:endParaRPr lang="en-IN" sz="1000" b="0" dirty="0" smtClean="0"/>
          </a:p>
        </p:txBody>
      </p:sp>
      <p:sp>
        <p:nvSpPr>
          <p:cNvPr id="4" name="object 5"/>
          <p:cNvSpPr txBox="1"/>
          <p:nvPr/>
        </p:nvSpPr>
        <p:spPr>
          <a:xfrm>
            <a:off x="125856" y="540637"/>
            <a:ext cx="628015" cy="523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sz="1100" i="1" spc="-55" dirty="0">
                <a:latin typeface="Trebuchet MS"/>
                <a:cs typeface="Trebuchet MS"/>
              </a:rPr>
              <a:t>wait</a:t>
            </a:r>
            <a:r>
              <a:rPr sz="1100" i="1" spc="-229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spc="75" dirty="0">
                <a:latin typeface="Trebuchet MS"/>
                <a:cs typeface="Trebuchet MS"/>
              </a:rPr>
              <a:t>S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" dirty="0">
                <a:latin typeface="Arial"/>
                <a:cs typeface="Arial"/>
              </a:rPr>
              <a:t>: </a:t>
            </a:r>
            <a:endParaRPr lang="en-IN" sz="1100" spc="-5" dirty="0" smtClean="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</a:pPr>
            <a:r>
              <a:rPr lang="en-IN" sz="1100" i="1" spc="-5" dirty="0" smtClean="0">
                <a:latin typeface="Arial"/>
                <a:cs typeface="Arial"/>
              </a:rPr>
              <a:t>      </a:t>
            </a:r>
            <a:r>
              <a:rPr lang="en-IN" sz="1100" spc="-5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CS</a:t>
            </a:r>
            <a:endParaRPr lang="en-IN" sz="1100" spc="-5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</a:pPr>
            <a:r>
              <a:rPr sz="1100" i="1" spc="-25" dirty="0" smtClean="0">
                <a:latin typeface="Trebuchet MS"/>
                <a:cs typeface="Trebuchet MS"/>
              </a:rPr>
              <a:t>signal</a:t>
            </a:r>
            <a:r>
              <a:rPr sz="1100" i="1" spc="-225" dirty="0" smtClean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spc="75" dirty="0">
                <a:latin typeface="Trebuchet MS"/>
                <a:cs typeface="Trebuchet MS"/>
              </a:rPr>
              <a:t>S</a:t>
            </a:r>
            <a:r>
              <a:rPr sz="1100" i="1" spc="-204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5" dirty="0">
                <a:latin typeface="Arial"/>
                <a:cs typeface="Arial"/>
              </a:rPr>
              <a:t>: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5" name="object 6"/>
          <p:cNvSpPr txBox="1"/>
          <p:nvPr/>
        </p:nvSpPr>
        <p:spPr>
          <a:xfrm>
            <a:off x="969772" y="543490"/>
            <a:ext cx="3301237" cy="5230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195" marR="5080" indent="-24130">
              <a:lnSpc>
                <a:spcPct val="102699"/>
              </a:lnSpc>
            </a:pPr>
            <a:r>
              <a:rPr lang="en-IN" sz="1100" spc="70" dirty="0" smtClean="0">
                <a:latin typeface="Arial"/>
                <a:cs typeface="Arial"/>
              </a:rPr>
              <a:t>{ </a:t>
            </a:r>
            <a:r>
              <a:rPr sz="1100" spc="70" dirty="0" smtClean="0">
                <a:latin typeface="Arial"/>
                <a:cs typeface="Arial"/>
              </a:rPr>
              <a:t>while </a:t>
            </a:r>
            <a:r>
              <a:rPr sz="1100" spc="-40" dirty="0" smtClean="0">
                <a:latin typeface="Arial"/>
                <a:cs typeface="Arial"/>
              </a:rPr>
              <a:t> </a:t>
            </a:r>
            <a:r>
              <a:rPr sz="1100" spc="20" dirty="0">
                <a:latin typeface="Arial"/>
                <a:cs typeface="Arial"/>
              </a:rPr>
              <a:t>(S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&lt;=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140" dirty="0">
                <a:latin typeface="Arial"/>
                <a:cs typeface="Arial"/>
              </a:rPr>
              <a:t>0);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20" dirty="0">
                <a:latin typeface="Arial"/>
                <a:cs typeface="Arial"/>
              </a:rPr>
              <a:t>S-</a:t>
            </a:r>
            <a:r>
              <a:rPr sz="1100" spc="-114" dirty="0">
                <a:latin typeface="Arial"/>
                <a:cs typeface="Arial"/>
              </a:rPr>
              <a:t> </a:t>
            </a:r>
            <a:r>
              <a:rPr sz="1100" spc="235" dirty="0" smtClean="0">
                <a:latin typeface="Arial"/>
                <a:cs typeface="Arial"/>
              </a:rPr>
              <a:t>-;</a:t>
            </a:r>
            <a:r>
              <a:rPr lang="en-IN" sz="1100" spc="235" dirty="0" smtClean="0">
                <a:latin typeface="Arial"/>
                <a:cs typeface="Arial"/>
              </a:rPr>
              <a:t> } </a:t>
            </a:r>
            <a:r>
              <a:rPr lang="en-IN" sz="1100" spc="-10" dirty="0">
                <a:latin typeface="Arial"/>
                <a:cs typeface="Arial"/>
              </a:rPr>
              <a:t>/* Done atomically */</a:t>
            </a:r>
            <a:r>
              <a:rPr sz="1100" spc="-10" dirty="0">
                <a:latin typeface="Arial"/>
                <a:cs typeface="Arial"/>
              </a:rPr>
              <a:t> </a:t>
            </a:r>
            <a:endParaRPr lang="en-IN" sz="1100" spc="-10" dirty="0">
              <a:latin typeface="Arial"/>
              <a:cs typeface="Arial"/>
            </a:endParaRPr>
          </a:p>
          <a:p>
            <a:pPr marL="36195" marR="5080" indent="-24130">
              <a:lnSpc>
                <a:spcPct val="102699"/>
              </a:lnSpc>
            </a:pPr>
            <a:endParaRPr lang="en-IN" sz="1100" spc="210" dirty="0" smtClean="0">
              <a:latin typeface="Arial"/>
              <a:cs typeface="Arial"/>
            </a:endParaRPr>
          </a:p>
          <a:p>
            <a:pPr marL="36195" marR="5080" indent="-24130">
              <a:lnSpc>
                <a:spcPct val="102699"/>
              </a:lnSpc>
            </a:pPr>
            <a:r>
              <a:rPr lang="en-IN" sz="1100" spc="210" dirty="0" smtClean="0">
                <a:latin typeface="Arial"/>
                <a:cs typeface="Arial"/>
              </a:rPr>
              <a:t>{ </a:t>
            </a:r>
            <a:r>
              <a:rPr sz="1100" spc="-15" dirty="0" smtClean="0">
                <a:latin typeface="Arial"/>
                <a:cs typeface="Arial"/>
              </a:rPr>
              <a:t>S++;</a:t>
            </a:r>
            <a:r>
              <a:rPr lang="en-IN" sz="1100" spc="-15" dirty="0" smtClean="0">
                <a:latin typeface="Arial"/>
                <a:cs typeface="Arial"/>
              </a:rPr>
              <a:t> } </a:t>
            </a:r>
            <a:r>
              <a:rPr lang="en-IN" sz="1100" spc="-10" dirty="0">
                <a:latin typeface="Arial"/>
                <a:cs typeface="Arial"/>
              </a:rPr>
              <a:t>/* Done atomically */ </a:t>
            </a:r>
          </a:p>
        </p:txBody>
      </p:sp>
    </p:spTree>
    <p:extLst>
      <p:ext uri="{BB962C8B-B14F-4D97-AF65-F5344CB8AC3E}">
        <p14:creationId xmlns:p14="http://schemas.microsoft.com/office/powerpoint/2010/main" val="2599520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Semaphore implementation: Notes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413308"/>
            <a:ext cx="4358386" cy="1231106"/>
          </a:xfrm>
        </p:spPr>
        <p:txBody>
          <a:bodyPr/>
          <a:lstStyle/>
          <a:p>
            <a:r>
              <a:rPr lang="en-US" sz="1000" b="0" dirty="0" smtClean="0"/>
              <a:t>We have given S++ and S-- to solve the application CS problem</a:t>
            </a:r>
          </a:p>
          <a:p>
            <a:endParaRPr lang="en-US" sz="1000" b="0" dirty="0" smtClean="0"/>
          </a:p>
          <a:p>
            <a:r>
              <a:rPr lang="en-US" sz="1000" b="0" dirty="0" smtClean="0"/>
              <a:t>We need CS for S++ and S-- now</a:t>
            </a:r>
          </a:p>
          <a:p>
            <a:endParaRPr lang="en-US" sz="1000" b="0" dirty="0" smtClean="0"/>
          </a:p>
          <a:p>
            <a:r>
              <a:rPr lang="en-US" sz="1000" b="0" dirty="0" smtClean="0"/>
              <a:t>Semaphores </a:t>
            </a:r>
            <a:r>
              <a:rPr lang="en-US" sz="1000" b="0" u="sng" dirty="0" smtClean="0"/>
              <a:t>cannot</a:t>
            </a:r>
            <a:r>
              <a:rPr lang="en-US" sz="1000" b="0" dirty="0" smtClean="0"/>
              <a:t> be used here</a:t>
            </a:r>
          </a:p>
          <a:p>
            <a:endParaRPr lang="en-US" sz="1000" b="0" dirty="0" smtClean="0"/>
          </a:p>
          <a:p>
            <a:r>
              <a:rPr lang="en-US" sz="1000" b="0" dirty="0" err="1" smtClean="0"/>
              <a:t>Lamport’s</a:t>
            </a:r>
            <a:r>
              <a:rPr lang="en-US" sz="1000" b="0" dirty="0" smtClean="0"/>
              <a:t> Bakery / test-and-set for n-CSP comes to rescue</a:t>
            </a:r>
            <a:endParaRPr lang="en-US" sz="1000" b="0" dirty="0"/>
          </a:p>
          <a:p>
            <a:endParaRPr lang="en-US" sz="1000" b="0" dirty="0" smtClean="0"/>
          </a:p>
        </p:txBody>
      </p:sp>
    </p:spTree>
    <p:extLst>
      <p:ext uri="{BB962C8B-B14F-4D97-AF65-F5344CB8AC3E}">
        <p14:creationId xmlns:p14="http://schemas.microsoft.com/office/powerpoint/2010/main" val="264726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A first attempt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06" y="398794"/>
            <a:ext cx="4488543" cy="3077766"/>
          </a:xfrm>
        </p:spPr>
        <p:txBody>
          <a:bodyPr/>
          <a:lstStyle/>
          <a:p>
            <a:r>
              <a:rPr lang="en-US" sz="1000" b="0" dirty="0" smtClean="0"/>
              <a:t>wait (S) { 			signal(S) {</a:t>
            </a:r>
          </a:p>
          <a:p>
            <a:r>
              <a:rPr lang="en-US" sz="1000" b="0" dirty="0" smtClean="0"/>
              <a:t>   while (S&lt;= 0);		</a:t>
            </a:r>
          </a:p>
          <a:p>
            <a:r>
              <a:rPr lang="en-US" sz="1000" b="0" dirty="0" smtClean="0"/>
              <a:t>   entry();			    entry();</a:t>
            </a:r>
          </a:p>
          <a:p>
            <a:r>
              <a:rPr lang="en-US" sz="1000" b="0" dirty="0" smtClean="0"/>
              <a:t>   S--;			     S++;</a:t>
            </a:r>
          </a:p>
          <a:p>
            <a:r>
              <a:rPr lang="en-US" sz="1000" b="0" dirty="0"/>
              <a:t> </a:t>
            </a:r>
            <a:r>
              <a:rPr lang="en-US" sz="1000" b="0" dirty="0" smtClean="0"/>
              <a:t>  exit();			    exit();</a:t>
            </a:r>
          </a:p>
          <a:p>
            <a:r>
              <a:rPr lang="en-US" sz="1000" b="0" dirty="0" smtClean="0"/>
              <a:t>}			}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endParaRPr lang="en-US" sz="1000" b="0" dirty="0" smtClean="0"/>
          </a:p>
          <a:p>
            <a:pPr marL="1563370" lvl="3">
              <a:spcBef>
                <a:spcPts val="15"/>
              </a:spcBef>
            </a:pPr>
            <a:r>
              <a:rPr lang="en-US" sz="1700" b="0" dirty="0" smtClean="0"/>
              <a:t>			</a:t>
            </a:r>
          </a:p>
          <a:p>
            <a:pPr marL="1563370" lvl="3">
              <a:spcBef>
                <a:spcPts val="15"/>
              </a:spcBef>
            </a:pPr>
            <a:r>
              <a:rPr lang="en-US" sz="1700" dirty="0" smtClean="0"/>
              <a:t>w</a:t>
            </a:r>
            <a:r>
              <a:rPr lang="en-US" sz="1700" b="0" dirty="0" smtClean="0"/>
              <a:t>ait (S);	</a:t>
            </a:r>
            <a:r>
              <a:rPr lang="en-US" sz="900" dirty="0" smtClean="0"/>
              <a:t> while (S &lt;= 0);</a:t>
            </a:r>
          </a:p>
          <a:p>
            <a:pPr marL="1563370" lvl="3">
              <a:spcBef>
                <a:spcPts val="15"/>
              </a:spcBef>
            </a:pPr>
            <a:r>
              <a:rPr lang="en-US" sz="900" b="0" dirty="0"/>
              <a:t> </a:t>
            </a:r>
            <a:r>
              <a:rPr lang="en-US" sz="900" b="0" dirty="0" smtClean="0"/>
              <a:t>		 entry();</a:t>
            </a:r>
          </a:p>
          <a:p>
            <a:pPr marL="1563370" lvl="3">
              <a:spcBef>
                <a:spcPts val="15"/>
              </a:spcBef>
            </a:pPr>
            <a:r>
              <a:rPr lang="en-US" sz="900" dirty="0"/>
              <a:t> </a:t>
            </a:r>
            <a:r>
              <a:rPr lang="en-US" sz="900" dirty="0" smtClean="0"/>
              <a:t>                                               S--;</a:t>
            </a:r>
          </a:p>
          <a:p>
            <a:pPr marL="1563370" lvl="3">
              <a:spcBef>
                <a:spcPts val="15"/>
              </a:spcBef>
            </a:pPr>
            <a:r>
              <a:rPr lang="en-US" sz="900" b="0" dirty="0"/>
              <a:t> </a:t>
            </a:r>
            <a:r>
              <a:rPr lang="en-US" sz="900" b="0" dirty="0" smtClean="0"/>
              <a:t>                                               exit();</a:t>
            </a:r>
          </a:p>
          <a:p>
            <a:pPr marL="1563370" lvl="3">
              <a:spcBef>
                <a:spcPts val="15"/>
              </a:spcBef>
            </a:pPr>
            <a:r>
              <a:rPr lang="en-US" sz="900" dirty="0"/>
              <a:t> </a:t>
            </a:r>
            <a:r>
              <a:rPr lang="en-US" sz="900" dirty="0" smtClean="0"/>
              <a:t>            </a:t>
            </a:r>
            <a:r>
              <a:rPr lang="en-US" sz="1700" b="0" dirty="0" smtClean="0"/>
              <a:t>CS;	CS; </a:t>
            </a:r>
            <a:r>
              <a:rPr lang="en-US" sz="1100" b="0" dirty="0" smtClean="0"/>
              <a:t>/* Application CS*/</a:t>
            </a:r>
            <a:endParaRPr lang="en-US" sz="1700" b="0" dirty="0" smtClean="0"/>
          </a:p>
          <a:p>
            <a:pPr marL="1563370" lvl="3">
              <a:spcBef>
                <a:spcPts val="15"/>
              </a:spcBef>
            </a:pPr>
            <a:endParaRPr lang="en-US" sz="1700" b="0" dirty="0" smtClean="0"/>
          </a:p>
          <a:p>
            <a:pPr marL="1563370" lvl="3">
              <a:spcBef>
                <a:spcPts val="15"/>
              </a:spcBef>
            </a:pPr>
            <a:r>
              <a:rPr lang="en-US" sz="1700" b="0" dirty="0" smtClean="0"/>
              <a:t>signal (S);	</a:t>
            </a:r>
            <a:r>
              <a:rPr lang="en-US" sz="900" b="0" dirty="0" smtClean="0"/>
              <a:t>entry ();</a:t>
            </a:r>
          </a:p>
          <a:p>
            <a:pPr marL="1563370" lvl="3">
              <a:spcBef>
                <a:spcPts val="15"/>
              </a:spcBef>
            </a:pPr>
            <a:r>
              <a:rPr lang="en-US" sz="900" dirty="0"/>
              <a:t>	</a:t>
            </a:r>
            <a:r>
              <a:rPr lang="en-US" sz="900" dirty="0" smtClean="0"/>
              <a:t>	S++;</a:t>
            </a:r>
          </a:p>
          <a:p>
            <a:pPr marL="1563370" lvl="3">
              <a:spcBef>
                <a:spcPts val="15"/>
              </a:spcBef>
            </a:pPr>
            <a:r>
              <a:rPr lang="en-US" sz="900" b="0" dirty="0"/>
              <a:t>	</a:t>
            </a:r>
            <a:r>
              <a:rPr lang="en-US" sz="900" b="0" dirty="0" smtClean="0"/>
              <a:t>	exit();</a:t>
            </a:r>
            <a:endParaRPr lang="en-US" sz="900" b="0" dirty="0"/>
          </a:p>
        </p:txBody>
      </p:sp>
      <p:sp>
        <p:nvSpPr>
          <p:cNvPr id="4" name="Left Brace 3"/>
          <p:cNvSpPr/>
          <p:nvPr/>
        </p:nvSpPr>
        <p:spPr>
          <a:xfrm>
            <a:off x="2457450" y="1692673"/>
            <a:ext cx="228600" cy="171410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1390650" y="1323341"/>
            <a:ext cx="1610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Application P[</a:t>
            </a:r>
            <a:r>
              <a:rPr lang="en-US" u="sng" dirty="0" err="1" smtClean="0"/>
              <a:t>i</a:t>
            </a:r>
            <a:r>
              <a:rPr lang="en-US" u="sng" dirty="0" smtClean="0"/>
              <a:t>]</a:t>
            </a:r>
            <a:endParaRPr lang="en-IN" u="sng" dirty="0"/>
          </a:p>
        </p:txBody>
      </p:sp>
    </p:spTree>
    <p:extLst>
      <p:ext uri="{BB962C8B-B14F-4D97-AF65-F5344CB8AC3E}">
        <p14:creationId xmlns:p14="http://schemas.microsoft.com/office/powerpoint/2010/main" val="401259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A first attempt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870" y="375931"/>
            <a:ext cx="4488543" cy="3149452"/>
          </a:xfrm>
        </p:spPr>
        <p:txBody>
          <a:bodyPr/>
          <a:lstStyle/>
          <a:p>
            <a:r>
              <a:rPr lang="en-US" sz="700" b="0" dirty="0" smtClean="0"/>
              <a:t>wait (S) { 			signal(S) {</a:t>
            </a:r>
          </a:p>
          <a:p>
            <a:r>
              <a:rPr lang="en-US" sz="700" b="0" dirty="0" smtClean="0"/>
              <a:t>   while (S&lt;= 0);		</a:t>
            </a:r>
          </a:p>
          <a:p>
            <a:r>
              <a:rPr lang="en-US" sz="700" b="0" dirty="0" smtClean="0"/>
              <a:t>   entry();			    entry();</a:t>
            </a:r>
          </a:p>
          <a:p>
            <a:r>
              <a:rPr lang="en-US" sz="700" b="0" dirty="0" smtClean="0"/>
              <a:t>   S--;			     S++;</a:t>
            </a:r>
          </a:p>
          <a:p>
            <a:r>
              <a:rPr lang="en-US" sz="700" b="0" dirty="0"/>
              <a:t> </a:t>
            </a:r>
            <a:r>
              <a:rPr lang="en-US" sz="700" b="0" dirty="0" smtClean="0"/>
              <a:t>  exit();			    exit();</a:t>
            </a:r>
          </a:p>
          <a:p>
            <a:r>
              <a:rPr lang="en-US" sz="700" b="0" dirty="0" smtClean="0"/>
              <a:t>}			}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US" sz="800" b="0" u="sng" dirty="0" smtClean="0"/>
              <a:t>Code for P[</a:t>
            </a:r>
            <a:r>
              <a:rPr lang="en-US" sz="800" b="0" u="sng" dirty="0" err="1" smtClean="0"/>
              <a:t>i</a:t>
            </a:r>
            <a:r>
              <a:rPr lang="en-US" sz="800" b="0" u="sng" dirty="0" smtClean="0"/>
              <a:t>]:</a:t>
            </a:r>
            <a:endParaRPr lang="en-US" sz="800" b="0" u="sng" dirty="0"/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US" sz="800" b="0" dirty="0" smtClean="0"/>
              <a:t>wait </a:t>
            </a:r>
            <a:r>
              <a:rPr lang="en-US" sz="800" b="0" dirty="0"/>
              <a:t>(S)</a:t>
            </a:r>
            <a:r>
              <a:rPr lang="en-IN" sz="800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{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US" sz="800" b="0" dirty="0" smtClean="0"/>
              <a:t>     while </a:t>
            </a:r>
            <a:r>
              <a:rPr lang="en-US" sz="800" b="0" dirty="0"/>
              <a:t>(S&lt;= 0);	</a:t>
            </a:r>
            <a:endParaRPr lang="en-IN" sz="800" spc="95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800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   </a:t>
            </a:r>
            <a:r>
              <a:rPr lang="en-IN" sz="800" b="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choosing[</a:t>
            </a:r>
            <a:r>
              <a:rPr lang="en-IN" sz="800" b="0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IN" sz="8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 =  1; 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8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IN" sz="800" b="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number[</a:t>
            </a:r>
            <a:r>
              <a:rPr lang="en-IN" sz="800" b="0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IN" sz="8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 =  MAX(number[0],  number[1],  ...,  number[n-1])  +  1;    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8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IN" sz="800" b="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choosing[</a:t>
            </a:r>
            <a:r>
              <a:rPr lang="en-IN" sz="800" b="0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IN" sz="8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 =  0; </a:t>
            </a:r>
            <a:endParaRPr lang="en-IN" sz="800" b="0" dirty="0" smtClean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30530" marR="2156460" indent="-239395">
              <a:lnSpc>
                <a:spcPct val="101499"/>
              </a:lnSpc>
            </a:pPr>
            <a:r>
              <a:rPr lang="en-IN" sz="800" b="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for  (j  =  0;  j  &lt;  n;  </a:t>
            </a:r>
            <a:r>
              <a:rPr lang="en-IN" sz="800" b="0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j++</a:t>
            </a:r>
            <a:r>
              <a:rPr lang="en-IN" sz="800" b="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 {        </a:t>
            </a:r>
          </a:p>
          <a:p>
            <a:pPr marL="430530" marR="2156460" indent="-239395">
              <a:lnSpc>
                <a:spcPct val="101499"/>
              </a:lnSpc>
            </a:pPr>
            <a:r>
              <a:rPr lang="en-IN" sz="800" b="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</a:t>
            </a:r>
            <a:r>
              <a:rPr lang="en-IN" sz="8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  (choosing[j]) ;</a:t>
            </a: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lang="en-IN" sz="8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while  ((number[j]  !=  0)  &amp;&amp;  (number[j],j  &lt;  number[</a:t>
            </a:r>
            <a:r>
              <a:rPr lang="en-IN" sz="800" b="0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IN" sz="8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</a:t>
            </a:r>
            <a:r>
              <a:rPr lang="en-IN" sz="800" b="0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IN" sz="8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))  </a:t>
            </a:r>
            <a:r>
              <a:rPr lang="en-IN" sz="800" b="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lang="en-IN" sz="800" b="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en-IN" sz="800" b="0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800" b="0" dirty="0"/>
              <a:t>     </a:t>
            </a:r>
            <a:r>
              <a:rPr lang="en-IN" sz="800" b="0" dirty="0" smtClean="0"/>
              <a:t> S-</a:t>
            </a:r>
            <a:r>
              <a:rPr lang="en-IN" sz="800" b="0" dirty="0"/>
              <a:t>-; </a:t>
            </a:r>
            <a:r>
              <a:rPr lang="en-IN" sz="800" b="0" dirty="0" smtClean="0"/>
              <a:t>/ *CS for S */</a:t>
            </a:r>
            <a:endParaRPr lang="en-IN" sz="800" b="0" dirty="0"/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800" b="0" spc="13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</a:t>
            </a:r>
            <a:r>
              <a:rPr lang="en-IN" sz="800" b="0" spc="13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  </a:t>
            </a:r>
            <a:r>
              <a:rPr lang="en-IN" sz="8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number[</a:t>
            </a:r>
            <a:r>
              <a:rPr lang="en-IN" sz="800" b="0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IN" sz="8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 =  0;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800" spc="114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}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8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600" b="0" dirty="0"/>
              <a:t>signal (S)</a:t>
            </a:r>
            <a:r>
              <a:rPr lang="en-US" sz="600" spc="114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{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600" b="0" dirty="0"/>
              <a:t>    entry();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600" b="0" dirty="0"/>
              <a:t>    </a:t>
            </a:r>
            <a:r>
              <a:rPr lang="en-US" sz="600" b="0" dirty="0" smtClean="0"/>
              <a:t>S</a:t>
            </a:r>
            <a:r>
              <a:rPr lang="en-US" sz="600" b="0" dirty="0"/>
              <a:t>++;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600" b="0" dirty="0"/>
              <a:t>    </a:t>
            </a:r>
            <a:r>
              <a:rPr lang="en-US" sz="600" b="0" dirty="0" smtClean="0"/>
              <a:t>exit</a:t>
            </a:r>
            <a:r>
              <a:rPr lang="en-US" sz="600" b="0" dirty="0"/>
              <a:t>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600" spc="114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}</a:t>
            </a:r>
            <a:endParaRPr lang="en-US" sz="600" spc="114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</p:txBody>
      </p:sp>
      <p:sp>
        <p:nvSpPr>
          <p:cNvPr id="4" name="Left Brace 3"/>
          <p:cNvSpPr/>
          <p:nvPr/>
        </p:nvSpPr>
        <p:spPr>
          <a:xfrm>
            <a:off x="291207" y="1425575"/>
            <a:ext cx="76200" cy="7620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5822" y="1526387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/>
              <a:t>entry</a:t>
            </a:r>
            <a:endParaRPr lang="en-IN" sz="800" dirty="0"/>
          </a:p>
        </p:txBody>
      </p:sp>
      <p:sp>
        <p:nvSpPr>
          <p:cNvPr id="6" name="Left Brace 5"/>
          <p:cNvSpPr/>
          <p:nvPr/>
        </p:nvSpPr>
        <p:spPr>
          <a:xfrm>
            <a:off x="291207" y="2395451"/>
            <a:ext cx="76200" cy="152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5275" y="2363929"/>
            <a:ext cx="38697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exit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1804082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A first attempt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57150" y="1370403"/>
            <a:ext cx="4488543" cy="1963614"/>
          </a:xfrm>
        </p:spPr>
        <p:txBody>
          <a:bodyPr/>
          <a:lstStyle/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US" sz="500" b="0" dirty="0" smtClean="0"/>
              <a:t>wait </a:t>
            </a:r>
            <a:r>
              <a:rPr lang="en-US" sz="500" b="0" dirty="0"/>
              <a:t>(S)</a:t>
            </a:r>
            <a:r>
              <a:rPr lang="en-IN" sz="500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{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US" sz="500" b="0" dirty="0" smtClean="0"/>
              <a:t>     while </a:t>
            </a:r>
            <a:r>
              <a:rPr lang="en-US" sz="500" b="0" dirty="0"/>
              <a:t>(S&lt;= 0);	</a:t>
            </a:r>
            <a:endParaRPr lang="en-IN" sz="500" spc="95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500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  </a:t>
            </a:r>
            <a:r>
              <a:rPr lang="en-IN" sz="500" b="0" dirty="0" smtClean="0">
                <a:solidFill>
                  <a:srgbClr val="0070C0"/>
                </a:solidFill>
              </a:rPr>
              <a:t>choosing[</a:t>
            </a:r>
            <a:r>
              <a:rPr lang="en-IN" sz="500" b="0" dirty="0" err="1" smtClean="0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  =  1; 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</a:t>
            </a:r>
            <a:r>
              <a:rPr lang="en-IN" sz="500" b="0" dirty="0" smtClean="0">
                <a:solidFill>
                  <a:srgbClr val="0070C0"/>
                </a:solidFill>
              </a:rPr>
              <a:t> number[</a:t>
            </a:r>
            <a:r>
              <a:rPr lang="en-IN" sz="500" b="0" dirty="0" err="1" smtClean="0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  =  MAX(number[0],  number[1],  ...,  number[n-1])  +  1;    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</a:t>
            </a:r>
            <a:r>
              <a:rPr lang="en-IN" sz="500" b="0" dirty="0" smtClean="0">
                <a:solidFill>
                  <a:srgbClr val="0070C0"/>
                </a:solidFill>
              </a:rPr>
              <a:t> choosing[</a:t>
            </a:r>
            <a:r>
              <a:rPr lang="en-IN" sz="500" b="0" dirty="0" err="1" smtClean="0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  =  0; </a:t>
            </a:r>
            <a:endParaRPr lang="en-IN" sz="500" b="0" dirty="0" smtClean="0">
              <a:solidFill>
                <a:srgbClr val="0070C0"/>
              </a:solidFill>
            </a:endParaRPr>
          </a:p>
          <a:p>
            <a:pPr marL="430530" marR="2156460" indent="-239395">
              <a:lnSpc>
                <a:spcPct val="101499"/>
              </a:lnSpc>
            </a:pPr>
            <a:r>
              <a:rPr lang="en-IN" sz="500" b="0" dirty="0" smtClean="0">
                <a:solidFill>
                  <a:srgbClr val="0070C0"/>
                </a:solidFill>
              </a:rPr>
              <a:t>     for  (k =  0;  k  &lt;  n;  k++)  {        </a:t>
            </a:r>
          </a:p>
          <a:p>
            <a:pPr marL="430530" marR="2156460" indent="-239395">
              <a:lnSpc>
                <a:spcPct val="101499"/>
              </a:lnSpc>
            </a:pPr>
            <a:r>
              <a:rPr lang="en-IN" sz="500" b="0" dirty="0" smtClean="0">
                <a:solidFill>
                  <a:srgbClr val="0070C0"/>
                </a:solidFill>
              </a:rPr>
              <a:t>              </a:t>
            </a:r>
            <a:r>
              <a:rPr lang="en-IN" sz="500" b="0" dirty="0">
                <a:solidFill>
                  <a:srgbClr val="0070C0"/>
                </a:solidFill>
              </a:rPr>
              <a:t>while  (</a:t>
            </a:r>
            <a:r>
              <a:rPr lang="en-IN" sz="500" b="0" dirty="0" smtClean="0">
                <a:solidFill>
                  <a:srgbClr val="0070C0"/>
                </a:solidFill>
              </a:rPr>
              <a:t>choosing[k]) </a:t>
            </a:r>
            <a:r>
              <a:rPr lang="en-IN" sz="500" b="0" dirty="0">
                <a:solidFill>
                  <a:srgbClr val="0070C0"/>
                </a:solidFill>
              </a:rPr>
              <a:t>;</a:t>
            </a: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 while  ((</a:t>
            </a:r>
            <a:r>
              <a:rPr lang="en-IN" sz="500" b="0" dirty="0" smtClean="0">
                <a:solidFill>
                  <a:srgbClr val="0070C0"/>
                </a:solidFill>
              </a:rPr>
              <a:t>number[k]  </a:t>
            </a:r>
            <a:r>
              <a:rPr lang="en-IN" sz="500" b="0" dirty="0">
                <a:solidFill>
                  <a:srgbClr val="0070C0"/>
                </a:solidFill>
              </a:rPr>
              <a:t>!=  0)  &amp;&amp;  (</a:t>
            </a:r>
            <a:r>
              <a:rPr lang="en-IN" sz="500" b="0" dirty="0" smtClean="0">
                <a:solidFill>
                  <a:srgbClr val="0070C0"/>
                </a:solidFill>
              </a:rPr>
              <a:t>number[k],k  </a:t>
            </a:r>
            <a:r>
              <a:rPr lang="en-IN" sz="500" b="0" dirty="0">
                <a:solidFill>
                  <a:srgbClr val="0070C0"/>
                </a:solidFill>
              </a:rPr>
              <a:t>&lt;  number[</a:t>
            </a:r>
            <a:r>
              <a:rPr lang="en-IN" sz="500" b="0" dirty="0" err="1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],</a:t>
            </a:r>
            <a:r>
              <a:rPr lang="en-IN" sz="500" b="0" dirty="0" err="1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))  </a:t>
            </a:r>
            <a:r>
              <a:rPr lang="en-IN" sz="500" b="0" dirty="0" smtClean="0">
                <a:solidFill>
                  <a:srgbClr val="0070C0"/>
                </a:solidFill>
              </a:rPr>
              <a:t>;</a:t>
            </a: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lang="en-IN" sz="500" b="0" dirty="0" smtClean="0">
                <a:solidFill>
                  <a:srgbClr val="0070C0"/>
                </a:solidFill>
              </a:rPr>
              <a:t>}</a:t>
            </a:r>
            <a:endParaRPr lang="en-IN" sz="500" b="0" dirty="0">
              <a:solidFill>
                <a:srgbClr val="0070C0"/>
              </a:solidFill>
            </a:endParaRP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</a:t>
            </a:r>
            <a:r>
              <a:rPr lang="en-IN" sz="500" b="0" dirty="0" smtClean="0">
                <a:solidFill>
                  <a:srgbClr val="0070C0"/>
                </a:solidFill>
              </a:rPr>
              <a:t> </a:t>
            </a:r>
            <a:r>
              <a:rPr lang="en-IN" sz="500" b="0" dirty="0" smtClean="0"/>
              <a:t>S-</a:t>
            </a:r>
            <a:r>
              <a:rPr lang="en-IN" sz="500" b="0" dirty="0"/>
              <a:t>-; </a:t>
            </a:r>
            <a:r>
              <a:rPr lang="en-IN" sz="500" b="0" dirty="0" smtClean="0"/>
              <a:t>/ *CS for S */</a:t>
            </a:r>
            <a:endParaRPr lang="en-IN" sz="500" b="0" dirty="0"/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spc="13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IN" sz="500" b="0" spc="130" dirty="0" smtClean="0">
                <a:solidFill>
                  <a:srgbClr val="0070C0"/>
                </a:solidFill>
                <a:latin typeface="Times New Roman"/>
                <a:cs typeface="Times New Roman"/>
              </a:rPr>
              <a:t>  </a:t>
            </a:r>
            <a:r>
              <a:rPr lang="en-IN" sz="500" b="0" dirty="0">
                <a:solidFill>
                  <a:srgbClr val="0070C0"/>
                </a:solidFill>
              </a:rPr>
              <a:t>number[</a:t>
            </a:r>
            <a:r>
              <a:rPr lang="en-IN" sz="500" b="0" dirty="0" err="1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  =  0;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spc="114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}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5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signal (S) {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    entry();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    S++;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    exit();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}</a:t>
            </a:r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2152650" y="1374025"/>
            <a:ext cx="4488543" cy="1963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1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91770">
              <a:spcBef>
                <a:spcPts val="15"/>
              </a:spcBef>
            </a:pPr>
            <a:r>
              <a:rPr lang="en-US" sz="500" b="0" kern="0" dirty="0" smtClean="0"/>
              <a:t>wait (S)</a:t>
            </a:r>
            <a:r>
              <a:rPr lang="en-IN" sz="500" kern="0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{</a:t>
            </a:r>
          </a:p>
          <a:p>
            <a:pPr marL="191770">
              <a:spcBef>
                <a:spcPts val="15"/>
              </a:spcBef>
            </a:pPr>
            <a:r>
              <a:rPr lang="en-US" sz="500" b="0" kern="0" dirty="0" smtClean="0"/>
              <a:t>     while (S&lt;= 0);	</a:t>
            </a:r>
            <a:endParaRPr lang="en-IN" sz="500" kern="0" spc="95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  <a:p>
            <a:pPr marL="191770"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</a:t>
            </a:r>
            <a:r>
              <a:rPr lang="en-IN" sz="500" b="0" dirty="0" smtClean="0">
                <a:solidFill>
                  <a:srgbClr val="0070C0"/>
                </a:solidFill>
              </a:rPr>
              <a:t>  choosing[j</a:t>
            </a:r>
            <a:r>
              <a:rPr lang="en-IN" sz="500" b="0" dirty="0">
                <a:solidFill>
                  <a:srgbClr val="0070C0"/>
                </a:solidFill>
              </a:rPr>
              <a:t>]  =  1; </a:t>
            </a:r>
          </a:p>
          <a:p>
            <a:pPr marL="191770"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number[j]  =  MAX(number[0],  number[1],  ...,  number[n-1])  +  1;    </a:t>
            </a:r>
          </a:p>
          <a:p>
            <a:pPr marL="191770"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</a:t>
            </a:r>
            <a:r>
              <a:rPr lang="en-IN" sz="500" b="0" dirty="0" smtClean="0">
                <a:solidFill>
                  <a:srgbClr val="0070C0"/>
                </a:solidFill>
              </a:rPr>
              <a:t>choosing[j]  </a:t>
            </a:r>
            <a:r>
              <a:rPr lang="en-IN" sz="500" b="0" dirty="0">
                <a:solidFill>
                  <a:srgbClr val="0070C0"/>
                </a:solidFill>
              </a:rPr>
              <a:t>=  0; </a:t>
            </a:r>
          </a:p>
          <a:p>
            <a:pPr marL="430530" marR="2156460" indent="-239395">
              <a:lnSpc>
                <a:spcPct val="101499"/>
              </a:lnSpc>
            </a:pPr>
            <a:r>
              <a:rPr lang="en-IN" sz="500" b="0" dirty="0">
                <a:solidFill>
                  <a:srgbClr val="0070C0"/>
                </a:solidFill>
              </a:rPr>
              <a:t>     for  (k  =  0;  k  &lt;  n;  k++)  {        </a:t>
            </a:r>
          </a:p>
          <a:p>
            <a:pPr marL="430530" marR="2156460" indent="-239395">
              <a:lnSpc>
                <a:spcPct val="101499"/>
              </a:lnSpc>
            </a:pPr>
            <a:r>
              <a:rPr lang="en-IN" sz="500" b="0" dirty="0">
                <a:solidFill>
                  <a:srgbClr val="0070C0"/>
                </a:solidFill>
              </a:rPr>
              <a:t>              while  (choosing[k]) ;</a:t>
            </a:r>
          </a:p>
          <a:p>
            <a:pPr marL="430530"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 while  ((number[k]  !=  0)  &amp;&amp;  (number[k],k  &lt;  number[j],j))  ;</a:t>
            </a:r>
          </a:p>
          <a:p>
            <a:pPr marL="430530"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}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 </a:t>
            </a:r>
            <a:r>
              <a:rPr lang="en-IN" sz="500" b="0" dirty="0"/>
              <a:t>S--; / *CS for S */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</a:t>
            </a:r>
            <a:r>
              <a:rPr lang="en-IN" sz="500" b="0" dirty="0" smtClean="0">
                <a:solidFill>
                  <a:srgbClr val="0070C0"/>
                </a:solidFill>
              </a:rPr>
              <a:t>   number[j</a:t>
            </a:r>
            <a:r>
              <a:rPr lang="en-IN" sz="500" b="0" dirty="0">
                <a:solidFill>
                  <a:srgbClr val="0070C0"/>
                </a:solidFill>
              </a:rPr>
              <a:t>]  =  0;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kern="0" spc="114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}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500" kern="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signal (S) {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    entry();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    S++;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    exit();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}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648882" y="1518343"/>
            <a:ext cx="762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8650" y="1317413"/>
            <a:ext cx="77938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dirty="0" smtClean="0"/>
              <a:t>Switch after this</a:t>
            </a:r>
            <a:endParaRPr lang="en-IN" sz="700" dirty="0"/>
          </a:p>
        </p:txBody>
      </p:sp>
      <p:cxnSp>
        <p:nvCxnSpPr>
          <p:cNvPr id="16" name="Straight Connector 15"/>
          <p:cNvCxnSpPr>
            <a:stCxn id="3" idx="0"/>
          </p:cNvCxnSpPr>
          <p:nvPr/>
        </p:nvCxnSpPr>
        <p:spPr>
          <a:xfrm>
            <a:off x="2187122" y="1370403"/>
            <a:ext cx="0" cy="2086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9050" y="433118"/>
            <a:ext cx="2305050" cy="750205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lang="en-US" sz="1000" u="sng" dirty="0"/>
              <a:t>Code for P[</a:t>
            </a:r>
            <a:r>
              <a:rPr lang="en-US" sz="1000" u="sng" dirty="0" err="1"/>
              <a:t>i</a:t>
            </a:r>
            <a:r>
              <a:rPr lang="en-US" sz="1000" u="sng" dirty="0"/>
              <a:t>]:</a:t>
            </a:r>
          </a:p>
          <a:p>
            <a:pPr marL="12700" marR="5080">
              <a:lnSpc>
                <a:spcPct val="102699"/>
              </a:lnSpc>
            </a:pPr>
            <a:r>
              <a:rPr lang="en-US" sz="1050" i="1" spc="-55" dirty="0" smtClean="0">
                <a:latin typeface="Trebuchet MS"/>
                <a:cs typeface="Trebuchet MS"/>
              </a:rPr>
              <a:t>wait</a:t>
            </a:r>
            <a:r>
              <a:rPr lang="en-US" sz="1050" i="1" spc="-229" dirty="0" smtClean="0">
                <a:latin typeface="Trebuchet MS"/>
                <a:cs typeface="Trebuchet MS"/>
              </a:rPr>
              <a:t> </a:t>
            </a:r>
            <a:r>
              <a:rPr lang="en-US" sz="1050" dirty="0">
                <a:latin typeface="Tahoma"/>
                <a:cs typeface="Tahoma"/>
              </a:rPr>
              <a:t>(</a:t>
            </a:r>
            <a:r>
              <a:rPr lang="en-US" sz="1050" i="1" spc="75" dirty="0">
                <a:latin typeface="Trebuchet MS"/>
                <a:cs typeface="Trebuchet MS"/>
              </a:rPr>
              <a:t>S</a:t>
            </a:r>
            <a:r>
              <a:rPr lang="en-US" sz="1050" i="1" spc="-204" dirty="0">
                <a:latin typeface="Trebuchet MS"/>
                <a:cs typeface="Trebuchet MS"/>
              </a:rPr>
              <a:t> </a:t>
            </a:r>
            <a:r>
              <a:rPr lang="en-US" sz="1050" dirty="0">
                <a:latin typeface="Tahoma"/>
                <a:cs typeface="Tahoma"/>
              </a:rPr>
              <a:t>)</a:t>
            </a:r>
            <a:r>
              <a:rPr lang="en-US" sz="1050" spc="-5" dirty="0">
                <a:latin typeface="Arial"/>
                <a:cs typeface="Arial"/>
              </a:rPr>
              <a:t>: </a:t>
            </a:r>
          </a:p>
          <a:p>
            <a:pPr marL="12700" marR="5080">
              <a:lnSpc>
                <a:spcPct val="102699"/>
              </a:lnSpc>
            </a:pPr>
            <a:r>
              <a:rPr lang="en-US" sz="1050" i="1" spc="-5" dirty="0">
                <a:latin typeface="Arial"/>
                <a:cs typeface="Arial"/>
              </a:rPr>
              <a:t>     </a:t>
            </a:r>
            <a:r>
              <a:rPr lang="en-US" sz="105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105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  <a:endParaRPr lang="en-US" sz="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700" marR="5080">
              <a:lnSpc>
                <a:spcPct val="102699"/>
              </a:lnSpc>
            </a:pPr>
            <a:r>
              <a:rPr lang="en-US" sz="1050" i="1" spc="-25" dirty="0" smtClean="0">
                <a:latin typeface="Trebuchet MS"/>
                <a:cs typeface="Trebuchet MS"/>
              </a:rPr>
              <a:t>signal</a:t>
            </a:r>
            <a:r>
              <a:rPr lang="en-US" sz="1050" i="1" spc="-225" dirty="0" smtClean="0">
                <a:latin typeface="Trebuchet MS"/>
                <a:cs typeface="Trebuchet MS"/>
              </a:rPr>
              <a:t> </a:t>
            </a:r>
            <a:r>
              <a:rPr lang="en-US" sz="1050" dirty="0">
                <a:latin typeface="Tahoma"/>
                <a:cs typeface="Tahoma"/>
              </a:rPr>
              <a:t>(</a:t>
            </a:r>
            <a:r>
              <a:rPr lang="en-US" sz="1050" i="1" spc="75" dirty="0">
                <a:latin typeface="Trebuchet MS"/>
                <a:cs typeface="Trebuchet MS"/>
              </a:rPr>
              <a:t>S</a:t>
            </a:r>
            <a:r>
              <a:rPr lang="en-US" sz="1050" i="1" spc="-204" dirty="0">
                <a:latin typeface="Trebuchet MS"/>
                <a:cs typeface="Trebuchet MS"/>
              </a:rPr>
              <a:t> </a:t>
            </a:r>
            <a:r>
              <a:rPr lang="en-US" sz="1050" dirty="0">
                <a:latin typeface="Tahoma"/>
                <a:cs typeface="Tahoma"/>
              </a:rPr>
              <a:t>)</a:t>
            </a:r>
            <a:r>
              <a:rPr lang="en-US" sz="1050" spc="-5" dirty="0">
                <a:latin typeface="Arial"/>
                <a:cs typeface="Arial"/>
              </a:rPr>
              <a:t>: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15065" y="413305"/>
            <a:ext cx="2305050" cy="7581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lang="en-US" sz="1050" u="sng" dirty="0"/>
              <a:t>Code for P[</a:t>
            </a:r>
            <a:r>
              <a:rPr lang="en-US" sz="1050" u="sng" dirty="0" err="1"/>
              <a:t>i</a:t>
            </a:r>
            <a:r>
              <a:rPr lang="en-US" sz="1050" u="sng" dirty="0"/>
              <a:t>]:</a:t>
            </a:r>
          </a:p>
          <a:p>
            <a:pPr marL="12700" marR="5080">
              <a:lnSpc>
                <a:spcPct val="102699"/>
              </a:lnSpc>
            </a:pPr>
            <a:r>
              <a:rPr lang="en-US" sz="1050" i="1" spc="-55" dirty="0" smtClean="0">
                <a:latin typeface="Trebuchet MS"/>
                <a:cs typeface="Trebuchet MS"/>
              </a:rPr>
              <a:t>wait</a:t>
            </a:r>
            <a:r>
              <a:rPr lang="en-US" sz="1050" i="1" spc="-229" dirty="0" smtClean="0">
                <a:latin typeface="Trebuchet MS"/>
                <a:cs typeface="Trebuchet MS"/>
              </a:rPr>
              <a:t> </a:t>
            </a:r>
            <a:r>
              <a:rPr lang="en-US" sz="1050" dirty="0">
                <a:latin typeface="Tahoma"/>
                <a:cs typeface="Tahoma"/>
              </a:rPr>
              <a:t>(</a:t>
            </a:r>
            <a:r>
              <a:rPr lang="en-US" sz="1050" i="1" spc="75" dirty="0">
                <a:latin typeface="Trebuchet MS"/>
                <a:cs typeface="Trebuchet MS"/>
              </a:rPr>
              <a:t>S</a:t>
            </a:r>
            <a:r>
              <a:rPr lang="en-US" sz="1050" i="1" spc="-204" dirty="0">
                <a:latin typeface="Trebuchet MS"/>
                <a:cs typeface="Trebuchet MS"/>
              </a:rPr>
              <a:t> </a:t>
            </a:r>
            <a:r>
              <a:rPr lang="en-US" sz="1050" dirty="0">
                <a:latin typeface="Tahoma"/>
                <a:cs typeface="Tahoma"/>
              </a:rPr>
              <a:t>)</a:t>
            </a:r>
            <a:r>
              <a:rPr lang="en-US" sz="1050" spc="-5" dirty="0">
                <a:latin typeface="Arial"/>
                <a:cs typeface="Arial"/>
              </a:rPr>
              <a:t>: </a:t>
            </a:r>
          </a:p>
          <a:p>
            <a:pPr marL="12700" marR="5080">
              <a:lnSpc>
                <a:spcPct val="102699"/>
              </a:lnSpc>
            </a:pPr>
            <a:r>
              <a:rPr lang="en-US" sz="1050" i="1" spc="-5" dirty="0">
                <a:latin typeface="Arial"/>
                <a:cs typeface="Arial"/>
              </a:rPr>
              <a:t>      </a:t>
            </a:r>
            <a:r>
              <a:rPr lang="en-US" sz="105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105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  <a:endParaRPr lang="en-US" sz="8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700" marR="5080">
              <a:lnSpc>
                <a:spcPct val="102699"/>
              </a:lnSpc>
            </a:pPr>
            <a:r>
              <a:rPr lang="en-US" sz="1050" i="1" spc="-25" dirty="0" smtClean="0">
                <a:latin typeface="Trebuchet MS"/>
                <a:cs typeface="Trebuchet MS"/>
              </a:rPr>
              <a:t>signal</a:t>
            </a:r>
            <a:r>
              <a:rPr lang="en-US" sz="1050" i="1" spc="-225" dirty="0" smtClean="0">
                <a:latin typeface="Trebuchet MS"/>
                <a:cs typeface="Trebuchet MS"/>
              </a:rPr>
              <a:t> </a:t>
            </a:r>
            <a:r>
              <a:rPr lang="en-US" sz="1050" dirty="0">
                <a:latin typeface="Tahoma"/>
                <a:cs typeface="Tahoma"/>
              </a:rPr>
              <a:t>(</a:t>
            </a:r>
            <a:r>
              <a:rPr lang="en-US" sz="1050" i="1" spc="75" dirty="0">
                <a:latin typeface="Trebuchet MS"/>
                <a:cs typeface="Trebuchet MS"/>
              </a:rPr>
              <a:t>S</a:t>
            </a:r>
            <a:r>
              <a:rPr lang="en-US" sz="1050" i="1" spc="-204" dirty="0">
                <a:latin typeface="Trebuchet MS"/>
                <a:cs typeface="Trebuchet MS"/>
              </a:rPr>
              <a:t> </a:t>
            </a:r>
            <a:r>
              <a:rPr lang="en-US" sz="1050" dirty="0">
                <a:latin typeface="Tahoma"/>
                <a:cs typeface="Tahoma"/>
              </a:rPr>
              <a:t>)</a:t>
            </a:r>
            <a:r>
              <a:rPr lang="en-US" sz="1050" spc="-5" dirty="0">
                <a:latin typeface="Arial"/>
                <a:cs typeface="Arial"/>
              </a:rPr>
              <a:t>: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504" y="1119563"/>
            <a:ext cx="1085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C00000"/>
                </a:solidFill>
              </a:rPr>
              <a:t>S initialized to 1</a:t>
            </a:r>
            <a:endParaRPr lang="en-IN" sz="11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89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What went wrong?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2693045"/>
          </a:xfrm>
        </p:spPr>
        <p:txBody>
          <a:bodyPr/>
          <a:lstStyle/>
          <a:p>
            <a:r>
              <a:rPr lang="en-US" sz="1050" b="0" dirty="0">
                <a:sym typeface="Wingdings" panose="05000000000000000000" pitchFamily="2" charset="2"/>
              </a:rPr>
              <a:t>2 calls to </a:t>
            </a:r>
            <a:r>
              <a:rPr lang="en-US" sz="1050" b="0" dirty="0" smtClean="0">
                <a:sym typeface="Wingdings" panose="05000000000000000000" pitchFamily="2" charset="2"/>
              </a:rPr>
              <a:t>S--</a:t>
            </a:r>
          </a:p>
          <a:p>
            <a:endParaRPr lang="en-US" sz="1050" b="0" dirty="0">
              <a:sym typeface="Wingdings" panose="05000000000000000000" pitchFamily="2" charset="2"/>
            </a:endParaRPr>
          </a:p>
          <a:p>
            <a:r>
              <a:rPr lang="en-US" sz="1050" b="0" dirty="0"/>
              <a:t>Bakery ensures 2 </a:t>
            </a:r>
            <a:r>
              <a:rPr lang="en-US" sz="1050" b="0" u="sng" dirty="0"/>
              <a:t>non-overlapping decrements</a:t>
            </a:r>
            <a:r>
              <a:rPr lang="en-US" sz="1050" b="0" dirty="0"/>
              <a:t> and S is -1, which is </a:t>
            </a:r>
            <a:r>
              <a:rPr lang="en-US" sz="1050" b="0" dirty="0" smtClean="0"/>
              <a:t>inconsistent</a:t>
            </a:r>
          </a:p>
          <a:p>
            <a:r>
              <a:rPr lang="en-US" sz="1050" b="0" dirty="0" smtClean="0"/>
              <a:t> </a:t>
            </a:r>
            <a:endParaRPr lang="en-US" sz="1050" b="0" dirty="0"/>
          </a:p>
          <a:p>
            <a:r>
              <a:rPr lang="en-US" sz="1050" b="0" dirty="0"/>
              <a:t>Both P1 and P2 enter </a:t>
            </a:r>
            <a:r>
              <a:rPr lang="en-US" sz="1050" b="0" dirty="0" smtClean="0"/>
              <a:t>CS</a:t>
            </a:r>
          </a:p>
          <a:p>
            <a:endParaRPr lang="en-US" sz="1050" b="0" dirty="0"/>
          </a:p>
          <a:p>
            <a:r>
              <a:rPr lang="en-US" sz="1050" b="0" dirty="0" smtClean="0"/>
              <a:t>Whoever checks S, the same value should be decremented first at S—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400" i="1" dirty="0" smtClean="0"/>
              <a:t>If a process checks S and finds it as 1, it should decrement it first before a context switch</a:t>
            </a:r>
            <a:endParaRPr lang="en-US" sz="1400" b="0" i="1" dirty="0" smtClean="0"/>
          </a:p>
          <a:p>
            <a:endParaRPr lang="en-US" sz="1050" b="0" dirty="0" smtClean="0"/>
          </a:p>
          <a:p>
            <a:r>
              <a:rPr lang="en-US" sz="1050" b="0" dirty="0" smtClean="0"/>
              <a:t>Between while and entry, there may be a context switch</a:t>
            </a:r>
          </a:p>
          <a:p>
            <a:endParaRPr lang="en-US" sz="1050" b="0" dirty="0"/>
          </a:p>
          <a:p>
            <a:r>
              <a:rPr lang="en-US" sz="1050" b="0" dirty="0" smtClean="0"/>
              <a:t>Signal operation is 1 increment, and the entry / exit makes it atomic </a:t>
            </a:r>
          </a:p>
          <a:p>
            <a:endParaRPr lang="en-US" sz="1050" b="0" dirty="0"/>
          </a:p>
          <a:p>
            <a:r>
              <a:rPr lang="en-US" sz="1050" b="0" dirty="0" smtClean="0"/>
              <a:t>wait is not atomic!!</a:t>
            </a:r>
            <a:endParaRPr lang="en-US" sz="1050" b="0" dirty="0"/>
          </a:p>
        </p:txBody>
      </p:sp>
    </p:spTree>
    <p:extLst>
      <p:ext uri="{BB962C8B-B14F-4D97-AF65-F5344CB8AC3E}">
        <p14:creationId xmlns:p14="http://schemas.microsoft.com/office/powerpoint/2010/main" val="293050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A second attempt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07" y="398794"/>
            <a:ext cx="4358386" cy="3136371"/>
          </a:xfrm>
        </p:spPr>
        <p:txBody>
          <a:bodyPr/>
          <a:lstStyle/>
          <a:p>
            <a:r>
              <a:rPr lang="en-US" sz="800" b="0" dirty="0" smtClean="0"/>
              <a:t>wait (S) { 			signal(S) {</a:t>
            </a:r>
          </a:p>
          <a:p>
            <a:r>
              <a:rPr lang="en-US" sz="800" b="0" dirty="0" smtClean="0"/>
              <a:t>   entry();		</a:t>
            </a:r>
          </a:p>
          <a:p>
            <a:r>
              <a:rPr lang="en-US" sz="800" b="0" dirty="0" smtClean="0"/>
              <a:t>   while </a:t>
            </a:r>
            <a:r>
              <a:rPr lang="en-US" sz="800" b="0" dirty="0"/>
              <a:t>(S&lt;= 0); </a:t>
            </a:r>
            <a:r>
              <a:rPr lang="en-US" sz="800" b="0" dirty="0" smtClean="0"/>
              <a:t>			    entry();</a:t>
            </a:r>
          </a:p>
          <a:p>
            <a:r>
              <a:rPr lang="en-US" sz="800" b="0" dirty="0"/>
              <a:t> </a:t>
            </a:r>
            <a:r>
              <a:rPr lang="en-US" sz="800" b="0" dirty="0" smtClean="0"/>
              <a:t>  S--;			     S++;</a:t>
            </a:r>
          </a:p>
          <a:p>
            <a:r>
              <a:rPr lang="en-US" sz="800" b="0" dirty="0"/>
              <a:t> </a:t>
            </a:r>
            <a:r>
              <a:rPr lang="en-US" sz="800" b="0" dirty="0" smtClean="0"/>
              <a:t>  exit();			    exit();</a:t>
            </a:r>
          </a:p>
          <a:p>
            <a:r>
              <a:rPr lang="en-US" sz="800" b="0" dirty="0" smtClean="0"/>
              <a:t>}			}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US" sz="800" b="0" u="sng" dirty="0" smtClean="0"/>
              <a:t>Code </a:t>
            </a:r>
            <a:r>
              <a:rPr lang="en-US" sz="800" b="0" u="sng" dirty="0"/>
              <a:t>for P[</a:t>
            </a:r>
            <a:r>
              <a:rPr lang="en-US" sz="800" b="0" u="sng" dirty="0" err="1"/>
              <a:t>i</a:t>
            </a:r>
            <a:r>
              <a:rPr lang="en-US" sz="800" b="0" u="sng" dirty="0"/>
              <a:t>]: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US" sz="700" b="0" dirty="0"/>
              <a:t>wait (S)</a:t>
            </a:r>
            <a:r>
              <a:rPr lang="en-IN" sz="700" spc="95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{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700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   </a:t>
            </a: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choosing[</a:t>
            </a:r>
            <a:r>
              <a:rPr lang="en-IN" sz="700" b="0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 =  1; 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number[</a:t>
            </a:r>
            <a:r>
              <a:rPr lang="en-IN" sz="700" b="0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 =  MAX(number[0],  number[1],  ...,  number[n-1])  +  1;    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choosing[</a:t>
            </a:r>
            <a:r>
              <a:rPr lang="en-IN" sz="700" b="0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 =  0; </a:t>
            </a:r>
          </a:p>
          <a:p>
            <a:pPr marL="430530" marR="2156460" indent="-239395">
              <a:lnSpc>
                <a:spcPct val="101499"/>
              </a:lnSpc>
            </a:pP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for  (j  =  0;  j  &lt;  n;  </a:t>
            </a:r>
            <a:r>
              <a:rPr lang="en-IN" sz="700" b="0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j++</a:t>
            </a: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 {        </a:t>
            </a:r>
          </a:p>
          <a:p>
            <a:pPr marL="430530" marR="2156460" indent="-239395">
              <a:lnSpc>
                <a:spcPct val="101499"/>
              </a:lnSpc>
            </a:pP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</a:t>
            </a:r>
            <a:r>
              <a:rPr lang="en-IN" sz="700" b="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while  </a:t>
            </a: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(choosing[j]) ;</a:t>
            </a: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while  ((number[j]  !=  0)  &amp;&amp;  (number[j],j  &lt;  number[</a:t>
            </a:r>
            <a:r>
              <a:rPr lang="en-IN" sz="700" b="0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],</a:t>
            </a:r>
            <a:r>
              <a:rPr lang="en-IN" sz="700" b="0" dirty="0" err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))  ;</a:t>
            </a: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lang="en-IN" sz="700" b="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700" b="0" dirty="0" smtClean="0"/>
              <a:t>     while </a:t>
            </a:r>
            <a:r>
              <a:rPr lang="en-US" sz="700" b="0" dirty="0"/>
              <a:t>(S&lt;= 0);</a:t>
            </a:r>
            <a:r>
              <a:rPr lang="en-IN" sz="700" b="0" dirty="0" smtClean="0"/>
              <a:t>      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700" b="0" dirty="0" smtClean="0"/>
              <a:t>     S-</a:t>
            </a:r>
            <a:r>
              <a:rPr lang="en-IN" sz="700" b="0" dirty="0"/>
              <a:t>-; </a:t>
            </a:r>
            <a:endParaRPr lang="en-IN" sz="700" b="0" dirty="0" smtClean="0"/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700" b="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number[</a:t>
            </a:r>
            <a:r>
              <a:rPr lang="en-IN" sz="700" b="0" dirty="0" err="1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IN" sz="700" b="0" dirty="0" smtClean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]  =  0;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700" spc="114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}</a:t>
            </a:r>
            <a:endParaRPr lang="en-IN" sz="700" spc="114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/>
              <a:cs typeface="Times New Roman"/>
            </a:endParaRP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600" b="0" dirty="0"/>
              <a:t>signal (S)</a:t>
            </a:r>
            <a:r>
              <a:rPr lang="en-US" sz="600" spc="114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{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600" b="0" dirty="0"/>
              <a:t>    entry();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600" b="0" dirty="0"/>
              <a:t>    S++;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600" b="0" dirty="0"/>
              <a:t>    exit();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600" spc="114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}</a:t>
            </a:r>
          </a:p>
        </p:txBody>
      </p:sp>
      <p:sp>
        <p:nvSpPr>
          <p:cNvPr id="4" name="Left Brace 3"/>
          <p:cNvSpPr/>
          <p:nvPr/>
        </p:nvSpPr>
        <p:spPr>
          <a:xfrm>
            <a:off x="247650" y="1425575"/>
            <a:ext cx="76200" cy="6858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Left Brace 4"/>
          <p:cNvSpPr/>
          <p:nvPr/>
        </p:nvSpPr>
        <p:spPr>
          <a:xfrm>
            <a:off x="247650" y="2416175"/>
            <a:ext cx="76200" cy="15240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-80594" y="1543059"/>
            <a:ext cx="40588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/>
              <a:t>entry</a:t>
            </a:r>
            <a:endParaRPr lang="en-IN" sz="800" dirty="0"/>
          </a:p>
        </p:txBody>
      </p:sp>
      <p:sp>
        <p:nvSpPr>
          <p:cNvPr id="7" name="TextBox 6"/>
          <p:cNvSpPr txBox="1"/>
          <p:nvPr/>
        </p:nvSpPr>
        <p:spPr>
          <a:xfrm>
            <a:off x="-79158" y="2378251"/>
            <a:ext cx="33855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/>
              <a:t>exit</a:t>
            </a:r>
            <a:endParaRPr lang="en-IN" sz="800" dirty="0"/>
          </a:p>
        </p:txBody>
      </p:sp>
    </p:spTree>
    <p:extLst>
      <p:ext uri="{BB962C8B-B14F-4D97-AF65-F5344CB8AC3E}">
        <p14:creationId xmlns:p14="http://schemas.microsoft.com/office/powerpoint/2010/main" val="457110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A second attempt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07" y="398794"/>
            <a:ext cx="4358386" cy="1354217"/>
          </a:xfrm>
        </p:spPr>
        <p:txBody>
          <a:bodyPr/>
          <a:lstStyle/>
          <a:p>
            <a:r>
              <a:rPr lang="en-US" sz="800" b="0" dirty="0" smtClean="0"/>
              <a:t>wait (S) { 			signal(S) {</a:t>
            </a:r>
          </a:p>
          <a:p>
            <a:r>
              <a:rPr lang="en-US" sz="800" b="0" dirty="0" smtClean="0"/>
              <a:t>   entry();		</a:t>
            </a:r>
          </a:p>
          <a:p>
            <a:r>
              <a:rPr lang="en-US" sz="800" b="0" dirty="0" smtClean="0"/>
              <a:t>   while </a:t>
            </a:r>
            <a:r>
              <a:rPr lang="en-US" sz="800" b="0" dirty="0"/>
              <a:t>(S&lt;= 0); </a:t>
            </a:r>
            <a:r>
              <a:rPr lang="en-US" sz="800" b="0" dirty="0" smtClean="0"/>
              <a:t>			    entry();</a:t>
            </a:r>
          </a:p>
          <a:p>
            <a:r>
              <a:rPr lang="en-US" sz="800" b="0" dirty="0"/>
              <a:t> </a:t>
            </a:r>
            <a:r>
              <a:rPr lang="en-US" sz="800" b="0" dirty="0" smtClean="0"/>
              <a:t>  S--;			     S++;</a:t>
            </a:r>
          </a:p>
          <a:p>
            <a:r>
              <a:rPr lang="en-US" sz="800" b="0" dirty="0"/>
              <a:t> </a:t>
            </a:r>
            <a:r>
              <a:rPr lang="en-US" sz="800" b="0" dirty="0" smtClean="0"/>
              <a:t>  exit();			    exit();</a:t>
            </a:r>
          </a:p>
          <a:p>
            <a:r>
              <a:rPr lang="en-US" sz="800" b="0" dirty="0" smtClean="0"/>
              <a:t>}			}</a:t>
            </a:r>
          </a:p>
          <a:p>
            <a:endParaRPr lang="en-US" sz="800" b="0" dirty="0"/>
          </a:p>
          <a:p>
            <a:r>
              <a:rPr lang="en-US" sz="800" b="0" dirty="0" smtClean="0"/>
              <a:t>S++ and S-- will not produce inconsistent result</a:t>
            </a:r>
          </a:p>
          <a:p>
            <a:endParaRPr lang="en-US" sz="800" b="0" dirty="0"/>
          </a:p>
          <a:p>
            <a:r>
              <a:rPr lang="en-US" sz="800" b="0" dirty="0" smtClean="0"/>
              <a:t>Inside bakery, whoever does while, also does S-- and exits</a:t>
            </a:r>
          </a:p>
          <a:p>
            <a:endParaRPr lang="en-US" sz="800" b="0" dirty="0" smtClean="0"/>
          </a:p>
        </p:txBody>
      </p:sp>
    </p:spTree>
    <p:extLst>
      <p:ext uri="{BB962C8B-B14F-4D97-AF65-F5344CB8AC3E}">
        <p14:creationId xmlns:p14="http://schemas.microsoft.com/office/powerpoint/2010/main" val="38301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second </a:t>
            </a:r>
            <a:r>
              <a:rPr lang="en-US" dirty="0" smtClean="0"/>
              <a:t>attempt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33350" y="1007372"/>
            <a:ext cx="4488543" cy="2426818"/>
          </a:xfrm>
        </p:spPr>
        <p:txBody>
          <a:bodyPr/>
          <a:lstStyle/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US" sz="500" b="0" dirty="0" smtClean="0"/>
              <a:t>wait </a:t>
            </a:r>
            <a:r>
              <a:rPr lang="en-US" sz="500" b="0" dirty="0"/>
              <a:t>(S)</a:t>
            </a:r>
            <a:r>
              <a:rPr lang="en-IN" sz="500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{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500" b="0" dirty="0" smtClean="0">
                <a:solidFill>
                  <a:srgbClr val="0070C0"/>
                </a:solidFill>
              </a:rPr>
              <a:t>     choosing[</a:t>
            </a:r>
            <a:r>
              <a:rPr lang="en-IN" sz="500" b="0" dirty="0" err="1" smtClean="0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  =  1; 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</a:t>
            </a:r>
            <a:r>
              <a:rPr lang="en-IN" sz="500" b="0" dirty="0" smtClean="0">
                <a:solidFill>
                  <a:srgbClr val="0070C0"/>
                </a:solidFill>
              </a:rPr>
              <a:t> number[</a:t>
            </a:r>
            <a:r>
              <a:rPr lang="en-IN" sz="500" b="0" dirty="0" err="1" smtClean="0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  =  MAX(number[0],  number[1],  ...,  number[n-1])  +  1;    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</a:t>
            </a:r>
            <a:r>
              <a:rPr lang="en-IN" sz="500" b="0" dirty="0" smtClean="0">
                <a:solidFill>
                  <a:srgbClr val="0070C0"/>
                </a:solidFill>
              </a:rPr>
              <a:t> choosing[</a:t>
            </a:r>
            <a:r>
              <a:rPr lang="en-IN" sz="500" b="0" dirty="0" err="1" smtClean="0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  =  0; </a:t>
            </a:r>
            <a:endParaRPr lang="en-IN" sz="500" b="0" dirty="0" smtClean="0">
              <a:solidFill>
                <a:srgbClr val="0070C0"/>
              </a:solidFill>
            </a:endParaRPr>
          </a:p>
          <a:p>
            <a:pPr marL="430530" marR="2156460" indent="-239395">
              <a:lnSpc>
                <a:spcPct val="101499"/>
              </a:lnSpc>
            </a:pPr>
            <a:r>
              <a:rPr lang="en-IN" sz="500" b="0" dirty="0" smtClean="0">
                <a:solidFill>
                  <a:srgbClr val="0070C0"/>
                </a:solidFill>
              </a:rPr>
              <a:t>     for  (k =  0;  k  &lt;  n;  k++)  {        </a:t>
            </a:r>
          </a:p>
          <a:p>
            <a:pPr marL="430530" marR="2156460" indent="-239395">
              <a:lnSpc>
                <a:spcPct val="101499"/>
              </a:lnSpc>
            </a:pPr>
            <a:r>
              <a:rPr lang="en-IN" sz="500" b="0" dirty="0" smtClean="0">
                <a:solidFill>
                  <a:srgbClr val="0070C0"/>
                </a:solidFill>
              </a:rPr>
              <a:t>              </a:t>
            </a:r>
            <a:r>
              <a:rPr lang="en-IN" sz="500" b="0" dirty="0">
                <a:solidFill>
                  <a:srgbClr val="0070C0"/>
                </a:solidFill>
              </a:rPr>
              <a:t>while  (</a:t>
            </a:r>
            <a:r>
              <a:rPr lang="en-IN" sz="500" b="0" dirty="0" smtClean="0">
                <a:solidFill>
                  <a:srgbClr val="0070C0"/>
                </a:solidFill>
              </a:rPr>
              <a:t>choosing[k]) </a:t>
            </a:r>
            <a:r>
              <a:rPr lang="en-IN" sz="500" b="0" dirty="0">
                <a:solidFill>
                  <a:srgbClr val="0070C0"/>
                </a:solidFill>
              </a:rPr>
              <a:t>;</a:t>
            </a: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 while  ((</a:t>
            </a:r>
            <a:r>
              <a:rPr lang="en-IN" sz="500" b="0" dirty="0" smtClean="0">
                <a:solidFill>
                  <a:srgbClr val="0070C0"/>
                </a:solidFill>
              </a:rPr>
              <a:t>number[k]  </a:t>
            </a:r>
            <a:r>
              <a:rPr lang="en-IN" sz="500" b="0" dirty="0">
                <a:solidFill>
                  <a:srgbClr val="0070C0"/>
                </a:solidFill>
              </a:rPr>
              <a:t>!=  0)  &amp;&amp;  (</a:t>
            </a:r>
            <a:r>
              <a:rPr lang="en-IN" sz="500" b="0" dirty="0" smtClean="0">
                <a:solidFill>
                  <a:srgbClr val="0070C0"/>
                </a:solidFill>
              </a:rPr>
              <a:t>number[k],k  </a:t>
            </a:r>
            <a:r>
              <a:rPr lang="en-IN" sz="500" b="0" dirty="0">
                <a:solidFill>
                  <a:srgbClr val="0070C0"/>
                </a:solidFill>
              </a:rPr>
              <a:t>&lt;  number[</a:t>
            </a:r>
            <a:r>
              <a:rPr lang="en-IN" sz="500" b="0" dirty="0" err="1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],</a:t>
            </a:r>
            <a:r>
              <a:rPr lang="en-IN" sz="500" b="0" dirty="0" err="1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))  </a:t>
            </a:r>
            <a:r>
              <a:rPr lang="en-IN" sz="500" b="0" dirty="0" smtClean="0">
                <a:solidFill>
                  <a:srgbClr val="0070C0"/>
                </a:solidFill>
              </a:rPr>
              <a:t>;</a:t>
            </a: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lang="en-IN" sz="500" b="0" dirty="0" smtClean="0">
                <a:solidFill>
                  <a:srgbClr val="0070C0"/>
                </a:solidFill>
              </a:rPr>
              <a:t>}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 smtClean="0">
                <a:solidFill>
                  <a:srgbClr val="0070C0"/>
                </a:solidFill>
              </a:rPr>
              <a:t>    </a:t>
            </a:r>
            <a:r>
              <a:rPr lang="en-US" sz="500" b="0" dirty="0" smtClean="0"/>
              <a:t> </a:t>
            </a:r>
            <a:r>
              <a:rPr lang="en-US" sz="500" b="0" dirty="0"/>
              <a:t>while (S&lt;= 0);	</a:t>
            </a:r>
            <a:r>
              <a:rPr lang="en-IN" sz="500" b="0" dirty="0" smtClean="0">
                <a:solidFill>
                  <a:srgbClr val="0070C0"/>
                </a:solidFill>
              </a:rPr>
              <a:t> 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>
                <a:solidFill>
                  <a:srgbClr val="0070C0"/>
                </a:solidFill>
              </a:rPr>
              <a:t> </a:t>
            </a:r>
            <a:r>
              <a:rPr lang="en-IN" sz="500" b="0" dirty="0" smtClean="0">
                <a:solidFill>
                  <a:srgbClr val="0070C0"/>
                </a:solidFill>
              </a:rPr>
              <a:t>    </a:t>
            </a:r>
            <a:r>
              <a:rPr lang="en-IN" sz="500" b="0" dirty="0" smtClean="0"/>
              <a:t>S-</a:t>
            </a:r>
            <a:r>
              <a:rPr lang="en-IN" sz="500" b="0" dirty="0"/>
              <a:t>-; </a:t>
            </a:r>
            <a:r>
              <a:rPr lang="en-IN" sz="500" b="0" dirty="0" smtClean="0"/>
              <a:t>/ *CS for S */</a:t>
            </a:r>
            <a:endParaRPr lang="en-IN" sz="500" b="0" dirty="0"/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spc="13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IN" sz="500" b="0" spc="130" dirty="0" smtClean="0">
                <a:solidFill>
                  <a:srgbClr val="0070C0"/>
                </a:solidFill>
                <a:latin typeface="Times New Roman"/>
                <a:cs typeface="Times New Roman"/>
              </a:rPr>
              <a:t>  </a:t>
            </a:r>
            <a:r>
              <a:rPr lang="en-IN" sz="500" b="0" dirty="0" smtClean="0">
                <a:solidFill>
                  <a:srgbClr val="0070C0"/>
                </a:solidFill>
              </a:rPr>
              <a:t>number[</a:t>
            </a:r>
            <a:r>
              <a:rPr lang="en-IN" sz="500" b="0" dirty="0" err="1" smtClean="0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  =  0;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spc="114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}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5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signal (S) {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500" b="0" dirty="0" smtClean="0">
                <a:solidFill>
                  <a:srgbClr val="0070C0"/>
                </a:solidFill>
              </a:rPr>
              <a:t>     choosing[</a:t>
            </a:r>
            <a:r>
              <a:rPr lang="en-IN" sz="500" b="0" dirty="0" err="1" smtClean="0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  =  1; 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number[</a:t>
            </a:r>
            <a:r>
              <a:rPr lang="en-IN" sz="500" b="0" dirty="0" err="1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  =  MAX(number[0],  number[1],  ...,  number[n-1])  +  1;    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choosing[</a:t>
            </a:r>
            <a:r>
              <a:rPr lang="en-IN" sz="500" b="0" dirty="0" err="1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  =  0; </a:t>
            </a:r>
          </a:p>
          <a:p>
            <a:pPr marL="430530" marR="2156460" indent="-239395">
              <a:lnSpc>
                <a:spcPct val="101499"/>
              </a:lnSpc>
            </a:pPr>
            <a:r>
              <a:rPr lang="en-IN" sz="500" b="0" dirty="0">
                <a:solidFill>
                  <a:srgbClr val="0070C0"/>
                </a:solidFill>
              </a:rPr>
              <a:t>     for  (k =  0;  k  &lt;  n;  k++)  {        </a:t>
            </a:r>
          </a:p>
          <a:p>
            <a:pPr marL="430530" marR="2156460" indent="-239395">
              <a:lnSpc>
                <a:spcPct val="101499"/>
              </a:lnSpc>
            </a:pPr>
            <a:r>
              <a:rPr lang="en-IN" sz="500" b="0" dirty="0">
                <a:solidFill>
                  <a:srgbClr val="0070C0"/>
                </a:solidFill>
              </a:rPr>
              <a:t>              while  (choosing[k]) ;</a:t>
            </a: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</a:t>
            </a:r>
            <a:r>
              <a:rPr lang="en-IN" sz="500" b="0" dirty="0" smtClean="0">
                <a:solidFill>
                  <a:srgbClr val="0070C0"/>
                </a:solidFill>
              </a:rPr>
              <a:t>while  </a:t>
            </a:r>
            <a:r>
              <a:rPr lang="en-IN" sz="500" b="0" dirty="0">
                <a:solidFill>
                  <a:srgbClr val="0070C0"/>
                </a:solidFill>
              </a:rPr>
              <a:t>((number[k]  !=  0)  &amp;&amp;  (number[k],k  &lt;  number[</a:t>
            </a:r>
            <a:r>
              <a:rPr lang="en-IN" sz="500" b="0" dirty="0" err="1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],</a:t>
            </a:r>
            <a:r>
              <a:rPr lang="en-IN" sz="500" b="0" dirty="0" err="1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))  ;</a:t>
            </a:r>
          </a:p>
          <a:p>
            <a:pPr marL="430530">
              <a:lnSpc>
                <a:spcPct val="100000"/>
              </a:lnSpc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}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 smtClean="0"/>
              <a:t>     S</a:t>
            </a:r>
            <a:r>
              <a:rPr lang="en-US" sz="500" b="0" dirty="0"/>
              <a:t>++;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 smtClean="0">
                <a:solidFill>
                  <a:srgbClr val="0070C0"/>
                </a:solidFill>
              </a:rPr>
              <a:t>     number[</a:t>
            </a:r>
            <a:r>
              <a:rPr lang="en-IN" sz="500" b="0" dirty="0" err="1" smtClean="0">
                <a:solidFill>
                  <a:srgbClr val="0070C0"/>
                </a:solidFill>
              </a:rPr>
              <a:t>i</a:t>
            </a:r>
            <a:r>
              <a:rPr lang="en-IN" sz="500" b="0" dirty="0">
                <a:solidFill>
                  <a:srgbClr val="0070C0"/>
                </a:solidFill>
              </a:rPr>
              <a:t>]  =  0</a:t>
            </a:r>
            <a:r>
              <a:rPr lang="en-IN" sz="500" b="0" dirty="0" smtClean="0">
                <a:solidFill>
                  <a:srgbClr val="0070C0"/>
                </a:solidFill>
              </a:rPr>
              <a:t>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 smtClean="0"/>
              <a:t>}</a:t>
            </a:r>
            <a:endParaRPr lang="en-US" sz="500" b="0" dirty="0"/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2000250" y="1006973"/>
            <a:ext cx="4488543" cy="24268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1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91770">
              <a:spcBef>
                <a:spcPts val="15"/>
              </a:spcBef>
            </a:pPr>
            <a:r>
              <a:rPr lang="en-US" sz="500" b="0" kern="0" dirty="0" smtClean="0"/>
              <a:t>wait (S)</a:t>
            </a:r>
            <a:r>
              <a:rPr lang="en-IN" sz="500" kern="0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{</a:t>
            </a:r>
          </a:p>
          <a:p>
            <a:pPr marL="191770">
              <a:spcBef>
                <a:spcPts val="15"/>
              </a:spcBef>
            </a:pPr>
            <a:r>
              <a:rPr lang="en-IN" sz="500" b="0" dirty="0" smtClean="0">
                <a:solidFill>
                  <a:srgbClr val="0070C0"/>
                </a:solidFill>
              </a:rPr>
              <a:t>    choosing[j</a:t>
            </a:r>
            <a:r>
              <a:rPr lang="en-IN" sz="500" b="0" dirty="0">
                <a:solidFill>
                  <a:srgbClr val="0070C0"/>
                </a:solidFill>
              </a:rPr>
              <a:t>]  =  1; </a:t>
            </a:r>
          </a:p>
          <a:p>
            <a:pPr marL="191770"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number[j]  =  MAX(number[0],  number[1],  ...,  number[n-1])  +  1;    </a:t>
            </a:r>
          </a:p>
          <a:p>
            <a:pPr marL="191770"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</a:t>
            </a:r>
            <a:r>
              <a:rPr lang="en-IN" sz="500" b="0" dirty="0" smtClean="0">
                <a:solidFill>
                  <a:srgbClr val="0070C0"/>
                </a:solidFill>
              </a:rPr>
              <a:t>choosing[j]  </a:t>
            </a:r>
            <a:r>
              <a:rPr lang="en-IN" sz="500" b="0" dirty="0">
                <a:solidFill>
                  <a:srgbClr val="0070C0"/>
                </a:solidFill>
              </a:rPr>
              <a:t>=  0; </a:t>
            </a:r>
          </a:p>
          <a:p>
            <a:pPr marL="430530" marR="2156460" indent="-239395">
              <a:lnSpc>
                <a:spcPct val="101499"/>
              </a:lnSpc>
            </a:pPr>
            <a:r>
              <a:rPr lang="en-IN" sz="500" b="0" dirty="0">
                <a:solidFill>
                  <a:srgbClr val="0070C0"/>
                </a:solidFill>
              </a:rPr>
              <a:t>     for  (k  =  0;  k  &lt;  n;  k++)  {        </a:t>
            </a:r>
          </a:p>
          <a:p>
            <a:pPr marL="430530" marR="2156460" indent="-239395">
              <a:lnSpc>
                <a:spcPct val="101499"/>
              </a:lnSpc>
            </a:pPr>
            <a:r>
              <a:rPr lang="en-IN" sz="500" b="0" dirty="0">
                <a:solidFill>
                  <a:srgbClr val="0070C0"/>
                </a:solidFill>
              </a:rPr>
              <a:t>              while  (choosing[k]) ;</a:t>
            </a:r>
          </a:p>
          <a:p>
            <a:pPr marL="430530"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 while  ((number[k]  !=  0)  &amp;&amp;  (number[k],k  &lt;  number[j],j))  ;</a:t>
            </a:r>
          </a:p>
          <a:p>
            <a:pPr marL="430530"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}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 </a:t>
            </a:r>
            <a:r>
              <a:rPr lang="en-US" sz="500" b="0" kern="0" dirty="0" smtClean="0"/>
              <a:t>while </a:t>
            </a:r>
            <a:r>
              <a:rPr lang="en-US" sz="500" b="0" kern="0" dirty="0"/>
              <a:t>(S&lt;= 0);	</a:t>
            </a:r>
            <a:endParaRPr lang="en-IN" sz="500" b="0" dirty="0" smtClean="0">
              <a:solidFill>
                <a:srgbClr val="0070C0"/>
              </a:solidFill>
            </a:endParaRP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>
                <a:solidFill>
                  <a:srgbClr val="0070C0"/>
                </a:solidFill>
              </a:rPr>
              <a:t> </a:t>
            </a:r>
            <a:r>
              <a:rPr lang="en-IN" sz="500" b="0" dirty="0" smtClean="0">
                <a:solidFill>
                  <a:srgbClr val="0070C0"/>
                </a:solidFill>
              </a:rPr>
              <a:t>     </a:t>
            </a:r>
            <a:r>
              <a:rPr lang="en-IN" sz="500" b="0" dirty="0" smtClean="0"/>
              <a:t>S-</a:t>
            </a:r>
            <a:r>
              <a:rPr lang="en-IN" sz="500" b="0" dirty="0"/>
              <a:t>-; / *CS for S */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</a:t>
            </a:r>
            <a:r>
              <a:rPr lang="en-IN" sz="500" b="0" dirty="0" smtClean="0">
                <a:solidFill>
                  <a:srgbClr val="0070C0"/>
                </a:solidFill>
              </a:rPr>
              <a:t>   number[j</a:t>
            </a:r>
            <a:r>
              <a:rPr lang="en-IN" sz="500" b="0" dirty="0">
                <a:solidFill>
                  <a:srgbClr val="0070C0"/>
                </a:solidFill>
              </a:rPr>
              <a:t>]  =  0;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kern="0" spc="114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}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500" kern="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signal (S) {</a:t>
            </a:r>
          </a:p>
          <a:p>
            <a:pPr marL="191770">
              <a:spcBef>
                <a:spcPts val="15"/>
              </a:spcBef>
            </a:pPr>
            <a:r>
              <a:rPr lang="en-IN" sz="500" b="0" dirty="0" smtClean="0">
                <a:solidFill>
                  <a:srgbClr val="0070C0"/>
                </a:solidFill>
              </a:rPr>
              <a:t>     choosing[j</a:t>
            </a:r>
            <a:r>
              <a:rPr lang="en-IN" sz="500" b="0" dirty="0">
                <a:solidFill>
                  <a:srgbClr val="0070C0"/>
                </a:solidFill>
              </a:rPr>
              <a:t>]  =  1; </a:t>
            </a:r>
          </a:p>
          <a:p>
            <a:pPr marL="191770"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number[j]  =  MAX(number[0],  number[1],  ...,  number[n-1])  +  1;    </a:t>
            </a:r>
          </a:p>
          <a:p>
            <a:pPr marL="191770"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    choosing[j]  =  0; </a:t>
            </a:r>
          </a:p>
          <a:p>
            <a:pPr marL="430530" marR="2156460" indent="-239395">
              <a:lnSpc>
                <a:spcPct val="101499"/>
              </a:lnSpc>
            </a:pPr>
            <a:r>
              <a:rPr lang="en-IN" sz="500" b="0" dirty="0">
                <a:solidFill>
                  <a:srgbClr val="0070C0"/>
                </a:solidFill>
              </a:rPr>
              <a:t>     for  (k  =  0;  k  &lt;  n;  k++)  {        </a:t>
            </a:r>
          </a:p>
          <a:p>
            <a:pPr marL="430530" marR="2156460" indent="-239395">
              <a:lnSpc>
                <a:spcPct val="101499"/>
              </a:lnSpc>
            </a:pPr>
            <a:r>
              <a:rPr lang="en-IN" sz="500" b="0" dirty="0">
                <a:solidFill>
                  <a:srgbClr val="0070C0"/>
                </a:solidFill>
              </a:rPr>
              <a:t>              while  (choosing[k]) ;</a:t>
            </a:r>
          </a:p>
          <a:p>
            <a:pPr marL="430530"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 </a:t>
            </a:r>
            <a:r>
              <a:rPr lang="en-IN" sz="500" b="0" dirty="0" smtClean="0">
                <a:solidFill>
                  <a:srgbClr val="0070C0"/>
                </a:solidFill>
              </a:rPr>
              <a:t>while  </a:t>
            </a:r>
            <a:r>
              <a:rPr lang="en-IN" sz="500" b="0" dirty="0">
                <a:solidFill>
                  <a:srgbClr val="0070C0"/>
                </a:solidFill>
              </a:rPr>
              <a:t>((number[k]  !=  0)  &amp;&amp;  (number[k],k  &lt;  number[j],j))  ;</a:t>
            </a:r>
          </a:p>
          <a:p>
            <a:pPr marL="430530">
              <a:spcBef>
                <a:spcPts val="15"/>
              </a:spcBef>
            </a:pPr>
            <a:r>
              <a:rPr lang="en-IN" sz="500" b="0" dirty="0">
                <a:solidFill>
                  <a:srgbClr val="0070C0"/>
                </a:solidFill>
              </a:rPr>
              <a:t>}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 smtClean="0"/>
              <a:t>     S</a:t>
            </a:r>
            <a:r>
              <a:rPr lang="en-US" sz="500" b="0" dirty="0"/>
              <a:t>++;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 smtClean="0">
                <a:solidFill>
                  <a:srgbClr val="0070C0"/>
                </a:solidFill>
              </a:rPr>
              <a:t>     number[j</a:t>
            </a:r>
            <a:r>
              <a:rPr lang="en-IN" sz="500" b="0" dirty="0">
                <a:solidFill>
                  <a:srgbClr val="0070C0"/>
                </a:solidFill>
              </a:rPr>
              <a:t>]  =  0;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 smtClean="0"/>
              <a:t>}</a:t>
            </a:r>
            <a:endParaRPr lang="en-US" sz="500" b="0" dirty="0"/>
          </a:p>
        </p:txBody>
      </p:sp>
      <p:cxnSp>
        <p:nvCxnSpPr>
          <p:cNvPr id="16" name="Straight Connector 15"/>
          <p:cNvCxnSpPr>
            <a:endCxn id="3" idx="2"/>
          </p:cNvCxnSpPr>
          <p:nvPr/>
        </p:nvCxnSpPr>
        <p:spPr>
          <a:xfrm flipH="1">
            <a:off x="2110922" y="885361"/>
            <a:ext cx="13882" cy="25488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-57150" y="336673"/>
            <a:ext cx="2305050" cy="5995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lang="en-US" sz="700" u="sng" dirty="0"/>
              <a:t>Code for P[</a:t>
            </a:r>
            <a:r>
              <a:rPr lang="en-US" sz="700" u="sng" dirty="0" err="1"/>
              <a:t>i</a:t>
            </a:r>
            <a:r>
              <a:rPr lang="en-US" sz="700" u="sng" dirty="0"/>
              <a:t>]:</a:t>
            </a:r>
          </a:p>
          <a:p>
            <a:pPr marL="12700" marR="5080">
              <a:lnSpc>
                <a:spcPct val="102699"/>
              </a:lnSpc>
            </a:pPr>
            <a:r>
              <a:rPr lang="en-US" sz="800" i="1" spc="-55" dirty="0" smtClean="0">
                <a:latin typeface="Trebuchet MS"/>
                <a:cs typeface="Trebuchet MS"/>
              </a:rPr>
              <a:t>wait</a:t>
            </a:r>
            <a:r>
              <a:rPr lang="en-US" sz="800" i="1" spc="-229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 </a:t>
            </a:r>
          </a:p>
          <a:p>
            <a:pPr marL="12700" marR="5080">
              <a:lnSpc>
                <a:spcPct val="102699"/>
              </a:lnSpc>
            </a:pPr>
            <a:r>
              <a:rPr lang="en-US" sz="800" i="1" spc="-5" dirty="0">
                <a:latin typeface="Arial"/>
                <a:cs typeface="Arial"/>
              </a:rPr>
              <a:t>     </a:t>
            </a:r>
            <a:r>
              <a:rPr lang="en-US" sz="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  <a:endParaRPr lang="en-US" sz="5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700" marR="5080">
              <a:lnSpc>
                <a:spcPct val="102699"/>
              </a:lnSpc>
            </a:pPr>
            <a:r>
              <a:rPr lang="en-US" sz="800" i="1" spc="-25" dirty="0" smtClean="0">
                <a:latin typeface="Trebuchet MS"/>
                <a:cs typeface="Trebuchet MS"/>
              </a:rPr>
              <a:t>signal</a:t>
            </a:r>
            <a:r>
              <a:rPr lang="en-US" sz="800" i="1" spc="-225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</a:t>
            </a:r>
            <a:endParaRPr lang="en-US" sz="800" dirty="0">
              <a:latin typeface="Arial"/>
              <a:cs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38865" y="316860"/>
            <a:ext cx="2305050" cy="6154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lang="en-US" sz="800" u="sng" dirty="0"/>
              <a:t>Code for </a:t>
            </a:r>
            <a:r>
              <a:rPr lang="en-US" sz="800" u="sng" dirty="0" smtClean="0"/>
              <a:t>P[</a:t>
            </a:r>
            <a:r>
              <a:rPr lang="en-US" sz="800" u="sng" dirty="0"/>
              <a:t>j</a:t>
            </a:r>
            <a:r>
              <a:rPr lang="en-US" sz="800" u="sng" dirty="0" smtClean="0"/>
              <a:t>]:</a:t>
            </a:r>
            <a:endParaRPr lang="en-US" sz="800" u="sng" dirty="0"/>
          </a:p>
          <a:p>
            <a:pPr marL="12700" marR="5080">
              <a:lnSpc>
                <a:spcPct val="102699"/>
              </a:lnSpc>
            </a:pPr>
            <a:r>
              <a:rPr lang="en-US" sz="800" i="1" spc="-55" dirty="0" smtClean="0">
                <a:latin typeface="Trebuchet MS"/>
                <a:cs typeface="Trebuchet MS"/>
              </a:rPr>
              <a:t>wait</a:t>
            </a:r>
            <a:r>
              <a:rPr lang="en-US" sz="800" i="1" spc="-229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 </a:t>
            </a:r>
          </a:p>
          <a:p>
            <a:pPr marL="12700" marR="5080">
              <a:lnSpc>
                <a:spcPct val="102699"/>
              </a:lnSpc>
            </a:pPr>
            <a:r>
              <a:rPr lang="en-US" sz="800" i="1" spc="-5" dirty="0">
                <a:latin typeface="Arial"/>
                <a:cs typeface="Arial"/>
              </a:rPr>
              <a:t>      </a:t>
            </a:r>
            <a:r>
              <a:rPr lang="en-US" sz="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  <a:endParaRPr lang="en-US" sz="5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700" marR="5080">
              <a:lnSpc>
                <a:spcPct val="102699"/>
              </a:lnSpc>
            </a:pPr>
            <a:r>
              <a:rPr lang="en-US" sz="800" i="1" spc="-25" dirty="0" smtClean="0">
                <a:latin typeface="Trebuchet MS"/>
                <a:cs typeface="Trebuchet MS"/>
              </a:rPr>
              <a:t>signal</a:t>
            </a:r>
            <a:r>
              <a:rPr lang="en-US" sz="800" i="1" spc="-225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</a:t>
            </a:r>
            <a:endParaRPr lang="en-US" sz="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2743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A second attempt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07" y="398794"/>
            <a:ext cx="4358386" cy="2092881"/>
          </a:xfrm>
        </p:spPr>
        <p:txBody>
          <a:bodyPr/>
          <a:lstStyle/>
          <a:p>
            <a:r>
              <a:rPr lang="en-US" sz="800" b="0" dirty="0" smtClean="0"/>
              <a:t>wait (S) { 			signal(S) {</a:t>
            </a:r>
          </a:p>
          <a:p>
            <a:r>
              <a:rPr lang="en-US" sz="800" b="0" dirty="0" smtClean="0"/>
              <a:t>   entry();		</a:t>
            </a:r>
          </a:p>
          <a:p>
            <a:r>
              <a:rPr lang="en-US" sz="800" b="0" dirty="0" smtClean="0"/>
              <a:t>   while </a:t>
            </a:r>
            <a:r>
              <a:rPr lang="en-US" sz="800" b="0" dirty="0"/>
              <a:t>(S&lt;= 0); </a:t>
            </a:r>
            <a:r>
              <a:rPr lang="en-US" sz="800" b="0" dirty="0" smtClean="0"/>
              <a:t>			    entry();</a:t>
            </a:r>
          </a:p>
          <a:p>
            <a:r>
              <a:rPr lang="en-US" sz="800" b="0" dirty="0"/>
              <a:t> </a:t>
            </a:r>
            <a:r>
              <a:rPr lang="en-US" sz="800" b="0" dirty="0" smtClean="0"/>
              <a:t>  S--;			     S++;</a:t>
            </a:r>
          </a:p>
          <a:p>
            <a:r>
              <a:rPr lang="en-US" sz="800" b="0" dirty="0"/>
              <a:t> </a:t>
            </a:r>
            <a:r>
              <a:rPr lang="en-US" sz="800" b="0" dirty="0" smtClean="0"/>
              <a:t>  exit();			    exit();</a:t>
            </a:r>
          </a:p>
          <a:p>
            <a:r>
              <a:rPr lang="en-US" sz="800" b="0" dirty="0" smtClean="0"/>
              <a:t>}			}</a:t>
            </a:r>
          </a:p>
          <a:p>
            <a:endParaRPr lang="en-US" sz="800" b="0" dirty="0"/>
          </a:p>
          <a:p>
            <a:endParaRPr lang="en-US" sz="800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0" dirty="0" smtClean="0"/>
              <a:t>P1 calls wait </a:t>
            </a:r>
            <a:r>
              <a:rPr lang="en-US" sz="800" b="0" dirty="0" smtClean="0">
                <a:sym typeface="Wingdings" panose="05000000000000000000" pitchFamily="2" charset="2"/>
              </a:rPr>
              <a:t> S is 1, nobody inside bakery, S &gt; 0, decrement S, S is now 0, P1</a:t>
            </a:r>
          </a:p>
          <a:p>
            <a:r>
              <a:rPr lang="en-US" sz="800" b="0" dirty="0">
                <a:sym typeface="Wingdings" panose="05000000000000000000" pitchFamily="2" charset="2"/>
              </a:rPr>
              <a:t>	</a:t>
            </a:r>
            <a:r>
              <a:rPr lang="en-US" sz="800" b="0" dirty="0" smtClean="0">
                <a:sym typeface="Wingdings" panose="05000000000000000000" pitchFamily="2" charset="2"/>
              </a:rPr>
              <a:t>exits bakery and does something else in application program’s 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0" dirty="0" smtClean="0"/>
              <a:t>P2 calls wait </a:t>
            </a:r>
            <a:r>
              <a:rPr lang="en-US" sz="800" b="0" dirty="0" smtClean="0">
                <a:sym typeface="Wingdings" panose="05000000000000000000" pitchFamily="2" charset="2"/>
              </a:rPr>
              <a:t> Enters bakery, </a:t>
            </a:r>
            <a:r>
              <a:rPr lang="en-US" sz="800" b="0" dirty="0">
                <a:sym typeface="Wingdings" panose="05000000000000000000" pitchFamily="2" charset="2"/>
              </a:rPr>
              <a:t>finds S as 0, </a:t>
            </a:r>
            <a:r>
              <a:rPr lang="en-US" sz="800" b="0" dirty="0" smtClean="0">
                <a:sym typeface="Wingdings" panose="05000000000000000000" pitchFamily="2" charset="2"/>
              </a:rPr>
              <a:t>gets stuck in while (S &lt;= 0)</a:t>
            </a:r>
            <a:endParaRPr lang="en-US" sz="800" b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0" dirty="0" smtClean="0"/>
              <a:t>P1 calls signal </a:t>
            </a:r>
            <a:r>
              <a:rPr lang="en-US" sz="800" b="0" dirty="0" smtClean="0">
                <a:sym typeface="Wingdings" panose="05000000000000000000" pitchFamily="2" charset="2"/>
              </a:rPr>
              <a:t> Cannot enter bakery since P2 is stuck, P1 stuck at entry(), cannot execute S++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0" dirty="0" smtClean="0">
              <a:sym typeface="Wingdings" panose="05000000000000000000" pitchFamily="2" charset="2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800" b="0" dirty="0" smtClean="0">
                <a:sym typeface="Wingdings" panose="05000000000000000000" pitchFamily="2" charset="2"/>
              </a:rPr>
              <a:t>Everything gets stalled, no progress!!</a:t>
            </a:r>
            <a:endParaRPr lang="en-IN" sz="800" b="0" dirty="0"/>
          </a:p>
        </p:txBody>
      </p:sp>
    </p:spTree>
    <p:extLst>
      <p:ext uri="{BB962C8B-B14F-4D97-AF65-F5344CB8AC3E}">
        <p14:creationId xmlns:p14="http://schemas.microsoft.com/office/powerpoint/2010/main" val="4252146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/>
              <a:t>A third attempt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07" y="398794"/>
            <a:ext cx="4358386" cy="2708434"/>
          </a:xfrm>
        </p:spPr>
        <p:txBody>
          <a:bodyPr/>
          <a:lstStyle/>
          <a:p>
            <a:r>
              <a:rPr lang="en-US" sz="800" b="0" dirty="0" smtClean="0"/>
              <a:t>Putting everything inside the same bakery entry and exit does not work </a:t>
            </a:r>
          </a:p>
          <a:p>
            <a:endParaRPr lang="en-US" sz="800" b="0" dirty="0" smtClean="0"/>
          </a:p>
          <a:p>
            <a:r>
              <a:rPr lang="en-US" sz="800" b="0" dirty="0" smtClean="0"/>
              <a:t>Need 2 separate bakeries, 1 to increment and decrement S atomically, another to ensure whoever does the while, also does S– atomically </a:t>
            </a:r>
            <a:endParaRPr lang="en-US" sz="800" b="0" i="1" dirty="0"/>
          </a:p>
          <a:p>
            <a:endParaRPr lang="en-US" sz="800" b="0" i="1" dirty="0" smtClean="0"/>
          </a:p>
          <a:p>
            <a:r>
              <a:rPr lang="en-US" sz="800" b="0" i="1" dirty="0" smtClean="0"/>
              <a:t>2 separate arrays, choosing1, number1 for 1st bakery, and choosing2, number2 for 2nd</a:t>
            </a:r>
          </a:p>
          <a:p>
            <a:endParaRPr lang="en-US" sz="800" b="0" dirty="0"/>
          </a:p>
          <a:p>
            <a:r>
              <a:rPr lang="en-US" sz="800" b="0" dirty="0" smtClean="0"/>
              <a:t>Never </a:t>
            </a:r>
            <a:r>
              <a:rPr lang="en-US" sz="800" b="0" u="sng" dirty="0" smtClean="0"/>
              <a:t>2 processes in the same </a:t>
            </a:r>
            <a:r>
              <a:rPr lang="en-US" sz="800" b="0" dirty="0" smtClean="0"/>
              <a:t>bakery, may be in separate bakeries</a:t>
            </a:r>
            <a:endParaRPr lang="en-US" sz="800" b="0" dirty="0"/>
          </a:p>
          <a:p>
            <a:endParaRPr lang="en-US" sz="800" b="0" dirty="0" smtClean="0"/>
          </a:p>
          <a:p>
            <a:r>
              <a:rPr lang="en-US" sz="800" b="0" dirty="0" smtClean="0"/>
              <a:t>wait (S) { 			signal(S) {</a:t>
            </a:r>
          </a:p>
          <a:p>
            <a:r>
              <a:rPr lang="en-US" sz="800" b="0" dirty="0" smtClean="0"/>
              <a:t>   </a:t>
            </a:r>
            <a:r>
              <a:rPr lang="en-US" sz="800" b="0" dirty="0" smtClean="0">
                <a:solidFill>
                  <a:srgbClr val="FF0000"/>
                </a:solidFill>
              </a:rPr>
              <a:t>entry1();</a:t>
            </a:r>
            <a:r>
              <a:rPr lang="en-US" sz="800" b="0" dirty="0" smtClean="0"/>
              <a:t>		</a:t>
            </a:r>
          </a:p>
          <a:p>
            <a:r>
              <a:rPr lang="en-US" sz="800" b="0" dirty="0" smtClean="0"/>
              <a:t>   while </a:t>
            </a:r>
            <a:r>
              <a:rPr lang="en-US" sz="800" b="0" dirty="0"/>
              <a:t>(S&lt;= 0); </a:t>
            </a:r>
            <a:r>
              <a:rPr lang="en-US" sz="800" b="0" dirty="0" smtClean="0"/>
              <a:t>			    </a:t>
            </a:r>
            <a:r>
              <a:rPr lang="en-US" sz="800" b="0" dirty="0" smtClean="0">
                <a:solidFill>
                  <a:srgbClr val="00B050"/>
                </a:solidFill>
              </a:rPr>
              <a:t>entry2();</a:t>
            </a:r>
          </a:p>
          <a:p>
            <a:r>
              <a:rPr lang="en-US" sz="800" b="0" dirty="0"/>
              <a:t> </a:t>
            </a:r>
            <a:r>
              <a:rPr lang="en-US" sz="800" b="0" dirty="0" smtClean="0"/>
              <a:t>  </a:t>
            </a:r>
            <a:r>
              <a:rPr lang="en-US" sz="800" b="0" dirty="0" smtClean="0">
                <a:solidFill>
                  <a:srgbClr val="00B050"/>
                </a:solidFill>
              </a:rPr>
              <a:t>entry2();</a:t>
            </a:r>
          </a:p>
          <a:p>
            <a:r>
              <a:rPr lang="en-US" sz="800" b="0" dirty="0"/>
              <a:t> </a:t>
            </a:r>
            <a:r>
              <a:rPr lang="en-US" sz="800" b="0" dirty="0" smtClean="0"/>
              <a:t>  S--;			    S++;</a:t>
            </a:r>
          </a:p>
          <a:p>
            <a:r>
              <a:rPr lang="en-US" sz="800" b="0" dirty="0"/>
              <a:t> </a:t>
            </a:r>
            <a:r>
              <a:rPr lang="en-US" sz="800" b="0" dirty="0" smtClean="0"/>
              <a:t>  </a:t>
            </a:r>
            <a:r>
              <a:rPr lang="en-US" sz="800" b="0" dirty="0" smtClean="0">
                <a:solidFill>
                  <a:srgbClr val="00B050"/>
                </a:solidFill>
              </a:rPr>
              <a:t>exit2();</a:t>
            </a:r>
          </a:p>
          <a:p>
            <a:r>
              <a:rPr lang="en-US" sz="800" b="0" dirty="0" smtClean="0"/>
              <a:t>   </a:t>
            </a:r>
            <a:r>
              <a:rPr lang="en-US" sz="800" b="0" dirty="0" smtClean="0">
                <a:solidFill>
                  <a:srgbClr val="FF0000"/>
                </a:solidFill>
              </a:rPr>
              <a:t>exit1();</a:t>
            </a:r>
            <a:r>
              <a:rPr lang="en-US" sz="800" b="0" dirty="0" smtClean="0"/>
              <a:t>			    </a:t>
            </a:r>
            <a:r>
              <a:rPr lang="en-US" sz="800" b="0" dirty="0" smtClean="0">
                <a:solidFill>
                  <a:srgbClr val="00B050"/>
                </a:solidFill>
              </a:rPr>
              <a:t>exit2();</a:t>
            </a:r>
          </a:p>
          <a:p>
            <a:r>
              <a:rPr lang="en-US" sz="800" b="0" dirty="0" smtClean="0"/>
              <a:t>}			}</a:t>
            </a:r>
          </a:p>
          <a:p>
            <a:endParaRPr lang="en-US" sz="800" b="0" dirty="0" smtClean="0"/>
          </a:p>
          <a:p>
            <a:r>
              <a:rPr lang="en-US" sz="700" b="0" dirty="0" smtClean="0"/>
              <a:t>	                               </a:t>
            </a:r>
            <a:r>
              <a:rPr lang="en-US" sz="800" b="0" u="sng" dirty="0" smtClean="0"/>
              <a:t>Application P[</a:t>
            </a:r>
            <a:r>
              <a:rPr lang="en-US" sz="800" b="0" u="sng" dirty="0" err="1" smtClean="0"/>
              <a:t>i</a:t>
            </a:r>
            <a:r>
              <a:rPr lang="en-US" sz="800" b="0" u="sng" dirty="0" smtClean="0"/>
              <a:t>]</a:t>
            </a:r>
          </a:p>
          <a:p>
            <a:r>
              <a:rPr lang="en-US" sz="800" b="0" dirty="0"/>
              <a:t>		</a:t>
            </a:r>
            <a:r>
              <a:rPr lang="en-US" sz="800" b="0" dirty="0" smtClean="0"/>
              <a:t>wait (S);</a:t>
            </a:r>
          </a:p>
          <a:p>
            <a:r>
              <a:rPr lang="en-US" sz="800" b="0" dirty="0"/>
              <a:t>	</a:t>
            </a:r>
            <a:r>
              <a:rPr lang="en-US" sz="800" b="0" dirty="0" smtClean="0"/>
              <a:t>	CS /*Application */</a:t>
            </a:r>
          </a:p>
          <a:p>
            <a:r>
              <a:rPr lang="en-US" sz="800" b="0" dirty="0"/>
              <a:t>	</a:t>
            </a:r>
            <a:r>
              <a:rPr lang="en-US" sz="800" b="0" dirty="0" smtClean="0"/>
              <a:t>	signal (S);</a:t>
            </a:r>
            <a:endParaRPr lang="en-US" sz="800" b="0" dirty="0"/>
          </a:p>
        </p:txBody>
      </p:sp>
    </p:spTree>
    <p:extLst>
      <p:ext uri="{BB962C8B-B14F-4D97-AF65-F5344CB8AC3E}">
        <p14:creationId xmlns:p14="http://schemas.microsoft.com/office/powerpoint/2010/main" val="4159666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A third attempt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133350" y="892175"/>
            <a:ext cx="4488543" cy="1877437"/>
          </a:xfrm>
        </p:spPr>
        <p:txBody>
          <a:bodyPr/>
          <a:lstStyle/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US" sz="500" b="0" dirty="0" smtClean="0"/>
              <a:t>wait </a:t>
            </a:r>
            <a:r>
              <a:rPr lang="en-US" sz="500" b="0" dirty="0"/>
              <a:t>(S)</a:t>
            </a:r>
            <a:r>
              <a:rPr lang="en-IN" sz="500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{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IN" sz="500" b="0" dirty="0" smtClean="0">
                <a:solidFill>
                  <a:srgbClr val="0070C0"/>
                </a:solidFill>
              </a:rPr>
              <a:t>     </a:t>
            </a:r>
            <a:r>
              <a:rPr lang="en-US" sz="700" b="0" dirty="0" smtClean="0">
                <a:solidFill>
                  <a:srgbClr val="FF0000"/>
                </a:solidFill>
              </a:rPr>
              <a:t>entry1</a:t>
            </a:r>
            <a:r>
              <a:rPr lang="en-US" sz="700" b="0" dirty="0">
                <a:solidFill>
                  <a:srgbClr val="FF0000"/>
                </a:solidFill>
              </a:rPr>
              <a:t>(); </a:t>
            </a:r>
            <a:r>
              <a:rPr lang="en-US" sz="500" b="0" dirty="0"/>
              <a:t>	</a:t>
            </a:r>
            <a:r>
              <a:rPr lang="en-IN" sz="500" b="0" dirty="0" smtClean="0">
                <a:solidFill>
                  <a:srgbClr val="0070C0"/>
                </a:solidFill>
              </a:rPr>
              <a:t> 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>
                <a:solidFill>
                  <a:srgbClr val="0070C0"/>
                </a:solidFill>
              </a:rPr>
              <a:t> </a:t>
            </a:r>
            <a:r>
              <a:rPr lang="en-IN" sz="500" b="0" dirty="0" smtClean="0">
                <a:solidFill>
                  <a:srgbClr val="0070C0"/>
                </a:solidFill>
              </a:rPr>
              <a:t>    </a:t>
            </a:r>
            <a:r>
              <a:rPr lang="en-US" sz="700" b="0" dirty="0" smtClean="0"/>
              <a:t>while </a:t>
            </a:r>
            <a:r>
              <a:rPr lang="en-US" sz="700" b="0" dirty="0"/>
              <a:t>(S&lt;= 0);</a:t>
            </a:r>
            <a:endParaRPr lang="en-IN" sz="500" b="0" dirty="0" smtClean="0">
              <a:solidFill>
                <a:srgbClr val="0070C0"/>
              </a:solidFill>
            </a:endParaRP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 smtClean="0"/>
              <a:t>     </a:t>
            </a:r>
            <a:r>
              <a:rPr lang="en-US" sz="700" b="0" dirty="0" smtClean="0">
                <a:solidFill>
                  <a:srgbClr val="00B050"/>
                </a:solidFill>
              </a:rPr>
              <a:t>entry2</a:t>
            </a:r>
            <a:r>
              <a:rPr lang="en-US" sz="700" b="0" dirty="0">
                <a:solidFill>
                  <a:srgbClr val="00B050"/>
                </a:solidFill>
              </a:rPr>
              <a:t>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600" b="0" dirty="0" smtClean="0"/>
              <a:t>     S-</a:t>
            </a:r>
            <a:r>
              <a:rPr lang="en-IN" sz="600" b="0" dirty="0"/>
              <a:t>-; </a:t>
            </a:r>
            <a:r>
              <a:rPr lang="en-IN" sz="600" b="0" dirty="0" smtClean="0"/>
              <a:t>/ *CS for S */</a:t>
            </a:r>
            <a:endParaRPr lang="en-IN" sz="600" b="0" dirty="0"/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spc="13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lang="en-IN" sz="500" b="0" spc="130" dirty="0" smtClean="0">
                <a:solidFill>
                  <a:srgbClr val="0070C0"/>
                </a:solidFill>
                <a:latin typeface="Times New Roman"/>
                <a:cs typeface="Times New Roman"/>
              </a:rPr>
              <a:t>  </a:t>
            </a:r>
            <a:r>
              <a:rPr lang="en-US" sz="700" b="0" dirty="0">
                <a:solidFill>
                  <a:srgbClr val="00B050"/>
                </a:solidFill>
              </a:rPr>
              <a:t>exit2();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 smtClean="0">
                <a:solidFill>
                  <a:srgbClr val="0070C0"/>
                </a:solidFill>
              </a:rPr>
              <a:t>     </a:t>
            </a:r>
            <a:r>
              <a:rPr lang="en-US" sz="700" b="0" dirty="0" smtClean="0">
                <a:solidFill>
                  <a:srgbClr val="FF0000"/>
                </a:solidFill>
              </a:rPr>
              <a:t>exit1</a:t>
            </a:r>
            <a:r>
              <a:rPr lang="en-US" sz="700" b="0" dirty="0">
                <a:solidFill>
                  <a:srgbClr val="FF0000"/>
                </a:solidFill>
              </a:rPr>
              <a:t>();</a:t>
            </a:r>
            <a:endParaRPr lang="en-IN" sz="500" b="0" dirty="0">
              <a:solidFill>
                <a:srgbClr val="0070C0"/>
              </a:solidFill>
            </a:endParaRP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spc="114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}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5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signal (S) {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 smtClean="0">
                <a:solidFill>
                  <a:srgbClr val="0070C0"/>
                </a:solidFill>
              </a:rPr>
              <a:t>     </a:t>
            </a:r>
            <a:r>
              <a:rPr lang="en-US" sz="600" b="0" dirty="0">
                <a:solidFill>
                  <a:srgbClr val="00B050"/>
                </a:solidFill>
              </a:rPr>
              <a:t>entry2();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/>
              <a:t>     </a:t>
            </a:r>
            <a:r>
              <a:rPr lang="en-IN" sz="500" b="0" dirty="0" smtClean="0"/>
              <a:t>S++; </a:t>
            </a:r>
            <a:r>
              <a:rPr lang="en-IN" sz="500" b="0" dirty="0"/>
              <a:t>/ *CS for S */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400" b="0" spc="130" dirty="0">
                <a:solidFill>
                  <a:srgbClr val="0070C0"/>
                </a:solidFill>
                <a:latin typeface="Times New Roman"/>
                <a:cs typeface="Times New Roman"/>
              </a:rPr>
              <a:t>   </a:t>
            </a:r>
            <a:r>
              <a:rPr lang="en-US" sz="600" b="0" dirty="0">
                <a:solidFill>
                  <a:srgbClr val="00B050"/>
                </a:solidFill>
              </a:rPr>
              <a:t>exit2();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 smtClean="0"/>
              <a:t>}</a:t>
            </a:r>
            <a:endParaRPr lang="en-US" sz="500" b="0" dirty="0"/>
          </a:p>
        </p:txBody>
      </p:sp>
      <p:sp>
        <p:nvSpPr>
          <p:cNvPr id="8" name="Text Placeholder 2"/>
          <p:cNvSpPr txBox="1">
            <a:spLocks/>
          </p:cNvSpPr>
          <p:nvPr/>
        </p:nvSpPr>
        <p:spPr>
          <a:xfrm>
            <a:off x="2076450" y="907564"/>
            <a:ext cx="4488543" cy="18620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100" b="1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91770">
              <a:spcBef>
                <a:spcPts val="15"/>
              </a:spcBef>
            </a:pPr>
            <a:r>
              <a:rPr lang="en-US" sz="500" b="0" kern="0" dirty="0" smtClean="0"/>
              <a:t>wait (S)</a:t>
            </a:r>
            <a:r>
              <a:rPr lang="en-IN" sz="500" kern="0" spc="95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 {</a:t>
            </a:r>
          </a:p>
          <a:p>
            <a:pPr marL="191770">
              <a:lnSpc>
                <a:spcPct val="100000"/>
              </a:lnSpc>
              <a:spcBef>
                <a:spcPts val="15"/>
              </a:spcBef>
            </a:pPr>
            <a:r>
              <a:rPr lang="en-US" sz="600" b="0" dirty="0" smtClean="0">
                <a:solidFill>
                  <a:srgbClr val="FF0000"/>
                </a:solidFill>
              </a:rPr>
              <a:t>    entry1</a:t>
            </a:r>
            <a:r>
              <a:rPr lang="en-US" sz="600" b="0" dirty="0">
                <a:solidFill>
                  <a:srgbClr val="FF0000"/>
                </a:solidFill>
              </a:rPr>
              <a:t>(); </a:t>
            </a:r>
            <a:r>
              <a:rPr lang="en-US" sz="400" b="0" dirty="0"/>
              <a:t>	</a:t>
            </a:r>
            <a:r>
              <a:rPr lang="en-IN" sz="400" b="0" dirty="0">
                <a:solidFill>
                  <a:srgbClr val="0070C0"/>
                </a:solidFill>
              </a:rPr>
              <a:t> 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400" b="0" dirty="0">
                <a:solidFill>
                  <a:srgbClr val="0070C0"/>
                </a:solidFill>
              </a:rPr>
              <a:t>     </a:t>
            </a:r>
            <a:r>
              <a:rPr lang="en-IN" sz="400" b="0" dirty="0" smtClean="0">
                <a:solidFill>
                  <a:srgbClr val="0070C0"/>
                </a:solidFill>
              </a:rPr>
              <a:t> </a:t>
            </a:r>
            <a:r>
              <a:rPr lang="en-US" sz="600" b="0" dirty="0" smtClean="0"/>
              <a:t>while </a:t>
            </a:r>
            <a:r>
              <a:rPr lang="en-US" sz="600" b="0" dirty="0"/>
              <a:t>(S&lt;= 0);</a:t>
            </a:r>
            <a:endParaRPr lang="en-IN" sz="400" b="0" dirty="0">
              <a:solidFill>
                <a:srgbClr val="0070C0"/>
              </a:solidFill>
            </a:endParaRP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400" b="0" dirty="0"/>
              <a:t>     </a:t>
            </a:r>
            <a:r>
              <a:rPr lang="en-IN" sz="400" b="0" dirty="0" smtClean="0"/>
              <a:t> </a:t>
            </a:r>
            <a:r>
              <a:rPr lang="en-US" sz="600" b="0" dirty="0" smtClean="0">
                <a:solidFill>
                  <a:srgbClr val="00B050"/>
                </a:solidFill>
              </a:rPr>
              <a:t>entry2</a:t>
            </a:r>
            <a:r>
              <a:rPr lang="en-US" sz="600" b="0" dirty="0">
                <a:solidFill>
                  <a:srgbClr val="00B050"/>
                </a:solidFill>
              </a:rPr>
              <a:t>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/>
              <a:t>     S--; / *CS for S */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400" b="0" spc="130" dirty="0">
                <a:solidFill>
                  <a:srgbClr val="0070C0"/>
                </a:solidFill>
                <a:latin typeface="Times New Roman"/>
                <a:cs typeface="Times New Roman"/>
              </a:rPr>
              <a:t>   </a:t>
            </a:r>
            <a:r>
              <a:rPr lang="en-US" sz="600" b="0" dirty="0">
                <a:solidFill>
                  <a:srgbClr val="00B050"/>
                </a:solidFill>
              </a:rPr>
              <a:t>exit2();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400" b="0" dirty="0">
                <a:solidFill>
                  <a:srgbClr val="0070C0"/>
                </a:solidFill>
              </a:rPr>
              <a:t>     </a:t>
            </a:r>
            <a:r>
              <a:rPr lang="en-US" sz="600" b="0" dirty="0">
                <a:solidFill>
                  <a:srgbClr val="FF0000"/>
                </a:solidFill>
              </a:rPr>
              <a:t>exit1();</a:t>
            </a:r>
            <a:endParaRPr lang="en-IN" sz="400" b="0" dirty="0">
              <a:solidFill>
                <a:srgbClr val="0070C0"/>
              </a:solidFill>
            </a:endParaRP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kern="0" spc="114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/>
                <a:cs typeface="Times New Roman"/>
              </a:rPr>
              <a:t>}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kern="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500" kern="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/>
              <a:t>signal (S) {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600" b="0" dirty="0" smtClean="0">
                <a:solidFill>
                  <a:srgbClr val="00B050"/>
                </a:solidFill>
              </a:rPr>
              <a:t>    entry2</a:t>
            </a:r>
            <a:r>
              <a:rPr lang="en-US" sz="600" b="0" dirty="0">
                <a:solidFill>
                  <a:srgbClr val="00B050"/>
                </a:solidFill>
              </a:rPr>
              <a:t>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500" b="0" dirty="0"/>
              <a:t>     </a:t>
            </a:r>
            <a:r>
              <a:rPr lang="en-IN" sz="500" b="0" dirty="0" smtClean="0"/>
              <a:t>S++; </a:t>
            </a:r>
            <a:r>
              <a:rPr lang="en-IN" sz="500" b="0" dirty="0"/>
              <a:t>/ *CS for S */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IN" sz="400" b="0" spc="130" dirty="0">
                <a:solidFill>
                  <a:srgbClr val="0070C0"/>
                </a:solidFill>
                <a:latin typeface="Times New Roman"/>
                <a:cs typeface="Times New Roman"/>
              </a:rPr>
              <a:t>   </a:t>
            </a:r>
            <a:r>
              <a:rPr lang="en-US" sz="600" b="0" dirty="0">
                <a:solidFill>
                  <a:srgbClr val="00B050"/>
                </a:solidFill>
              </a:rPr>
              <a:t>exit2();</a:t>
            </a:r>
          </a:p>
          <a:p>
            <a:pPr marL="191770" marR="2515235">
              <a:lnSpc>
                <a:spcPts val="1100"/>
              </a:lnSpc>
              <a:spcBef>
                <a:spcPts val="35"/>
              </a:spcBef>
            </a:pPr>
            <a:r>
              <a:rPr lang="en-US" sz="500" b="0" dirty="0" smtClean="0"/>
              <a:t>}</a:t>
            </a:r>
            <a:endParaRPr lang="en-US" sz="500" b="0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2112750" y="770164"/>
            <a:ext cx="13882" cy="19994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-57150" y="336673"/>
            <a:ext cx="2305050" cy="5995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lang="en-US" sz="700" u="sng" dirty="0"/>
              <a:t>Code for P[</a:t>
            </a:r>
            <a:r>
              <a:rPr lang="en-US" sz="700" u="sng" dirty="0" err="1"/>
              <a:t>i</a:t>
            </a:r>
            <a:r>
              <a:rPr lang="en-US" sz="700" u="sng" dirty="0"/>
              <a:t>]:</a:t>
            </a:r>
          </a:p>
          <a:p>
            <a:pPr marL="12700" marR="5080">
              <a:lnSpc>
                <a:spcPct val="102699"/>
              </a:lnSpc>
            </a:pPr>
            <a:r>
              <a:rPr lang="en-US" sz="800" i="1" spc="-55" dirty="0" smtClean="0">
                <a:latin typeface="Trebuchet MS"/>
                <a:cs typeface="Trebuchet MS"/>
              </a:rPr>
              <a:t>wait</a:t>
            </a:r>
            <a:r>
              <a:rPr lang="en-US" sz="800" i="1" spc="-229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 </a:t>
            </a:r>
          </a:p>
          <a:p>
            <a:pPr marL="12700" marR="5080">
              <a:lnSpc>
                <a:spcPct val="102699"/>
              </a:lnSpc>
            </a:pPr>
            <a:r>
              <a:rPr lang="en-US" sz="800" i="1" spc="-5" dirty="0">
                <a:latin typeface="Arial"/>
                <a:cs typeface="Arial"/>
              </a:rPr>
              <a:t>     </a:t>
            </a:r>
            <a:r>
              <a:rPr lang="en-US" sz="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  <a:endParaRPr lang="en-US" sz="5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700" marR="5080">
              <a:lnSpc>
                <a:spcPct val="102699"/>
              </a:lnSpc>
            </a:pPr>
            <a:r>
              <a:rPr lang="en-US" sz="800" i="1" spc="-25" dirty="0" smtClean="0">
                <a:latin typeface="Trebuchet MS"/>
                <a:cs typeface="Trebuchet MS"/>
              </a:rPr>
              <a:t>signal</a:t>
            </a:r>
            <a:r>
              <a:rPr lang="en-US" sz="800" i="1" spc="-225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</a:t>
            </a:r>
            <a:endParaRPr lang="en-US" sz="800" dirty="0">
              <a:latin typeface="Arial"/>
              <a:cs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38865" y="316860"/>
            <a:ext cx="2305050" cy="6154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lang="en-US" sz="800" u="sng" dirty="0"/>
              <a:t>Code for </a:t>
            </a:r>
            <a:r>
              <a:rPr lang="en-US" sz="800" u="sng" dirty="0" smtClean="0"/>
              <a:t>P[</a:t>
            </a:r>
            <a:r>
              <a:rPr lang="en-US" sz="800" u="sng" dirty="0"/>
              <a:t>j</a:t>
            </a:r>
            <a:r>
              <a:rPr lang="en-US" sz="800" u="sng" dirty="0" smtClean="0"/>
              <a:t>]:</a:t>
            </a:r>
            <a:endParaRPr lang="en-US" sz="800" u="sng" dirty="0"/>
          </a:p>
          <a:p>
            <a:pPr marL="12700" marR="5080">
              <a:lnSpc>
                <a:spcPct val="102699"/>
              </a:lnSpc>
            </a:pPr>
            <a:r>
              <a:rPr lang="en-US" sz="800" i="1" spc="-55" dirty="0" smtClean="0">
                <a:latin typeface="Trebuchet MS"/>
                <a:cs typeface="Trebuchet MS"/>
              </a:rPr>
              <a:t>wait</a:t>
            </a:r>
            <a:r>
              <a:rPr lang="en-US" sz="800" i="1" spc="-229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 </a:t>
            </a:r>
          </a:p>
          <a:p>
            <a:pPr marL="12700" marR="5080">
              <a:lnSpc>
                <a:spcPct val="102699"/>
              </a:lnSpc>
            </a:pPr>
            <a:r>
              <a:rPr lang="en-US" sz="800" i="1" spc="-5" dirty="0">
                <a:latin typeface="Arial"/>
                <a:cs typeface="Arial"/>
              </a:rPr>
              <a:t>      </a:t>
            </a:r>
            <a:r>
              <a:rPr lang="en-US" sz="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  <a:endParaRPr lang="en-US" sz="5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700" marR="5080">
              <a:lnSpc>
                <a:spcPct val="102699"/>
              </a:lnSpc>
            </a:pPr>
            <a:r>
              <a:rPr lang="en-US" sz="800" i="1" spc="-25" dirty="0" smtClean="0">
                <a:latin typeface="Trebuchet MS"/>
                <a:cs typeface="Trebuchet MS"/>
              </a:rPr>
              <a:t>signal</a:t>
            </a:r>
            <a:r>
              <a:rPr lang="en-US" sz="800" i="1" spc="-225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</a:t>
            </a:r>
            <a:endParaRPr lang="en-US" sz="800" dirty="0">
              <a:latin typeface="Arial"/>
              <a:cs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9543" y="2784147"/>
            <a:ext cx="4384372" cy="7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/>
              <a:t>P1 calls wait() </a:t>
            </a:r>
            <a:r>
              <a:rPr lang="en-US" sz="700" dirty="0">
                <a:sym typeface="Wingdings" panose="05000000000000000000" pitchFamily="2" charset="2"/>
              </a:rPr>
              <a:t> breaks out of while, executes S--, exits 1 and 2 and starts executing in application’s 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 smtClean="0">
                <a:sym typeface="Wingdings" panose="05000000000000000000" pitchFamily="2" charset="2"/>
              </a:rPr>
              <a:t>P2 </a:t>
            </a:r>
            <a:r>
              <a:rPr lang="en-US" sz="700" dirty="0">
                <a:sym typeface="Wingdings" panose="05000000000000000000" pitchFamily="2" charset="2"/>
              </a:rPr>
              <a:t>calls wait()  P2 is stuck at while (S &lt;= 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 smtClean="0">
                <a:sym typeface="Wingdings" panose="05000000000000000000" pitchFamily="2" charset="2"/>
              </a:rPr>
              <a:t>P1 </a:t>
            </a:r>
            <a:r>
              <a:rPr lang="en-US" sz="700" dirty="0">
                <a:sym typeface="Wingdings" panose="05000000000000000000" pitchFamily="2" charset="2"/>
              </a:rPr>
              <a:t>calls signal()  Second bakery is empty, P1 can get inside signal, execute S++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 smtClean="0">
                <a:sym typeface="Wingdings" panose="05000000000000000000" pitchFamily="2" charset="2"/>
              </a:rPr>
              <a:t>P2 </a:t>
            </a:r>
            <a:r>
              <a:rPr lang="en-US" sz="700" dirty="0">
                <a:sym typeface="Wingdings" panose="05000000000000000000" pitchFamily="2" charset="2"/>
              </a:rPr>
              <a:t>comes out of while loop, and gets stuck in entry2() till P1 leaves exit2()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700" dirty="0" smtClean="0">
                <a:sym typeface="Wingdings" panose="05000000000000000000" pitchFamily="2" charset="2"/>
              </a:rPr>
              <a:t>Once </a:t>
            </a:r>
            <a:r>
              <a:rPr lang="en-US" sz="700" dirty="0">
                <a:sym typeface="Wingdings" panose="05000000000000000000" pitchFamily="2" charset="2"/>
              </a:rPr>
              <a:t>P1 comes out of bakery 2, P2 can enter application’s CS</a:t>
            </a:r>
          </a:p>
          <a:p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3587158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Remarks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2877711"/>
          </a:xfrm>
        </p:spPr>
        <p:txBody>
          <a:bodyPr/>
          <a:lstStyle/>
          <a:p>
            <a:r>
              <a:rPr lang="en-US" b="0" dirty="0" smtClean="0"/>
              <a:t>The wait and signal code uses bakery implementation, based on 2 copies of choosing and token arrays</a:t>
            </a:r>
          </a:p>
          <a:p>
            <a:endParaRPr lang="en-US" b="0" dirty="0"/>
          </a:p>
          <a:p>
            <a:r>
              <a:rPr lang="en-US" b="0" dirty="0" smtClean="0"/>
              <a:t>Can implement entirely in user space as user libraries</a:t>
            </a:r>
          </a:p>
          <a:p>
            <a:endParaRPr lang="en-US" b="0" dirty="0"/>
          </a:p>
          <a:p>
            <a:r>
              <a:rPr lang="en-US" b="0" dirty="0" smtClean="0"/>
              <a:t>Can be done without system calls as long as the basic assumption of </a:t>
            </a:r>
            <a:r>
              <a:rPr lang="en-US" b="0" dirty="0" err="1" smtClean="0"/>
              <a:t>Lamport’s</a:t>
            </a:r>
            <a:r>
              <a:rPr lang="en-US" b="0" dirty="0" smtClean="0"/>
              <a:t> bakery is satisfied </a:t>
            </a:r>
            <a:r>
              <a:rPr lang="en-US" b="0" i="1" dirty="0" smtClean="0"/>
              <a:t>[</a:t>
            </a:r>
            <a:r>
              <a:rPr lang="en-US" b="0" i="1" dirty="0"/>
              <a:t>Interrupt handling not being used]</a:t>
            </a:r>
          </a:p>
          <a:p>
            <a:endParaRPr lang="en-US" b="0" dirty="0" smtClean="0"/>
          </a:p>
          <a:p>
            <a:endParaRPr lang="en-US" b="0" dirty="0"/>
          </a:p>
          <a:p>
            <a:r>
              <a:rPr lang="en-US" b="0" u="sng" dirty="0" smtClean="0"/>
              <a:t>Application program:</a:t>
            </a:r>
          </a:p>
          <a:p>
            <a:endParaRPr lang="en-US" b="0" dirty="0" smtClean="0"/>
          </a:p>
          <a:p>
            <a:r>
              <a:rPr lang="en-US" dirty="0" smtClean="0"/>
              <a:t>wait (s);</a:t>
            </a:r>
          </a:p>
          <a:p>
            <a:r>
              <a:rPr lang="en-US" dirty="0" smtClean="0"/>
              <a:t>CS;</a:t>
            </a:r>
          </a:p>
          <a:p>
            <a:r>
              <a:rPr lang="en-US" dirty="0" smtClean="0"/>
              <a:t>signal(s);</a:t>
            </a:r>
          </a:p>
          <a:p>
            <a:endParaRPr lang="en-US" b="0" dirty="0"/>
          </a:p>
          <a:p>
            <a:r>
              <a:rPr lang="en-US" b="0" dirty="0" smtClean="0"/>
              <a:t>If user is using entry and exit section code as above, we want the strategy to satisfy a) Mutual exclusion b) Progress c) Bounded Wait</a:t>
            </a:r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2560753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Analysis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1354217"/>
          </a:xfrm>
        </p:spPr>
        <p:txBody>
          <a:bodyPr/>
          <a:lstStyle/>
          <a:p>
            <a:r>
              <a:rPr lang="en-US" b="0" dirty="0" smtClean="0"/>
              <a:t>Mutual Exclusion satisfied</a:t>
            </a:r>
          </a:p>
          <a:p>
            <a:endParaRPr lang="en-US" b="0" dirty="0"/>
          </a:p>
          <a:p>
            <a:r>
              <a:rPr lang="en-US" b="0" dirty="0" smtClean="0"/>
              <a:t>Progress ensured</a:t>
            </a:r>
          </a:p>
          <a:p>
            <a:endParaRPr lang="en-US" b="0" dirty="0"/>
          </a:p>
          <a:p>
            <a:r>
              <a:rPr lang="en-US" b="0" dirty="0" smtClean="0"/>
              <a:t>Bounded waiting is ensured</a:t>
            </a:r>
          </a:p>
          <a:p>
            <a:endParaRPr lang="en-US" b="0" dirty="0"/>
          </a:p>
          <a:p>
            <a:r>
              <a:rPr lang="en-US" b="0" dirty="0" smtClean="0"/>
              <a:t>If Bakery has been correctly implemented, this scheme is starvation free, given that bakery is starvation free</a:t>
            </a:r>
          </a:p>
        </p:txBody>
      </p:sp>
    </p:spTree>
    <p:extLst>
      <p:ext uri="{BB962C8B-B14F-4D97-AF65-F5344CB8AC3E}">
        <p14:creationId xmlns:p14="http://schemas.microsoft.com/office/powerpoint/2010/main" val="1116176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Analysis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2846933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smtClean="0"/>
              <a:t>Mutual Exclusion satisfied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smtClean="0"/>
              <a:t>Progress ensured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smtClean="0"/>
              <a:t>Bounded waiting is ensured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smtClean="0"/>
              <a:t>If Bakery has been correctly implemented, this scheme is starvation free, given that bakery is starvation free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smtClean="0"/>
              <a:t>Either provide wait and signal as system calls implementing them inside the kernel or provide them as user libraries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smtClean="0"/>
              <a:t>Application program remains simple</a:t>
            </a:r>
          </a:p>
          <a:p>
            <a:pPr lvl="1"/>
            <a:r>
              <a:rPr lang="en-US" sz="1400" dirty="0" smtClean="0">
                <a:solidFill>
                  <a:srgbClr val="FF0000"/>
                </a:solidFill>
              </a:rPr>
              <a:t>Wait(s); </a:t>
            </a:r>
          </a:p>
          <a:p>
            <a:pPr lvl="1"/>
            <a:r>
              <a:rPr lang="en-US" sz="1400" b="0" dirty="0" smtClean="0">
                <a:solidFill>
                  <a:srgbClr val="FF0000"/>
                </a:solidFill>
              </a:rPr>
              <a:t>CS;</a:t>
            </a:r>
          </a:p>
          <a:p>
            <a:pPr lvl="1"/>
            <a:r>
              <a:rPr lang="en-US" sz="1400" dirty="0" smtClean="0">
                <a:solidFill>
                  <a:srgbClr val="FF0000"/>
                </a:solidFill>
              </a:rPr>
              <a:t>Signal(s);</a:t>
            </a:r>
            <a:endParaRPr lang="en-US" sz="1400" b="0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7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Busy waiting semaphores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307" y="398794"/>
            <a:ext cx="4358386" cy="2993127"/>
          </a:xfrm>
        </p:spPr>
        <p:txBody>
          <a:bodyPr/>
          <a:lstStyle/>
          <a:p>
            <a:r>
              <a:rPr lang="en-US" sz="1050" b="0" dirty="0" smtClean="0"/>
              <a:t>wait (S) { 			signal(S) {</a:t>
            </a:r>
          </a:p>
          <a:p>
            <a:r>
              <a:rPr lang="en-US" sz="1050" b="0" dirty="0" smtClean="0"/>
              <a:t>   entry1();		</a:t>
            </a:r>
          </a:p>
          <a:p>
            <a:r>
              <a:rPr lang="en-US" sz="1050" b="0" dirty="0" smtClean="0"/>
              <a:t>   while </a:t>
            </a:r>
            <a:r>
              <a:rPr lang="en-US" sz="1050" b="0" dirty="0"/>
              <a:t>(S&lt;= 0); </a:t>
            </a:r>
            <a:r>
              <a:rPr lang="en-US" sz="1050" b="0" dirty="0" smtClean="0"/>
              <a:t>		    entry2();</a:t>
            </a:r>
          </a:p>
          <a:p>
            <a:r>
              <a:rPr lang="en-US" sz="1050" b="0" dirty="0"/>
              <a:t> </a:t>
            </a:r>
            <a:r>
              <a:rPr lang="en-US" sz="1050" b="0" dirty="0" smtClean="0"/>
              <a:t>  entry2();</a:t>
            </a:r>
          </a:p>
          <a:p>
            <a:r>
              <a:rPr lang="en-US" sz="1050" b="0" dirty="0"/>
              <a:t> </a:t>
            </a:r>
            <a:r>
              <a:rPr lang="en-US" sz="1050" b="0" dirty="0" smtClean="0"/>
              <a:t>  S--;			    S++;</a:t>
            </a:r>
          </a:p>
          <a:p>
            <a:r>
              <a:rPr lang="en-US" sz="1050" b="0" dirty="0"/>
              <a:t> </a:t>
            </a:r>
            <a:r>
              <a:rPr lang="en-US" sz="1050" b="0" dirty="0" smtClean="0"/>
              <a:t>  exit2();</a:t>
            </a:r>
          </a:p>
          <a:p>
            <a:r>
              <a:rPr lang="en-US" sz="1050" b="0" dirty="0" smtClean="0"/>
              <a:t>   exit1();			    exit2();</a:t>
            </a:r>
          </a:p>
          <a:p>
            <a:r>
              <a:rPr lang="en-US" sz="1050" b="0" dirty="0" smtClean="0"/>
              <a:t>}			}</a:t>
            </a:r>
          </a:p>
          <a:p>
            <a:endParaRPr lang="en-US" sz="1050" b="0" dirty="0" smtClean="0"/>
          </a:p>
          <a:p>
            <a:endParaRPr lang="en-US" sz="1000" b="0" dirty="0" smtClean="0">
              <a:sym typeface="Wingdings" panose="05000000000000000000" pitchFamily="2" charset="2"/>
            </a:endParaRPr>
          </a:p>
          <a:p>
            <a:r>
              <a:rPr lang="en-US" sz="1000" b="0" dirty="0" smtClean="0">
                <a:sym typeface="Wingdings" panose="05000000000000000000" pitchFamily="2" charset="2"/>
              </a:rPr>
              <a:t>Consider 2 processes P1 and P2</a:t>
            </a:r>
          </a:p>
          <a:p>
            <a:endParaRPr lang="en-US" sz="1000" b="0" dirty="0">
              <a:sym typeface="Wingdings" panose="05000000000000000000" pitchFamily="2" charset="2"/>
            </a:endParaRPr>
          </a:p>
          <a:p>
            <a:r>
              <a:rPr lang="en-US" sz="1000" b="0" dirty="0" smtClean="0">
                <a:sym typeface="Wingdings" panose="05000000000000000000" pitchFamily="2" charset="2"/>
              </a:rPr>
              <a:t>P1 enters CS, and P2 keeps waiting in while loop</a:t>
            </a:r>
          </a:p>
          <a:p>
            <a:endParaRPr lang="en-US" sz="1000" b="0" dirty="0">
              <a:sym typeface="Wingdings" panose="05000000000000000000" pitchFamily="2" charset="2"/>
            </a:endParaRPr>
          </a:p>
          <a:p>
            <a:r>
              <a:rPr lang="en-US" sz="1000" b="0" dirty="0" smtClean="0">
                <a:sym typeface="Wingdings" panose="05000000000000000000" pitchFamily="2" charset="2"/>
              </a:rPr>
              <a:t>Somehow scheduler needs to know that P2 is wasting full CPU cycle</a:t>
            </a:r>
          </a:p>
          <a:p>
            <a:endParaRPr lang="en-US" sz="1000" b="0" dirty="0">
              <a:sym typeface="Wingdings" panose="05000000000000000000" pitchFamily="2" charset="2"/>
            </a:endParaRPr>
          </a:p>
          <a:p>
            <a:r>
              <a:rPr lang="en-US" sz="1000" b="0" dirty="0" smtClean="0">
                <a:sym typeface="Wingdings" panose="05000000000000000000" pitchFamily="2" charset="2"/>
              </a:rPr>
              <a:t>Solution: Not make P2 </a:t>
            </a:r>
            <a:r>
              <a:rPr lang="en-US" sz="1000" b="0" i="1" dirty="0" smtClean="0">
                <a:sym typeface="Wingdings" panose="05000000000000000000" pitchFamily="2" charset="2"/>
              </a:rPr>
              <a:t>ready</a:t>
            </a:r>
            <a:r>
              <a:rPr lang="en-US" sz="1000" b="0" dirty="0" smtClean="0">
                <a:sym typeface="Wingdings" panose="05000000000000000000" pitchFamily="2" charset="2"/>
              </a:rPr>
              <a:t> if it is stuck in wait (How? Can it be done in User mode? Changing state of a process can only be done in kernel mode)</a:t>
            </a:r>
          </a:p>
          <a:p>
            <a:endParaRPr lang="en-US" sz="1000" b="0" dirty="0"/>
          </a:p>
        </p:txBody>
      </p:sp>
    </p:spTree>
    <p:extLst>
      <p:ext uri="{BB962C8B-B14F-4D97-AF65-F5344CB8AC3E}">
        <p14:creationId xmlns:p14="http://schemas.microsoft.com/office/powerpoint/2010/main" val="2674683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Blocking Semaphore (assistance from kernel needed)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97" y="434975"/>
            <a:ext cx="4358386" cy="3123932"/>
          </a:xfrm>
        </p:spPr>
        <p:txBody>
          <a:bodyPr/>
          <a:lstStyle/>
          <a:p>
            <a:r>
              <a:rPr lang="en-US" sz="900" b="0" dirty="0"/>
              <a:t>Change implementation of wait, signal – </a:t>
            </a:r>
            <a:r>
              <a:rPr lang="en-US" sz="900" b="0" u="sng" dirty="0"/>
              <a:t>application program remains the </a:t>
            </a:r>
            <a:r>
              <a:rPr lang="en-US" sz="900" b="0" u="sng" dirty="0" smtClean="0"/>
              <a:t>same</a:t>
            </a:r>
          </a:p>
          <a:p>
            <a:pPr lvl="1"/>
            <a:r>
              <a:rPr lang="en-US" sz="1400" dirty="0">
                <a:solidFill>
                  <a:srgbClr val="FF0000"/>
                </a:solidFill>
              </a:rPr>
              <a:t>Wait(s); </a:t>
            </a:r>
            <a:r>
              <a:rPr lang="en-US" sz="1400" dirty="0" smtClean="0">
                <a:solidFill>
                  <a:srgbClr val="FF0000"/>
                </a:solidFill>
              </a:rPr>
              <a:t>CS; Signal(s</a:t>
            </a:r>
            <a:r>
              <a:rPr lang="en-US" sz="1400" dirty="0">
                <a:solidFill>
                  <a:srgbClr val="FF0000"/>
                </a:solidFill>
              </a:rPr>
              <a:t>);</a:t>
            </a:r>
          </a:p>
          <a:p>
            <a:endParaRPr lang="en-US" sz="900" b="0" u="sng" dirty="0"/>
          </a:p>
          <a:p>
            <a:r>
              <a:rPr lang="en-US" sz="900" b="0" dirty="0" smtClean="0"/>
              <a:t>If a process cannot proceed, it tells the kernel to block itself</a:t>
            </a:r>
          </a:p>
          <a:p>
            <a:endParaRPr lang="en-US" sz="900" b="0" dirty="0"/>
          </a:p>
          <a:p>
            <a:r>
              <a:rPr lang="en-US" sz="900" b="0" dirty="0" smtClean="0"/>
              <a:t>Kernel puts the process to sleep</a:t>
            </a:r>
          </a:p>
          <a:p>
            <a:endParaRPr lang="en-US" sz="900" b="0" dirty="0"/>
          </a:p>
          <a:p>
            <a:r>
              <a:rPr lang="en-US" sz="900" b="0" dirty="0" smtClean="0"/>
              <a:t>At a time when the signal comes, this process needs to be woken up</a:t>
            </a:r>
          </a:p>
          <a:p>
            <a:endParaRPr lang="en-US" sz="900" b="0" dirty="0" smtClean="0"/>
          </a:p>
          <a:p>
            <a:r>
              <a:rPr lang="en-US" sz="900" b="0" u="sng" dirty="0" smtClean="0"/>
              <a:t>Wait (S)</a:t>
            </a:r>
            <a:r>
              <a:rPr lang="en-US" sz="900" b="0" dirty="0" smtClean="0"/>
              <a:t> needs to additionally do the following</a:t>
            </a:r>
          </a:p>
          <a:p>
            <a:endParaRPr lang="en-US" sz="900" b="0" dirty="0" smtClean="0"/>
          </a:p>
          <a:p>
            <a:r>
              <a:rPr lang="en-US" sz="900" b="0" dirty="0" smtClean="0"/>
              <a:t>If (P cannot proceed) {</a:t>
            </a:r>
          </a:p>
          <a:p>
            <a:r>
              <a:rPr lang="en-US" sz="900" b="0" dirty="0" smtClean="0"/>
              <a:t>      -- put P on queue for the semaphore</a:t>
            </a:r>
          </a:p>
          <a:p>
            <a:r>
              <a:rPr lang="en-US" sz="900" b="0" dirty="0" smtClean="0"/>
              <a:t>      -- put P to sleep</a:t>
            </a:r>
          </a:p>
          <a:p>
            <a:r>
              <a:rPr lang="en-US" sz="900" b="0" dirty="0" smtClean="0"/>
              <a:t>}</a:t>
            </a:r>
          </a:p>
          <a:p>
            <a:endParaRPr lang="en-US" sz="900" b="0" dirty="0"/>
          </a:p>
          <a:p>
            <a:r>
              <a:rPr lang="en-US" sz="900" b="0" u="sng" dirty="0" smtClean="0"/>
              <a:t>Signal (S)</a:t>
            </a:r>
            <a:r>
              <a:rPr lang="en-US" sz="900" b="0" dirty="0" smtClean="0"/>
              <a:t> also needs to be modified – whenever </a:t>
            </a:r>
            <a:r>
              <a:rPr lang="en-US" sz="900" b="0" u="sng" dirty="0" smtClean="0"/>
              <a:t>signal (</a:t>
            </a:r>
            <a:r>
              <a:rPr lang="en-US" sz="900" b="0" u="sng" dirty="0" smtClean="0">
                <a:solidFill>
                  <a:srgbClr val="FF0000"/>
                </a:solidFill>
              </a:rPr>
              <a:t>s</a:t>
            </a:r>
            <a:r>
              <a:rPr lang="en-US" sz="900" b="0" u="sng" dirty="0" smtClean="0"/>
              <a:t>)</a:t>
            </a:r>
            <a:r>
              <a:rPr lang="en-US" sz="900" b="0" dirty="0" smtClean="0"/>
              <a:t> by some process, kernel checks if there are processes waiting on </a:t>
            </a:r>
            <a:r>
              <a:rPr lang="en-US" sz="900" b="0" u="sng" dirty="0" smtClean="0"/>
              <a:t>this semaphor</a:t>
            </a:r>
            <a:r>
              <a:rPr lang="en-US" sz="900" b="0" dirty="0" smtClean="0"/>
              <a:t>e </a:t>
            </a:r>
            <a:r>
              <a:rPr lang="en-US" sz="900" b="0" dirty="0" smtClean="0">
                <a:solidFill>
                  <a:srgbClr val="FF0000"/>
                </a:solidFill>
              </a:rPr>
              <a:t>s</a:t>
            </a:r>
            <a:r>
              <a:rPr lang="en-US" sz="900" b="0" dirty="0" smtClean="0"/>
              <a:t> and wakes up someone from the list of waiters sleeping in the queue of </a:t>
            </a:r>
            <a:r>
              <a:rPr lang="en-US" sz="900" b="0" u="sng" dirty="0">
                <a:solidFill>
                  <a:srgbClr val="FF0000"/>
                </a:solidFill>
              </a:rPr>
              <a:t>s</a:t>
            </a:r>
            <a:endParaRPr lang="en-US" sz="900" b="0" u="sng" dirty="0" smtClean="0">
              <a:solidFill>
                <a:srgbClr val="FF0000"/>
              </a:solidFill>
            </a:endParaRPr>
          </a:p>
          <a:p>
            <a:endParaRPr lang="en-US" sz="900" b="0" dirty="0"/>
          </a:p>
          <a:p>
            <a:r>
              <a:rPr lang="en-US" sz="900" b="0" dirty="0" smtClean="0"/>
              <a:t>Queue implemented as a FIFO – ensures bounded waiting</a:t>
            </a:r>
            <a:endParaRPr lang="en-US" sz="900" b="0" dirty="0"/>
          </a:p>
          <a:p>
            <a:endParaRPr lang="en-IN" sz="900" b="0" dirty="0"/>
          </a:p>
        </p:txBody>
      </p:sp>
    </p:spTree>
    <p:extLst>
      <p:ext uri="{BB962C8B-B14F-4D97-AF65-F5344CB8AC3E}">
        <p14:creationId xmlns:p14="http://schemas.microsoft.com/office/powerpoint/2010/main" val="282238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Busy</a:t>
            </a:r>
            <a:r>
              <a:rPr spc="5" dirty="0"/>
              <a:t> </a:t>
            </a:r>
            <a:r>
              <a:rPr dirty="0"/>
              <a:t>w</a:t>
            </a:r>
            <a:r>
              <a:rPr spc="10" dirty="0"/>
              <a:t>aiting</a:t>
            </a:r>
            <a:r>
              <a:rPr spc="5" dirty="0"/>
              <a:t> </a:t>
            </a:r>
            <a:r>
              <a:rPr spc="10" dirty="0"/>
              <a:t>v</a:t>
            </a:r>
            <a:r>
              <a:rPr spc="-10" dirty="0"/>
              <a:t>s</a:t>
            </a:r>
            <a:r>
              <a:rPr spc="5" dirty="0"/>
              <a:t>.</a:t>
            </a:r>
            <a:r>
              <a:rPr spc="100" dirty="0"/>
              <a:t> </a:t>
            </a:r>
            <a:r>
              <a:rPr spc="-15" dirty="0"/>
              <a:t>b</a:t>
            </a:r>
            <a:r>
              <a:rPr spc="10" dirty="0"/>
              <a:t>lo</a:t>
            </a:r>
            <a:r>
              <a:rPr spc="-20" dirty="0"/>
              <a:t>c</a:t>
            </a:r>
            <a:r>
              <a:rPr spc="10" dirty="0"/>
              <a:t>king</a:t>
            </a:r>
          </a:p>
        </p:txBody>
      </p:sp>
      <p:sp>
        <p:nvSpPr>
          <p:cNvPr id="3" name="object 3"/>
          <p:cNvSpPr/>
          <p:nvPr/>
        </p:nvSpPr>
        <p:spPr>
          <a:xfrm>
            <a:off x="273938" y="738251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0" y="72517"/>
                </a:moveTo>
                <a:lnTo>
                  <a:pt x="72517" y="72517"/>
                </a:lnTo>
                <a:lnTo>
                  <a:pt x="72517" y="0"/>
                </a:lnTo>
                <a:lnTo>
                  <a:pt x="0" y="0"/>
                </a:lnTo>
                <a:lnTo>
                  <a:pt x="0" y="7251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7192" y="534185"/>
            <a:ext cx="4313555" cy="143372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Spinlo</a:t>
            </a:r>
            <a:r>
              <a:rPr sz="1100" b="1" spc="-35" dirty="0">
                <a:latin typeface="Arial"/>
                <a:cs typeface="Arial"/>
              </a:rPr>
              <a:t>c</a:t>
            </a:r>
            <a:r>
              <a:rPr sz="1100" b="1" spc="-5" dirty="0">
                <a:latin typeface="Arial"/>
                <a:cs typeface="Arial"/>
              </a:rPr>
              <a:t>ks/</a:t>
            </a:r>
            <a:r>
              <a:rPr sz="1100" b="1" spc="-35" dirty="0">
                <a:latin typeface="Arial"/>
                <a:cs typeface="Arial"/>
              </a:rPr>
              <a:t>b</a:t>
            </a:r>
            <a:r>
              <a:rPr sz="1100" b="1" spc="-10" dirty="0">
                <a:latin typeface="Arial"/>
                <a:cs typeface="Arial"/>
              </a:rPr>
              <a:t>usy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waiting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Arial"/>
                <a:cs typeface="Arial"/>
              </a:rPr>
              <a:t>Processes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ex</a:t>
            </a:r>
            <a:r>
              <a:rPr sz="1100" spc="-10" dirty="0">
                <a:latin typeface="Arial"/>
                <a:cs typeface="Arial"/>
              </a:rPr>
              <a:t>ecute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loop</a:t>
            </a:r>
            <a:r>
              <a:rPr sz="1100" spc="-5" dirty="0">
                <a:latin typeface="Arial"/>
                <a:cs typeface="Arial"/>
              </a:rPr>
              <a:t> while </a:t>
            </a:r>
            <a:r>
              <a:rPr sz="1100" spc="-30" dirty="0">
                <a:latin typeface="Arial"/>
                <a:cs typeface="Arial"/>
              </a:rPr>
              <a:t>w</a:t>
            </a:r>
            <a:r>
              <a:rPr sz="1100" spc="-5" dirty="0">
                <a:latin typeface="Arial"/>
                <a:cs typeface="Arial"/>
              </a:rPr>
              <a:t>aiting </a:t>
            </a:r>
            <a:r>
              <a:rPr sz="1100" spc="-40" dirty="0">
                <a:latin typeface="Arial"/>
                <a:cs typeface="Arial"/>
              </a:rPr>
              <a:t>f</a:t>
            </a:r>
            <a:r>
              <a:rPr sz="1100" spc="-5" dirty="0">
                <a:latin typeface="Arial"/>
                <a:cs typeface="Arial"/>
              </a:rPr>
              <a:t>or ent</a:t>
            </a:r>
            <a:r>
              <a:rPr sz="1100" spc="25" dirty="0">
                <a:latin typeface="Arial"/>
                <a:cs typeface="Arial"/>
              </a:rPr>
              <a:t>r</a:t>
            </a:r>
            <a:r>
              <a:rPr sz="1100" spc="-10" dirty="0">
                <a:latin typeface="Arial"/>
                <a:cs typeface="Arial"/>
              </a:rPr>
              <a:t>y</a:t>
            </a:r>
            <a:r>
              <a:rPr sz="1100" spc="-5" dirty="0">
                <a:latin typeface="Arial"/>
                <a:cs typeface="Arial"/>
              </a:rPr>
              <a:t> to </a:t>
            </a:r>
            <a:r>
              <a:rPr sz="1100" spc="-10" dirty="0">
                <a:latin typeface="Arial"/>
                <a:cs typeface="Arial"/>
              </a:rPr>
              <a:t>c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itical section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130" dirty="0">
                <a:latin typeface="Cambria"/>
                <a:cs typeface="Cambria"/>
              </a:rPr>
              <a:t>⇒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30" dirty="0">
                <a:latin typeface="Arial"/>
                <a:cs typeface="Arial"/>
              </a:rPr>
              <a:t>w</a:t>
            </a:r>
            <a:r>
              <a:rPr sz="1100" spc="-10" dirty="0">
                <a:latin typeface="Arial"/>
                <a:cs typeface="Arial"/>
              </a:rPr>
              <a:t>aste</a:t>
            </a:r>
            <a:r>
              <a:rPr sz="1100" spc="-5" dirty="0">
                <a:latin typeface="Arial"/>
                <a:cs typeface="Arial"/>
              </a:rPr>
              <a:t> of </a:t>
            </a:r>
            <a:r>
              <a:rPr sz="1100" spc="-10" dirty="0">
                <a:latin typeface="Arial"/>
                <a:cs typeface="Arial"/>
              </a:rPr>
              <a:t>CPU</a:t>
            </a:r>
            <a:r>
              <a:rPr sz="1100" spc="-5" dirty="0">
                <a:latin typeface="Arial"/>
                <a:cs typeface="Arial"/>
              </a:rPr>
              <a:t> cycles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ts val="1310"/>
              </a:lnSpc>
            </a:pPr>
            <a:endParaRPr lang="en-IN" sz="1100" b="1" spc="-10" dirty="0" smtClean="0">
              <a:latin typeface="Arial"/>
              <a:cs typeface="Arial"/>
            </a:endParaRPr>
          </a:p>
          <a:p>
            <a:pPr marL="12700">
              <a:lnSpc>
                <a:spcPts val="1310"/>
              </a:lnSpc>
            </a:pPr>
            <a:endParaRPr lang="en-IN" sz="1100" b="1" spc="-10" dirty="0">
              <a:latin typeface="Arial"/>
              <a:cs typeface="Arial"/>
            </a:endParaRPr>
          </a:p>
          <a:p>
            <a:pPr marL="12700">
              <a:lnSpc>
                <a:spcPts val="1310"/>
              </a:lnSpc>
            </a:pPr>
            <a:r>
              <a:rPr sz="1100" b="1" spc="-10" dirty="0" smtClean="0">
                <a:latin typeface="Arial"/>
                <a:cs typeface="Arial"/>
              </a:rPr>
              <a:t>Blo</a:t>
            </a:r>
            <a:r>
              <a:rPr sz="1100" b="1" spc="-35" dirty="0" smtClean="0">
                <a:latin typeface="Arial"/>
                <a:cs typeface="Arial"/>
              </a:rPr>
              <a:t>c</a:t>
            </a:r>
            <a:r>
              <a:rPr sz="1100" b="1" spc="-10" dirty="0" smtClean="0">
                <a:latin typeface="Arial"/>
                <a:cs typeface="Arial"/>
              </a:rPr>
              <a:t>king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ts val="1070"/>
              </a:lnSpc>
            </a:pPr>
            <a:r>
              <a:rPr sz="900" spc="80" dirty="0">
                <a:latin typeface="Times New Roman"/>
                <a:cs typeface="Times New Roman"/>
              </a:rPr>
              <a:t>typedef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135" dirty="0">
                <a:latin typeface="Times New Roman"/>
                <a:cs typeface="Times New Roman"/>
              </a:rPr>
              <a:t>struct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0" dirty="0">
                <a:latin typeface="Cambria"/>
                <a:cs typeface="Cambria"/>
              </a:rPr>
              <a:t>{</a:t>
            </a:r>
            <a:r>
              <a:rPr sz="900" spc="150" dirty="0">
                <a:latin typeface="Times New Roman"/>
                <a:cs typeface="Times New Roman"/>
              </a:rPr>
              <a:t>int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100" dirty="0">
                <a:latin typeface="Times New Roman"/>
                <a:cs typeface="Times New Roman"/>
              </a:rPr>
              <a:t>value;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35" dirty="0">
                <a:latin typeface="Times New Roman"/>
                <a:cs typeface="Times New Roman"/>
              </a:rPr>
              <a:t>struct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80" dirty="0">
                <a:latin typeface="Times New Roman"/>
                <a:cs typeface="Times New Roman"/>
              </a:rPr>
              <a:t>process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50" dirty="0">
                <a:latin typeface="Times New Roman"/>
                <a:cs typeface="Times New Roman"/>
              </a:rPr>
              <a:t>*L;</a:t>
            </a:r>
            <a:r>
              <a:rPr sz="900" spc="110" dirty="0">
                <a:latin typeface="Cambria"/>
                <a:cs typeface="Cambria"/>
              </a:rPr>
              <a:t>}</a:t>
            </a:r>
            <a:r>
              <a:rPr sz="900" dirty="0">
                <a:latin typeface="Cambria"/>
                <a:cs typeface="Cambria"/>
              </a:rPr>
              <a:t> </a:t>
            </a:r>
            <a:r>
              <a:rPr sz="900" spc="75" dirty="0">
                <a:latin typeface="Cambria"/>
                <a:cs typeface="Cambria"/>
              </a:rPr>
              <a:t> </a:t>
            </a:r>
            <a:r>
              <a:rPr sz="900" spc="50" dirty="0">
                <a:latin typeface="Times New Roman"/>
                <a:cs typeface="Times New Roman"/>
              </a:rPr>
              <a:t>semaphore;</a:t>
            </a:r>
            <a:endParaRPr sz="9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056130" algn="l"/>
              </a:tabLst>
            </a:pPr>
            <a:r>
              <a:rPr sz="900" i="1" spc="15" dirty="0">
                <a:latin typeface="Arial"/>
                <a:cs typeface="Arial"/>
              </a:rPr>
              <a:t>wait</a:t>
            </a:r>
            <a:r>
              <a:rPr sz="900" i="1" spc="-165" dirty="0">
                <a:latin typeface="Arial"/>
                <a:cs typeface="Arial"/>
              </a:rPr>
              <a:t> </a:t>
            </a:r>
            <a:r>
              <a:rPr sz="900" spc="55" dirty="0">
                <a:latin typeface="Century"/>
                <a:cs typeface="Century"/>
              </a:rPr>
              <a:t>(</a:t>
            </a:r>
            <a:r>
              <a:rPr sz="900" i="1" spc="-85" dirty="0">
                <a:latin typeface="Arial"/>
                <a:cs typeface="Arial"/>
              </a:rPr>
              <a:t>S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spc="55" dirty="0" smtClean="0">
                <a:latin typeface="Century"/>
                <a:cs typeface="Century"/>
              </a:rPr>
              <a:t>)</a:t>
            </a:r>
            <a:r>
              <a:rPr sz="900" spc="-5" dirty="0" smtClean="0">
                <a:latin typeface="Arial"/>
                <a:cs typeface="Arial"/>
              </a:rPr>
              <a:t>:</a:t>
            </a:r>
            <a:r>
              <a:rPr lang="en-IN" sz="900" spc="-5" dirty="0" smtClean="0">
                <a:latin typeface="Arial"/>
                <a:cs typeface="Arial"/>
              </a:rPr>
              <a:t> {</a:t>
            </a:r>
            <a:r>
              <a:rPr sz="900" dirty="0">
                <a:latin typeface="Arial"/>
                <a:cs typeface="Arial"/>
              </a:rPr>
              <a:t>	</a:t>
            </a:r>
            <a:r>
              <a:rPr lang="en-IN" sz="900" dirty="0">
                <a:latin typeface="Arial"/>
                <a:cs typeface="Arial"/>
              </a:rPr>
              <a:t> </a:t>
            </a:r>
            <a:r>
              <a:rPr lang="en-IN" sz="900" dirty="0" smtClean="0">
                <a:latin typeface="Arial"/>
                <a:cs typeface="Arial"/>
              </a:rPr>
              <a:t>         </a:t>
            </a:r>
            <a:r>
              <a:rPr sz="900" i="1" spc="-15" dirty="0" smtClean="0">
                <a:latin typeface="Arial"/>
                <a:cs typeface="Arial"/>
              </a:rPr>
              <a:t>signal</a:t>
            </a:r>
            <a:r>
              <a:rPr sz="900" i="1" spc="-160" dirty="0" smtClean="0">
                <a:latin typeface="Arial"/>
                <a:cs typeface="Arial"/>
              </a:rPr>
              <a:t> </a:t>
            </a:r>
            <a:r>
              <a:rPr sz="900" spc="55" dirty="0">
                <a:latin typeface="Century"/>
                <a:cs typeface="Century"/>
              </a:rPr>
              <a:t>(</a:t>
            </a:r>
            <a:r>
              <a:rPr sz="900" i="1" spc="-85" dirty="0">
                <a:latin typeface="Arial"/>
                <a:cs typeface="Arial"/>
              </a:rPr>
              <a:t>S</a:t>
            </a:r>
            <a:r>
              <a:rPr sz="900" i="1" spc="-145" dirty="0">
                <a:latin typeface="Arial"/>
                <a:cs typeface="Arial"/>
              </a:rPr>
              <a:t> </a:t>
            </a:r>
            <a:r>
              <a:rPr sz="900" spc="55" dirty="0" smtClean="0">
                <a:latin typeface="Century"/>
                <a:cs typeface="Century"/>
              </a:rPr>
              <a:t>)</a:t>
            </a:r>
            <a:r>
              <a:rPr sz="900" spc="-5" dirty="0" smtClean="0">
                <a:latin typeface="Arial"/>
                <a:cs typeface="Arial"/>
              </a:rPr>
              <a:t>:</a:t>
            </a:r>
            <a:r>
              <a:rPr lang="en-IN" sz="900" spc="-5" dirty="0" smtClean="0">
                <a:latin typeface="Arial"/>
                <a:cs typeface="Arial"/>
              </a:rPr>
              <a:t> {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5250" y="2063712"/>
            <a:ext cx="2208720" cy="12199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IN" sz="900" spc="114" dirty="0" smtClean="0">
                <a:latin typeface="Times New Roman"/>
                <a:cs typeface="Times New Roman"/>
              </a:rPr>
              <a:t>  </a:t>
            </a:r>
            <a:r>
              <a:rPr sz="900" spc="114" dirty="0" err="1" smtClean="0">
                <a:latin typeface="Times New Roman"/>
                <a:cs typeface="Times New Roman"/>
              </a:rPr>
              <a:t>S.value</a:t>
            </a:r>
            <a:r>
              <a:rPr sz="900" spc="114" dirty="0" smtClean="0">
                <a:latin typeface="Times New Roman"/>
                <a:cs typeface="Times New Roman"/>
              </a:rPr>
              <a:t>--;</a:t>
            </a:r>
            <a:endParaRPr lang="en-IN" sz="900" spc="114" dirty="0" smtClean="0">
              <a:latin typeface="Times New Roman"/>
              <a:cs typeface="Times New Roman"/>
            </a:endParaRPr>
          </a:p>
          <a:p>
            <a:pPr marL="12700"/>
            <a:r>
              <a:rPr lang="en-IN" sz="900" spc="114" dirty="0" smtClean="0">
                <a:latin typeface="Times New Roman"/>
                <a:cs typeface="Times New Roman"/>
              </a:rPr>
              <a:t>  /* if value is 0, no problem */</a:t>
            </a:r>
          </a:p>
          <a:p>
            <a:pPr marL="12700"/>
            <a:r>
              <a:rPr lang="en-IN" sz="800" spc="114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</a:p>
          <a:p>
            <a:pPr marL="12700"/>
            <a:r>
              <a:rPr lang="en-IN" sz="800" spc="11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800" spc="114" dirty="0" smtClean="0">
                <a:solidFill>
                  <a:srgbClr val="FF0000"/>
                </a:solidFill>
                <a:latin typeface="Times New Roman"/>
                <a:cs typeface="Times New Roman"/>
              </a:rPr>
              <a:t> /* value was 0 / &lt; 0 to start with */</a:t>
            </a:r>
            <a:endParaRPr sz="8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IN" sz="900" spc="195" dirty="0" smtClean="0">
                <a:latin typeface="Times New Roman"/>
                <a:cs typeface="Times New Roman"/>
              </a:rPr>
              <a:t>  </a:t>
            </a:r>
            <a:r>
              <a:rPr sz="900" spc="195" dirty="0" smtClean="0">
                <a:latin typeface="Times New Roman"/>
                <a:cs typeface="Times New Roman"/>
              </a:rPr>
              <a:t>if </a:t>
            </a:r>
            <a:r>
              <a:rPr sz="900" spc="15" dirty="0" smtClean="0">
                <a:latin typeface="Times New Roman"/>
                <a:cs typeface="Times New Roman"/>
              </a:rPr>
              <a:t> </a:t>
            </a:r>
            <a:r>
              <a:rPr sz="900" spc="95" dirty="0">
                <a:latin typeface="Times New Roman"/>
                <a:cs typeface="Times New Roman"/>
              </a:rPr>
              <a:t>(S.value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&lt;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 </a:t>
            </a:r>
            <a:endParaRPr lang="en-IN" sz="900" spc="30" dirty="0" smtClean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IN" sz="900" spc="30" dirty="0">
                <a:latin typeface="Times New Roman"/>
                <a:cs typeface="Times New Roman"/>
              </a:rPr>
              <a:t> </a:t>
            </a:r>
            <a:r>
              <a:rPr lang="en-IN" sz="900" spc="30" dirty="0" smtClean="0">
                <a:latin typeface="Times New Roman"/>
                <a:cs typeface="Times New Roman"/>
              </a:rPr>
              <a:t>     </a:t>
            </a:r>
            <a:r>
              <a:rPr lang="en-IN" sz="900" spc="30" dirty="0" err="1" smtClean="0">
                <a:latin typeface="Times New Roman"/>
                <a:cs typeface="Times New Roman"/>
              </a:rPr>
              <a:t>enqueue</a:t>
            </a:r>
            <a:r>
              <a:rPr sz="900" dirty="0" smtClean="0">
                <a:latin typeface="Times New Roman"/>
                <a:cs typeface="Times New Roman"/>
              </a:rPr>
              <a:t> </a:t>
            </a:r>
            <a:r>
              <a:rPr lang="en-IN" sz="900" dirty="0" smtClean="0">
                <a:latin typeface="Times New Roman"/>
                <a:cs typeface="Times New Roman"/>
              </a:rPr>
              <a:t>(P,</a:t>
            </a:r>
            <a:r>
              <a:rPr sz="900" spc="20" dirty="0" smtClean="0">
                <a:latin typeface="Times New Roman"/>
                <a:cs typeface="Times New Roman"/>
              </a:rPr>
              <a:t> </a:t>
            </a:r>
            <a:r>
              <a:rPr sz="900" spc="85" dirty="0" smtClean="0">
                <a:latin typeface="Times New Roman"/>
                <a:cs typeface="Times New Roman"/>
              </a:rPr>
              <a:t>S.L</a:t>
            </a:r>
            <a:r>
              <a:rPr lang="en-IN" sz="900" spc="85" dirty="0" smtClean="0">
                <a:latin typeface="Times New Roman"/>
                <a:cs typeface="Times New Roman"/>
              </a:rPr>
              <a:t>)</a:t>
            </a:r>
            <a:r>
              <a:rPr sz="900" spc="85" dirty="0" smtClean="0">
                <a:latin typeface="Times New Roman"/>
                <a:cs typeface="Times New Roman"/>
              </a:rPr>
              <a:t>;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endParaRPr lang="en-IN" sz="900" spc="50" dirty="0" smtClean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IN" sz="900" spc="50" dirty="0">
                <a:latin typeface="Times New Roman"/>
                <a:cs typeface="Times New Roman"/>
              </a:rPr>
              <a:t> </a:t>
            </a:r>
            <a:r>
              <a:rPr lang="en-IN" sz="900" spc="50" dirty="0" smtClean="0">
                <a:latin typeface="Times New Roman"/>
                <a:cs typeface="Times New Roman"/>
              </a:rPr>
              <a:t>     </a:t>
            </a:r>
            <a:r>
              <a:rPr sz="900" spc="130" dirty="0" smtClean="0">
                <a:latin typeface="Times New Roman"/>
                <a:cs typeface="Times New Roman"/>
              </a:rPr>
              <a:t>sleep</a:t>
            </a:r>
            <a:r>
              <a:rPr sz="900" spc="130" dirty="0">
                <a:latin typeface="Times New Roman"/>
                <a:cs typeface="Times New Roman"/>
              </a:rPr>
              <a:t>();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spcBef>
                <a:spcPts val="15"/>
              </a:spcBef>
            </a:pPr>
            <a:r>
              <a:rPr lang="en-IN" sz="900" spc="30" dirty="0" smtClean="0">
                <a:latin typeface="Times New Roman"/>
                <a:cs typeface="Times New Roman"/>
              </a:rPr>
              <a:t>   </a:t>
            </a:r>
            <a:r>
              <a:rPr sz="900" spc="30" dirty="0" smtClean="0">
                <a:latin typeface="Times New Roman"/>
                <a:cs typeface="Times New Roman"/>
              </a:rPr>
              <a:t>}</a:t>
            </a:r>
            <a:endParaRPr lang="en-IN"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900" spc="30" dirty="0" smtClean="0">
                <a:latin typeface="Times New Roman"/>
                <a:cs typeface="Times New Roman"/>
              </a:rPr>
              <a:t>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457449" y="2063712"/>
            <a:ext cx="2084069" cy="11723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z="900" spc="70" dirty="0" smtClean="0">
                <a:latin typeface="Times New Roman"/>
                <a:cs typeface="Times New Roman"/>
              </a:rPr>
              <a:t>   </a:t>
            </a:r>
            <a:r>
              <a:rPr sz="900" spc="70" dirty="0" err="1" smtClean="0">
                <a:latin typeface="Times New Roman"/>
                <a:cs typeface="Times New Roman"/>
              </a:rPr>
              <a:t>S.value</a:t>
            </a:r>
            <a:r>
              <a:rPr sz="900" spc="70" dirty="0" smtClean="0">
                <a:latin typeface="Times New Roman"/>
                <a:cs typeface="Times New Roman"/>
              </a:rPr>
              <a:t>++;</a:t>
            </a:r>
            <a:endParaRPr lang="en-IN" sz="900" spc="7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IN" sz="700" spc="7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   </a:t>
            </a:r>
            <a:r>
              <a:rPr lang="en-IN" sz="800" spc="114" dirty="0" smtClean="0">
                <a:latin typeface="Times New Roman"/>
                <a:cs typeface="Times New Roman"/>
              </a:rPr>
              <a:t>/* </a:t>
            </a:r>
            <a:r>
              <a:rPr lang="en-IN" sz="800" spc="114" dirty="0">
                <a:latin typeface="Times New Roman"/>
                <a:cs typeface="Times New Roman"/>
              </a:rPr>
              <a:t>if </a:t>
            </a:r>
            <a:r>
              <a:rPr lang="en-IN" sz="800" spc="114" dirty="0" smtClean="0">
                <a:latin typeface="Times New Roman"/>
                <a:cs typeface="Times New Roman"/>
              </a:rPr>
              <a:t>value &gt; 0, nobody waiting </a:t>
            </a:r>
            <a:r>
              <a:rPr lang="en-IN" sz="800" spc="114" dirty="0">
                <a:latin typeface="Times New Roman"/>
                <a:cs typeface="Times New Roman"/>
              </a:rPr>
              <a:t>*/</a:t>
            </a:r>
            <a:endParaRPr lang="en-IN" sz="700" spc="70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en-IN" sz="700" spc="7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lang="en-IN" sz="700" spc="7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   /* value was &lt;= 0? Someone waiting*/</a:t>
            </a:r>
            <a:endParaRPr sz="7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900" spc="195" dirty="0" smtClean="0">
                <a:latin typeface="Times New Roman"/>
                <a:cs typeface="Times New Roman"/>
              </a:rPr>
              <a:t>  </a:t>
            </a:r>
            <a:r>
              <a:rPr sz="900" spc="195" dirty="0" smtClean="0">
                <a:latin typeface="Times New Roman"/>
                <a:cs typeface="Times New Roman"/>
              </a:rPr>
              <a:t>if </a:t>
            </a:r>
            <a:r>
              <a:rPr sz="900" spc="20" dirty="0" smtClean="0">
                <a:latin typeface="Times New Roman"/>
                <a:cs typeface="Times New Roman"/>
              </a:rPr>
              <a:t> </a:t>
            </a:r>
            <a:r>
              <a:rPr sz="900" spc="95" dirty="0">
                <a:latin typeface="Times New Roman"/>
                <a:cs typeface="Times New Roman"/>
              </a:rPr>
              <a:t>(</a:t>
            </a:r>
            <a:r>
              <a:rPr sz="900" spc="95" dirty="0" err="1">
                <a:latin typeface="Times New Roman"/>
                <a:cs typeface="Times New Roman"/>
              </a:rPr>
              <a:t>S.value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 smtClean="0">
                <a:latin typeface="Times New Roman"/>
                <a:cs typeface="Times New Roman"/>
              </a:rPr>
              <a:t>&lt;</a:t>
            </a:r>
            <a:r>
              <a:rPr lang="en-US" sz="900" spc="-45" dirty="0" smtClean="0">
                <a:latin typeface="Times New Roman"/>
                <a:cs typeface="Times New Roman"/>
              </a:rPr>
              <a:t>=</a:t>
            </a:r>
            <a:r>
              <a:rPr lang="en-IN" sz="900" spc="-45" dirty="0" smtClean="0">
                <a:latin typeface="Times New Roman"/>
                <a:cs typeface="Times New Roman"/>
              </a:rPr>
              <a:t> </a:t>
            </a:r>
            <a:r>
              <a:rPr sz="900" dirty="0" smtClean="0">
                <a:latin typeface="Times New Roman"/>
                <a:cs typeface="Times New Roman"/>
              </a:rPr>
              <a:t> </a:t>
            </a:r>
            <a:r>
              <a:rPr sz="900" spc="20" dirty="0" smtClean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endParaRPr sz="900" dirty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900" spc="15" dirty="0" smtClean="0">
                <a:latin typeface="Times New Roman"/>
                <a:cs typeface="Times New Roman"/>
              </a:rPr>
              <a:t>   P = </a:t>
            </a:r>
            <a:r>
              <a:rPr lang="en-IN" sz="900" spc="15" dirty="0" err="1" smtClean="0">
                <a:latin typeface="Times New Roman"/>
                <a:cs typeface="Times New Roman"/>
              </a:rPr>
              <a:t>dequeue</a:t>
            </a:r>
            <a:r>
              <a:rPr sz="900" spc="15" dirty="0" smtClean="0">
                <a:latin typeface="Times New Roman"/>
                <a:cs typeface="Times New Roman"/>
              </a:rPr>
              <a:t> </a:t>
            </a:r>
            <a:r>
              <a:rPr lang="en-IN" sz="900" spc="15" dirty="0" smtClean="0">
                <a:latin typeface="Times New Roman"/>
                <a:cs typeface="Times New Roman"/>
              </a:rPr>
              <a:t>(</a:t>
            </a:r>
            <a:r>
              <a:rPr sz="900" spc="85" dirty="0" smtClean="0">
                <a:latin typeface="Times New Roman"/>
                <a:cs typeface="Times New Roman"/>
              </a:rPr>
              <a:t>S.L</a:t>
            </a:r>
            <a:r>
              <a:rPr lang="en-IN" sz="900" spc="85" dirty="0" smtClean="0">
                <a:latin typeface="Times New Roman"/>
                <a:cs typeface="Times New Roman"/>
              </a:rPr>
              <a:t>)</a:t>
            </a:r>
            <a:r>
              <a:rPr sz="900" spc="85" dirty="0" smtClean="0">
                <a:latin typeface="Times New Roman"/>
                <a:cs typeface="Times New Roman"/>
              </a:rPr>
              <a:t>;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lang="en-IN" sz="900" spc="50" dirty="0" smtClean="0">
                <a:latin typeface="Times New Roman"/>
                <a:cs typeface="Times New Roman"/>
              </a:rPr>
              <a:t>   </a:t>
            </a:r>
          </a:p>
          <a:p>
            <a:pPr marL="132080" marR="5080">
              <a:lnSpc>
                <a:spcPct val="101499"/>
              </a:lnSpc>
            </a:pPr>
            <a:r>
              <a:rPr lang="en-IN" sz="900" spc="50" dirty="0">
                <a:latin typeface="Times New Roman"/>
                <a:cs typeface="Times New Roman"/>
              </a:rPr>
              <a:t> </a:t>
            </a:r>
            <a:r>
              <a:rPr lang="en-IN" sz="900" spc="50" dirty="0" smtClean="0">
                <a:latin typeface="Times New Roman"/>
                <a:cs typeface="Times New Roman"/>
              </a:rPr>
              <a:t> </a:t>
            </a:r>
            <a:r>
              <a:rPr sz="900" spc="50" dirty="0" smtClean="0">
                <a:latin typeface="Times New Roman"/>
                <a:cs typeface="Times New Roman"/>
              </a:rPr>
              <a:t>wakeup(P</a:t>
            </a:r>
            <a:r>
              <a:rPr sz="900" spc="50" dirty="0">
                <a:latin typeface="Times New Roman"/>
                <a:cs typeface="Times New Roman"/>
              </a:rPr>
              <a:t>);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900" spc="30" dirty="0" smtClean="0">
                <a:latin typeface="Times New Roman"/>
                <a:cs typeface="Times New Roman"/>
              </a:rPr>
              <a:t>   </a:t>
            </a:r>
            <a:r>
              <a:rPr sz="900" spc="30" dirty="0" smtClean="0">
                <a:latin typeface="Times New Roman"/>
                <a:cs typeface="Times New Roman"/>
              </a:rPr>
              <a:t>}</a:t>
            </a:r>
            <a:endParaRPr lang="en-IN" sz="900" spc="3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900" spc="30" dirty="0">
                <a:latin typeface="Times New Roman"/>
                <a:cs typeface="Times New Roman"/>
              </a:rPr>
              <a:t>}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258961465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Redefining the semaphore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2539157"/>
          </a:xfrm>
        </p:spPr>
        <p:txBody>
          <a:bodyPr/>
          <a:lstStyle/>
          <a:p>
            <a:r>
              <a:rPr lang="en-US" b="0" spc="80" dirty="0" err="1">
                <a:latin typeface="Times New Roman"/>
                <a:cs typeface="Times New Roman"/>
              </a:rPr>
              <a:t>typedef</a:t>
            </a:r>
            <a:r>
              <a:rPr lang="en-US" b="0" spc="80" dirty="0">
                <a:latin typeface="Times New Roman"/>
                <a:cs typeface="Times New Roman"/>
              </a:rPr>
              <a:t> </a:t>
            </a:r>
            <a:r>
              <a:rPr lang="en-US" b="0" spc="15" dirty="0">
                <a:latin typeface="Times New Roman"/>
                <a:cs typeface="Times New Roman"/>
              </a:rPr>
              <a:t> </a:t>
            </a:r>
            <a:r>
              <a:rPr lang="en-US" b="0" spc="135" dirty="0" err="1">
                <a:latin typeface="Times New Roman"/>
                <a:cs typeface="Times New Roman"/>
              </a:rPr>
              <a:t>struct</a:t>
            </a:r>
            <a:r>
              <a:rPr lang="en-US" b="0" dirty="0">
                <a:latin typeface="Times New Roman"/>
                <a:cs typeface="Times New Roman"/>
              </a:rPr>
              <a:t> </a:t>
            </a:r>
            <a:r>
              <a:rPr lang="en-US" b="0" spc="20" dirty="0">
                <a:latin typeface="Times New Roman"/>
                <a:cs typeface="Times New Roman"/>
              </a:rPr>
              <a:t> </a:t>
            </a:r>
            <a:r>
              <a:rPr lang="en-US" b="0" spc="110" dirty="0">
                <a:latin typeface="Cambria"/>
                <a:cs typeface="Cambria"/>
              </a:rPr>
              <a:t>{</a:t>
            </a:r>
            <a:r>
              <a:rPr lang="en-US" b="0" spc="150" dirty="0" err="1">
                <a:latin typeface="Times New Roman"/>
                <a:cs typeface="Times New Roman"/>
              </a:rPr>
              <a:t>int</a:t>
            </a:r>
            <a:r>
              <a:rPr lang="en-US" b="0" dirty="0">
                <a:latin typeface="Times New Roman"/>
                <a:cs typeface="Times New Roman"/>
              </a:rPr>
              <a:t> </a:t>
            </a:r>
            <a:r>
              <a:rPr lang="en-US" b="0" spc="15" dirty="0">
                <a:latin typeface="Times New Roman"/>
                <a:cs typeface="Times New Roman"/>
              </a:rPr>
              <a:t> </a:t>
            </a:r>
            <a:r>
              <a:rPr lang="en-US" b="0" spc="100" dirty="0">
                <a:latin typeface="Times New Roman"/>
                <a:cs typeface="Times New Roman"/>
              </a:rPr>
              <a:t>value;</a:t>
            </a:r>
            <a:r>
              <a:rPr lang="en-US" b="0" dirty="0">
                <a:latin typeface="Times New Roman"/>
                <a:cs typeface="Times New Roman"/>
              </a:rPr>
              <a:t> </a:t>
            </a:r>
            <a:r>
              <a:rPr lang="en-US" b="0" spc="20" dirty="0">
                <a:latin typeface="Times New Roman"/>
                <a:cs typeface="Times New Roman"/>
              </a:rPr>
              <a:t> </a:t>
            </a:r>
            <a:r>
              <a:rPr lang="en-US" b="0" spc="135" dirty="0" err="1">
                <a:latin typeface="Times New Roman"/>
                <a:cs typeface="Times New Roman"/>
              </a:rPr>
              <a:t>struct</a:t>
            </a:r>
            <a:r>
              <a:rPr lang="en-US" b="0" dirty="0">
                <a:latin typeface="Times New Roman"/>
                <a:cs typeface="Times New Roman"/>
              </a:rPr>
              <a:t> </a:t>
            </a:r>
            <a:r>
              <a:rPr lang="en-US" b="0" spc="20" dirty="0">
                <a:latin typeface="Times New Roman"/>
                <a:cs typeface="Times New Roman"/>
              </a:rPr>
              <a:t> </a:t>
            </a:r>
            <a:r>
              <a:rPr lang="en-US" b="0" spc="80" dirty="0">
                <a:latin typeface="Times New Roman"/>
                <a:cs typeface="Times New Roman"/>
              </a:rPr>
              <a:t>process</a:t>
            </a:r>
            <a:r>
              <a:rPr lang="en-US" b="0" dirty="0">
                <a:latin typeface="Times New Roman"/>
                <a:cs typeface="Times New Roman"/>
              </a:rPr>
              <a:t> </a:t>
            </a:r>
            <a:r>
              <a:rPr lang="en-US" b="0" spc="20" dirty="0">
                <a:latin typeface="Times New Roman"/>
                <a:cs typeface="Times New Roman"/>
              </a:rPr>
              <a:t> </a:t>
            </a:r>
            <a:r>
              <a:rPr lang="en-US" b="0" spc="50" dirty="0">
                <a:latin typeface="Times New Roman"/>
                <a:cs typeface="Times New Roman"/>
              </a:rPr>
              <a:t>*L;</a:t>
            </a:r>
            <a:r>
              <a:rPr lang="en-US" b="0" spc="110" dirty="0">
                <a:latin typeface="Cambria"/>
                <a:cs typeface="Cambria"/>
              </a:rPr>
              <a:t>}</a:t>
            </a:r>
            <a:r>
              <a:rPr lang="en-US" b="0" dirty="0">
                <a:latin typeface="Cambria"/>
                <a:cs typeface="Cambria"/>
              </a:rPr>
              <a:t> </a:t>
            </a:r>
            <a:r>
              <a:rPr lang="en-US" b="0" spc="75" dirty="0">
                <a:latin typeface="Cambria"/>
                <a:cs typeface="Cambria"/>
              </a:rPr>
              <a:t> </a:t>
            </a:r>
            <a:r>
              <a:rPr lang="en-US" b="0" spc="50" dirty="0">
                <a:latin typeface="Times New Roman"/>
                <a:cs typeface="Times New Roman"/>
              </a:rPr>
              <a:t>semaphore</a:t>
            </a:r>
            <a:r>
              <a:rPr lang="en-US" b="0" spc="50" dirty="0" smtClean="0">
                <a:latin typeface="Times New Roman"/>
                <a:cs typeface="Times New Roman"/>
              </a:rPr>
              <a:t>;</a:t>
            </a:r>
          </a:p>
          <a:p>
            <a:endParaRPr lang="en-US" b="0" spc="50" dirty="0">
              <a:latin typeface="Times New Roman"/>
              <a:cs typeface="Times New Roman"/>
            </a:endParaRPr>
          </a:p>
          <a:p>
            <a:r>
              <a:rPr lang="en-US" b="0" spc="50" dirty="0" smtClean="0">
                <a:latin typeface="Times New Roman"/>
                <a:cs typeface="Times New Roman"/>
              </a:rPr>
              <a:t>Earlier, semaphore was a shared integer </a:t>
            </a:r>
          </a:p>
          <a:p>
            <a:endParaRPr lang="en-US" b="0" spc="50" dirty="0">
              <a:latin typeface="Times New Roman"/>
              <a:cs typeface="Times New Roman"/>
            </a:endParaRPr>
          </a:p>
          <a:p>
            <a:r>
              <a:rPr lang="en-US" b="0" spc="50" dirty="0" smtClean="0">
                <a:latin typeface="Times New Roman"/>
                <a:cs typeface="Times New Roman"/>
              </a:rPr>
              <a:t>Now, additionally, a queue associated with each semaphore</a:t>
            </a:r>
          </a:p>
          <a:p>
            <a:endParaRPr lang="en-US" b="0" spc="50" dirty="0">
              <a:latin typeface="Times New Roman"/>
              <a:cs typeface="Times New Roman"/>
            </a:endParaRPr>
          </a:p>
          <a:p>
            <a:r>
              <a:rPr lang="en-US" b="0" spc="50" dirty="0" smtClean="0">
                <a:latin typeface="Times New Roman"/>
                <a:cs typeface="Times New Roman"/>
              </a:rPr>
              <a:t>How to implement the new semaphore?</a:t>
            </a:r>
          </a:p>
          <a:p>
            <a:endParaRPr lang="en-US" b="0" spc="50" dirty="0">
              <a:latin typeface="Times New Roman"/>
              <a:cs typeface="Times New Roman"/>
            </a:endParaRPr>
          </a:p>
          <a:p>
            <a:r>
              <a:rPr lang="en-US" b="0" spc="50" dirty="0" smtClean="0">
                <a:latin typeface="Times New Roman"/>
                <a:cs typeface="Times New Roman"/>
              </a:rPr>
              <a:t>Value and S.L are shared – need to ensure atomicity of both</a:t>
            </a:r>
          </a:p>
          <a:p>
            <a:endParaRPr lang="en-US" b="0" spc="50" dirty="0">
              <a:latin typeface="Times New Roman"/>
              <a:cs typeface="Times New Roman"/>
            </a:endParaRPr>
          </a:p>
          <a:p>
            <a:r>
              <a:rPr lang="en-US" b="0" spc="50" dirty="0" smtClean="0">
                <a:latin typeface="Times New Roman"/>
                <a:cs typeface="Times New Roman"/>
              </a:rPr>
              <a:t>Both may be concurrently manipulated </a:t>
            </a:r>
            <a:r>
              <a:rPr lang="en-US" b="0" spc="50" dirty="0" smtClean="0">
                <a:latin typeface="Times New Roman"/>
                <a:cs typeface="Times New Roman"/>
                <a:sym typeface="Wingdings" panose="05000000000000000000" pitchFamily="2" charset="2"/>
              </a:rPr>
              <a:t> make sure operations on these need to be safely done</a:t>
            </a:r>
            <a:endParaRPr lang="en-US" b="0" spc="50" dirty="0">
              <a:latin typeface="Times New Roman"/>
              <a:cs typeface="Times New Roman"/>
            </a:endParaRPr>
          </a:p>
          <a:p>
            <a:endParaRPr lang="en-US" b="0" dirty="0">
              <a:latin typeface="Times New Roman"/>
              <a:cs typeface="Times New Roman"/>
            </a:endParaRP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87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15" dirty="0" smtClean="0"/>
              <a:t>Semaphore Implementation (Blocking) – First attempt</a:t>
            </a:r>
            <a:endParaRPr spc="10" dirty="0"/>
          </a:p>
        </p:txBody>
      </p:sp>
      <p:sp>
        <p:nvSpPr>
          <p:cNvPr id="5" name="object 5"/>
          <p:cNvSpPr txBox="1"/>
          <p:nvPr/>
        </p:nvSpPr>
        <p:spPr>
          <a:xfrm>
            <a:off x="79105" y="2396637"/>
            <a:ext cx="4446269" cy="9541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900" spc="-10" dirty="0" smtClean="0">
                <a:latin typeface="Arial"/>
                <a:cs typeface="Arial"/>
              </a:rPr>
              <a:t>S initialized to 1</a:t>
            </a:r>
          </a:p>
          <a:p>
            <a:pPr marL="12700">
              <a:lnSpc>
                <a:spcPct val="100000"/>
              </a:lnSpc>
            </a:pPr>
            <a:endParaRPr lang="en-US" sz="900" spc="-10" dirty="0" smtClean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1050" b="1" u="sng" spc="-1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Does not work </a:t>
            </a:r>
            <a:r>
              <a:rPr lang="en-US" sz="1050" b="1" spc="-1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cs typeface="Arial"/>
              </a:rPr>
              <a:t>– lack of progress</a:t>
            </a:r>
          </a:p>
          <a:p>
            <a:pPr marL="12700">
              <a:lnSpc>
                <a:spcPct val="100000"/>
              </a:lnSpc>
            </a:pPr>
            <a:endParaRPr lang="en-US" sz="900" spc="-1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US" sz="900" spc="-10" dirty="0" smtClean="0">
                <a:latin typeface="Arial"/>
                <a:cs typeface="Arial"/>
              </a:rPr>
              <a:t>If we surround the code with entry and exit, </a:t>
            </a:r>
            <a:r>
              <a:rPr lang="en-US" sz="900" u="sng" spc="-10" dirty="0" smtClean="0">
                <a:latin typeface="Arial"/>
                <a:cs typeface="Arial"/>
              </a:rPr>
              <a:t>second waiter may get stuck and sleep before releasing</a:t>
            </a:r>
            <a:r>
              <a:rPr lang="en-US" sz="900" spc="-10" dirty="0" smtClean="0">
                <a:latin typeface="Arial"/>
                <a:cs typeface="Arial"/>
              </a:rPr>
              <a:t>, while signaler cannot enter since bakery is occupied by second process</a:t>
            </a:r>
            <a:endParaRPr sz="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"/>
              </a:spcBef>
            </a:pPr>
            <a:endParaRPr sz="7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2031" y="444523"/>
            <a:ext cx="1516507" cy="12507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900" spc="114" dirty="0">
                <a:solidFill>
                  <a:srgbClr val="FF0000"/>
                </a:solidFill>
                <a:latin typeface="Times New Roman"/>
                <a:cs typeface="Times New Roman"/>
              </a:rPr>
              <a:t>w</a:t>
            </a:r>
            <a:r>
              <a:rPr lang="en-US" sz="900" spc="114" dirty="0" smtClean="0">
                <a:solidFill>
                  <a:srgbClr val="FF0000"/>
                </a:solidFill>
                <a:latin typeface="Times New Roman"/>
                <a:cs typeface="Times New Roman"/>
              </a:rPr>
              <a:t>ait(S) {</a:t>
            </a:r>
          </a:p>
          <a:p>
            <a:pPr marL="12700">
              <a:lnSpc>
                <a:spcPct val="100000"/>
              </a:lnSpc>
            </a:pPr>
            <a:r>
              <a:rPr lang="en-US" sz="900" spc="114" dirty="0" smtClean="0">
                <a:solidFill>
                  <a:srgbClr val="FF0000"/>
                </a:solidFill>
                <a:latin typeface="Times New Roman"/>
                <a:cs typeface="Times New Roman"/>
              </a:rPr>
              <a:t>   entry();</a:t>
            </a:r>
          </a:p>
          <a:p>
            <a:pPr marL="12700">
              <a:lnSpc>
                <a:spcPct val="100000"/>
              </a:lnSpc>
            </a:pPr>
            <a:r>
              <a:rPr lang="en-IN" sz="900" spc="114" dirty="0" smtClean="0">
                <a:latin typeface="Times New Roman"/>
                <a:cs typeface="Times New Roman"/>
              </a:rPr>
              <a:t>   </a:t>
            </a:r>
            <a:r>
              <a:rPr sz="900" spc="114" dirty="0" err="1" smtClean="0">
                <a:latin typeface="Times New Roman"/>
                <a:cs typeface="Times New Roman"/>
              </a:rPr>
              <a:t>S.value</a:t>
            </a:r>
            <a:r>
              <a:rPr sz="900" spc="114" dirty="0" smtClean="0">
                <a:latin typeface="Times New Roman"/>
                <a:cs typeface="Times New Roman"/>
              </a:rPr>
              <a:t>-</a:t>
            </a:r>
            <a:r>
              <a:rPr sz="900" spc="114" dirty="0">
                <a:latin typeface="Times New Roman"/>
                <a:cs typeface="Times New Roman"/>
              </a:rPr>
              <a:t>-;</a:t>
            </a:r>
            <a:endParaRPr sz="900" dirty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IN" sz="900" spc="195" dirty="0" smtClean="0">
                <a:latin typeface="Times New Roman"/>
                <a:cs typeface="Times New Roman"/>
              </a:rPr>
              <a:t>  </a:t>
            </a:r>
            <a:r>
              <a:rPr sz="900" spc="195" dirty="0" smtClean="0">
                <a:latin typeface="Times New Roman"/>
                <a:cs typeface="Times New Roman"/>
              </a:rPr>
              <a:t>if </a:t>
            </a:r>
            <a:r>
              <a:rPr sz="900" spc="95" dirty="0" smtClean="0">
                <a:latin typeface="Times New Roman"/>
                <a:cs typeface="Times New Roman"/>
              </a:rPr>
              <a:t>(</a:t>
            </a:r>
            <a:r>
              <a:rPr sz="900" spc="95" dirty="0">
                <a:latin typeface="Times New Roman"/>
                <a:cs typeface="Times New Roman"/>
              </a:rPr>
              <a:t>S.value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&lt;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 </a:t>
            </a:r>
            <a:r>
              <a:rPr lang="en-IN" sz="900" spc="30" dirty="0" smtClean="0">
                <a:latin typeface="Times New Roman"/>
                <a:cs typeface="Times New Roman"/>
              </a:rPr>
              <a:t>  </a:t>
            </a:r>
          </a:p>
          <a:p>
            <a:pPr marL="132080" marR="5080" indent="-120014">
              <a:lnSpc>
                <a:spcPct val="101499"/>
              </a:lnSpc>
            </a:pPr>
            <a:r>
              <a:rPr lang="en-IN" sz="900" spc="30" dirty="0">
                <a:latin typeface="Times New Roman"/>
                <a:cs typeface="Times New Roman"/>
              </a:rPr>
              <a:t> </a:t>
            </a:r>
            <a:r>
              <a:rPr lang="en-IN" sz="900" spc="30" dirty="0" smtClean="0">
                <a:latin typeface="Times New Roman"/>
                <a:cs typeface="Times New Roman"/>
              </a:rPr>
              <a:t>       </a:t>
            </a:r>
            <a:r>
              <a:rPr lang="en-IN" sz="900" spc="30" dirty="0" err="1" smtClean="0">
                <a:latin typeface="Times New Roman"/>
                <a:cs typeface="Times New Roman"/>
              </a:rPr>
              <a:t>enqueue</a:t>
            </a:r>
            <a:r>
              <a:rPr lang="en-IN" sz="900" dirty="0" smtClean="0">
                <a:latin typeface="Times New Roman"/>
                <a:cs typeface="Times New Roman"/>
              </a:rPr>
              <a:t> </a:t>
            </a:r>
            <a:r>
              <a:rPr lang="en-IN" sz="900" dirty="0">
                <a:latin typeface="Times New Roman"/>
                <a:cs typeface="Times New Roman"/>
              </a:rPr>
              <a:t>(P,</a:t>
            </a:r>
            <a:r>
              <a:rPr lang="en-IN" sz="900" spc="20" dirty="0">
                <a:latin typeface="Times New Roman"/>
                <a:cs typeface="Times New Roman"/>
              </a:rPr>
              <a:t> </a:t>
            </a:r>
            <a:r>
              <a:rPr lang="en-IN" sz="900" spc="85" dirty="0">
                <a:latin typeface="Times New Roman"/>
                <a:cs typeface="Times New Roman"/>
              </a:rPr>
              <a:t>S.L);</a:t>
            </a:r>
            <a:endParaRPr lang="en-IN" sz="900" spc="50" dirty="0" smtClean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IN" sz="900" spc="50" dirty="0">
                <a:latin typeface="Times New Roman"/>
                <a:cs typeface="Times New Roman"/>
              </a:rPr>
              <a:t> </a:t>
            </a:r>
            <a:r>
              <a:rPr lang="en-IN" sz="900" spc="50" dirty="0" smtClean="0">
                <a:latin typeface="Times New Roman"/>
                <a:cs typeface="Times New Roman"/>
              </a:rPr>
              <a:t>      </a:t>
            </a:r>
            <a:r>
              <a:rPr sz="900" spc="130" dirty="0" smtClean="0">
                <a:latin typeface="Times New Roman"/>
                <a:cs typeface="Times New Roman"/>
              </a:rPr>
              <a:t>sleep</a:t>
            </a:r>
            <a:r>
              <a:rPr sz="900" spc="130" dirty="0">
                <a:latin typeface="Times New Roman"/>
                <a:cs typeface="Times New Roman"/>
              </a:rPr>
              <a:t>();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900" spc="30" dirty="0" smtClean="0">
                <a:latin typeface="Times New Roman"/>
                <a:cs typeface="Times New Roman"/>
              </a:rPr>
              <a:t>   </a:t>
            </a:r>
            <a:r>
              <a:rPr sz="900" spc="30" dirty="0" smtClean="0">
                <a:latin typeface="Times New Roman"/>
                <a:cs typeface="Times New Roman"/>
              </a:rPr>
              <a:t>}</a:t>
            </a:r>
            <a:endParaRPr lang="en-US" sz="900" spc="3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spc="3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  exit();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spc="3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9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20843" y="444523"/>
            <a:ext cx="1950166" cy="12493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900" spc="70" dirty="0" smtClean="0">
                <a:solidFill>
                  <a:srgbClr val="FF0000"/>
                </a:solidFill>
                <a:latin typeface="Times New Roman"/>
                <a:cs typeface="Times New Roman"/>
              </a:rPr>
              <a:t>signal (S) {</a:t>
            </a:r>
          </a:p>
          <a:p>
            <a:pPr marL="12700">
              <a:lnSpc>
                <a:spcPct val="100000"/>
              </a:lnSpc>
            </a:pPr>
            <a:r>
              <a:rPr lang="en-US" sz="900" spc="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900" spc="7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  entry();</a:t>
            </a:r>
          </a:p>
          <a:p>
            <a:pPr marL="12700">
              <a:lnSpc>
                <a:spcPct val="100000"/>
              </a:lnSpc>
            </a:pPr>
            <a:r>
              <a:rPr lang="en-IN" sz="900" spc="70" dirty="0" smtClean="0">
                <a:latin typeface="Times New Roman"/>
                <a:cs typeface="Times New Roman"/>
              </a:rPr>
              <a:t>    </a:t>
            </a:r>
            <a:r>
              <a:rPr sz="900" spc="70" dirty="0" err="1" smtClean="0">
                <a:latin typeface="Times New Roman"/>
                <a:cs typeface="Times New Roman"/>
              </a:rPr>
              <a:t>S.value</a:t>
            </a:r>
            <a:r>
              <a:rPr sz="900" spc="70" dirty="0">
                <a:latin typeface="Times New Roman"/>
                <a:cs typeface="Times New Roman"/>
              </a:rPr>
              <a:t>++;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900" spc="195" dirty="0" smtClean="0">
                <a:latin typeface="Times New Roman"/>
                <a:cs typeface="Times New Roman"/>
              </a:rPr>
              <a:t>   </a:t>
            </a:r>
            <a:r>
              <a:rPr sz="900" spc="195" dirty="0" smtClean="0">
                <a:latin typeface="Times New Roman"/>
                <a:cs typeface="Times New Roman"/>
              </a:rPr>
              <a:t>if </a:t>
            </a:r>
            <a:r>
              <a:rPr sz="900" spc="95" dirty="0" smtClean="0">
                <a:latin typeface="Times New Roman"/>
                <a:cs typeface="Times New Roman"/>
              </a:rPr>
              <a:t>(</a:t>
            </a:r>
            <a:r>
              <a:rPr sz="900" spc="95" dirty="0">
                <a:latin typeface="Times New Roman"/>
                <a:cs typeface="Times New Roman"/>
              </a:rPr>
              <a:t>S.value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&lt;=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endParaRPr sz="900" dirty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900" spc="15" dirty="0" smtClean="0">
                <a:latin typeface="Times New Roman"/>
                <a:cs typeface="Times New Roman"/>
              </a:rPr>
              <a:t>      P </a:t>
            </a:r>
            <a:r>
              <a:rPr lang="en-IN" sz="900" spc="15" dirty="0">
                <a:latin typeface="Times New Roman"/>
                <a:cs typeface="Times New Roman"/>
              </a:rPr>
              <a:t>= </a:t>
            </a:r>
            <a:r>
              <a:rPr lang="en-IN" sz="900" spc="15" dirty="0" err="1">
                <a:latin typeface="Times New Roman"/>
                <a:cs typeface="Times New Roman"/>
              </a:rPr>
              <a:t>dequeue</a:t>
            </a:r>
            <a:r>
              <a:rPr lang="en-IN" sz="900" spc="15" dirty="0">
                <a:latin typeface="Times New Roman"/>
                <a:cs typeface="Times New Roman"/>
              </a:rPr>
              <a:t> (</a:t>
            </a:r>
            <a:r>
              <a:rPr lang="en-IN" sz="900" spc="85" dirty="0">
                <a:latin typeface="Times New Roman"/>
                <a:cs typeface="Times New Roman"/>
              </a:rPr>
              <a:t>S.L);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lang="en-IN" sz="900" spc="50" dirty="0" smtClean="0">
                <a:latin typeface="Times New Roman"/>
                <a:cs typeface="Times New Roman"/>
              </a:rPr>
              <a:t>     </a:t>
            </a:r>
          </a:p>
          <a:p>
            <a:pPr marL="132080" marR="5080">
              <a:lnSpc>
                <a:spcPct val="101499"/>
              </a:lnSpc>
            </a:pPr>
            <a:r>
              <a:rPr lang="en-IN" sz="900" spc="50" dirty="0">
                <a:latin typeface="Times New Roman"/>
                <a:cs typeface="Times New Roman"/>
              </a:rPr>
              <a:t> </a:t>
            </a:r>
            <a:r>
              <a:rPr lang="en-IN" sz="900" spc="50" dirty="0" smtClean="0">
                <a:latin typeface="Times New Roman"/>
                <a:cs typeface="Times New Roman"/>
              </a:rPr>
              <a:t>    </a:t>
            </a:r>
            <a:r>
              <a:rPr sz="900" spc="50" dirty="0" smtClean="0">
                <a:latin typeface="Times New Roman"/>
                <a:cs typeface="Times New Roman"/>
              </a:rPr>
              <a:t>wakeup(P);</a:t>
            </a:r>
            <a:r>
              <a:rPr lang="en-IN" sz="900" spc="50" dirty="0" smtClean="0">
                <a:latin typeface="Times New Roman"/>
                <a:cs typeface="Times New Roman"/>
              </a:rPr>
              <a:t> 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900" spc="30" dirty="0" smtClean="0">
                <a:latin typeface="Times New Roman"/>
                <a:cs typeface="Times New Roman"/>
              </a:rPr>
              <a:t>     </a:t>
            </a:r>
            <a:r>
              <a:rPr sz="900" spc="30" dirty="0" smtClean="0">
                <a:latin typeface="Times New Roman"/>
                <a:cs typeface="Times New Roman"/>
              </a:rPr>
              <a:t>}</a:t>
            </a:r>
            <a:endParaRPr lang="en-US" sz="900" spc="3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spc="3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    exit();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z="900" spc="30" dirty="0">
                <a:solidFill>
                  <a:srgbClr val="FF0000"/>
                </a:solidFill>
                <a:latin typeface="Times New Roman"/>
                <a:cs typeface="Times New Roman"/>
              </a:rPr>
              <a:t>}</a:t>
            </a:r>
            <a:endParaRPr sz="9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19 / 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4231" y="1749923"/>
            <a:ext cx="2305050" cy="5995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lang="en-US" sz="700" u="sng" dirty="0"/>
              <a:t>Code for P[</a:t>
            </a:r>
            <a:r>
              <a:rPr lang="en-US" sz="700" u="sng" dirty="0" err="1"/>
              <a:t>i</a:t>
            </a:r>
            <a:r>
              <a:rPr lang="en-US" sz="700" u="sng" dirty="0"/>
              <a:t>]:</a:t>
            </a:r>
          </a:p>
          <a:p>
            <a:pPr marL="12700" marR="5080">
              <a:lnSpc>
                <a:spcPct val="102699"/>
              </a:lnSpc>
            </a:pPr>
            <a:r>
              <a:rPr lang="en-US" sz="800" i="1" spc="-55" dirty="0" smtClean="0">
                <a:latin typeface="Trebuchet MS"/>
                <a:cs typeface="Trebuchet MS"/>
              </a:rPr>
              <a:t>wait</a:t>
            </a:r>
            <a:r>
              <a:rPr lang="en-US" sz="800" i="1" spc="-229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 </a:t>
            </a:r>
          </a:p>
          <a:p>
            <a:pPr marL="12700" marR="5080">
              <a:lnSpc>
                <a:spcPct val="102699"/>
              </a:lnSpc>
            </a:pPr>
            <a:r>
              <a:rPr lang="en-US" sz="800" i="1" spc="-5" dirty="0">
                <a:latin typeface="Arial"/>
                <a:cs typeface="Arial"/>
              </a:rPr>
              <a:t>     </a:t>
            </a:r>
            <a:r>
              <a:rPr lang="en-US" sz="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  <a:endParaRPr lang="en-US" sz="5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700" marR="5080">
              <a:lnSpc>
                <a:spcPct val="102699"/>
              </a:lnSpc>
            </a:pPr>
            <a:r>
              <a:rPr lang="en-US" sz="800" i="1" spc="-25" dirty="0" smtClean="0">
                <a:latin typeface="Trebuchet MS"/>
                <a:cs typeface="Trebuchet MS"/>
              </a:rPr>
              <a:t>signal</a:t>
            </a:r>
            <a:r>
              <a:rPr lang="en-US" sz="800" i="1" spc="-225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</a:t>
            </a:r>
            <a:endParaRPr lang="en-US" sz="800" dirty="0">
              <a:latin typeface="Arial"/>
              <a:cs typeface="Arial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36469" y="1710069"/>
            <a:ext cx="2305050" cy="61549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lang="en-US" sz="800" u="sng" dirty="0"/>
              <a:t>Code for </a:t>
            </a:r>
            <a:r>
              <a:rPr lang="en-US" sz="800" u="sng" dirty="0" smtClean="0"/>
              <a:t>P[</a:t>
            </a:r>
            <a:r>
              <a:rPr lang="en-US" sz="800" u="sng" dirty="0"/>
              <a:t>j</a:t>
            </a:r>
            <a:r>
              <a:rPr lang="en-US" sz="800" u="sng" dirty="0" smtClean="0"/>
              <a:t>]:</a:t>
            </a:r>
            <a:endParaRPr lang="en-US" sz="800" u="sng" dirty="0"/>
          </a:p>
          <a:p>
            <a:pPr marL="12700" marR="5080">
              <a:lnSpc>
                <a:spcPct val="102699"/>
              </a:lnSpc>
            </a:pPr>
            <a:r>
              <a:rPr lang="en-US" sz="800" i="1" spc="-55" dirty="0" smtClean="0">
                <a:latin typeface="Trebuchet MS"/>
                <a:cs typeface="Trebuchet MS"/>
              </a:rPr>
              <a:t>wait</a:t>
            </a:r>
            <a:r>
              <a:rPr lang="en-US" sz="800" i="1" spc="-229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 </a:t>
            </a:r>
          </a:p>
          <a:p>
            <a:pPr marL="12700" marR="5080">
              <a:lnSpc>
                <a:spcPct val="102699"/>
              </a:lnSpc>
            </a:pPr>
            <a:r>
              <a:rPr lang="en-US" sz="800" i="1" spc="-5" dirty="0">
                <a:latin typeface="Arial"/>
                <a:cs typeface="Arial"/>
              </a:rPr>
              <a:t>      </a:t>
            </a:r>
            <a:r>
              <a:rPr lang="en-US" sz="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  <a:endParaRPr lang="en-US" sz="5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700" marR="5080">
              <a:lnSpc>
                <a:spcPct val="102699"/>
              </a:lnSpc>
            </a:pPr>
            <a:r>
              <a:rPr lang="en-US" sz="800" i="1" spc="-25" dirty="0" smtClean="0">
                <a:latin typeface="Trebuchet MS"/>
                <a:cs typeface="Trebuchet MS"/>
              </a:rPr>
              <a:t>signal</a:t>
            </a:r>
            <a:r>
              <a:rPr lang="en-US" sz="800" i="1" spc="-225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</a:t>
            </a:r>
            <a:endParaRPr lang="en-US" sz="800" dirty="0">
              <a:latin typeface="Arial"/>
              <a:cs typeface="Arial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95250" y="1749923"/>
            <a:ext cx="4311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79105" y="2325559"/>
            <a:ext cx="4311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48211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15" dirty="0" smtClean="0"/>
              <a:t>Second Attempt</a:t>
            </a:r>
            <a:endParaRPr spc="10" dirty="0"/>
          </a:p>
        </p:txBody>
      </p:sp>
      <p:sp>
        <p:nvSpPr>
          <p:cNvPr id="5" name="object 5"/>
          <p:cNvSpPr txBox="1"/>
          <p:nvPr/>
        </p:nvSpPr>
        <p:spPr>
          <a:xfrm>
            <a:off x="234130" y="652287"/>
            <a:ext cx="431355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56130" algn="l"/>
              </a:tabLst>
            </a:pPr>
            <a:r>
              <a:rPr lang="en-US" sz="900" dirty="0" smtClean="0">
                <a:latin typeface="Arial"/>
                <a:cs typeface="Arial"/>
              </a:rPr>
              <a:t>                                                 </a:t>
            </a:r>
            <a:endParaRPr sz="900" u="sng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281" y="925625"/>
            <a:ext cx="1280795" cy="897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700" spc="114" dirty="0" smtClean="0">
                <a:solidFill>
                  <a:srgbClr val="FF0000"/>
                </a:solidFill>
                <a:latin typeface="Times New Roman"/>
                <a:cs typeface="Times New Roman"/>
              </a:rPr>
              <a:t>entry1();</a:t>
            </a:r>
          </a:p>
          <a:p>
            <a:pPr marL="12700">
              <a:lnSpc>
                <a:spcPct val="100000"/>
              </a:lnSpc>
            </a:pPr>
            <a:r>
              <a:rPr sz="700" spc="114" dirty="0" err="1" smtClean="0">
                <a:latin typeface="Times New Roman"/>
                <a:cs typeface="Times New Roman"/>
              </a:rPr>
              <a:t>S.value</a:t>
            </a:r>
            <a:r>
              <a:rPr sz="700" spc="114" dirty="0" smtClean="0">
                <a:latin typeface="Times New Roman"/>
                <a:cs typeface="Times New Roman"/>
              </a:rPr>
              <a:t>--;</a:t>
            </a:r>
            <a:endParaRPr lang="en-US" sz="700" spc="114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sz="700" dirty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sz="700" spc="195" dirty="0">
                <a:latin typeface="Times New Roman"/>
                <a:cs typeface="Times New Roman"/>
              </a:rPr>
              <a:t>if 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(S.value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-45" dirty="0">
                <a:latin typeface="Times New Roman"/>
                <a:cs typeface="Times New Roman"/>
              </a:rPr>
              <a:t>&lt;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90" dirty="0">
                <a:latin typeface="Times New Roman"/>
                <a:cs typeface="Times New Roman"/>
              </a:rPr>
              <a:t>0)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{ </a:t>
            </a:r>
            <a:endParaRPr lang="en-US" sz="700" spc="30" dirty="0" smtClean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IN" sz="700" spc="30" dirty="0" smtClean="0">
                <a:latin typeface="Times New Roman"/>
                <a:cs typeface="Times New Roman"/>
              </a:rPr>
              <a:t>    </a:t>
            </a:r>
            <a:r>
              <a:rPr lang="en-IN" sz="800" spc="30" dirty="0">
                <a:latin typeface="Times New Roman"/>
                <a:cs typeface="Times New Roman"/>
              </a:rPr>
              <a:t> </a:t>
            </a:r>
            <a:r>
              <a:rPr lang="en-IN" sz="800" spc="30" dirty="0" err="1">
                <a:latin typeface="Times New Roman"/>
                <a:cs typeface="Times New Roman"/>
              </a:rPr>
              <a:t>enqueue</a:t>
            </a:r>
            <a:r>
              <a:rPr lang="en-IN" sz="800" dirty="0">
                <a:latin typeface="Times New Roman"/>
                <a:cs typeface="Times New Roman"/>
              </a:rPr>
              <a:t> (P,</a:t>
            </a:r>
            <a:r>
              <a:rPr lang="en-IN" sz="800" spc="20" dirty="0">
                <a:latin typeface="Times New Roman"/>
                <a:cs typeface="Times New Roman"/>
              </a:rPr>
              <a:t> </a:t>
            </a:r>
            <a:r>
              <a:rPr lang="en-IN" sz="800" spc="85" dirty="0">
                <a:latin typeface="Times New Roman"/>
                <a:cs typeface="Times New Roman"/>
              </a:rPr>
              <a:t>S.L);</a:t>
            </a:r>
            <a:endParaRPr lang="en-US" sz="700" spc="50" dirty="0" smtClean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US" sz="7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700" spc="5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  exit1();</a:t>
            </a:r>
          </a:p>
          <a:p>
            <a:pPr marL="132080" marR="5080" indent="-120014">
              <a:lnSpc>
                <a:spcPct val="101499"/>
              </a:lnSpc>
            </a:pPr>
            <a:r>
              <a:rPr lang="en-US" sz="700" spc="50" dirty="0">
                <a:latin typeface="Times New Roman"/>
                <a:cs typeface="Times New Roman"/>
              </a:rPr>
              <a:t> </a:t>
            </a:r>
            <a:r>
              <a:rPr lang="en-US" sz="700" spc="50" dirty="0" smtClean="0">
                <a:latin typeface="Times New Roman"/>
                <a:cs typeface="Times New Roman"/>
              </a:rPr>
              <a:t>   </a:t>
            </a:r>
            <a:r>
              <a:rPr sz="700" spc="130" dirty="0" smtClean="0">
                <a:latin typeface="Times New Roman"/>
                <a:cs typeface="Times New Roman"/>
              </a:rPr>
              <a:t>sleep</a:t>
            </a:r>
            <a:r>
              <a:rPr sz="700" spc="130" dirty="0">
                <a:latin typeface="Times New Roman"/>
                <a:cs typeface="Times New Roman"/>
              </a:rPr>
              <a:t>();</a:t>
            </a:r>
            <a:endParaRPr sz="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00" spc="30" dirty="0" smtClean="0">
                <a:latin typeface="Times New Roman"/>
                <a:cs typeface="Times New Roman"/>
              </a:rPr>
              <a:t>}</a:t>
            </a:r>
            <a:endParaRPr lang="en-US" sz="700" spc="30" dirty="0" smtClean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378" y="2032739"/>
            <a:ext cx="1699260" cy="98828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7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7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  <a:endParaRPr lang="en-US" sz="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700">
              <a:lnSpc>
                <a:spcPct val="100000"/>
              </a:lnSpc>
            </a:pPr>
            <a:r>
              <a:rPr lang="en-US" sz="700" spc="70" dirty="0" smtClean="0">
                <a:solidFill>
                  <a:srgbClr val="FF0000"/>
                </a:solidFill>
                <a:latin typeface="Times New Roman"/>
                <a:cs typeface="Times New Roman"/>
              </a:rPr>
              <a:t>entry1();</a:t>
            </a:r>
          </a:p>
          <a:p>
            <a:pPr marL="12700">
              <a:lnSpc>
                <a:spcPct val="100000"/>
              </a:lnSpc>
            </a:pPr>
            <a:r>
              <a:rPr sz="700" spc="70" dirty="0" err="1" smtClean="0">
                <a:latin typeface="Times New Roman"/>
                <a:cs typeface="Times New Roman"/>
              </a:rPr>
              <a:t>S.value</a:t>
            </a:r>
            <a:r>
              <a:rPr sz="700" spc="70" dirty="0" smtClean="0">
                <a:latin typeface="Times New Roman"/>
                <a:cs typeface="Times New Roman"/>
              </a:rPr>
              <a:t>++;</a:t>
            </a:r>
            <a:endParaRPr lang="en-US" sz="700" spc="7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endParaRPr lang="en-US" sz="700" spc="195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00" spc="195" dirty="0" smtClean="0">
                <a:latin typeface="Times New Roman"/>
                <a:cs typeface="Times New Roman"/>
              </a:rPr>
              <a:t>if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(S.value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-45" dirty="0">
                <a:latin typeface="Times New Roman"/>
                <a:cs typeface="Times New Roman"/>
              </a:rPr>
              <a:t>&lt;=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90" dirty="0">
                <a:latin typeface="Times New Roman"/>
                <a:cs typeface="Times New Roman"/>
              </a:rPr>
              <a:t>0)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{</a:t>
            </a:r>
            <a:endParaRPr sz="700" dirty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800" spc="15" dirty="0">
                <a:latin typeface="Times New Roman"/>
                <a:cs typeface="Times New Roman"/>
              </a:rPr>
              <a:t>P = </a:t>
            </a:r>
            <a:r>
              <a:rPr lang="en-IN" sz="800" spc="15" dirty="0" err="1">
                <a:latin typeface="Times New Roman"/>
                <a:cs typeface="Times New Roman"/>
              </a:rPr>
              <a:t>dequeue</a:t>
            </a:r>
            <a:r>
              <a:rPr lang="en-IN" sz="800" spc="15" dirty="0">
                <a:latin typeface="Times New Roman"/>
                <a:cs typeface="Times New Roman"/>
              </a:rPr>
              <a:t> (</a:t>
            </a:r>
            <a:r>
              <a:rPr lang="en-IN" sz="800" spc="85" dirty="0">
                <a:latin typeface="Times New Roman"/>
                <a:cs typeface="Times New Roman"/>
              </a:rPr>
              <a:t>S.L);</a:t>
            </a:r>
            <a:r>
              <a:rPr lang="en-IN" sz="800" spc="50" dirty="0">
                <a:latin typeface="Times New Roman"/>
                <a:cs typeface="Times New Roman"/>
              </a:rPr>
              <a:t> </a:t>
            </a:r>
          </a:p>
          <a:p>
            <a:pPr marL="132080" marR="5080">
              <a:lnSpc>
                <a:spcPct val="101499"/>
              </a:lnSpc>
            </a:pPr>
            <a:r>
              <a:rPr sz="700" spc="50" dirty="0" smtClean="0">
                <a:latin typeface="Times New Roman"/>
                <a:cs typeface="Times New Roman"/>
              </a:rPr>
              <a:t>wakeup(P);</a:t>
            </a:r>
            <a:endParaRPr lang="en-US" sz="700" spc="5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US" sz="700" spc="50" dirty="0">
                <a:solidFill>
                  <a:srgbClr val="FF0000"/>
                </a:solidFill>
                <a:latin typeface="Times New Roman"/>
                <a:cs typeface="Times New Roman"/>
              </a:rPr>
              <a:t>exit1();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00" spc="30" dirty="0" smtClean="0">
                <a:latin typeface="Times New Roman"/>
                <a:cs typeface="Times New Roman"/>
              </a:rPr>
              <a:t>}</a:t>
            </a:r>
            <a:endParaRPr lang="en-US" sz="700" spc="30" dirty="0" smtClean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19 / 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1450" y="312452"/>
            <a:ext cx="2305050" cy="5995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lang="en-US" sz="700" u="sng" dirty="0"/>
              <a:t>Code for P[</a:t>
            </a:r>
            <a:r>
              <a:rPr lang="en-US" sz="700" u="sng" dirty="0" err="1"/>
              <a:t>i</a:t>
            </a:r>
            <a:r>
              <a:rPr lang="en-US" sz="700" u="sng" dirty="0"/>
              <a:t>]:</a:t>
            </a:r>
          </a:p>
          <a:p>
            <a:pPr marL="12700" marR="5080">
              <a:lnSpc>
                <a:spcPct val="102699"/>
              </a:lnSpc>
            </a:pPr>
            <a:r>
              <a:rPr lang="en-US" sz="800" i="1" spc="-55" dirty="0" smtClean="0">
                <a:latin typeface="Trebuchet MS"/>
                <a:cs typeface="Trebuchet MS"/>
              </a:rPr>
              <a:t>wait</a:t>
            </a:r>
            <a:r>
              <a:rPr lang="en-US" sz="800" i="1" spc="-229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 </a:t>
            </a:r>
          </a:p>
          <a:p>
            <a:pPr marL="12700" marR="5080">
              <a:lnSpc>
                <a:spcPct val="102699"/>
              </a:lnSpc>
            </a:pPr>
            <a:r>
              <a:rPr lang="en-US" sz="800" i="1" spc="-5" dirty="0">
                <a:latin typeface="Arial"/>
                <a:cs typeface="Arial"/>
              </a:rPr>
              <a:t>     </a:t>
            </a:r>
            <a:r>
              <a:rPr lang="en-US" sz="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  <a:endParaRPr lang="en-US" sz="5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700" marR="5080">
              <a:lnSpc>
                <a:spcPct val="102699"/>
              </a:lnSpc>
            </a:pPr>
            <a:r>
              <a:rPr lang="en-US" sz="800" i="1" spc="-25" dirty="0" smtClean="0">
                <a:latin typeface="Trebuchet MS"/>
                <a:cs typeface="Trebuchet MS"/>
              </a:rPr>
              <a:t>signal</a:t>
            </a:r>
            <a:r>
              <a:rPr lang="en-US" sz="800" i="1" spc="-225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</a:t>
            </a:r>
            <a:endParaRPr lang="en-US" sz="800" dirty="0">
              <a:latin typeface="Arial"/>
              <a:cs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325700" y="305039"/>
            <a:ext cx="2305050" cy="5837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lang="en-US" sz="700" u="sng" dirty="0"/>
              <a:t>Code for </a:t>
            </a:r>
            <a:r>
              <a:rPr lang="en-US" sz="700" u="sng" dirty="0" smtClean="0"/>
              <a:t>P[</a:t>
            </a:r>
            <a:r>
              <a:rPr lang="en-US" sz="700" u="sng" dirty="0"/>
              <a:t>j</a:t>
            </a:r>
            <a:r>
              <a:rPr lang="en-US" sz="700" u="sng" dirty="0" smtClean="0"/>
              <a:t>]:</a:t>
            </a:r>
            <a:endParaRPr lang="en-US" sz="700" u="sng" dirty="0"/>
          </a:p>
          <a:p>
            <a:pPr marL="12700" marR="5080">
              <a:lnSpc>
                <a:spcPct val="102699"/>
              </a:lnSpc>
            </a:pPr>
            <a:r>
              <a:rPr lang="en-US" sz="800" i="1" spc="-55" dirty="0" smtClean="0">
                <a:latin typeface="Trebuchet MS"/>
                <a:cs typeface="Trebuchet MS"/>
              </a:rPr>
              <a:t>wait</a:t>
            </a:r>
            <a:r>
              <a:rPr lang="en-US" sz="800" i="1" spc="-229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 </a:t>
            </a:r>
          </a:p>
          <a:p>
            <a:pPr marL="12700" marR="5080">
              <a:lnSpc>
                <a:spcPct val="102699"/>
              </a:lnSpc>
            </a:pPr>
            <a:r>
              <a:rPr lang="en-US" sz="800" i="1" spc="-5" dirty="0">
                <a:latin typeface="Arial"/>
                <a:cs typeface="Arial"/>
              </a:rPr>
              <a:t>      </a:t>
            </a:r>
            <a:r>
              <a:rPr lang="en-US" sz="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8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  <a:endParaRPr lang="en-US" sz="5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700" marR="5080">
              <a:lnSpc>
                <a:spcPct val="102699"/>
              </a:lnSpc>
            </a:pPr>
            <a:r>
              <a:rPr lang="en-US" sz="800" i="1" spc="-25" dirty="0" smtClean="0">
                <a:latin typeface="Trebuchet MS"/>
                <a:cs typeface="Trebuchet MS"/>
              </a:rPr>
              <a:t>signal</a:t>
            </a:r>
            <a:r>
              <a:rPr lang="en-US" sz="800" i="1" spc="-225" dirty="0" smtClean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(</a:t>
            </a:r>
            <a:r>
              <a:rPr lang="en-US" sz="800" i="1" spc="75" dirty="0">
                <a:latin typeface="Trebuchet MS"/>
                <a:cs typeface="Trebuchet MS"/>
              </a:rPr>
              <a:t>S</a:t>
            </a:r>
            <a:r>
              <a:rPr lang="en-US" sz="800" i="1" spc="-204" dirty="0">
                <a:latin typeface="Trebuchet MS"/>
                <a:cs typeface="Trebuchet MS"/>
              </a:rPr>
              <a:t> </a:t>
            </a:r>
            <a:r>
              <a:rPr lang="en-US" sz="800" dirty="0">
                <a:latin typeface="Tahoma"/>
                <a:cs typeface="Tahoma"/>
              </a:rPr>
              <a:t>)</a:t>
            </a:r>
            <a:r>
              <a:rPr lang="en-US" sz="800" spc="-5" dirty="0">
                <a:latin typeface="Arial"/>
                <a:cs typeface="Arial"/>
              </a:rPr>
              <a:t>:</a:t>
            </a:r>
            <a:endParaRPr lang="en-US" sz="800" dirty="0">
              <a:latin typeface="Arial"/>
              <a:cs typeface="Arial"/>
            </a:endParaRPr>
          </a:p>
        </p:txBody>
      </p:sp>
      <p:sp>
        <p:nvSpPr>
          <p:cNvPr id="17" name="object 6"/>
          <p:cNvSpPr txBox="1"/>
          <p:nvPr/>
        </p:nvSpPr>
        <p:spPr>
          <a:xfrm>
            <a:off x="2443493" y="862653"/>
            <a:ext cx="1280795" cy="897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700" spc="114" dirty="0" smtClean="0">
                <a:solidFill>
                  <a:srgbClr val="FF0000"/>
                </a:solidFill>
                <a:latin typeface="Times New Roman"/>
                <a:cs typeface="Times New Roman"/>
              </a:rPr>
              <a:t>entry1();</a:t>
            </a:r>
          </a:p>
          <a:p>
            <a:pPr marL="12700">
              <a:lnSpc>
                <a:spcPct val="100000"/>
              </a:lnSpc>
            </a:pPr>
            <a:r>
              <a:rPr sz="700" spc="114" dirty="0" err="1" smtClean="0">
                <a:latin typeface="Times New Roman"/>
                <a:cs typeface="Times New Roman"/>
              </a:rPr>
              <a:t>S.value</a:t>
            </a:r>
            <a:r>
              <a:rPr sz="700" spc="114" dirty="0" smtClean="0">
                <a:latin typeface="Times New Roman"/>
                <a:cs typeface="Times New Roman"/>
              </a:rPr>
              <a:t>--;</a:t>
            </a:r>
            <a:endParaRPr lang="en-US" sz="700" spc="114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sz="700" dirty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IN" sz="700" spc="195" dirty="0" smtClean="0">
                <a:latin typeface="Times New Roman"/>
                <a:cs typeface="Times New Roman"/>
              </a:rPr>
              <a:t>I</a:t>
            </a:r>
            <a:r>
              <a:rPr sz="700" spc="195" dirty="0" smtClean="0">
                <a:latin typeface="Times New Roman"/>
                <a:cs typeface="Times New Roman"/>
              </a:rPr>
              <a:t>f </a:t>
            </a:r>
            <a:r>
              <a:rPr sz="700" spc="15" dirty="0" smtClean="0"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(S.value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-45" dirty="0">
                <a:latin typeface="Times New Roman"/>
                <a:cs typeface="Times New Roman"/>
              </a:rPr>
              <a:t>&lt;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90" dirty="0">
                <a:latin typeface="Times New Roman"/>
                <a:cs typeface="Times New Roman"/>
              </a:rPr>
              <a:t>0)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{ </a:t>
            </a:r>
            <a:endParaRPr lang="en-US" sz="700" spc="30" dirty="0" smtClean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IN" sz="700" spc="30" dirty="0" smtClean="0">
                <a:latin typeface="Times New Roman"/>
                <a:cs typeface="Times New Roman"/>
              </a:rPr>
              <a:t>     </a:t>
            </a:r>
            <a:r>
              <a:rPr lang="en-IN" sz="800" spc="30" dirty="0" err="1" smtClean="0">
                <a:latin typeface="Times New Roman"/>
                <a:cs typeface="Times New Roman"/>
              </a:rPr>
              <a:t>enqueue</a:t>
            </a:r>
            <a:r>
              <a:rPr lang="en-IN" sz="800" spc="15" dirty="0" smtClean="0">
                <a:latin typeface="Times New Roman"/>
                <a:cs typeface="Times New Roman"/>
              </a:rPr>
              <a:t> (P, </a:t>
            </a:r>
            <a:r>
              <a:rPr lang="en-IN" sz="800" spc="85" dirty="0" smtClean="0">
                <a:latin typeface="Times New Roman"/>
                <a:cs typeface="Times New Roman"/>
              </a:rPr>
              <a:t>S.L</a:t>
            </a:r>
            <a:r>
              <a:rPr lang="en-IN" sz="800" spc="85" dirty="0">
                <a:latin typeface="Times New Roman"/>
                <a:cs typeface="Times New Roman"/>
              </a:rPr>
              <a:t>);</a:t>
            </a:r>
            <a:endParaRPr lang="en-US" sz="700" spc="50" dirty="0" smtClean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US" sz="7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700" spc="5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   exit1();</a:t>
            </a:r>
          </a:p>
          <a:p>
            <a:pPr marL="132080" marR="5080" indent="-120014">
              <a:lnSpc>
                <a:spcPct val="101499"/>
              </a:lnSpc>
            </a:pPr>
            <a:r>
              <a:rPr lang="en-US" sz="700" spc="50" dirty="0">
                <a:latin typeface="Times New Roman"/>
                <a:cs typeface="Times New Roman"/>
              </a:rPr>
              <a:t> </a:t>
            </a:r>
            <a:r>
              <a:rPr lang="en-US" sz="700" spc="50" dirty="0" smtClean="0">
                <a:latin typeface="Times New Roman"/>
                <a:cs typeface="Times New Roman"/>
              </a:rPr>
              <a:t>    </a:t>
            </a:r>
            <a:r>
              <a:rPr sz="700" spc="130" dirty="0" smtClean="0">
                <a:latin typeface="Times New Roman"/>
                <a:cs typeface="Times New Roman"/>
              </a:rPr>
              <a:t>sleep</a:t>
            </a:r>
            <a:r>
              <a:rPr sz="700" spc="130" dirty="0">
                <a:latin typeface="Times New Roman"/>
                <a:cs typeface="Times New Roman"/>
              </a:rPr>
              <a:t>();</a:t>
            </a:r>
            <a:endParaRPr sz="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00" spc="30" dirty="0" smtClean="0">
                <a:latin typeface="Times New Roman"/>
                <a:cs typeface="Times New Roman"/>
              </a:rPr>
              <a:t>}</a:t>
            </a:r>
            <a:endParaRPr lang="en-US" sz="700" spc="30" dirty="0" smtClean="0">
              <a:latin typeface="Times New Roman"/>
              <a:cs typeface="Times New Roman"/>
            </a:endParaRPr>
          </a:p>
        </p:txBody>
      </p:sp>
      <p:sp>
        <p:nvSpPr>
          <p:cNvPr id="18" name="object 7"/>
          <p:cNvSpPr txBox="1"/>
          <p:nvPr/>
        </p:nvSpPr>
        <p:spPr>
          <a:xfrm>
            <a:off x="2425532" y="2080512"/>
            <a:ext cx="1699260" cy="10038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lang="en-US" sz="7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 </a:t>
            </a:r>
            <a:r>
              <a:rPr lang="en-US" sz="7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/* for application */</a:t>
            </a:r>
            <a:endParaRPr lang="en-US" sz="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12700">
              <a:lnSpc>
                <a:spcPct val="100000"/>
              </a:lnSpc>
            </a:pPr>
            <a:r>
              <a:rPr lang="en-US" sz="700" spc="70" dirty="0" smtClean="0">
                <a:solidFill>
                  <a:srgbClr val="FF0000"/>
                </a:solidFill>
                <a:latin typeface="Times New Roman"/>
                <a:cs typeface="Times New Roman"/>
              </a:rPr>
              <a:t>entry1();</a:t>
            </a:r>
          </a:p>
          <a:p>
            <a:pPr marL="12700">
              <a:lnSpc>
                <a:spcPct val="100000"/>
              </a:lnSpc>
            </a:pPr>
            <a:r>
              <a:rPr sz="700" spc="70" dirty="0" err="1" smtClean="0">
                <a:latin typeface="Times New Roman"/>
                <a:cs typeface="Times New Roman"/>
              </a:rPr>
              <a:t>S.value</a:t>
            </a:r>
            <a:r>
              <a:rPr sz="700" spc="70" dirty="0" smtClean="0">
                <a:latin typeface="Times New Roman"/>
                <a:cs typeface="Times New Roman"/>
              </a:rPr>
              <a:t>++;</a:t>
            </a:r>
            <a:endParaRPr lang="en-US" sz="700" spc="7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endParaRPr lang="en-US" sz="700" spc="195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00" spc="195" dirty="0" smtClean="0">
                <a:latin typeface="Times New Roman"/>
                <a:cs typeface="Times New Roman"/>
              </a:rPr>
              <a:t>if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(S.value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-45" dirty="0">
                <a:latin typeface="Times New Roman"/>
                <a:cs typeface="Times New Roman"/>
              </a:rPr>
              <a:t>&lt;=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90" dirty="0">
                <a:latin typeface="Times New Roman"/>
                <a:cs typeface="Times New Roman"/>
              </a:rPr>
              <a:t>0)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{</a:t>
            </a:r>
            <a:endParaRPr sz="700" dirty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800" spc="15" dirty="0">
                <a:latin typeface="Times New Roman"/>
                <a:cs typeface="Times New Roman"/>
              </a:rPr>
              <a:t>P = </a:t>
            </a:r>
            <a:r>
              <a:rPr lang="en-IN" sz="800" spc="15" dirty="0" err="1">
                <a:latin typeface="Times New Roman"/>
                <a:cs typeface="Times New Roman"/>
              </a:rPr>
              <a:t>dequeue</a:t>
            </a:r>
            <a:r>
              <a:rPr lang="en-IN" sz="800" spc="15" dirty="0">
                <a:latin typeface="Times New Roman"/>
                <a:cs typeface="Times New Roman"/>
              </a:rPr>
              <a:t> (</a:t>
            </a:r>
            <a:r>
              <a:rPr lang="en-IN" sz="800" spc="85" dirty="0">
                <a:latin typeface="Times New Roman"/>
                <a:cs typeface="Times New Roman"/>
              </a:rPr>
              <a:t>S.L);</a:t>
            </a:r>
            <a:r>
              <a:rPr sz="700" spc="50" dirty="0" smtClean="0">
                <a:latin typeface="Times New Roman"/>
                <a:cs typeface="Times New Roman"/>
              </a:rPr>
              <a:t> </a:t>
            </a:r>
            <a:endParaRPr lang="en-US" sz="700" spc="5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700" spc="50" dirty="0" smtClean="0">
                <a:latin typeface="Times New Roman"/>
                <a:cs typeface="Times New Roman"/>
              </a:rPr>
              <a:t>wakeup(P);</a:t>
            </a:r>
            <a:endParaRPr lang="en-US" sz="700" spc="5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US" sz="700" spc="50" dirty="0">
                <a:solidFill>
                  <a:srgbClr val="FF0000"/>
                </a:solidFill>
                <a:latin typeface="Times New Roman"/>
                <a:cs typeface="Times New Roman"/>
              </a:rPr>
              <a:t>exit1();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00" spc="30" dirty="0" smtClean="0">
                <a:latin typeface="Times New Roman"/>
                <a:cs typeface="Times New Roman"/>
              </a:rPr>
              <a:t>}</a:t>
            </a:r>
            <a:endParaRPr lang="en-US" sz="700" spc="30" dirty="0" smtClean="0">
              <a:latin typeface="Times New Roman"/>
              <a:cs typeface="Times New Roman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944638" y="372773"/>
            <a:ext cx="0" cy="2832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Left Brace 18"/>
          <p:cNvSpPr/>
          <p:nvPr/>
        </p:nvSpPr>
        <p:spPr>
          <a:xfrm>
            <a:off x="171450" y="974661"/>
            <a:ext cx="55666" cy="9951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Left Brace 19"/>
          <p:cNvSpPr/>
          <p:nvPr/>
        </p:nvSpPr>
        <p:spPr>
          <a:xfrm>
            <a:off x="171450" y="2187575"/>
            <a:ext cx="55666" cy="9951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Brace 22"/>
          <p:cNvSpPr/>
          <p:nvPr/>
        </p:nvSpPr>
        <p:spPr>
          <a:xfrm>
            <a:off x="3781412" y="888789"/>
            <a:ext cx="47638" cy="9939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ight Brace 23"/>
          <p:cNvSpPr/>
          <p:nvPr/>
        </p:nvSpPr>
        <p:spPr>
          <a:xfrm>
            <a:off x="3781412" y="2107989"/>
            <a:ext cx="47638" cy="9939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/>
          <p:cNvSpPr txBox="1"/>
          <p:nvPr/>
        </p:nvSpPr>
        <p:spPr>
          <a:xfrm rot="-16200000">
            <a:off x="-131673" y="1270279"/>
            <a:ext cx="4538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wait</a:t>
            </a:r>
            <a:endParaRPr lang="en-IN" sz="1200" dirty="0"/>
          </a:p>
        </p:txBody>
      </p:sp>
      <p:sp>
        <p:nvSpPr>
          <p:cNvPr id="26" name="TextBox 25"/>
          <p:cNvSpPr txBox="1"/>
          <p:nvPr/>
        </p:nvSpPr>
        <p:spPr>
          <a:xfrm rot="-16200000">
            <a:off x="-183572" y="2464860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signal</a:t>
            </a:r>
            <a:endParaRPr lang="en-IN" sz="1200" dirty="0"/>
          </a:p>
        </p:txBody>
      </p:sp>
      <p:sp>
        <p:nvSpPr>
          <p:cNvPr id="27" name="TextBox 26"/>
          <p:cNvSpPr txBox="1"/>
          <p:nvPr/>
        </p:nvSpPr>
        <p:spPr>
          <a:xfrm rot="-16200000">
            <a:off x="3692229" y="1209197"/>
            <a:ext cx="4538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wait</a:t>
            </a:r>
            <a:endParaRPr lang="en-IN" sz="1200" dirty="0"/>
          </a:p>
        </p:txBody>
      </p:sp>
      <p:sp>
        <p:nvSpPr>
          <p:cNvPr id="28" name="TextBox 27"/>
          <p:cNvSpPr txBox="1"/>
          <p:nvPr/>
        </p:nvSpPr>
        <p:spPr>
          <a:xfrm rot="-16200000">
            <a:off x="3620283" y="2428397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signal</a:t>
            </a:r>
            <a:endParaRPr lang="en-IN" sz="1200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95250" y="867462"/>
            <a:ext cx="4311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15419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Bina</a:t>
            </a:r>
            <a:r>
              <a:rPr spc="45" dirty="0"/>
              <a:t>r</a:t>
            </a:r>
            <a:r>
              <a:rPr spc="10" dirty="0"/>
              <a:t>y</a:t>
            </a:r>
            <a:r>
              <a:rPr spc="5" dirty="0"/>
              <a:t> </a:t>
            </a:r>
            <a:r>
              <a:rPr spc="15" dirty="0"/>
              <a:t>semaphores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250" y="413613"/>
            <a:ext cx="3950335" cy="3385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latin typeface="Arial"/>
                <a:cs typeface="Arial"/>
              </a:rPr>
              <a:t>Definition: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semaphore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whose</a:t>
            </a:r>
            <a:r>
              <a:rPr sz="1100" spc="-5" dirty="0">
                <a:latin typeface="Arial"/>
                <a:cs typeface="Arial"/>
              </a:rPr>
              <a:t> integer 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10" dirty="0">
                <a:latin typeface="Arial"/>
                <a:cs typeface="Arial"/>
              </a:rPr>
              <a:t>alue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can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</a:t>
            </a:r>
            <a:r>
              <a:rPr sz="1100" spc="-5" dirty="0">
                <a:latin typeface="Arial"/>
                <a:cs typeface="Arial"/>
              </a:rPr>
              <a:t> either </a:t>
            </a:r>
            <a:r>
              <a:rPr sz="1100" spc="-10" dirty="0">
                <a:latin typeface="Arial"/>
                <a:cs typeface="Arial"/>
              </a:rPr>
              <a:t>0</a:t>
            </a:r>
            <a:r>
              <a:rPr sz="1100" spc="-5" dirty="0">
                <a:latin typeface="Arial"/>
                <a:cs typeface="Arial"/>
              </a:rPr>
              <a:t> or </a:t>
            </a:r>
            <a:r>
              <a:rPr sz="1100" spc="-10" dirty="0" smtClean="0">
                <a:latin typeface="Arial"/>
                <a:cs typeface="Arial"/>
              </a:rPr>
              <a:t>1</a:t>
            </a:r>
            <a:endParaRPr lang="en-IN" sz="1100" spc="-10" dirty="0" smtClean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lang="en-IN" sz="1100" u="sng" spc="-10" dirty="0" smtClean="0">
                <a:latin typeface="Arial"/>
                <a:cs typeface="Arial"/>
              </a:rPr>
              <a:t>Initialized to 1 </a:t>
            </a:r>
            <a:r>
              <a:rPr lang="en-IN" sz="1100" spc="-10" dirty="0" smtClean="0">
                <a:latin typeface="Arial"/>
                <a:cs typeface="Arial"/>
                <a:sym typeface="Wingdings" panose="05000000000000000000" pitchFamily="2" charset="2"/>
              </a:rPr>
              <a:t> single process in CS at a time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53919" y="902538"/>
            <a:ext cx="1654148" cy="11128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 marR="5080" indent="-120014">
              <a:lnSpc>
                <a:spcPct val="101499"/>
              </a:lnSpc>
            </a:pPr>
            <a:r>
              <a:rPr lang="en-IN" sz="800" spc="195" dirty="0" err="1" smtClean="0">
                <a:latin typeface="Times New Roman"/>
                <a:cs typeface="Times New Roman"/>
              </a:rPr>
              <a:t>wait</a:t>
            </a:r>
            <a:r>
              <a:rPr lang="en-IN" sz="800" spc="195" baseline="-25000" dirty="0" err="1" smtClean="0">
                <a:latin typeface="Times New Roman"/>
                <a:cs typeface="Times New Roman"/>
              </a:rPr>
              <a:t>b</a:t>
            </a:r>
            <a:r>
              <a:rPr lang="en-IN" sz="800" spc="195" dirty="0" smtClean="0">
                <a:latin typeface="Times New Roman"/>
                <a:cs typeface="Times New Roman"/>
              </a:rPr>
              <a:t>(S) {</a:t>
            </a:r>
          </a:p>
          <a:p>
            <a:pPr marL="132080" marR="5080" indent="-120014">
              <a:lnSpc>
                <a:spcPct val="101499"/>
              </a:lnSpc>
            </a:pPr>
            <a:r>
              <a:rPr lang="en-IN" sz="800" spc="195" dirty="0" smtClean="0">
                <a:latin typeface="Times New Roman"/>
                <a:cs typeface="Times New Roman"/>
              </a:rPr>
              <a:t>   </a:t>
            </a:r>
            <a:r>
              <a:rPr sz="800" spc="195" dirty="0" smtClean="0">
                <a:latin typeface="Times New Roman"/>
                <a:cs typeface="Times New Roman"/>
              </a:rPr>
              <a:t>if </a:t>
            </a:r>
            <a:r>
              <a:rPr sz="800" spc="15" dirty="0" smtClean="0">
                <a:latin typeface="Times New Roman"/>
                <a:cs typeface="Times New Roman"/>
              </a:rPr>
              <a:t> </a:t>
            </a:r>
            <a:r>
              <a:rPr sz="800" spc="95" dirty="0">
                <a:latin typeface="Times New Roman"/>
                <a:cs typeface="Times New Roman"/>
              </a:rPr>
              <a:t>(S.value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r>
              <a:rPr sz="800" spc="-45" dirty="0">
                <a:latin typeface="Times New Roman"/>
                <a:cs typeface="Times New Roman"/>
              </a:rPr>
              <a:t>==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r>
              <a:rPr sz="800" spc="90" dirty="0">
                <a:latin typeface="Times New Roman"/>
                <a:cs typeface="Times New Roman"/>
              </a:rPr>
              <a:t>0)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r>
              <a:rPr sz="800" spc="30" dirty="0">
                <a:latin typeface="Times New Roman"/>
                <a:cs typeface="Times New Roman"/>
              </a:rPr>
              <a:t>{ </a:t>
            </a:r>
            <a:endParaRPr lang="en-IN" sz="800" spc="30" dirty="0" smtClean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IN" sz="800" spc="30" dirty="0">
                <a:latin typeface="Times New Roman"/>
                <a:cs typeface="Times New Roman"/>
              </a:rPr>
              <a:t> </a:t>
            </a:r>
            <a:r>
              <a:rPr lang="en-IN" sz="800" spc="30" dirty="0" smtClean="0">
                <a:latin typeface="Times New Roman"/>
                <a:cs typeface="Times New Roman"/>
              </a:rPr>
              <a:t>       </a:t>
            </a:r>
            <a:r>
              <a:rPr lang="en-IN" sz="800" spc="30" dirty="0" err="1" smtClean="0">
                <a:latin typeface="Times New Roman"/>
                <a:cs typeface="Times New Roman"/>
              </a:rPr>
              <a:t>enq</a:t>
            </a:r>
            <a:r>
              <a:rPr lang="en-IN" sz="800" spc="30" dirty="0" smtClean="0">
                <a:latin typeface="Times New Roman"/>
                <a:cs typeface="Times New Roman"/>
              </a:rPr>
              <a:t>(</a:t>
            </a:r>
            <a:r>
              <a:rPr sz="800" spc="85" dirty="0" smtClean="0">
                <a:latin typeface="Times New Roman"/>
                <a:cs typeface="Times New Roman"/>
              </a:rPr>
              <a:t>S.L</a:t>
            </a:r>
            <a:r>
              <a:rPr lang="en-IN" sz="800" spc="85" dirty="0" smtClean="0">
                <a:latin typeface="Times New Roman"/>
                <a:cs typeface="Times New Roman"/>
              </a:rPr>
              <a:t>)</a:t>
            </a:r>
            <a:r>
              <a:rPr sz="800" spc="85" dirty="0" smtClean="0">
                <a:latin typeface="Times New Roman"/>
                <a:cs typeface="Times New Roman"/>
              </a:rPr>
              <a:t>;</a:t>
            </a:r>
            <a:r>
              <a:rPr sz="800" spc="50" dirty="0" smtClean="0">
                <a:latin typeface="Times New Roman"/>
                <a:cs typeface="Times New Roman"/>
              </a:rPr>
              <a:t> </a:t>
            </a:r>
            <a:r>
              <a:rPr lang="en-IN" sz="800" spc="50" dirty="0" smtClean="0">
                <a:latin typeface="Times New Roman"/>
                <a:cs typeface="Times New Roman"/>
              </a:rPr>
              <a:t>  </a:t>
            </a:r>
          </a:p>
          <a:p>
            <a:pPr marL="132080" marR="5080" indent="-120014">
              <a:lnSpc>
                <a:spcPct val="101499"/>
              </a:lnSpc>
            </a:pPr>
            <a:r>
              <a:rPr lang="en-IN" sz="800" spc="50" dirty="0">
                <a:latin typeface="Times New Roman"/>
                <a:cs typeface="Times New Roman"/>
              </a:rPr>
              <a:t> </a:t>
            </a:r>
            <a:r>
              <a:rPr lang="en-IN" sz="800" spc="50" dirty="0" smtClean="0">
                <a:latin typeface="Times New Roman"/>
                <a:cs typeface="Times New Roman"/>
              </a:rPr>
              <a:t>      </a:t>
            </a:r>
            <a:r>
              <a:rPr sz="800" spc="130" dirty="0" smtClean="0">
                <a:latin typeface="Times New Roman"/>
                <a:cs typeface="Times New Roman"/>
              </a:rPr>
              <a:t>sleep</a:t>
            </a:r>
            <a:r>
              <a:rPr sz="800" spc="130" dirty="0">
                <a:latin typeface="Times New Roman"/>
                <a:cs typeface="Times New Roman"/>
              </a:rPr>
              <a:t>();</a:t>
            </a:r>
            <a:endParaRPr sz="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800" spc="30" dirty="0" smtClean="0">
                <a:latin typeface="Times New Roman"/>
                <a:cs typeface="Times New Roman"/>
              </a:rPr>
              <a:t>     </a:t>
            </a:r>
            <a:r>
              <a:rPr sz="800" spc="30" dirty="0" smtClean="0">
                <a:latin typeface="Times New Roman"/>
                <a:cs typeface="Times New Roman"/>
              </a:rPr>
              <a:t>}</a:t>
            </a:r>
            <a:endParaRPr sz="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800" spc="114" dirty="0" smtClean="0">
                <a:latin typeface="Times New Roman"/>
                <a:cs typeface="Times New Roman"/>
              </a:rPr>
              <a:t>    </a:t>
            </a:r>
            <a:r>
              <a:rPr sz="800" spc="114" dirty="0" smtClean="0">
                <a:latin typeface="Times New Roman"/>
                <a:cs typeface="Times New Roman"/>
              </a:rPr>
              <a:t>else</a:t>
            </a:r>
            <a:r>
              <a:rPr lang="en-IN" sz="800" spc="114" dirty="0" smtClean="0">
                <a:latin typeface="Times New Roman"/>
                <a:cs typeface="Times New Roman"/>
              </a:rPr>
              <a:t> { /* </a:t>
            </a:r>
            <a:r>
              <a:rPr lang="en-IN" sz="800" spc="114" dirty="0" err="1" smtClean="0">
                <a:latin typeface="Times New Roman"/>
                <a:cs typeface="Times New Roman"/>
              </a:rPr>
              <a:t>S.value</a:t>
            </a:r>
            <a:r>
              <a:rPr lang="en-IN" sz="800" spc="114" dirty="0" smtClean="0">
                <a:latin typeface="Times New Roman"/>
                <a:cs typeface="Times New Roman"/>
              </a:rPr>
              <a:t> == 1*/</a:t>
            </a:r>
            <a:r>
              <a:rPr sz="800" spc="114" dirty="0" smtClean="0">
                <a:latin typeface="Times New Roman"/>
                <a:cs typeface="Times New Roman"/>
              </a:rPr>
              <a:t> </a:t>
            </a:r>
            <a:r>
              <a:rPr sz="800" spc="15" dirty="0" smtClean="0">
                <a:latin typeface="Times New Roman"/>
                <a:cs typeface="Times New Roman"/>
              </a:rPr>
              <a:t> </a:t>
            </a:r>
            <a:endParaRPr lang="en-IN" sz="800" spc="15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800" spc="15" dirty="0">
                <a:latin typeface="Times New Roman"/>
                <a:cs typeface="Times New Roman"/>
              </a:rPr>
              <a:t> </a:t>
            </a:r>
            <a:r>
              <a:rPr lang="en-IN" sz="800" spc="15" dirty="0" smtClean="0">
                <a:latin typeface="Times New Roman"/>
                <a:cs typeface="Times New Roman"/>
              </a:rPr>
              <a:t>        </a:t>
            </a:r>
            <a:r>
              <a:rPr sz="800" spc="85" dirty="0" err="1" smtClean="0">
                <a:latin typeface="Times New Roman"/>
                <a:cs typeface="Times New Roman"/>
              </a:rPr>
              <a:t>S.value</a:t>
            </a:r>
            <a:r>
              <a:rPr sz="800" dirty="0" smtClean="0">
                <a:latin typeface="Times New Roman"/>
                <a:cs typeface="Times New Roman"/>
              </a:rPr>
              <a:t> </a:t>
            </a:r>
            <a:r>
              <a:rPr sz="800" spc="20" dirty="0" smtClean="0">
                <a:latin typeface="Times New Roman"/>
                <a:cs typeface="Times New Roman"/>
              </a:rPr>
              <a:t> </a:t>
            </a:r>
            <a:r>
              <a:rPr sz="800" spc="-45" dirty="0">
                <a:latin typeface="Times New Roman"/>
                <a:cs typeface="Times New Roman"/>
              </a:rPr>
              <a:t>=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r>
              <a:rPr sz="800" spc="114" dirty="0">
                <a:latin typeface="Times New Roman"/>
                <a:cs typeface="Times New Roman"/>
              </a:rPr>
              <a:t>0</a:t>
            </a:r>
            <a:r>
              <a:rPr sz="800" spc="114" dirty="0" smtClean="0">
                <a:latin typeface="Times New Roman"/>
                <a:cs typeface="Times New Roman"/>
              </a:rPr>
              <a:t>;</a:t>
            </a:r>
            <a:endParaRPr lang="en-IN" sz="800" spc="114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800" spc="114" dirty="0" smtClean="0">
                <a:latin typeface="Times New Roman"/>
                <a:cs typeface="Times New Roman"/>
              </a:rPr>
              <a:t>    }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800" spc="114" dirty="0">
                <a:latin typeface="Times New Roman"/>
                <a:cs typeface="Times New Roman"/>
              </a:rPr>
              <a:t>}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5828" y="2026727"/>
            <a:ext cx="1843150" cy="13002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 marR="602615" indent="-120014">
              <a:lnSpc>
                <a:spcPct val="101499"/>
              </a:lnSpc>
            </a:pPr>
            <a:r>
              <a:rPr lang="en-IN" sz="700" spc="195" dirty="0" err="1" smtClean="0">
                <a:latin typeface="Times New Roman"/>
                <a:cs typeface="Times New Roman"/>
              </a:rPr>
              <a:t>signal</a:t>
            </a:r>
            <a:r>
              <a:rPr lang="en-IN" sz="700" spc="195" baseline="-25000" dirty="0" err="1" smtClean="0">
                <a:latin typeface="Times New Roman"/>
                <a:cs typeface="Times New Roman"/>
              </a:rPr>
              <a:t>b</a:t>
            </a:r>
            <a:r>
              <a:rPr lang="en-IN" sz="700" spc="195" dirty="0" smtClean="0">
                <a:latin typeface="Times New Roman"/>
                <a:cs typeface="Times New Roman"/>
              </a:rPr>
              <a:t> (S) {</a:t>
            </a:r>
          </a:p>
          <a:p>
            <a:pPr marL="132080" marR="602615" indent="-120014">
              <a:lnSpc>
                <a:spcPct val="101499"/>
              </a:lnSpc>
            </a:pPr>
            <a:r>
              <a:rPr lang="en-IN" sz="700" spc="195" dirty="0" smtClean="0">
                <a:latin typeface="Times New Roman"/>
                <a:cs typeface="Times New Roman"/>
              </a:rPr>
              <a:t>   </a:t>
            </a:r>
            <a:r>
              <a:rPr sz="700" spc="195" dirty="0" smtClean="0">
                <a:latin typeface="Times New Roman"/>
                <a:cs typeface="Times New Roman"/>
              </a:rPr>
              <a:t>if </a:t>
            </a:r>
            <a:r>
              <a:rPr sz="700" spc="15" dirty="0" smtClean="0">
                <a:latin typeface="Times New Roman"/>
                <a:cs typeface="Times New Roman"/>
              </a:rPr>
              <a:t> </a:t>
            </a:r>
            <a:r>
              <a:rPr sz="700" spc="95" dirty="0" smtClean="0">
                <a:latin typeface="Times New Roman"/>
                <a:cs typeface="Times New Roman"/>
              </a:rPr>
              <a:t>(</a:t>
            </a:r>
            <a:r>
              <a:rPr sz="700" spc="95" dirty="0" err="1" smtClean="0">
                <a:latin typeface="Times New Roman"/>
                <a:cs typeface="Times New Roman"/>
              </a:rPr>
              <a:t>S.value</a:t>
            </a:r>
            <a:r>
              <a:rPr sz="700" dirty="0" smtClean="0">
                <a:latin typeface="Times New Roman"/>
                <a:cs typeface="Times New Roman"/>
              </a:rPr>
              <a:t>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-45" dirty="0" smtClean="0">
                <a:latin typeface="Times New Roman"/>
                <a:cs typeface="Times New Roman"/>
              </a:rPr>
              <a:t>==</a:t>
            </a:r>
            <a:r>
              <a:rPr sz="700" dirty="0" smtClean="0">
                <a:latin typeface="Times New Roman"/>
                <a:cs typeface="Times New Roman"/>
              </a:rPr>
              <a:t>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90" dirty="0" smtClean="0">
                <a:latin typeface="Times New Roman"/>
                <a:cs typeface="Times New Roman"/>
              </a:rPr>
              <a:t>0)</a:t>
            </a:r>
            <a:r>
              <a:rPr sz="700" dirty="0" smtClean="0">
                <a:latin typeface="Times New Roman"/>
                <a:cs typeface="Times New Roman"/>
              </a:rPr>
              <a:t>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30" dirty="0" smtClean="0">
                <a:latin typeface="Times New Roman"/>
                <a:cs typeface="Times New Roman"/>
              </a:rPr>
              <a:t>{</a:t>
            </a:r>
            <a:r>
              <a:rPr sz="700" spc="15" dirty="0" smtClean="0">
                <a:latin typeface="Times New Roman"/>
                <a:cs typeface="Times New Roman"/>
              </a:rPr>
              <a:t> </a:t>
            </a:r>
            <a:endParaRPr lang="en-IN" sz="700" spc="15" dirty="0" smtClean="0">
              <a:latin typeface="Times New Roman"/>
              <a:cs typeface="Times New Roman"/>
            </a:endParaRPr>
          </a:p>
          <a:p>
            <a:pPr marL="132080" marR="602615" indent="-120014">
              <a:lnSpc>
                <a:spcPct val="101499"/>
              </a:lnSpc>
            </a:pPr>
            <a:r>
              <a:rPr lang="en-IN" sz="700" spc="15" dirty="0" smtClean="0">
                <a:latin typeface="Times New Roman"/>
                <a:cs typeface="Times New Roman"/>
              </a:rPr>
              <a:t>          </a:t>
            </a:r>
            <a:r>
              <a:rPr sz="700" spc="-30" dirty="0" smtClean="0">
                <a:latin typeface="Times New Roman"/>
                <a:cs typeface="Times New Roman"/>
              </a:rPr>
              <a:t>P</a:t>
            </a:r>
            <a:r>
              <a:rPr sz="700" dirty="0" smtClean="0">
                <a:latin typeface="Times New Roman"/>
                <a:cs typeface="Times New Roman"/>
              </a:rPr>
              <a:t>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-45" dirty="0" smtClean="0">
                <a:latin typeface="Times New Roman"/>
                <a:cs typeface="Times New Roman"/>
              </a:rPr>
              <a:t>=</a:t>
            </a:r>
            <a:r>
              <a:rPr sz="700" dirty="0" smtClean="0">
                <a:latin typeface="Times New Roman"/>
                <a:cs typeface="Times New Roman"/>
              </a:rPr>
              <a:t>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70" dirty="0" err="1" smtClean="0">
                <a:latin typeface="Times New Roman"/>
                <a:cs typeface="Times New Roman"/>
              </a:rPr>
              <a:t>dequeue</a:t>
            </a:r>
            <a:r>
              <a:rPr sz="700" spc="70" dirty="0" smtClean="0">
                <a:latin typeface="Times New Roman"/>
                <a:cs typeface="Times New Roman"/>
              </a:rPr>
              <a:t>(S.L);</a:t>
            </a:r>
            <a:endParaRPr sz="70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700" spc="195" dirty="0" smtClean="0">
                <a:latin typeface="Times New Roman"/>
                <a:cs typeface="Times New Roman"/>
              </a:rPr>
              <a:t>  </a:t>
            </a:r>
            <a:r>
              <a:rPr sz="700" spc="195" dirty="0" smtClean="0">
                <a:latin typeface="Times New Roman"/>
                <a:cs typeface="Times New Roman"/>
              </a:rPr>
              <a:t>if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65" dirty="0" smtClean="0">
                <a:latin typeface="Times New Roman"/>
                <a:cs typeface="Times New Roman"/>
              </a:rPr>
              <a:t>(P</a:t>
            </a:r>
            <a:r>
              <a:rPr sz="700" dirty="0" smtClean="0">
                <a:latin typeface="Times New Roman"/>
                <a:cs typeface="Times New Roman"/>
              </a:rPr>
              <a:t>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-45" dirty="0" smtClean="0">
                <a:latin typeface="Times New Roman"/>
                <a:cs typeface="Times New Roman"/>
              </a:rPr>
              <a:t>==</a:t>
            </a:r>
            <a:r>
              <a:rPr sz="700" dirty="0" smtClean="0">
                <a:latin typeface="Times New Roman"/>
                <a:cs typeface="Times New Roman"/>
              </a:rPr>
              <a:t>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-75" dirty="0" smtClean="0">
                <a:latin typeface="Times New Roman"/>
                <a:cs typeface="Times New Roman"/>
              </a:rPr>
              <a:t>NULL)</a:t>
            </a:r>
            <a:r>
              <a:rPr sz="700" dirty="0" smtClean="0">
                <a:latin typeface="Times New Roman"/>
                <a:cs typeface="Times New Roman"/>
              </a:rPr>
              <a:t>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endParaRPr lang="en-IN" sz="700" spc="2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700" spc="20" dirty="0" smtClean="0">
                <a:latin typeface="Times New Roman"/>
                <a:cs typeface="Times New Roman"/>
              </a:rPr>
              <a:t>         </a:t>
            </a:r>
            <a:r>
              <a:rPr sz="700" spc="85" dirty="0" err="1" smtClean="0">
                <a:latin typeface="Times New Roman"/>
                <a:cs typeface="Times New Roman"/>
              </a:rPr>
              <a:t>S.value</a:t>
            </a:r>
            <a:r>
              <a:rPr sz="700" dirty="0" smtClean="0">
                <a:latin typeface="Times New Roman"/>
                <a:cs typeface="Times New Roman"/>
              </a:rPr>
              <a:t>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-45" dirty="0" smtClean="0">
                <a:latin typeface="Times New Roman"/>
                <a:cs typeface="Times New Roman"/>
              </a:rPr>
              <a:t>=</a:t>
            </a:r>
            <a:r>
              <a:rPr sz="700" dirty="0" smtClean="0">
                <a:latin typeface="Times New Roman"/>
                <a:cs typeface="Times New Roman"/>
              </a:rPr>
              <a:t>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114" dirty="0" smtClean="0">
                <a:latin typeface="Times New Roman"/>
                <a:cs typeface="Times New Roman"/>
              </a:rPr>
              <a:t>1;</a:t>
            </a:r>
            <a:r>
              <a:rPr sz="700" spc="110" dirty="0" smtClean="0">
                <a:latin typeface="Times New Roman"/>
                <a:cs typeface="Times New Roman"/>
              </a:rPr>
              <a:t> </a:t>
            </a:r>
            <a:endParaRPr lang="en-IN" sz="700" spc="11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700" spc="110" dirty="0" smtClean="0">
                <a:latin typeface="Times New Roman"/>
                <a:cs typeface="Times New Roman"/>
              </a:rPr>
              <a:t>   </a:t>
            </a:r>
            <a:r>
              <a:rPr sz="700" spc="110" dirty="0" smtClean="0">
                <a:latin typeface="Times New Roman"/>
                <a:cs typeface="Times New Roman"/>
              </a:rPr>
              <a:t>else</a:t>
            </a:r>
            <a:r>
              <a:rPr sz="700" dirty="0" smtClean="0">
                <a:latin typeface="Times New Roman"/>
                <a:cs typeface="Times New Roman"/>
              </a:rPr>
              <a:t>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endParaRPr lang="en-IN" sz="700" spc="2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700" spc="20" dirty="0" smtClean="0">
                <a:latin typeface="Times New Roman"/>
                <a:cs typeface="Times New Roman"/>
              </a:rPr>
              <a:t>        </a:t>
            </a:r>
            <a:r>
              <a:rPr sz="700" spc="50" dirty="0" smtClean="0">
                <a:latin typeface="Times New Roman"/>
                <a:cs typeface="Times New Roman"/>
              </a:rPr>
              <a:t>wakeup(P);</a:t>
            </a:r>
            <a:endParaRPr sz="700" dirty="0" smtClean="0">
              <a:latin typeface="Times New Roman"/>
              <a:cs typeface="Times New Roman"/>
            </a:endParaRPr>
          </a:p>
          <a:p>
            <a:pPr marL="12700">
              <a:spcBef>
                <a:spcPts val="15"/>
              </a:spcBef>
            </a:pPr>
            <a:r>
              <a:rPr lang="en-IN" sz="700" spc="30" dirty="0" smtClean="0">
                <a:latin typeface="Times New Roman"/>
                <a:cs typeface="Times New Roman"/>
              </a:rPr>
              <a:t>     </a:t>
            </a:r>
            <a:r>
              <a:rPr sz="700" spc="30" dirty="0" smtClean="0">
                <a:latin typeface="Times New Roman"/>
                <a:cs typeface="Times New Roman"/>
              </a:rPr>
              <a:t>}</a:t>
            </a:r>
            <a:endParaRPr lang="en-IN" sz="700" spc="30" dirty="0" smtClean="0">
              <a:latin typeface="Times New Roman"/>
              <a:cs typeface="Times New Roman"/>
            </a:endParaRPr>
          </a:p>
          <a:p>
            <a:pPr marL="12700">
              <a:spcBef>
                <a:spcPts val="15"/>
              </a:spcBef>
            </a:pPr>
            <a:r>
              <a:rPr lang="en-IN" sz="700" spc="114" dirty="0" smtClean="0">
                <a:latin typeface="Times New Roman"/>
                <a:cs typeface="Times New Roman"/>
              </a:rPr>
              <a:t>    else { /* </a:t>
            </a:r>
            <a:r>
              <a:rPr lang="en-IN" sz="700" spc="114" dirty="0" err="1" smtClean="0">
                <a:latin typeface="Times New Roman"/>
                <a:cs typeface="Times New Roman"/>
              </a:rPr>
              <a:t>S.value</a:t>
            </a:r>
            <a:r>
              <a:rPr lang="en-IN" sz="700" spc="114" dirty="0" smtClean="0">
                <a:latin typeface="Times New Roman"/>
                <a:cs typeface="Times New Roman"/>
              </a:rPr>
              <a:t> == 1*/ </a:t>
            </a:r>
            <a:r>
              <a:rPr lang="en-IN" sz="700" spc="15" dirty="0" smtClean="0">
                <a:latin typeface="Times New Roman"/>
                <a:cs typeface="Times New Roman"/>
              </a:rPr>
              <a:t> </a:t>
            </a:r>
          </a:p>
          <a:p>
            <a:pPr marL="12700">
              <a:spcBef>
                <a:spcPts val="15"/>
              </a:spcBef>
            </a:pPr>
            <a:r>
              <a:rPr lang="en-IN" sz="700" spc="15" dirty="0" smtClean="0">
                <a:latin typeface="Times New Roman"/>
                <a:cs typeface="Times New Roman"/>
              </a:rPr>
              <a:t>           /* </a:t>
            </a:r>
            <a:r>
              <a:rPr lang="en-IN" sz="700" spc="85" dirty="0" smtClean="0">
                <a:latin typeface="Times New Roman"/>
                <a:cs typeface="Times New Roman"/>
              </a:rPr>
              <a:t>Nothing to do */</a:t>
            </a:r>
            <a:endParaRPr lang="en-IN" sz="700" spc="114" dirty="0" smtClean="0">
              <a:latin typeface="Times New Roman"/>
              <a:cs typeface="Times New Roman"/>
            </a:endParaRPr>
          </a:p>
          <a:p>
            <a:pPr marL="12700">
              <a:spcBef>
                <a:spcPts val="15"/>
              </a:spcBef>
            </a:pPr>
            <a:r>
              <a:rPr lang="en-IN" sz="700" spc="114" dirty="0" smtClean="0">
                <a:latin typeface="Times New Roman"/>
                <a:cs typeface="Times New Roman"/>
              </a:rPr>
              <a:t>   }</a:t>
            </a:r>
          </a:p>
          <a:p>
            <a:pPr marL="12700">
              <a:spcBef>
                <a:spcPts val="15"/>
              </a:spcBef>
            </a:pPr>
            <a:r>
              <a:rPr lang="en-IN" sz="700" spc="114" dirty="0" smtClean="0">
                <a:latin typeface="Times New Roman"/>
                <a:cs typeface="Times New Roman"/>
              </a:rPr>
              <a:t>}</a:t>
            </a:r>
            <a:endParaRPr sz="7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21 / 28</a:t>
            </a:r>
          </a:p>
        </p:txBody>
      </p:sp>
      <p:sp>
        <p:nvSpPr>
          <p:cNvPr id="13" name="object 4"/>
          <p:cNvSpPr txBox="1"/>
          <p:nvPr/>
        </p:nvSpPr>
        <p:spPr>
          <a:xfrm>
            <a:off x="247650" y="982943"/>
            <a:ext cx="1493394" cy="976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 marR="5080" indent="-120014">
              <a:lnSpc>
                <a:spcPct val="101499"/>
              </a:lnSpc>
            </a:pPr>
            <a:r>
              <a:rPr lang="en-IN" sz="900" spc="195" dirty="0" smtClean="0">
                <a:latin typeface="Times New Roman"/>
                <a:cs typeface="Times New Roman"/>
              </a:rPr>
              <a:t>wait(S) {</a:t>
            </a:r>
          </a:p>
          <a:p>
            <a:pPr marL="132080" marR="5080" indent="-120014">
              <a:lnSpc>
                <a:spcPct val="101499"/>
              </a:lnSpc>
            </a:pPr>
            <a:r>
              <a:rPr lang="en-IN" sz="900" spc="195" dirty="0">
                <a:latin typeface="Times New Roman"/>
                <a:cs typeface="Times New Roman"/>
              </a:rPr>
              <a:t> </a:t>
            </a:r>
            <a:r>
              <a:rPr lang="en-IN" sz="900" spc="195" dirty="0" smtClean="0">
                <a:latin typeface="Times New Roman"/>
                <a:cs typeface="Times New Roman"/>
              </a:rPr>
              <a:t>  </a:t>
            </a:r>
            <a:r>
              <a:rPr lang="en-IN" sz="900" spc="195" dirty="0" err="1" smtClean="0">
                <a:latin typeface="Times New Roman"/>
                <a:cs typeface="Times New Roman"/>
              </a:rPr>
              <a:t>S.value</a:t>
            </a:r>
            <a:r>
              <a:rPr lang="en-IN" sz="900" spc="195" dirty="0" smtClean="0">
                <a:latin typeface="Times New Roman"/>
                <a:cs typeface="Times New Roman"/>
              </a:rPr>
              <a:t>--;</a:t>
            </a:r>
          </a:p>
          <a:p>
            <a:pPr marL="132080" marR="5080" indent="-120014">
              <a:lnSpc>
                <a:spcPct val="101499"/>
              </a:lnSpc>
            </a:pPr>
            <a:r>
              <a:rPr lang="en-IN" sz="900" spc="195" dirty="0" smtClean="0">
                <a:latin typeface="Times New Roman"/>
                <a:cs typeface="Times New Roman"/>
              </a:rPr>
              <a:t>   </a:t>
            </a:r>
            <a:r>
              <a:rPr sz="900" spc="195" dirty="0" smtClean="0">
                <a:latin typeface="Times New Roman"/>
                <a:cs typeface="Times New Roman"/>
              </a:rPr>
              <a:t>if </a:t>
            </a:r>
            <a:r>
              <a:rPr sz="900" spc="15" dirty="0" smtClean="0">
                <a:latin typeface="Times New Roman"/>
                <a:cs typeface="Times New Roman"/>
              </a:rPr>
              <a:t> </a:t>
            </a:r>
            <a:r>
              <a:rPr sz="900" spc="95" dirty="0">
                <a:latin typeface="Times New Roman"/>
                <a:cs typeface="Times New Roman"/>
              </a:rPr>
              <a:t>(</a:t>
            </a:r>
            <a:r>
              <a:rPr sz="900" spc="95" dirty="0" err="1">
                <a:latin typeface="Times New Roman"/>
                <a:cs typeface="Times New Roman"/>
              </a:rPr>
              <a:t>S.value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lang="en-IN" sz="900" spc="-45" smtClean="0">
                <a:latin typeface="Times New Roman"/>
                <a:cs typeface="Times New Roman"/>
              </a:rPr>
              <a:t>&lt;</a:t>
            </a:r>
            <a:r>
              <a:rPr sz="900" smtClean="0">
                <a:latin typeface="Times New Roman"/>
                <a:cs typeface="Times New Roman"/>
              </a:rPr>
              <a:t> </a:t>
            </a:r>
            <a:r>
              <a:rPr sz="900" spc="20" smtClean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 </a:t>
            </a:r>
            <a:endParaRPr lang="en-IN" sz="900" spc="30" dirty="0" smtClean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IN" sz="900" spc="30" dirty="0">
                <a:latin typeface="Times New Roman"/>
                <a:cs typeface="Times New Roman"/>
              </a:rPr>
              <a:t> </a:t>
            </a:r>
            <a:r>
              <a:rPr lang="en-IN" sz="900" spc="30" dirty="0" smtClean="0">
                <a:latin typeface="Times New Roman"/>
                <a:cs typeface="Times New Roman"/>
              </a:rPr>
              <a:t>       </a:t>
            </a:r>
            <a:r>
              <a:rPr lang="en-IN" sz="900" spc="30" dirty="0" err="1" smtClean="0">
                <a:latin typeface="Times New Roman"/>
                <a:cs typeface="Times New Roman"/>
              </a:rPr>
              <a:t>enq</a:t>
            </a:r>
            <a:r>
              <a:rPr lang="en-IN" sz="900" spc="30" dirty="0" smtClean="0">
                <a:latin typeface="Times New Roman"/>
                <a:cs typeface="Times New Roman"/>
              </a:rPr>
              <a:t>(</a:t>
            </a:r>
            <a:r>
              <a:rPr sz="900" spc="85" dirty="0" smtClean="0">
                <a:latin typeface="Times New Roman"/>
                <a:cs typeface="Times New Roman"/>
              </a:rPr>
              <a:t>S.L</a:t>
            </a:r>
            <a:r>
              <a:rPr lang="en-IN" sz="900" spc="85" dirty="0" smtClean="0">
                <a:latin typeface="Times New Roman"/>
                <a:cs typeface="Times New Roman"/>
              </a:rPr>
              <a:t>)</a:t>
            </a:r>
            <a:r>
              <a:rPr sz="900" spc="85" dirty="0" smtClean="0">
                <a:latin typeface="Times New Roman"/>
                <a:cs typeface="Times New Roman"/>
              </a:rPr>
              <a:t>;</a:t>
            </a:r>
            <a:r>
              <a:rPr sz="900" spc="50" dirty="0" smtClean="0">
                <a:latin typeface="Times New Roman"/>
                <a:cs typeface="Times New Roman"/>
              </a:rPr>
              <a:t> </a:t>
            </a:r>
            <a:r>
              <a:rPr lang="en-IN" sz="900" spc="50" dirty="0" smtClean="0">
                <a:latin typeface="Times New Roman"/>
                <a:cs typeface="Times New Roman"/>
              </a:rPr>
              <a:t>  </a:t>
            </a:r>
          </a:p>
          <a:p>
            <a:pPr marL="132080" marR="5080" indent="-120014">
              <a:lnSpc>
                <a:spcPct val="101499"/>
              </a:lnSpc>
            </a:pPr>
            <a:r>
              <a:rPr lang="en-IN" sz="900" spc="50" dirty="0">
                <a:latin typeface="Times New Roman"/>
                <a:cs typeface="Times New Roman"/>
              </a:rPr>
              <a:t> </a:t>
            </a:r>
            <a:r>
              <a:rPr lang="en-IN" sz="900" spc="50" dirty="0" smtClean="0">
                <a:latin typeface="Times New Roman"/>
                <a:cs typeface="Times New Roman"/>
              </a:rPr>
              <a:t>      </a:t>
            </a:r>
            <a:r>
              <a:rPr sz="900" spc="130" dirty="0" smtClean="0">
                <a:latin typeface="Times New Roman"/>
                <a:cs typeface="Times New Roman"/>
              </a:rPr>
              <a:t>sleep</a:t>
            </a:r>
            <a:r>
              <a:rPr sz="900" spc="130" dirty="0">
                <a:latin typeface="Times New Roman"/>
                <a:cs typeface="Times New Roman"/>
              </a:rPr>
              <a:t>();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900" spc="30" dirty="0" smtClean="0">
                <a:latin typeface="Times New Roman"/>
                <a:cs typeface="Times New Roman"/>
              </a:rPr>
              <a:t>     </a:t>
            </a:r>
            <a:r>
              <a:rPr sz="900" spc="30" dirty="0" smtClean="0">
                <a:latin typeface="Times New Roman"/>
                <a:cs typeface="Times New Roman"/>
              </a:rPr>
              <a:t>}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900" spc="114" dirty="0" smtClean="0">
                <a:latin typeface="Times New Roman"/>
                <a:cs typeface="Times New Roman"/>
              </a:rPr>
              <a:t>}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14" name="object 5"/>
          <p:cNvSpPr txBox="1"/>
          <p:nvPr/>
        </p:nvSpPr>
        <p:spPr>
          <a:xfrm>
            <a:off x="247650" y="2063896"/>
            <a:ext cx="1843150" cy="8678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 marR="602615" indent="-120014">
              <a:lnSpc>
                <a:spcPct val="101499"/>
              </a:lnSpc>
            </a:pPr>
            <a:r>
              <a:rPr lang="en-IN" sz="800" spc="195" dirty="0">
                <a:latin typeface="Times New Roman"/>
                <a:cs typeface="Times New Roman"/>
              </a:rPr>
              <a:t>s</a:t>
            </a:r>
            <a:r>
              <a:rPr lang="en-IN" sz="800" spc="195" dirty="0" smtClean="0">
                <a:latin typeface="Times New Roman"/>
                <a:cs typeface="Times New Roman"/>
              </a:rPr>
              <a:t>ignal (S) {</a:t>
            </a:r>
          </a:p>
          <a:p>
            <a:pPr marL="132080" marR="602615" indent="-120014">
              <a:lnSpc>
                <a:spcPct val="101499"/>
              </a:lnSpc>
            </a:pPr>
            <a:r>
              <a:rPr lang="en-IN" sz="800" spc="195" dirty="0" smtClean="0">
                <a:latin typeface="Times New Roman"/>
                <a:cs typeface="Times New Roman"/>
              </a:rPr>
              <a:t>   </a:t>
            </a:r>
            <a:r>
              <a:rPr lang="en-IN" sz="800" spc="195" dirty="0" err="1" smtClean="0">
                <a:latin typeface="Times New Roman"/>
                <a:cs typeface="Times New Roman"/>
              </a:rPr>
              <a:t>S.value</a:t>
            </a:r>
            <a:r>
              <a:rPr lang="en-IN" sz="800" spc="195" dirty="0" smtClean="0">
                <a:latin typeface="Times New Roman"/>
                <a:cs typeface="Times New Roman"/>
              </a:rPr>
              <a:t>++;</a:t>
            </a:r>
          </a:p>
          <a:p>
            <a:pPr marL="132080" marR="602615" indent="-120014">
              <a:lnSpc>
                <a:spcPct val="101499"/>
              </a:lnSpc>
            </a:pPr>
            <a:r>
              <a:rPr lang="en-IN" sz="800" spc="195" dirty="0">
                <a:latin typeface="Times New Roman"/>
                <a:cs typeface="Times New Roman"/>
              </a:rPr>
              <a:t> </a:t>
            </a:r>
            <a:r>
              <a:rPr lang="en-IN" sz="800" spc="195" dirty="0" smtClean="0">
                <a:latin typeface="Times New Roman"/>
                <a:cs typeface="Times New Roman"/>
              </a:rPr>
              <a:t>  </a:t>
            </a:r>
            <a:r>
              <a:rPr sz="800" spc="195" dirty="0" smtClean="0">
                <a:latin typeface="Times New Roman"/>
                <a:cs typeface="Times New Roman"/>
              </a:rPr>
              <a:t>if </a:t>
            </a:r>
            <a:r>
              <a:rPr sz="800" spc="15" dirty="0" smtClean="0">
                <a:latin typeface="Times New Roman"/>
                <a:cs typeface="Times New Roman"/>
              </a:rPr>
              <a:t> </a:t>
            </a:r>
            <a:r>
              <a:rPr sz="800" spc="95" dirty="0" smtClean="0">
                <a:latin typeface="Times New Roman"/>
                <a:cs typeface="Times New Roman"/>
              </a:rPr>
              <a:t>(</a:t>
            </a:r>
            <a:r>
              <a:rPr sz="800" spc="95" dirty="0" err="1" smtClean="0">
                <a:latin typeface="Times New Roman"/>
                <a:cs typeface="Times New Roman"/>
              </a:rPr>
              <a:t>S.value</a:t>
            </a:r>
            <a:r>
              <a:rPr sz="800" dirty="0" smtClean="0">
                <a:latin typeface="Times New Roman"/>
                <a:cs typeface="Times New Roman"/>
              </a:rPr>
              <a:t> </a:t>
            </a:r>
            <a:r>
              <a:rPr sz="800" spc="20" dirty="0" smtClean="0">
                <a:latin typeface="Times New Roman"/>
                <a:cs typeface="Times New Roman"/>
              </a:rPr>
              <a:t> </a:t>
            </a:r>
            <a:r>
              <a:rPr lang="en-IN" sz="800" spc="-45" dirty="0">
                <a:latin typeface="Times New Roman"/>
                <a:cs typeface="Times New Roman"/>
              </a:rPr>
              <a:t>&lt;</a:t>
            </a:r>
            <a:r>
              <a:rPr sz="800" spc="-45" dirty="0" smtClean="0">
                <a:latin typeface="Times New Roman"/>
                <a:cs typeface="Times New Roman"/>
              </a:rPr>
              <a:t>=</a:t>
            </a:r>
            <a:r>
              <a:rPr sz="800" dirty="0" smtClean="0">
                <a:latin typeface="Times New Roman"/>
                <a:cs typeface="Times New Roman"/>
              </a:rPr>
              <a:t> </a:t>
            </a:r>
            <a:r>
              <a:rPr sz="800" spc="20" dirty="0" smtClean="0">
                <a:latin typeface="Times New Roman"/>
                <a:cs typeface="Times New Roman"/>
              </a:rPr>
              <a:t> </a:t>
            </a:r>
            <a:r>
              <a:rPr sz="800" spc="90" dirty="0" smtClean="0">
                <a:latin typeface="Times New Roman"/>
                <a:cs typeface="Times New Roman"/>
              </a:rPr>
              <a:t>0)</a:t>
            </a:r>
            <a:r>
              <a:rPr sz="800" dirty="0" smtClean="0">
                <a:latin typeface="Times New Roman"/>
                <a:cs typeface="Times New Roman"/>
              </a:rPr>
              <a:t> </a:t>
            </a:r>
            <a:r>
              <a:rPr sz="800" spc="20" dirty="0" smtClean="0">
                <a:latin typeface="Times New Roman"/>
                <a:cs typeface="Times New Roman"/>
              </a:rPr>
              <a:t> </a:t>
            </a:r>
            <a:r>
              <a:rPr sz="800" spc="30" dirty="0" smtClean="0">
                <a:latin typeface="Times New Roman"/>
                <a:cs typeface="Times New Roman"/>
              </a:rPr>
              <a:t>{</a:t>
            </a:r>
            <a:r>
              <a:rPr sz="800" spc="15" dirty="0" smtClean="0">
                <a:latin typeface="Times New Roman"/>
                <a:cs typeface="Times New Roman"/>
              </a:rPr>
              <a:t> </a:t>
            </a:r>
            <a:endParaRPr lang="en-IN" sz="800" spc="15" dirty="0" smtClean="0">
              <a:latin typeface="Times New Roman"/>
              <a:cs typeface="Times New Roman"/>
            </a:endParaRPr>
          </a:p>
          <a:p>
            <a:pPr marL="132080" marR="602615" indent="-120014">
              <a:lnSpc>
                <a:spcPct val="101499"/>
              </a:lnSpc>
            </a:pPr>
            <a:r>
              <a:rPr lang="en-IN" sz="800" spc="15" dirty="0" smtClean="0">
                <a:latin typeface="Times New Roman"/>
                <a:cs typeface="Times New Roman"/>
              </a:rPr>
              <a:t>          </a:t>
            </a:r>
            <a:r>
              <a:rPr sz="800" spc="-30" dirty="0" smtClean="0">
                <a:latin typeface="Times New Roman"/>
                <a:cs typeface="Times New Roman"/>
              </a:rPr>
              <a:t>P</a:t>
            </a:r>
            <a:r>
              <a:rPr sz="800" dirty="0" smtClean="0">
                <a:latin typeface="Times New Roman"/>
                <a:cs typeface="Times New Roman"/>
              </a:rPr>
              <a:t> </a:t>
            </a:r>
            <a:r>
              <a:rPr sz="800" spc="20" dirty="0" smtClean="0">
                <a:latin typeface="Times New Roman"/>
                <a:cs typeface="Times New Roman"/>
              </a:rPr>
              <a:t> </a:t>
            </a:r>
            <a:r>
              <a:rPr sz="800" spc="-45" dirty="0" smtClean="0">
                <a:latin typeface="Times New Roman"/>
                <a:cs typeface="Times New Roman"/>
              </a:rPr>
              <a:t>=</a:t>
            </a:r>
            <a:r>
              <a:rPr sz="800" dirty="0" smtClean="0">
                <a:latin typeface="Times New Roman"/>
                <a:cs typeface="Times New Roman"/>
              </a:rPr>
              <a:t> </a:t>
            </a:r>
            <a:r>
              <a:rPr sz="800" spc="20" dirty="0" smtClean="0">
                <a:latin typeface="Times New Roman"/>
                <a:cs typeface="Times New Roman"/>
              </a:rPr>
              <a:t> </a:t>
            </a:r>
            <a:r>
              <a:rPr sz="800" spc="70" dirty="0" err="1" smtClean="0">
                <a:latin typeface="Times New Roman"/>
                <a:cs typeface="Times New Roman"/>
              </a:rPr>
              <a:t>dequeue</a:t>
            </a:r>
            <a:r>
              <a:rPr sz="800" spc="70" dirty="0" smtClean="0">
                <a:latin typeface="Times New Roman"/>
                <a:cs typeface="Times New Roman"/>
              </a:rPr>
              <a:t>(S.L);</a:t>
            </a:r>
            <a:endParaRPr sz="80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800" spc="50" dirty="0" smtClean="0">
                <a:latin typeface="Times New Roman"/>
                <a:cs typeface="Times New Roman"/>
              </a:rPr>
              <a:t>   </a:t>
            </a:r>
            <a:r>
              <a:rPr sz="800" spc="50" dirty="0" smtClean="0">
                <a:latin typeface="Times New Roman"/>
                <a:cs typeface="Times New Roman"/>
              </a:rPr>
              <a:t>wakeup(P);</a:t>
            </a:r>
            <a:endParaRPr sz="800" dirty="0" smtClean="0">
              <a:latin typeface="Times New Roman"/>
              <a:cs typeface="Times New Roman"/>
            </a:endParaRPr>
          </a:p>
          <a:p>
            <a:pPr marL="12700">
              <a:spcBef>
                <a:spcPts val="15"/>
              </a:spcBef>
            </a:pPr>
            <a:r>
              <a:rPr lang="en-IN" sz="800" spc="30" dirty="0" smtClean="0">
                <a:latin typeface="Times New Roman"/>
                <a:cs typeface="Times New Roman"/>
              </a:rPr>
              <a:t>     </a:t>
            </a:r>
            <a:r>
              <a:rPr sz="800" spc="30" dirty="0" smtClean="0">
                <a:latin typeface="Times New Roman"/>
                <a:cs typeface="Times New Roman"/>
              </a:rPr>
              <a:t>}</a:t>
            </a:r>
            <a:endParaRPr lang="en-IN" sz="800" spc="30" dirty="0" smtClean="0">
              <a:latin typeface="Times New Roman"/>
              <a:cs typeface="Times New Roman"/>
            </a:endParaRPr>
          </a:p>
          <a:p>
            <a:pPr marL="12700">
              <a:spcBef>
                <a:spcPts val="15"/>
              </a:spcBef>
            </a:pPr>
            <a:r>
              <a:rPr lang="en-IN" sz="800" spc="114" dirty="0" smtClean="0">
                <a:latin typeface="Times New Roman"/>
                <a:cs typeface="Times New Roman"/>
              </a:rPr>
              <a:t>}</a:t>
            </a:r>
            <a:endParaRPr sz="800" dirty="0">
              <a:latin typeface="Times New Roman"/>
              <a:cs typeface="Times New Roman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2070417" y="1273175"/>
            <a:ext cx="539433" cy="1966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ight Arrow 15"/>
          <p:cNvSpPr/>
          <p:nvPr/>
        </p:nvSpPr>
        <p:spPr>
          <a:xfrm>
            <a:off x="2034253" y="2503216"/>
            <a:ext cx="539433" cy="1966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39158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3" grpId="0"/>
      <p:bldP spid="14" grpId="0"/>
      <p:bldP spid="15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10" dirty="0"/>
              <a:t>Bina</a:t>
            </a:r>
            <a:r>
              <a:rPr lang="en-IN" spc="45" dirty="0"/>
              <a:t>r</a:t>
            </a:r>
            <a:r>
              <a:rPr lang="en-IN" spc="10" dirty="0"/>
              <a:t>y</a:t>
            </a:r>
            <a:r>
              <a:rPr lang="en-IN" spc="5" dirty="0"/>
              <a:t> </a:t>
            </a:r>
            <a:r>
              <a:rPr lang="en-IN" spc="15" dirty="0"/>
              <a:t>semaphores</a:t>
            </a:r>
            <a:endParaRPr spc="10" dirty="0"/>
          </a:p>
        </p:txBody>
      </p:sp>
      <p:sp>
        <p:nvSpPr>
          <p:cNvPr id="5" name="object 5"/>
          <p:cNvSpPr txBox="1"/>
          <p:nvPr/>
        </p:nvSpPr>
        <p:spPr>
          <a:xfrm>
            <a:off x="234130" y="652287"/>
            <a:ext cx="4313555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56130" algn="l"/>
              </a:tabLst>
            </a:pPr>
            <a:r>
              <a:rPr lang="en-US" sz="900" dirty="0" smtClean="0">
                <a:latin typeface="Arial"/>
                <a:cs typeface="Arial"/>
              </a:rPr>
              <a:t>                                                 </a:t>
            </a:r>
            <a:endParaRPr sz="900" u="sng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281" y="610033"/>
            <a:ext cx="1280795" cy="8972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700" spc="114" dirty="0" smtClean="0">
                <a:solidFill>
                  <a:srgbClr val="FF0000"/>
                </a:solidFill>
                <a:latin typeface="Times New Roman"/>
                <a:cs typeface="Times New Roman"/>
              </a:rPr>
              <a:t>entry1();</a:t>
            </a:r>
          </a:p>
          <a:p>
            <a:pPr marL="12700">
              <a:lnSpc>
                <a:spcPct val="100000"/>
              </a:lnSpc>
            </a:pPr>
            <a:r>
              <a:rPr sz="700" spc="114" dirty="0" err="1" smtClean="0">
                <a:latin typeface="Times New Roman"/>
                <a:cs typeface="Times New Roman"/>
              </a:rPr>
              <a:t>S.value</a:t>
            </a:r>
            <a:r>
              <a:rPr sz="700" spc="114" dirty="0" smtClean="0">
                <a:latin typeface="Times New Roman"/>
                <a:cs typeface="Times New Roman"/>
              </a:rPr>
              <a:t>--;</a:t>
            </a:r>
            <a:endParaRPr lang="en-US" sz="700" spc="114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sz="700" dirty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sz="700" spc="195" dirty="0">
                <a:latin typeface="Times New Roman"/>
                <a:cs typeface="Times New Roman"/>
              </a:rPr>
              <a:t>if </a:t>
            </a:r>
            <a:r>
              <a:rPr sz="700" spc="15" dirty="0"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(S.value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-45" dirty="0">
                <a:latin typeface="Times New Roman"/>
                <a:cs typeface="Times New Roman"/>
              </a:rPr>
              <a:t>&lt;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90" dirty="0">
                <a:latin typeface="Times New Roman"/>
                <a:cs typeface="Times New Roman"/>
              </a:rPr>
              <a:t>0)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{ </a:t>
            </a:r>
            <a:endParaRPr lang="en-US" sz="700" spc="30" dirty="0" smtClean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IN" sz="700" spc="30" dirty="0" smtClean="0">
                <a:latin typeface="Times New Roman"/>
                <a:cs typeface="Times New Roman"/>
              </a:rPr>
              <a:t>    </a:t>
            </a:r>
            <a:r>
              <a:rPr lang="en-IN" sz="800" spc="30" dirty="0" err="1" smtClean="0">
                <a:latin typeface="Times New Roman"/>
                <a:cs typeface="Times New Roman"/>
              </a:rPr>
              <a:t>enq</a:t>
            </a:r>
            <a:r>
              <a:rPr lang="en-IN" sz="800" spc="30" dirty="0" smtClean="0">
                <a:latin typeface="Times New Roman"/>
                <a:cs typeface="Times New Roman"/>
              </a:rPr>
              <a:t>(</a:t>
            </a:r>
            <a:r>
              <a:rPr lang="en-IN" sz="800" spc="85" dirty="0" smtClean="0">
                <a:latin typeface="Times New Roman"/>
                <a:cs typeface="Times New Roman"/>
              </a:rPr>
              <a:t>S.L</a:t>
            </a:r>
            <a:r>
              <a:rPr lang="en-IN" sz="800" spc="85" dirty="0">
                <a:latin typeface="Times New Roman"/>
                <a:cs typeface="Times New Roman"/>
              </a:rPr>
              <a:t>);</a:t>
            </a:r>
            <a:endParaRPr lang="en-US" sz="700" spc="50" dirty="0" smtClean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US" sz="700" spc="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US" sz="700" spc="5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  exit1();</a:t>
            </a:r>
          </a:p>
          <a:p>
            <a:pPr marL="132080" marR="5080" indent="-120014">
              <a:lnSpc>
                <a:spcPct val="101499"/>
              </a:lnSpc>
            </a:pPr>
            <a:r>
              <a:rPr lang="en-US" sz="700" spc="50" dirty="0">
                <a:latin typeface="Times New Roman"/>
                <a:cs typeface="Times New Roman"/>
              </a:rPr>
              <a:t> </a:t>
            </a:r>
            <a:r>
              <a:rPr lang="en-US" sz="700" spc="50" dirty="0" smtClean="0">
                <a:latin typeface="Times New Roman"/>
                <a:cs typeface="Times New Roman"/>
              </a:rPr>
              <a:t>   </a:t>
            </a:r>
            <a:r>
              <a:rPr sz="700" spc="130" dirty="0" smtClean="0">
                <a:latin typeface="Times New Roman"/>
                <a:cs typeface="Times New Roman"/>
              </a:rPr>
              <a:t>sleep</a:t>
            </a:r>
            <a:r>
              <a:rPr sz="700" spc="130" dirty="0">
                <a:latin typeface="Times New Roman"/>
                <a:cs typeface="Times New Roman"/>
              </a:rPr>
              <a:t>();</a:t>
            </a:r>
            <a:endParaRPr sz="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00" spc="30" dirty="0" smtClean="0">
                <a:latin typeface="Times New Roman"/>
                <a:cs typeface="Times New Roman"/>
              </a:rPr>
              <a:t>}</a:t>
            </a:r>
            <a:endParaRPr lang="en-US" sz="700" spc="30" dirty="0" smtClean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3748" y="2215871"/>
            <a:ext cx="1699260" cy="865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700" spc="70" dirty="0" smtClean="0">
                <a:solidFill>
                  <a:srgbClr val="FF0000"/>
                </a:solidFill>
                <a:latin typeface="Times New Roman"/>
                <a:cs typeface="Times New Roman"/>
              </a:rPr>
              <a:t>entry1();</a:t>
            </a:r>
          </a:p>
          <a:p>
            <a:pPr marL="12700">
              <a:lnSpc>
                <a:spcPct val="100000"/>
              </a:lnSpc>
            </a:pPr>
            <a:r>
              <a:rPr sz="700" spc="70" dirty="0" err="1" smtClean="0">
                <a:latin typeface="Times New Roman"/>
                <a:cs typeface="Times New Roman"/>
              </a:rPr>
              <a:t>S.value</a:t>
            </a:r>
            <a:r>
              <a:rPr sz="700" spc="70" dirty="0" smtClean="0">
                <a:latin typeface="Times New Roman"/>
                <a:cs typeface="Times New Roman"/>
              </a:rPr>
              <a:t>++;</a:t>
            </a:r>
            <a:endParaRPr lang="en-US" sz="700" spc="70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endParaRPr lang="en-US" sz="700" spc="195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00" spc="195" dirty="0" smtClean="0">
                <a:latin typeface="Times New Roman"/>
                <a:cs typeface="Times New Roman"/>
              </a:rPr>
              <a:t>if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(S.value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-45" dirty="0">
                <a:latin typeface="Times New Roman"/>
                <a:cs typeface="Times New Roman"/>
              </a:rPr>
              <a:t>&lt;=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90" dirty="0">
                <a:latin typeface="Times New Roman"/>
                <a:cs typeface="Times New Roman"/>
              </a:rPr>
              <a:t>0)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{</a:t>
            </a:r>
            <a:endParaRPr sz="700" dirty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700" spc="15" dirty="0" smtClean="0">
                <a:latin typeface="Times New Roman"/>
                <a:cs typeface="Times New Roman"/>
              </a:rPr>
              <a:t>remove  </a:t>
            </a:r>
            <a:r>
              <a:rPr sz="700" spc="80" dirty="0">
                <a:latin typeface="Times New Roman"/>
                <a:cs typeface="Times New Roman"/>
              </a:rPr>
              <a:t>process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-30" dirty="0">
                <a:latin typeface="Times New Roman"/>
                <a:cs typeface="Times New Roman"/>
              </a:rPr>
              <a:t>P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from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85" dirty="0">
                <a:latin typeface="Times New Roman"/>
                <a:cs typeface="Times New Roman"/>
              </a:rPr>
              <a:t>S.L;</a:t>
            </a:r>
            <a:r>
              <a:rPr sz="700" spc="50" dirty="0">
                <a:latin typeface="Times New Roman"/>
                <a:cs typeface="Times New Roman"/>
              </a:rPr>
              <a:t> </a:t>
            </a:r>
            <a:endParaRPr lang="en-US" sz="700" spc="5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700" spc="50" dirty="0" smtClean="0">
                <a:latin typeface="Times New Roman"/>
                <a:cs typeface="Times New Roman"/>
              </a:rPr>
              <a:t>wakeup(P);</a:t>
            </a:r>
            <a:endParaRPr lang="en-US" sz="700" spc="5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US" sz="700" spc="50" dirty="0">
                <a:solidFill>
                  <a:srgbClr val="FF0000"/>
                </a:solidFill>
                <a:latin typeface="Times New Roman"/>
                <a:cs typeface="Times New Roman"/>
              </a:rPr>
              <a:t>exit1();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700" spc="30" dirty="0" smtClean="0">
                <a:latin typeface="Times New Roman"/>
                <a:cs typeface="Times New Roman"/>
              </a:rPr>
              <a:t>}</a:t>
            </a:r>
            <a:endParaRPr lang="en-US" sz="700" spc="30" dirty="0" smtClean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19 / 28</a:t>
            </a:r>
          </a:p>
        </p:txBody>
      </p:sp>
      <p:sp>
        <p:nvSpPr>
          <p:cNvPr id="19" name="Left Brace 18"/>
          <p:cNvSpPr/>
          <p:nvPr/>
        </p:nvSpPr>
        <p:spPr>
          <a:xfrm>
            <a:off x="171450" y="659069"/>
            <a:ext cx="55666" cy="9951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Left Brace 19"/>
          <p:cNvSpPr/>
          <p:nvPr/>
        </p:nvSpPr>
        <p:spPr>
          <a:xfrm>
            <a:off x="171450" y="2187575"/>
            <a:ext cx="55666" cy="99510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ight Brace 22"/>
          <p:cNvSpPr/>
          <p:nvPr/>
        </p:nvSpPr>
        <p:spPr>
          <a:xfrm>
            <a:off x="3765757" y="503468"/>
            <a:ext cx="47638" cy="9939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ight Brace 23"/>
          <p:cNvSpPr/>
          <p:nvPr/>
        </p:nvSpPr>
        <p:spPr>
          <a:xfrm>
            <a:off x="3781412" y="2107989"/>
            <a:ext cx="47638" cy="9939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/>
          <p:cNvSpPr txBox="1"/>
          <p:nvPr/>
        </p:nvSpPr>
        <p:spPr>
          <a:xfrm rot="-16200000">
            <a:off x="-131673" y="954687"/>
            <a:ext cx="4538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wait</a:t>
            </a:r>
            <a:endParaRPr lang="en-IN" sz="1200" dirty="0"/>
          </a:p>
        </p:txBody>
      </p:sp>
      <p:sp>
        <p:nvSpPr>
          <p:cNvPr id="26" name="TextBox 25"/>
          <p:cNvSpPr txBox="1"/>
          <p:nvPr/>
        </p:nvSpPr>
        <p:spPr>
          <a:xfrm rot="-16200000">
            <a:off x="-183572" y="2464860"/>
            <a:ext cx="5421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smtClean="0"/>
              <a:t>signal</a:t>
            </a:r>
            <a:endParaRPr lang="en-IN" sz="1200" dirty="0"/>
          </a:p>
        </p:txBody>
      </p:sp>
      <p:sp>
        <p:nvSpPr>
          <p:cNvPr id="27" name="TextBox 26"/>
          <p:cNvSpPr txBox="1"/>
          <p:nvPr/>
        </p:nvSpPr>
        <p:spPr>
          <a:xfrm rot="-16200000">
            <a:off x="3653695" y="812875"/>
            <a:ext cx="5083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 smtClean="0"/>
              <a:t>wait</a:t>
            </a:r>
            <a:r>
              <a:rPr lang="en-IN" sz="1200" baseline="-25000" dirty="0" err="1" smtClean="0"/>
              <a:t>b</a:t>
            </a:r>
            <a:endParaRPr lang="en-IN" sz="1200" baseline="-25000" dirty="0"/>
          </a:p>
        </p:txBody>
      </p:sp>
      <p:sp>
        <p:nvSpPr>
          <p:cNvPr id="28" name="TextBox 27"/>
          <p:cNvSpPr txBox="1"/>
          <p:nvPr/>
        </p:nvSpPr>
        <p:spPr>
          <a:xfrm rot="-16200000">
            <a:off x="3593032" y="2428397"/>
            <a:ext cx="5966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 err="1" smtClean="0"/>
              <a:t>signal</a:t>
            </a:r>
            <a:r>
              <a:rPr lang="en-IN" sz="1200" baseline="-25000" dirty="0" err="1" smtClean="0"/>
              <a:t>b</a:t>
            </a:r>
            <a:endParaRPr lang="en-IN" sz="1200" baseline="-25000" dirty="0"/>
          </a:p>
        </p:txBody>
      </p:sp>
      <p:sp>
        <p:nvSpPr>
          <p:cNvPr id="29" name="Right Arrow 28"/>
          <p:cNvSpPr/>
          <p:nvPr/>
        </p:nvSpPr>
        <p:spPr>
          <a:xfrm>
            <a:off x="1576702" y="1022549"/>
            <a:ext cx="539433" cy="1966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ight Arrow 29"/>
          <p:cNvSpPr/>
          <p:nvPr/>
        </p:nvSpPr>
        <p:spPr>
          <a:xfrm>
            <a:off x="1608896" y="2421339"/>
            <a:ext cx="539433" cy="1966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object 4"/>
          <p:cNvSpPr txBox="1"/>
          <p:nvPr/>
        </p:nvSpPr>
        <p:spPr>
          <a:xfrm>
            <a:off x="2208765" y="409048"/>
            <a:ext cx="1654148" cy="1299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 marR="5080" indent="-120014">
              <a:lnSpc>
                <a:spcPct val="101499"/>
              </a:lnSpc>
            </a:pPr>
            <a:r>
              <a:rPr lang="en-IN" sz="700" spc="195" dirty="0" err="1" smtClean="0">
                <a:latin typeface="Times New Roman"/>
                <a:cs typeface="Times New Roman"/>
              </a:rPr>
              <a:t>wait</a:t>
            </a:r>
            <a:r>
              <a:rPr lang="en-IN" sz="700" spc="195" baseline="-25000" dirty="0" err="1" smtClean="0">
                <a:latin typeface="Times New Roman"/>
                <a:cs typeface="Times New Roman"/>
              </a:rPr>
              <a:t>b</a:t>
            </a:r>
            <a:r>
              <a:rPr lang="en-IN" sz="700" spc="195" dirty="0" smtClean="0">
                <a:latin typeface="Times New Roman"/>
                <a:cs typeface="Times New Roman"/>
              </a:rPr>
              <a:t>(S) {</a:t>
            </a:r>
          </a:p>
          <a:p>
            <a:pPr marL="132080" marR="5080" indent="-120014">
              <a:lnSpc>
                <a:spcPct val="101499"/>
              </a:lnSpc>
            </a:pPr>
            <a:r>
              <a:rPr lang="en-IN" sz="700" spc="195" dirty="0">
                <a:latin typeface="Times New Roman"/>
                <a:cs typeface="Times New Roman"/>
              </a:rPr>
              <a:t> </a:t>
            </a:r>
            <a:r>
              <a:rPr lang="en-IN" sz="700" spc="195" dirty="0" smtClean="0">
                <a:latin typeface="Times New Roman"/>
                <a:cs typeface="Times New Roman"/>
              </a:rPr>
              <a:t>  </a:t>
            </a:r>
            <a:r>
              <a:rPr lang="en-IN" sz="700" spc="195" dirty="0" smtClean="0">
                <a:solidFill>
                  <a:srgbClr val="FF0000"/>
                </a:solidFill>
                <a:latin typeface="Times New Roman"/>
                <a:cs typeface="Times New Roman"/>
              </a:rPr>
              <a:t>entry1();</a:t>
            </a:r>
          </a:p>
          <a:p>
            <a:pPr marL="132080" marR="5080" indent="-120014">
              <a:lnSpc>
                <a:spcPct val="101499"/>
              </a:lnSpc>
            </a:pPr>
            <a:r>
              <a:rPr lang="en-IN" sz="700" spc="195" dirty="0" smtClean="0">
                <a:latin typeface="Times New Roman"/>
                <a:cs typeface="Times New Roman"/>
              </a:rPr>
              <a:t>   </a:t>
            </a:r>
            <a:r>
              <a:rPr sz="700" spc="195" dirty="0" smtClean="0">
                <a:latin typeface="Times New Roman"/>
                <a:cs typeface="Times New Roman"/>
              </a:rPr>
              <a:t>if </a:t>
            </a:r>
            <a:r>
              <a:rPr sz="700" spc="15" dirty="0" smtClean="0">
                <a:latin typeface="Times New Roman"/>
                <a:cs typeface="Times New Roman"/>
              </a:rPr>
              <a:t> </a:t>
            </a:r>
            <a:r>
              <a:rPr sz="700" spc="95" dirty="0">
                <a:latin typeface="Times New Roman"/>
                <a:cs typeface="Times New Roman"/>
              </a:rPr>
              <a:t>(S.value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-45" dirty="0">
                <a:latin typeface="Times New Roman"/>
                <a:cs typeface="Times New Roman"/>
              </a:rPr>
              <a:t>==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90" dirty="0">
                <a:latin typeface="Times New Roman"/>
                <a:cs typeface="Times New Roman"/>
              </a:rPr>
              <a:t>0)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30" dirty="0">
                <a:latin typeface="Times New Roman"/>
                <a:cs typeface="Times New Roman"/>
              </a:rPr>
              <a:t>{ </a:t>
            </a:r>
            <a:endParaRPr lang="en-IN" sz="700" spc="30" dirty="0" smtClean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IN" sz="700" spc="30" dirty="0">
                <a:latin typeface="Times New Roman"/>
                <a:cs typeface="Times New Roman"/>
              </a:rPr>
              <a:t> </a:t>
            </a:r>
            <a:r>
              <a:rPr lang="en-IN" sz="700" spc="30" dirty="0" smtClean="0">
                <a:latin typeface="Times New Roman"/>
                <a:cs typeface="Times New Roman"/>
              </a:rPr>
              <a:t>       </a:t>
            </a:r>
            <a:r>
              <a:rPr lang="en-IN" sz="700" spc="30" dirty="0" err="1" smtClean="0">
                <a:latin typeface="Times New Roman"/>
                <a:cs typeface="Times New Roman"/>
              </a:rPr>
              <a:t>enq</a:t>
            </a:r>
            <a:r>
              <a:rPr lang="en-IN" sz="700" spc="30" dirty="0" smtClean="0">
                <a:latin typeface="Times New Roman"/>
                <a:cs typeface="Times New Roman"/>
              </a:rPr>
              <a:t>(</a:t>
            </a:r>
            <a:r>
              <a:rPr lang="en-IN" sz="700" spc="85" dirty="0" smtClean="0">
                <a:latin typeface="Times New Roman"/>
                <a:cs typeface="Times New Roman"/>
              </a:rPr>
              <a:t>S.L);</a:t>
            </a:r>
            <a:r>
              <a:rPr sz="700" spc="50" dirty="0" smtClean="0">
                <a:latin typeface="Times New Roman"/>
                <a:cs typeface="Times New Roman"/>
              </a:rPr>
              <a:t> </a:t>
            </a:r>
            <a:endParaRPr lang="en-IN" sz="700" spc="50" dirty="0">
              <a:latin typeface="Times New Roman"/>
              <a:cs typeface="Times New Roman"/>
            </a:endParaRPr>
          </a:p>
          <a:p>
            <a:pPr marL="132080" marR="5080" indent="-120014">
              <a:lnSpc>
                <a:spcPct val="101499"/>
              </a:lnSpc>
            </a:pPr>
            <a:r>
              <a:rPr lang="en-IN" sz="700" spc="50" dirty="0" smtClean="0">
                <a:latin typeface="Times New Roman"/>
                <a:cs typeface="Times New Roman"/>
              </a:rPr>
              <a:t>       </a:t>
            </a:r>
            <a:r>
              <a:rPr lang="en-IN" sz="700" spc="50" dirty="0" smtClean="0">
                <a:solidFill>
                  <a:srgbClr val="FF0000"/>
                </a:solidFill>
                <a:latin typeface="Times New Roman"/>
                <a:cs typeface="Times New Roman"/>
              </a:rPr>
              <a:t>exit1(); </a:t>
            </a:r>
          </a:p>
          <a:p>
            <a:pPr marL="132080" marR="5080" indent="-120014">
              <a:lnSpc>
                <a:spcPct val="101499"/>
              </a:lnSpc>
            </a:pPr>
            <a:r>
              <a:rPr lang="en-IN" sz="700" spc="50" dirty="0">
                <a:latin typeface="Times New Roman"/>
                <a:cs typeface="Times New Roman"/>
              </a:rPr>
              <a:t> </a:t>
            </a:r>
            <a:r>
              <a:rPr lang="en-IN" sz="700" spc="50" dirty="0" smtClean="0">
                <a:latin typeface="Times New Roman"/>
                <a:cs typeface="Times New Roman"/>
              </a:rPr>
              <a:t>      </a:t>
            </a:r>
            <a:r>
              <a:rPr sz="700" spc="130" dirty="0" smtClean="0">
                <a:latin typeface="Times New Roman"/>
                <a:cs typeface="Times New Roman"/>
              </a:rPr>
              <a:t>sleep</a:t>
            </a:r>
            <a:r>
              <a:rPr sz="700" spc="130" dirty="0">
                <a:latin typeface="Times New Roman"/>
                <a:cs typeface="Times New Roman"/>
              </a:rPr>
              <a:t>();</a:t>
            </a:r>
            <a:endParaRPr sz="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700" spc="30" dirty="0" smtClean="0">
                <a:latin typeface="Times New Roman"/>
                <a:cs typeface="Times New Roman"/>
              </a:rPr>
              <a:t>     </a:t>
            </a:r>
            <a:r>
              <a:rPr sz="700" spc="30" dirty="0" smtClean="0">
                <a:latin typeface="Times New Roman"/>
                <a:cs typeface="Times New Roman"/>
              </a:rPr>
              <a:t>}</a:t>
            </a:r>
            <a:endParaRPr sz="7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700" spc="114" dirty="0" smtClean="0">
                <a:latin typeface="Times New Roman"/>
                <a:cs typeface="Times New Roman"/>
              </a:rPr>
              <a:t>    </a:t>
            </a:r>
            <a:r>
              <a:rPr sz="700" spc="114" dirty="0" smtClean="0">
                <a:latin typeface="Times New Roman"/>
                <a:cs typeface="Times New Roman"/>
              </a:rPr>
              <a:t>else</a:t>
            </a:r>
            <a:r>
              <a:rPr lang="en-IN" sz="700" spc="114" dirty="0" smtClean="0">
                <a:latin typeface="Times New Roman"/>
                <a:cs typeface="Times New Roman"/>
              </a:rPr>
              <a:t> { /* </a:t>
            </a:r>
            <a:r>
              <a:rPr lang="en-IN" sz="700" spc="114" dirty="0" err="1" smtClean="0">
                <a:latin typeface="Times New Roman"/>
                <a:cs typeface="Times New Roman"/>
              </a:rPr>
              <a:t>S.value</a:t>
            </a:r>
            <a:r>
              <a:rPr lang="en-IN" sz="700" spc="114" dirty="0" smtClean="0">
                <a:latin typeface="Times New Roman"/>
                <a:cs typeface="Times New Roman"/>
              </a:rPr>
              <a:t> == 1*/</a:t>
            </a:r>
            <a:r>
              <a:rPr sz="700" spc="114" dirty="0" smtClean="0">
                <a:latin typeface="Times New Roman"/>
                <a:cs typeface="Times New Roman"/>
              </a:rPr>
              <a:t> </a:t>
            </a:r>
            <a:r>
              <a:rPr sz="700" spc="15" dirty="0" smtClean="0">
                <a:latin typeface="Times New Roman"/>
                <a:cs typeface="Times New Roman"/>
              </a:rPr>
              <a:t> </a:t>
            </a:r>
            <a:endParaRPr lang="en-IN" sz="700" spc="15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700" spc="15" dirty="0">
                <a:latin typeface="Times New Roman"/>
                <a:cs typeface="Times New Roman"/>
              </a:rPr>
              <a:t> </a:t>
            </a:r>
            <a:r>
              <a:rPr lang="en-IN" sz="700" spc="15" dirty="0" smtClean="0">
                <a:latin typeface="Times New Roman"/>
                <a:cs typeface="Times New Roman"/>
              </a:rPr>
              <a:t>        </a:t>
            </a:r>
            <a:r>
              <a:rPr sz="700" spc="85" dirty="0" err="1" smtClean="0">
                <a:latin typeface="Times New Roman"/>
                <a:cs typeface="Times New Roman"/>
              </a:rPr>
              <a:t>S.value</a:t>
            </a:r>
            <a:r>
              <a:rPr sz="700" dirty="0" smtClean="0">
                <a:latin typeface="Times New Roman"/>
                <a:cs typeface="Times New Roman"/>
              </a:rPr>
              <a:t> </a:t>
            </a:r>
            <a:r>
              <a:rPr sz="700" spc="20" dirty="0" smtClean="0">
                <a:latin typeface="Times New Roman"/>
                <a:cs typeface="Times New Roman"/>
              </a:rPr>
              <a:t> </a:t>
            </a:r>
            <a:r>
              <a:rPr sz="700" spc="-45" dirty="0">
                <a:latin typeface="Times New Roman"/>
                <a:cs typeface="Times New Roman"/>
              </a:rPr>
              <a:t>=</a:t>
            </a:r>
            <a:r>
              <a:rPr sz="700" dirty="0">
                <a:latin typeface="Times New Roman"/>
                <a:cs typeface="Times New Roman"/>
              </a:rPr>
              <a:t> </a:t>
            </a:r>
            <a:r>
              <a:rPr sz="700" spc="20" dirty="0">
                <a:latin typeface="Times New Roman"/>
                <a:cs typeface="Times New Roman"/>
              </a:rPr>
              <a:t> </a:t>
            </a:r>
            <a:r>
              <a:rPr sz="700" spc="114" dirty="0">
                <a:latin typeface="Times New Roman"/>
                <a:cs typeface="Times New Roman"/>
              </a:rPr>
              <a:t>0</a:t>
            </a:r>
            <a:r>
              <a:rPr sz="700" spc="114" dirty="0" smtClean="0">
                <a:latin typeface="Times New Roman"/>
                <a:cs typeface="Times New Roman"/>
              </a:rPr>
              <a:t>;</a:t>
            </a:r>
            <a:endParaRPr lang="en-IN" sz="700" spc="114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700" spc="5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       exit1</a:t>
            </a:r>
            <a:r>
              <a:rPr lang="en-IN" sz="700" spc="5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lang="en-IN" sz="700" spc="114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700" spc="114" dirty="0" smtClean="0">
                <a:latin typeface="Times New Roman"/>
                <a:cs typeface="Times New Roman"/>
              </a:rPr>
              <a:t>    }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IN" sz="700" spc="114" dirty="0">
                <a:latin typeface="Times New Roman"/>
                <a:cs typeface="Times New Roman"/>
              </a:rPr>
              <a:t>}</a:t>
            </a:r>
            <a:endParaRPr sz="700" dirty="0">
              <a:latin typeface="Times New Roman"/>
              <a:cs typeface="Times New Roman"/>
            </a:endParaRPr>
          </a:p>
        </p:txBody>
      </p:sp>
      <p:sp>
        <p:nvSpPr>
          <p:cNvPr id="32" name="object 5"/>
          <p:cNvSpPr txBox="1"/>
          <p:nvPr/>
        </p:nvSpPr>
        <p:spPr>
          <a:xfrm>
            <a:off x="2186701" y="1844401"/>
            <a:ext cx="1781471" cy="1486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 marR="602615" indent="-120014">
              <a:lnSpc>
                <a:spcPct val="101499"/>
              </a:lnSpc>
            </a:pPr>
            <a:r>
              <a:rPr lang="en-IN" sz="600" spc="195" dirty="0" err="1" smtClean="0">
                <a:latin typeface="Times New Roman"/>
                <a:cs typeface="Times New Roman"/>
              </a:rPr>
              <a:t>signal</a:t>
            </a:r>
            <a:r>
              <a:rPr lang="en-IN" sz="600" spc="195" baseline="-25000" dirty="0" err="1" smtClean="0">
                <a:latin typeface="Times New Roman"/>
                <a:cs typeface="Times New Roman"/>
              </a:rPr>
              <a:t>b</a:t>
            </a:r>
            <a:r>
              <a:rPr lang="en-IN" sz="600" spc="195" dirty="0" smtClean="0">
                <a:latin typeface="Times New Roman"/>
                <a:cs typeface="Times New Roman"/>
              </a:rPr>
              <a:t> (S) {</a:t>
            </a:r>
          </a:p>
          <a:p>
            <a:pPr marL="132080" marR="602615" indent="-120014">
              <a:lnSpc>
                <a:spcPct val="101499"/>
              </a:lnSpc>
            </a:pPr>
            <a:r>
              <a:rPr lang="en-IN" sz="600" spc="195" dirty="0">
                <a:latin typeface="Times New Roman"/>
                <a:cs typeface="Times New Roman"/>
              </a:rPr>
              <a:t> </a:t>
            </a:r>
            <a:r>
              <a:rPr lang="en-IN" sz="600" spc="195" dirty="0" smtClean="0">
                <a:latin typeface="Times New Roman"/>
                <a:cs typeface="Times New Roman"/>
              </a:rPr>
              <a:t>   </a:t>
            </a:r>
            <a:r>
              <a:rPr lang="en-IN" sz="600" spc="50" dirty="0" smtClean="0">
                <a:solidFill>
                  <a:srgbClr val="FF0000"/>
                </a:solidFill>
                <a:latin typeface="Times New Roman"/>
                <a:cs typeface="Times New Roman"/>
              </a:rPr>
              <a:t>entry1</a:t>
            </a:r>
            <a:r>
              <a:rPr lang="en-IN" sz="600" spc="5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lang="en-IN" sz="600" spc="195" dirty="0" smtClean="0">
              <a:latin typeface="Times New Roman"/>
              <a:cs typeface="Times New Roman"/>
            </a:endParaRPr>
          </a:p>
          <a:p>
            <a:pPr marL="132080" marR="602615" indent="-120014">
              <a:lnSpc>
                <a:spcPct val="101499"/>
              </a:lnSpc>
            </a:pPr>
            <a:r>
              <a:rPr lang="en-IN" sz="600" spc="195" dirty="0" smtClean="0">
                <a:latin typeface="Times New Roman"/>
                <a:cs typeface="Times New Roman"/>
              </a:rPr>
              <a:t>    </a:t>
            </a:r>
            <a:r>
              <a:rPr sz="600" spc="195" dirty="0" smtClean="0">
                <a:latin typeface="Times New Roman"/>
                <a:cs typeface="Times New Roman"/>
              </a:rPr>
              <a:t>if </a:t>
            </a:r>
            <a:r>
              <a:rPr sz="600" spc="15" dirty="0" smtClean="0">
                <a:latin typeface="Times New Roman"/>
                <a:cs typeface="Times New Roman"/>
              </a:rPr>
              <a:t> </a:t>
            </a:r>
            <a:r>
              <a:rPr sz="600" spc="95" dirty="0" smtClean="0">
                <a:latin typeface="Times New Roman"/>
                <a:cs typeface="Times New Roman"/>
              </a:rPr>
              <a:t>(</a:t>
            </a:r>
            <a:r>
              <a:rPr sz="600" spc="95" dirty="0" err="1" smtClean="0">
                <a:latin typeface="Times New Roman"/>
                <a:cs typeface="Times New Roman"/>
              </a:rPr>
              <a:t>S.value</a:t>
            </a:r>
            <a:r>
              <a:rPr sz="600" dirty="0" smtClean="0">
                <a:latin typeface="Times New Roman"/>
                <a:cs typeface="Times New Roman"/>
              </a:rPr>
              <a:t> </a:t>
            </a:r>
            <a:r>
              <a:rPr sz="600" spc="20" dirty="0" smtClean="0">
                <a:latin typeface="Times New Roman"/>
                <a:cs typeface="Times New Roman"/>
              </a:rPr>
              <a:t> </a:t>
            </a:r>
            <a:r>
              <a:rPr sz="600" spc="-45" dirty="0" smtClean="0">
                <a:latin typeface="Times New Roman"/>
                <a:cs typeface="Times New Roman"/>
              </a:rPr>
              <a:t>==</a:t>
            </a:r>
            <a:r>
              <a:rPr sz="600" dirty="0" smtClean="0">
                <a:latin typeface="Times New Roman"/>
                <a:cs typeface="Times New Roman"/>
              </a:rPr>
              <a:t> </a:t>
            </a:r>
            <a:r>
              <a:rPr sz="600" spc="20" dirty="0" smtClean="0">
                <a:latin typeface="Times New Roman"/>
                <a:cs typeface="Times New Roman"/>
              </a:rPr>
              <a:t> </a:t>
            </a:r>
            <a:r>
              <a:rPr sz="600" spc="90" dirty="0" smtClean="0">
                <a:latin typeface="Times New Roman"/>
                <a:cs typeface="Times New Roman"/>
              </a:rPr>
              <a:t>0)</a:t>
            </a:r>
            <a:r>
              <a:rPr sz="600" dirty="0" smtClean="0">
                <a:latin typeface="Times New Roman"/>
                <a:cs typeface="Times New Roman"/>
              </a:rPr>
              <a:t> </a:t>
            </a:r>
            <a:r>
              <a:rPr sz="600" spc="20" dirty="0" smtClean="0">
                <a:latin typeface="Times New Roman"/>
                <a:cs typeface="Times New Roman"/>
              </a:rPr>
              <a:t> </a:t>
            </a:r>
            <a:r>
              <a:rPr sz="600" spc="30" dirty="0" smtClean="0">
                <a:latin typeface="Times New Roman"/>
                <a:cs typeface="Times New Roman"/>
              </a:rPr>
              <a:t>{</a:t>
            </a:r>
            <a:r>
              <a:rPr sz="600" spc="15" dirty="0" smtClean="0">
                <a:latin typeface="Times New Roman"/>
                <a:cs typeface="Times New Roman"/>
              </a:rPr>
              <a:t> </a:t>
            </a:r>
            <a:endParaRPr lang="en-IN" sz="600" spc="15" dirty="0" smtClean="0">
              <a:latin typeface="Times New Roman"/>
              <a:cs typeface="Times New Roman"/>
            </a:endParaRPr>
          </a:p>
          <a:p>
            <a:pPr marL="132080" marR="602615" indent="-120014">
              <a:lnSpc>
                <a:spcPct val="101499"/>
              </a:lnSpc>
            </a:pPr>
            <a:r>
              <a:rPr lang="en-IN" sz="600" spc="15" dirty="0" smtClean="0">
                <a:latin typeface="Times New Roman"/>
                <a:cs typeface="Times New Roman"/>
              </a:rPr>
              <a:t>            </a:t>
            </a:r>
            <a:r>
              <a:rPr sz="600" spc="-30" dirty="0" smtClean="0">
                <a:latin typeface="Times New Roman"/>
                <a:cs typeface="Times New Roman"/>
              </a:rPr>
              <a:t>P</a:t>
            </a:r>
            <a:r>
              <a:rPr sz="600" dirty="0" smtClean="0">
                <a:latin typeface="Times New Roman"/>
                <a:cs typeface="Times New Roman"/>
              </a:rPr>
              <a:t> </a:t>
            </a:r>
            <a:r>
              <a:rPr sz="600" spc="20" dirty="0" smtClean="0">
                <a:latin typeface="Times New Roman"/>
                <a:cs typeface="Times New Roman"/>
              </a:rPr>
              <a:t> </a:t>
            </a:r>
            <a:r>
              <a:rPr sz="600" spc="-45" dirty="0" smtClean="0">
                <a:latin typeface="Times New Roman"/>
                <a:cs typeface="Times New Roman"/>
              </a:rPr>
              <a:t>=</a:t>
            </a:r>
            <a:r>
              <a:rPr sz="600" dirty="0" smtClean="0">
                <a:latin typeface="Times New Roman"/>
                <a:cs typeface="Times New Roman"/>
              </a:rPr>
              <a:t> </a:t>
            </a:r>
            <a:r>
              <a:rPr sz="600" spc="20" dirty="0" smtClean="0">
                <a:latin typeface="Times New Roman"/>
                <a:cs typeface="Times New Roman"/>
              </a:rPr>
              <a:t> </a:t>
            </a:r>
            <a:r>
              <a:rPr sz="600" spc="70" dirty="0" err="1" smtClean="0">
                <a:latin typeface="Times New Roman"/>
                <a:cs typeface="Times New Roman"/>
              </a:rPr>
              <a:t>dequeue</a:t>
            </a:r>
            <a:r>
              <a:rPr sz="600" spc="70" dirty="0" smtClean="0">
                <a:latin typeface="Times New Roman"/>
                <a:cs typeface="Times New Roman"/>
              </a:rPr>
              <a:t>(S.L);</a:t>
            </a:r>
            <a:endParaRPr sz="60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600" spc="195" dirty="0" smtClean="0">
                <a:latin typeface="Times New Roman"/>
                <a:cs typeface="Times New Roman"/>
              </a:rPr>
              <a:t>    </a:t>
            </a:r>
            <a:r>
              <a:rPr sz="600" spc="195" dirty="0" smtClean="0">
                <a:latin typeface="Times New Roman"/>
                <a:cs typeface="Times New Roman"/>
              </a:rPr>
              <a:t>if </a:t>
            </a:r>
            <a:r>
              <a:rPr sz="600" spc="20" dirty="0" smtClean="0">
                <a:latin typeface="Times New Roman"/>
                <a:cs typeface="Times New Roman"/>
              </a:rPr>
              <a:t> </a:t>
            </a:r>
            <a:r>
              <a:rPr sz="600" spc="65" dirty="0" smtClean="0">
                <a:latin typeface="Times New Roman"/>
                <a:cs typeface="Times New Roman"/>
              </a:rPr>
              <a:t>(P</a:t>
            </a:r>
            <a:r>
              <a:rPr sz="600" dirty="0" smtClean="0">
                <a:latin typeface="Times New Roman"/>
                <a:cs typeface="Times New Roman"/>
              </a:rPr>
              <a:t> </a:t>
            </a:r>
            <a:r>
              <a:rPr sz="600" spc="20" dirty="0" smtClean="0">
                <a:latin typeface="Times New Roman"/>
                <a:cs typeface="Times New Roman"/>
              </a:rPr>
              <a:t> </a:t>
            </a:r>
            <a:r>
              <a:rPr sz="600" spc="-45" dirty="0" smtClean="0">
                <a:latin typeface="Times New Roman"/>
                <a:cs typeface="Times New Roman"/>
              </a:rPr>
              <a:t>==</a:t>
            </a:r>
            <a:r>
              <a:rPr sz="600" dirty="0" smtClean="0">
                <a:latin typeface="Times New Roman"/>
                <a:cs typeface="Times New Roman"/>
              </a:rPr>
              <a:t> </a:t>
            </a:r>
            <a:r>
              <a:rPr sz="600" spc="20" dirty="0" smtClean="0">
                <a:latin typeface="Times New Roman"/>
                <a:cs typeface="Times New Roman"/>
              </a:rPr>
              <a:t> </a:t>
            </a:r>
            <a:r>
              <a:rPr sz="600" spc="-75" dirty="0" smtClean="0">
                <a:latin typeface="Times New Roman"/>
                <a:cs typeface="Times New Roman"/>
              </a:rPr>
              <a:t>NULL)</a:t>
            </a:r>
            <a:r>
              <a:rPr sz="600" dirty="0" smtClean="0">
                <a:latin typeface="Times New Roman"/>
                <a:cs typeface="Times New Roman"/>
              </a:rPr>
              <a:t> </a:t>
            </a:r>
            <a:r>
              <a:rPr sz="600" spc="20" dirty="0" smtClean="0">
                <a:latin typeface="Times New Roman"/>
                <a:cs typeface="Times New Roman"/>
              </a:rPr>
              <a:t> </a:t>
            </a:r>
            <a:endParaRPr lang="en-IN" sz="600" spc="2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600" spc="20" dirty="0" smtClean="0">
                <a:latin typeface="Times New Roman"/>
                <a:cs typeface="Times New Roman"/>
              </a:rPr>
              <a:t>           </a:t>
            </a:r>
            <a:r>
              <a:rPr sz="600" spc="85" dirty="0" err="1" smtClean="0">
                <a:latin typeface="Times New Roman"/>
                <a:cs typeface="Times New Roman"/>
              </a:rPr>
              <a:t>S.value</a:t>
            </a:r>
            <a:r>
              <a:rPr sz="600" dirty="0" smtClean="0">
                <a:latin typeface="Times New Roman"/>
                <a:cs typeface="Times New Roman"/>
              </a:rPr>
              <a:t> </a:t>
            </a:r>
            <a:r>
              <a:rPr sz="600" spc="20" dirty="0" smtClean="0">
                <a:latin typeface="Times New Roman"/>
                <a:cs typeface="Times New Roman"/>
              </a:rPr>
              <a:t> </a:t>
            </a:r>
            <a:r>
              <a:rPr sz="600" spc="-45" dirty="0" smtClean="0">
                <a:latin typeface="Times New Roman"/>
                <a:cs typeface="Times New Roman"/>
              </a:rPr>
              <a:t>=</a:t>
            </a:r>
            <a:r>
              <a:rPr sz="600" dirty="0" smtClean="0">
                <a:latin typeface="Times New Roman"/>
                <a:cs typeface="Times New Roman"/>
              </a:rPr>
              <a:t> </a:t>
            </a:r>
            <a:r>
              <a:rPr sz="600" spc="20" dirty="0" smtClean="0">
                <a:latin typeface="Times New Roman"/>
                <a:cs typeface="Times New Roman"/>
              </a:rPr>
              <a:t> </a:t>
            </a:r>
            <a:r>
              <a:rPr sz="600" spc="114" dirty="0" smtClean="0">
                <a:latin typeface="Times New Roman"/>
                <a:cs typeface="Times New Roman"/>
              </a:rPr>
              <a:t>1;</a:t>
            </a:r>
            <a:r>
              <a:rPr sz="600" spc="110" dirty="0" smtClean="0">
                <a:latin typeface="Times New Roman"/>
                <a:cs typeface="Times New Roman"/>
              </a:rPr>
              <a:t> </a:t>
            </a:r>
            <a:endParaRPr lang="en-IN" sz="600" spc="11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600" spc="110" dirty="0" smtClean="0">
                <a:latin typeface="Times New Roman"/>
                <a:cs typeface="Times New Roman"/>
              </a:rPr>
              <a:t>     </a:t>
            </a:r>
            <a:r>
              <a:rPr sz="600" spc="110" dirty="0" smtClean="0">
                <a:latin typeface="Times New Roman"/>
                <a:cs typeface="Times New Roman"/>
              </a:rPr>
              <a:t>else</a:t>
            </a:r>
            <a:r>
              <a:rPr sz="600" dirty="0" smtClean="0">
                <a:latin typeface="Times New Roman"/>
                <a:cs typeface="Times New Roman"/>
              </a:rPr>
              <a:t> </a:t>
            </a:r>
            <a:r>
              <a:rPr sz="600" spc="20" dirty="0" smtClean="0">
                <a:latin typeface="Times New Roman"/>
                <a:cs typeface="Times New Roman"/>
              </a:rPr>
              <a:t> </a:t>
            </a:r>
            <a:endParaRPr lang="en-IN" sz="600" spc="2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600" spc="20" dirty="0" smtClean="0">
                <a:latin typeface="Times New Roman"/>
                <a:cs typeface="Times New Roman"/>
              </a:rPr>
              <a:t>          </a:t>
            </a:r>
            <a:r>
              <a:rPr sz="600" spc="50" dirty="0" smtClean="0">
                <a:latin typeface="Times New Roman"/>
                <a:cs typeface="Times New Roman"/>
              </a:rPr>
              <a:t>wakeup(P);</a:t>
            </a:r>
            <a:endParaRPr lang="en-IN" sz="600" spc="5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lang="en-IN" sz="600" spc="50" dirty="0">
                <a:latin typeface="Times New Roman"/>
                <a:cs typeface="Times New Roman"/>
              </a:rPr>
              <a:t> </a:t>
            </a:r>
            <a:r>
              <a:rPr lang="en-IN" sz="600" spc="50" dirty="0" smtClean="0">
                <a:latin typeface="Times New Roman"/>
                <a:cs typeface="Times New Roman"/>
              </a:rPr>
              <a:t>     </a:t>
            </a:r>
            <a:r>
              <a:rPr lang="en-IN" sz="600" spc="50" dirty="0" smtClean="0">
                <a:solidFill>
                  <a:srgbClr val="FF0000"/>
                </a:solidFill>
                <a:latin typeface="Times New Roman"/>
                <a:cs typeface="Times New Roman"/>
              </a:rPr>
              <a:t>exit1</a:t>
            </a:r>
            <a:r>
              <a:rPr lang="en-IN" sz="600" spc="5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lang="en-IN" sz="600" spc="5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600" spc="30" dirty="0" smtClean="0">
                <a:latin typeface="Times New Roman"/>
                <a:cs typeface="Times New Roman"/>
              </a:rPr>
              <a:t>}</a:t>
            </a:r>
            <a:endParaRPr lang="en-IN" sz="600" spc="30" dirty="0" smtClean="0">
              <a:latin typeface="Times New Roman"/>
              <a:cs typeface="Times New Roman"/>
            </a:endParaRPr>
          </a:p>
          <a:p>
            <a:pPr marL="12700">
              <a:spcBef>
                <a:spcPts val="15"/>
              </a:spcBef>
            </a:pPr>
            <a:r>
              <a:rPr lang="en-IN" sz="600" spc="114" dirty="0" smtClean="0">
                <a:latin typeface="Times New Roman"/>
                <a:cs typeface="Times New Roman"/>
              </a:rPr>
              <a:t>    else { /* </a:t>
            </a:r>
            <a:r>
              <a:rPr lang="en-IN" sz="600" spc="114" dirty="0" err="1" smtClean="0">
                <a:latin typeface="Times New Roman"/>
                <a:cs typeface="Times New Roman"/>
              </a:rPr>
              <a:t>S.value</a:t>
            </a:r>
            <a:r>
              <a:rPr lang="en-IN" sz="600" spc="114" dirty="0" smtClean="0">
                <a:latin typeface="Times New Roman"/>
                <a:cs typeface="Times New Roman"/>
              </a:rPr>
              <a:t> == 1*/ </a:t>
            </a:r>
            <a:r>
              <a:rPr lang="en-IN" sz="600" spc="15" dirty="0" smtClean="0">
                <a:latin typeface="Times New Roman"/>
                <a:cs typeface="Times New Roman"/>
              </a:rPr>
              <a:t> </a:t>
            </a:r>
          </a:p>
          <a:p>
            <a:pPr marL="12700">
              <a:spcBef>
                <a:spcPts val="15"/>
              </a:spcBef>
            </a:pPr>
            <a:r>
              <a:rPr lang="en-IN" sz="600" spc="15" dirty="0" smtClean="0">
                <a:latin typeface="Times New Roman"/>
                <a:cs typeface="Times New Roman"/>
              </a:rPr>
              <a:t>           /* </a:t>
            </a:r>
            <a:r>
              <a:rPr lang="en-IN" sz="600" spc="85" dirty="0" smtClean="0">
                <a:latin typeface="Times New Roman"/>
                <a:cs typeface="Times New Roman"/>
              </a:rPr>
              <a:t>Nothing to do */</a:t>
            </a:r>
          </a:p>
          <a:p>
            <a:pPr marL="12700">
              <a:spcBef>
                <a:spcPts val="15"/>
              </a:spcBef>
            </a:pPr>
            <a:r>
              <a:rPr lang="en-IN" sz="600" spc="85" dirty="0">
                <a:latin typeface="Times New Roman"/>
                <a:cs typeface="Times New Roman"/>
              </a:rPr>
              <a:t> </a:t>
            </a:r>
            <a:r>
              <a:rPr lang="en-IN" sz="600" spc="85" dirty="0" smtClean="0">
                <a:latin typeface="Times New Roman"/>
                <a:cs typeface="Times New Roman"/>
              </a:rPr>
              <a:t>        </a:t>
            </a:r>
            <a:r>
              <a:rPr lang="en-IN" sz="600" spc="50" dirty="0" smtClean="0">
                <a:solidFill>
                  <a:srgbClr val="FF0000"/>
                </a:solidFill>
                <a:latin typeface="Times New Roman"/>
                <a:cs typeface="Times New Roman"/>
              </a:rPr>
              <a:t>exit1</a:t>
            </a:r>
            <a:r>
              <a:rPr lang="en-IN" sz="600" spc="50" dirty="0">
                <a:solidFill>
                  <a:srgbClr val="FF0000"/>
                </a:solidFill>
                <a:latin typeface="Times New Roman"/>
                <a:cs typeface="Times New Roman"/>
              </a:rPr>
              <a:t>();</a:t>
            </a:r>
            <a:endParaRPr lang="en-IN" sz="600" spc="114" dirty="0" smtClean="0">
              <a:latin typeface="Times New Roman"/>
              <a:cs typeface="Times New Roman"/>
            </a:endParaRPr>
          </a:p>
          <a:p>
            <a:pPr marL="12700">
              <a:spcBef>
                <a:spcPts val="15"/>
              </a:spcBef>
            </a:pPr>
            <a:r>
              <a:rPr lang="en-IN" sz="600" spc="114" dirty="0" smtClean="0">
                <a:latin typeface="Times New Roman"/>
                <a:cs typeface="Times New Roman"/>
              </a:rPr>
              <a:t>   }</a:t>
            </a:r>
          </a:p>
          <a:p>
            <a:pPr marL="12700">
              <a:spcBef>
                <a:spcPts val="15"/>
              </a:spcBef>
            </a:pPr>
            <a:r>
              <a:rPr lang="en-IN" sz="600" spc="114" dirty="0">
                <a:latin typeface="Times New Roman"/>
                <a:cs typeface="Times New Roman"/>
              </a:rPr>
              <a:t> </a:t>
            </a:r>
            <a:r>
              <a:rPr lang="en-IN" sz="600" spc="114" dirty="0" smtClean="0">
                <a:latin typeface="Times New Roman"/>
                <a:cs typeface="Times New Roman"/>
              </a:rPr>
              <a:t>  </a:t>
            </a:r>
            <a:endParaRPr lang="en-IN" sz="600" dirty="0">
              <a:latin typeface="Times New Roman"/>
              <a:cs typeface="Times New Roman"/>
            </a:endParaRPr>
          </a:p>
          <a:p>
            <a:pPr marL="12700">
              <a:spcBef>
                <a:spcPts val="15"/>
              </a:spcBef>
            </a:pPr>
            <a:r>
              <a:rPr lang="en-IN" sz="600" spc="114" dirty="0" smtClean="0">
                <a:latin typeface="Times New Roman"/>
                <a:cs typeface="Times New Roman"/>
              </a:rPr>
              <a:t>}</a:t>
            </a:r>
            <a:endParaRPr sz="600" dirty="0">
              <a:latin typeface="Times New Roman"/>
              <a:cs typeface="Times New Roman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171450" y="1844401"/>
            <a:ext cx="4191000" cy="3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21016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9" grpId="0" animBg="1"/>
      <p:bldP spid="20" grpId="0" animBg="1"/>
      <p:bldP spid="23" grpId="0" animBg="1"/>
      <p:bldP spid="24" grpId="0" animBg="1"/>
      <p:bldP spid="25" grpId="0"/>
      <p:bldP spid="26" grpId="0"/>
      <p:bldP spid="27" grpId="0"/>
      <p:bldP spid="28" grpId="0"/>
      <p:bldP spid="29" grpId="0" animBg="1"/>
      <p:bldP spid="30" grpId="0" animBg="1"/>
      <p:bldP spid="31" grpId="0"/>
      <p:bldP spid="3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spc="10" dirty="0" smtClean="0"/>
              <a:t>Counting</a:t>
            </a:r>
            <a:r>
              <a:rPr lang="en-IN" spc="5" dirty="0" smtClean="0"/>
              <a:t> </a:t>
            </a:r>
            <a:r>
              <a:rPr lang="en-IN" spc="15" dirty="0"/>
              <a:t>semaphores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" y="636189"/>
            <a:ext cx="4358386" cy="2539157"/>
          </a:xfrm>
        </p:spPr>
        <p:txBody>
          <a:bodyPr/>
          <a:lstStyle/>
          <a:p>
            <a:endParaRPr lang="en-IN" b="0" dirty="0" smtClean="0"/>
          </a:p>
          <a:p>
            <a:r>
              <a:rPr lang="en-IN" b="0" dirty="0" smtClean="0"/>
              <a:t>wait (S) {			signal (S) {</a:t>
            </a:r>
          </a:p>
          <a:p>
            <a:r>
              <a:rPr lang="en-IN" b="0" dirty="0"/>
              <a:t> </a:t>
            </a:r>
            <a:r>
              <a:rPr lang="en-IN" b="0" dirty="0" smtClean="0"/>
              <a:t>  </a:t>
            </a:r>
            <a:r>
              <a:rPr lang="en-IN" b="0" dirty="0" err="1" smtClean="0"/>
              <a:t>S.value</a:t>
            </a:r>
            <a:r>
              <a:rPr lang="en-IN" b="0" dirty="0" smtClean="0"/>
              <a:t>--;			   </a:t>
            </a:r>
            <a:r>
              <a:rPr lang="en-IN" b="0" dirty="0" err="1" smtClean="0"/>
              <a:t>S.value</a:t>
            </a:r>
            <a:r>
              <a:rPr lang="en-IN" b="0" dirty="0" smtClean="0"/>
              <a:t>++;</a:t>
            </a:r>
          </a:p>
          <a:p>
            <a:r>
              <a:rPr lang="en-IN" b="0" dirty="0" smtClean="0"/>
              <a:t>   if (</a:t>
            </a:r>
            <a:r>
              <a:rPr lang="en-IN" b="0" dirty="0" err="1" smtClean="0"/>
              <a:t>S.value</a:t>
            </a:r>
            <a:r>
              <a:rPr lang="en-IN" b="0" dirty="0" smtClean="0"/>
              <a:t> &lt; 0) {		   if (</a:t>
            </a:r>
            <a:r>
              <a:rPr lang="en-IN" b="0" dirty="0" err="1" smtClean="0"/>
              <a:t>S.value</a:t>
            </a:r>
            <a:r>
              <a:rPr lang="en-IN" b="0" dirty="0" smtClean="0"/>
              <a:t> &lt;= 0) {</a:t>
            </a:r>
          </a:p>
          <a:p>
            <a:r>
              <a:rPr lang="en-IN" b="0" dirty="0"/>
              <a:t> </a:t>
            </a:r>
            <a:r>
              <a:rPr lang="en-IN" b="0" dirty="0" smtClean="0"/>
              <a:t>      </a:t>
            </a:r>
            <a:r>
              <a:rPr lang="en-IN" b="0" dirty="0" err="1" smtClean="0"/>
              <a:t>enq</a:t>
            </a:r>
            <a:r>
              <a:rPr lang="en-IN" b="0" dirty="0" smtClean="0"/>
              <a:t>(S.L);			       P = </a:t>
            </a:r>
            <a:r>
              <a:rPr lang="en-IN" b="0" dirty="0" err="1" smtClean="0"/>
              <a:t>dequeue</a:t>
            </a:r>
            <a:r>
              <a:rPr lang="en-IN" b="0" dirty="0" smtClean="0"/>
              <a:t> (S.L);</a:t>
            </a:r>
          </a:p>
          <a:p>
            <a:r>
              <a:rPr lang="en-IN" b="0" dirty="0" smtClean="0"/>
              <a:t>       sleep();                                                            wakeup(P);</a:t>
            </a:r>
          </a:p>
          <a:p>
            <a:r>
              <a:rPr lang="en-IN" b="0" dirty="0" smtClean="0"/>
              <a:t>}                                                                       }</a:t>
            </a:r>
          </a:p>
          <a:p>
            <a:endParaRPr lang="en-IN" b="0" dirty="0"/>
          </a:p>
          <a:p>
            <a:r>
              <a:rPr lang="en-IN" b="0" dirty="0" smtClean="0"/>
              <a:t>Can implement using kernel provided binary semaphores [</a:t>
            </a:r>
            <a:r>
              <a:rPr lang="en-IN" b="0" dirty="0" err="1" smtClean="0">
                <a:solidFill>
                  <a:srgbClr val="FF0000"/>
                </a:solidFill>
              </a:rPr>
              <a:t>S.value</a:t>
            </a:r>
            <a:r>
              <a:rPr lang="en-IN" b="0" dirty="0" smtClean="0">
                <a:solidFill>
                  <a:srgbClr val="FF0000"/>
                </a:solidFill>
              </a:rPr>
              <a:t> can only be 0 or 1</a:t>
            </a:r>
            <a:r>
              <a:rPr lang="en-IN" b="0" dirty="0" smtClean="0"/>
              <a:t>]</a:t>
            </a:r>
          </a:p>
          <a:p>
            <a:endParaRPr lang="en-IN" b="0" dirty="0"/>
          </a:p>
          <a:p>
            <a:r>
              <a:rPr lang="en-IN" b="0" dirty="0" smtClean="0"/>
              <a:t>Need a separate integer that keeps track of how many processes are waiting to enter CS</a:t>
            </a:r>
          </a:p>
          <a:p>
            <a:endParaRPr lang="en-IN" b="0" dirty="0"/>
          </a:p>
          <a:p>
            <a:r>
              <a:rPr lang="en-IN" b="0" dirty="0" smtClean="0"/>
              <a:t>Counter </a:t>
            </a:r>
            <a:r>
              <a:rPr lang="en-IN" b="0" dirty="0" err="1" smtClean="0"/>
              <a:t>S.value</a:t>
            </a:r>
            <a:r>
              <a:rPr lang="en-IN" b="0" dirty="0" smtClean="0"/>
              <a:t>, Queue Q</a:t>
            </a:r>
          </a:p>
        </p:txBody>
      </p:sp>
      <p:sp>
        <p:nvSpPr>
          <p:cNvPr id="5" name="Rectangle 4"/>
          <p:cNvSpPr/>
          <p:nvPr/>
        </p:nvSpPr>
        <p:spPr>
          <a:xfrm>
            <a:off x="44759" y="384517"/>
            <a:ext cx="2305050" cy="251672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 marR="5080">
              <a:lnSpc>
                <a:spcPct val="102699"/>
              </a:lnSpc>
            </a:pPr>
            <a:r>
              <a:rPr lang="en-US" sz="1050" dirty="0" smtClean="0"/>
              <a:t>Shared semaphore S = 5;</a:t>
            </a:r>
            <a:endParaRPr lang="en-US" sz="11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469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IN" dirty="0" smtClean="0"/>
              <a:t>Semaphores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1692771"/>
          </a:xfrm>
        </p:spPr>
        <p:txBody>
          <a:bodyPr/>
          <a:lstStyle/>
          <a:p>
            <a:r>
              <a:rPr lang="en-IN" b="0" u="sng" dirty="0" smtClean="0"/>
              <a:t>Without Semaphore</a:t>
            </a:r>
            <a:r>
              <a:rPr lang="en-IN" b="0" dirty="0" smtClean="0"/>
              <a:t>: (Bakery or similar, user has to implement)</a:t>
            </a:r>
          </a:p>
          <a:p>
            <a:r>
              <a:rPr lang="en-IN" dirty="0" smtClean="0"/>
              <a:t>	</a:t>
            </a:r>
            <a:r>
              <a:rPr lang="en-IN" dirty="0" err="1" smtClean="0"/>
              <a:t>entrySection</a:t>
            </a:r>
            <a:endParaRPr lang="en-IN" dirty="0" smtClean="0"/>
          </a:p>
          <a:p>
            <a:r>
              <a:rPr lang="en-IN" dirty="0"/>
              <a:t>	</a:t>
            </a:r>
            <a:r>
              <a:rPr lang="en-IN" dirty="0" err="1" smtClean="0"/>
              <a:t>CriticalSection</a:t>
            </a:r>
            <a:endParaRPr lang="en-IN" dirty="0" smtClean="0"/>
          </a:p>
          <a:p>
            <a:r>
              <a:rPr lang="en-IN" dirty="0"/>
              <a:t>	</a:t>
            </a:r>
            <a:r>
              <a:rPr lang="en-IN" dirty="0" err="1" smtClean="0"/>
              <a:t>exitSection</a:t>
            </a:r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r>
              <a:rPr lang="en-IN" b="0" u="sng" dirty="0" smtClean="0"/>
              <a:t>With Semaphore</a:t>
            </a:r>
            <a:r>
              <a:rPr lang="en-IN" b="0" dirty="0" smtClean="0"/>
              <a:t> (Library functions)</a:t>
            </a:r>
          </a:p>
          <a:p>
            <a:r>
              <a:rPr lang="en-IN" dirty="0"/>
              <a:t>	</a:t>
            </a:r>
            <a:r>
              <a:rPr lang="en-IN" dirty="0" smtClean="0"/>
              <a:t>wait(S)</a:t>
            </a:r>
          </a:p>
          <a:p>
            <a:r>
              <a:rPr lang="en-IN" dirty="0"/>
              <a:t>	</a:t>
            </a:r>
            <a:r>
              <a:rPr lang="en-IN" dirty="0" err="1" smtClean="0"/>
              <a:t>criticalSection</a:t>
            </a:r>
            <a:endParaRPr lang="en-IN" dirty="0" smtClean="0"/>
          </a:p>
          <a:p>
            <a:r>
              <a:rPr lang="en-IN" dirty="0"/>
              <a:t>	</a:t>
            </a:r>
            <a:r>
              <a:rPr lang="en-IN" dirty="0" smtClean="0"/>
              <a:t>signal(S)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1925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 smtClean="0"/>
              <a:t>Improper usage of semaphore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2200602"/>
          </a:xfrm>
        </p:spPr>
        <p:txBody>
          <a:bodyPr/>
          <a:lstStyle/>
          <a:p>
            <a:r>
              <a:rPr lang="en-US" b="0" dirty="0" smtClean="0"/>
              <a:t>S1 and S2 are binary semaphores</a:t>
            </a:r>
          </a:p>
          <a:p>
            <a:r>
              <a:rPr lang="en-US" b="0" dirty="0" smtClean="0"/>
              <a:t>Initially, S1 = 1 and S2 = 1</a:t>
            </a:r>
          </a:p>
          <a:p>
            <a:r>
              <a:rPr lang="en-US" b="0" dirty="0" smtClean="0"/>
              <a:t>P1 and P2 are concurrently executing processes</a:t>
            </a:r>
          </a:p>
          <a:p>
            <a:endParaRPr lang="en-US" b="0" dirty="0"/>
          </a:p>
          <a:p>
            <a:r>
              <a:rPr lang="en-US" b="0" dirty="0" smtClean="0"/>
              <a:t>P1:		P2:</a:t>
            </a:r>
          </a:p>
          <a:p>
            <a:endParaRPr lang="en-US" b="0" dirty="0"/>
          </a:p>
          <a:p>
            <a:r>
              <a:rPr lang="en-US" b="0" dirty="0"/>
              <a:t>w</a:t>
            </a:r>
            <a:r>
              <a:rPr lang="en-US" b="0" dirty="0" smtClean="0"/>
              <a:t>ait(s1);		wait(s2);</a:t>
            </a:r>
          </a:p>
          <a:p>
            <a:r>
              <a:rPr lang="en-US" b="0" dirty="0" smtClean="0"/>
              <a:t>wait(s2);		wait(s1);</a:t>
            </a:r>
          </a:p>
          <a:p>
            <a:r>
              <a:rPr lang="en-US" b="0" dirty="0" smtClean="0"/>
              <a:t>..		..</a:t>
            </a:r>
          </a:p>
          <a:p>
            <a:r>
              <a:rPr lang="en-US" b="0" dirty="0" smtClean="0"/>
              <a:t>..		..</a:t>
            </a:r>
          </a:p>
          <a:p>
            <a:r>
              <a:rPr lang="en-US" b="0" dirty="0" smtClean="0"/>
              <a:t>..		..</a:t>
            </a:r>
          </a:p>
          <a:p>
            <a:r>
              <a:rPr lang="en-US" b="0" dirty="0"/>
              <a:t>s</a:t>
            </a:r>
            <a:r>
              <a:rPr lang="en-US" b="0" dirty="0" smtClean="0"/>
              <a:t>ignal(s1);		signal(s2);</a:t>
            </a:r>
          </a:p>
          <a:p>
            <a:r>
              <a:rPr lang="en-US" b="0" dirty="0"/>
              <a:t>s</a:t>
            </a:r>
            <a:r>
              <a:rPr lang="en-US" b="0" dirty="0" smtClean="0"/>
              <a:t>ignal (s2);		signal(s1);</a:t>
            </a:r>
            <a:endParaRPr lang="en-IN" b="0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781050" y="1654175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2533650" y="1654175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781050" y="1806575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2533650" y="1808413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25856" y="2891415"/>
            <a:ext cx="26492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Deadlock: Processes stuck forever</a:t>
            </a:r>
          </a:p>
          <a:p>
            <a:r>
              <a:rPr lang="en-US" sz="1400" dirty="0" smtClean="0"/>
              <a:t>What to do?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8933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</p:spPr>
        <p:txBody>
          <a:bodyPr/>
          <a:lstStyle/>
          <a:p>
            <a:r>
              <a:rPr lang="en-US" dirty="0"/>
              <a:t>Improper usage of semaphore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56" y="521302"/>
            <a:ext cx="4358386" cy="1184940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smtClean="0"/>
              <a:t>Starvation or indefinite blocking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smtClean="0"/>
              <a:t>Process stays in the semaphore waiting queue indefinitely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 smtClean="0"/>
              <a:t>Can happen if processes are removed in a LIFO manner from </a:t>
            </a:r>
            <a:r>
              <a:rPr lang="en-US" b="0" dirty="0" err="1" smtClean="0"/>
              <a:t>readyQ</a:t>
            </a:r>
            <a:r>
              <a:rPr lang="en-US" b="0" dirty="0" smtClean="0"/>
              <a:t> </a:t>
            </a:r>
            <a:r>
              <a:rPr lang="en-US" b="0" dirty="0" smtClean="0">
                <a:sym typeface="Wingdings" panose="05000000000000000000" pitchFamily="2" charset="2"/>
              </a:rPr>
              <a:t> implement the queue properly</a:t>
            </a:r>
            <a:endParaRPr lang="en-US" b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 b="0" dirty="0"/>
          </a:p>
        </p:txBody>
      </p:sp>
    </p:spTree>
    <p:extLst>
      <p:ext uri="{BB962C8B-B14F-4D97-AF65-F5344CB8AC3E}">
        <p14:creationId xmlns:p14="http://schemas.microsoft.com/office/powerpoint/2010/main" val="29247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10" dirty="0" smtClean="0"/>
              <a:t>Example: </a:t>
            </a:r>
            <a:r>
              <a:rPr spc="10" dirty="0" smtClean="0"/>
              <a:t>Producer-consumer</a:t>
            </a:r>
            <a:r>
              <a:rPr spc="5" dirty="0" smtClean="0"/>
              <a:t> </a:t>
            </a:r>
            <a:r>
              <a:rPr spc="10" dirty="0" smtClean="0"/>
              <a:t>pro</a:t>
            </a:r>
            <a:r>
              <a:rPr spc="-15" dirty="0" smtClean="0"/>
              <a:t>b</a:t>
            </a:r>
            <a:r>
              <a:rPr spc="15" dirty="0" smtClean="0"/>
              <a:t>lem</a:t>
            </a:r>
            <a:endParaRPr spc="15" dirty="0"/>
          </a:p>
        </p:txBody>
      </p:sp>
      <p:sp>
        <p:nvSpPr>
          <p:cNvPr id="11" name="object 11"/>
          <p:cNvSpPr txBox="1"/>
          <p:nvPr/>
        </p:nvSpPr>
        <p:spPr>
          <a:xfrm>
            <a:off x="315468" y="500989"/>
            <a:ext cx="3977004" cy="2545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P</a:t>
            </a:r>
            <a:r>
              <a:rPr sz="1100" b="1" spc="-30" dirty="0">
                <a:latin typeface="Arial"/>
                <a:cs typeface="Arial"/>
              </a:rPr>
              <a:t>r</a:t>
            </a:r>
            <a:r>
              <a:rPr sz="1100" b="1" spc="-10" dirty="0">
                <a:latin typeface="Arial"/>
                <a:cs typeface="Arial"/>
              </a:rPr>
              <a:t>o</a:t>
            </a:r>
            <a:r>
              <a:rPr sz="1100" b="1" spc="-25" dirty="0">
                <a:latin typeface="Arial"/>
                <a:cs typeface="Arial"/>
              </a:rPr>
              <a:t>b</a:t>
            </a:r>
            <a:r>
              <a:rPr sz="1100" b="1" spc="-10" dirty="0">
                <a:latin typeface="Arial"/>
                <a:cs typeface="Arial"/>
              </a:rPr>
              <a:t>lem: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spc="-10" dirty="0">
                <a:solidFill>
                  <a:srgbClr val="0000FF"/>
                </a:solidFill>
                <a:latin typeface="Arial"/>
                <a:cs typeface="Arial"/>
              </a:rPr>
              <a:t>producer</a:t>
            </a:r>
            <a:r>
              <a:rPr sz="1100" i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process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gene</a:t>
            </a:r>
            <a:r>
              <a:rPr sz="1100" spc="-15" dirty="0">
                <a:latin typeface="Arial"/>
                <a:cs typeface="Arial"/>
              </a:rPr>
              <a:t>r</a:t>
            </a:r>
            <a:r>
              <a:rPr sz="1100" spc="-10" dirty="0">
                <a:latin typeface="Arial"/>
                <a:cs typeface="Arial"/>
              </a:rPr>
              <a:t>ates</a:t>
            </a:r>
            <a:r>
              <a:rPr sz="1100" spc="-5" dirty="0">
                <a:latin typeface="Arial"/>
                <a:cs typeface="Arial"/>
              </a:rPr>
              <a:t> output that is </a:t>
            </a:r>
            <a:r>
              <a:rPr sz="1100" spc="-10" dirty="0">
                <a:latin typeface="Arial"/>
                <a:cs typeface="Arial"/>
              </a:rPr>
              <a:t>used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10" dirty="0">
                <a:latin typeface="Arial"/>
                <a:cs typeface="Arial"/>
              </a:rPr>
              <a:t>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i="1" spc="-10" dirty="0">
                <a:solidFill>
                  <a:srgbClr val="0000FF"/>
                </a:solidFill>
                <a:latin typeface="Arial"/>
                <a:cs typeface="Arial"/>
              </a:rPr>
              <a:t>consumer</a:t>
            </a:r>
            <a:r>
              <a:rPr sz="1100" i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process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as</a:t>
            </a:r>
            <a:r>
              <a:rPr sz="1100" spc="-5" dirty="0">
                <a:latin typeface="Arial"/>
                <a:cs typeface="Arial"/>
              </a:rPr>
              <a:t> input</a:t>
            </a:r>
            <a:endParaRPr sz="11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100" spc="-10" dirty="0">
                <a:latin typeface="Arial"/>
                <a:cs typeface="Arial"/>
              </a:rPr>
              <a:t>Examples: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Arial"/>
                <a:cs typeface="Arial"/>
              </a:rPr>
              <a:t>p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int </a:t>
            </a:r>
            <a:r>
              <a:rPr sz="1100" spc="-10" dirty="0">
                <a:latin typeface="Arial"/>
                <a:cs typeface="Arial"/>
              </a:rPr>
              <a:t>pro</a:t>
            </a:r>
            <a:r>
              <a:rPr sz="1100" spc="-20" dirty="0">
                <a:latin typeface="Arial"/>
                <a:cs typeface="Arial"/>
              </a:rPr>
              <a:t>gr</a:t>
            </a:r>
            <a:r>
              <a:rPr sz="1100" spc="-10" dirty="0">
                <a:latin typeface="Arial"/>
                <a:cs typeface="Arial"/>
              </a:rPr>
              <a:t>am</a:t>
            </a:r>
            <a:r>
              <a:rPr sz="1100" spc="-5" dirty="0">
                <a:latin typeface="Arial"/>
                <a:cs typeface="Arial"/>
              </a:rPr>
              <a:t> (producer) </a:t>
            </a:r>
            <a:r>
              <a:rPr sz="1100" spc="-10" dirty="0">
                <a:latin typeface="Arial"/>
                <a:cs typeface="Arial"/>
              </a:rPr>
              <a:t>+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inter </a:t>
            </a:r>
            <a:r>
              <a:rPr sz="1100" spc="-10" dirty="0">
                <a:latin typeface="Arial"/>
                <a:cs typeface="Arial"/>
              </a:rPr>
              <a:t>d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i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5" dirty="0">
                <a:latin typeface="Arial"/>
                <a:cs typeface="Arial"/>
              </a:rPr>
              <a:t>er </a:t>
            </a:r>
            <a:r>
              <a:rPr sz="1100" spc="-10" dirty="0">
                <a:latin typeface="Arial"/>
                <a:cs typeface="Arial"/>
              </a:rPr>
              <a:t>(consumer)</a:t>
            </a:r>
            <a:endParaRPr sz="1100" dirty="0">
              <a:latin typeface="Arial"/>
              <a:cs typeface="Arial"/>
            </a:endParaRPr>
          </a:p>
          <a:p>
            <a:pPr marL="12700" indent="276860">
              <a:lnSpc>
                <a:spcPct val="100000"/>
              </a:lnSpc>
              <a:spcBef>
                <a:spcPts val="430"/>
              </a:spcBef>
            </a:pPr>
            <a:r>
              <a:rPr sz="1100" spc="-45" dirty="0">
                <a:latin typeface="Arial"/>
                <a:cs typeface="Arial"/>
              </a:rPr>
              <a:t>$ 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170" dirty="0">
                <a:latin typeface="Arial"/>
                <a:cs typeface="Arial"/>
              </a:rPr>
              <a:t>ls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265" dirty="0">
                <a:latin typeface="Arial"/>
                <a:cs typeface="Arial"/>
              </a:rPr>
              <a:t>-l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285" dirty="0">
                <a:latin typeface="Arial"/>
                <a:cs typeface="Arial"/>
              </a:rPr>
              <a:t>|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more</a:t>
            </a:r>
            <a:endParaRPr sz="1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"/>
              </a:spcBef>
            </a:pPr>
            <a:endParaRPr sz="10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Implementation: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Arial"/>
                <a:cs typeface="Arial"/>
              </a:rPr>
              <a:t>Producer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and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consumer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access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shared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5" dirty="0">
                <a:latin typeface="Arial"/>
                <a:cs typeface="Arial"/>
              </a:rPr>
              <a:t>uf</a:t>
            </a:r>
            <a:r>
              <a:rPr sz="1100" spc="-40" dirty="0">
                <a:latin typeface="Arial"/>
                <a:cs typeface="Arial"/>
              </a:rPr>
              <a:t>f</a:t>
            </a:r>
            <a:r>
              <a:rPr sz="1100" spc="-5" dirty="0">
                <a:latin typeface="Arial"/>
                <a:cs typeface="Arial"/>
              </a:rPr>
              <a:t>er</a:t>
            </a:r>
            <a:endParaRPr sz="1100" dirty="0">
              <a:latin typeface="Arial"/>
              <a:cs typeface="Arial"/>
            </a:endParaRPr>
          </a:p>
          <a:p>
            <a:pPr marL="289560" marR="1372235">
              <a:lnSpc>
                <a:spcPct val="132800"/>
              </a:lnSpc>
            </a:pPr>
            <a:r>
              <a:rPr sz="1100" spc="-10" dirty="0">
                <a:latin typeface="Arial"/>
                <a:cs typeface="Arial"/>
              </a:rPr>
              <a:t>Concurrent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access</a:t>
            </a:r>
            <a:r>
              <a:rPr sz="1100" spc="-5" dirty="0">
                <a:latin typeface="Arial"/>
                <a:cs typeface="Arial"/>
              </a:rPr>
              <a:t> is all</a:t>
            </a:r>
            <a:r>
              <a:rPr sz="1100" spc="-30" dirty="0">
                <a:latin typeface="Arial"/>
                <a:cs typeface="Arial"/>
              </a:rPr>
              <a:t>o</a:t>
            </a:r>
            <a:r>
              <a:rPr sz="1100" spc="-25" dirty="0">
                <a:latin typeface="Arial"/>
                <a:cs typeface="Arial"/>
              </a:rPr>
              <a:t>w</a:t>
            </a:r>
            <a:r>
              <a:rPr sz="1100" spc="-10" dirty="0">
                <a:latin typeface="Arial"/>
                <a:cs typeface="Arial"/>
              </a:rPr>
              <a:t>ed Consumer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m</a:t>
            </a:r>
            <a:r>
              <a:rPr sz="1100" spc="-5" dirty="0">
                <a:latin typeface="Arial"/>
                <a:cs typeface="Arial"/>
              </a:rPr>
              <a:t>ust </a:t>
            </a:r>
            <a:r>
              <a:rPr sz="1100" spc="-30" dirty="0">
                <a:latin typeface="Arial"/>
                <a:cs typeface="Arial"/>
              </a:rPr>
              <a:t>w</a:t>
            </a:r>
            <a:r>
              <a:rPr sz="1100" spc="-5" dirty="0">
                <a:latin typeface="Arial"/>
                <a:cs typeface="Arial"/>
              </a:rPr>
              <a:t>ait if 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5" dirty="0">
                <a:latin typeface="Arial"/>
                <a:cs typeface="Arial"/>
              </a:rPr>
              <a:t>uf</a:t>
            </a:r>
            <a:r>
              <a:rPr sz="1100" spc="-40" dirty="0">
                <a:latin typeface="Arial"/>
                <a:cs typeface="Arial"/>
              </a:rPr>
              <a:t>f</a:t>
            </a:r>
            <a:r>
              <a:rPr sz="1100" spc="-5" dirty="0">
                <a:latin typeface="Arial"/>
                <a:cs typeface="Arial"/>
              </a:rPr>
              <a:t>er is </a:t>
            </a:r>
            <a:r>
              <a:rPr sz="1100" spc="-10" dirty="0">
                <a:latin typeface="Arial"/>
                <a:cs typeface="Arial"/>
              </a:rPr>
              <a:t>empty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434"/>
              </a:spcBef>
            </a:pPr>
            <a:r>
              <a:rPr sz="1100" b="1" spc="-10" dirty="0">
                <a:latin typeface="Arial"/>
                <a:cs typeface="Arial"/>
              </a:rPr>
              <a:t>Unbounded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b</a:t>
            </a:r>
            <a:r>
              <a:rPr sz="1100" b="1" spc="-10" dirty="0">
                <a:latin typeface="Arial"/>
                <a:cs typeface="Arial"/>
              </a:rPr>
              <a:t>uf</a:t>
            </a:r>
            <a:r>
              <a:rPr sz="1100" b="1" spc="-20" dirty="0">
                <a:latin typeface="Arial"/>
                <a:cs typeface="Arial"/>
              </a:rPr>
              <a:t>f</a:t>
            </a:r>
            <a:r>
              <a:rPr sz="1100" b="1" spc="-5" dirty="0">
                <a:latin typeface="Arial"/>
                <a:cs typeface="Arial"/>
              </a:rPr>
              <a:t>er: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no</a:t>
            </a:r>
            <a:r>
              <a:rPr sz="1100" spc="-5" dirty="0">
                <a:latin typeface="Arial"/>
                <a:cs typeface="Arial"/>
              </a:rPr>
              <a:t> limit </a:t>
            </a:r>
            <a:r>
              <a:rPr sz="1100" spc="-10" dirty="0">
                <a:latin typeface="Arial"/>
                <a:cs typeface="Arial"/>
              </a:rPr>
              <a:t>on</a:t>
            </a:r>
            <a:r>
              <a:rPr sz="1100" spc="-5" dirty="0">
                <a:latin typeface="Arial"/>
                <a:cs typeface="Arial"/>
              </a:rPr>
              <a:t> si</a:t>
            </a:r>
            <a:r>
              <a:rPr sz="1100" spc="-30" dirty="0">
                <a:latin typeface="Arial"/>
                <a:cs typeface="Arial"/>
              </a:rPr>
              <a:t>z</a:t>
            </a:r>
            <a:r>
              <a:rPr sz="1100" spc="-10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 of 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5" dirty="0">
                <a:latin typeface="Arial"/>
                <a:cs typeface="Arial"/>
              </a:rPr>
              <a:t>uf</a:t>
            </a:r>
            <a:r>
              <a:rPr sz="1100" spc="-40" dirty="0">
                <a:latin typeface="Arial"/>
                <a:cs typeface="Arial"/>
              </a:rPr>
              <a:t>f</a:t>
            </a:r>
            <a:r>
              <a:rPr sz="1100" spc="-5" dirty="0">
                <a:latin typeface="Arial"/>
                <a:cs typeface="Arial"/>
              </a:rPr>
              <a:t>er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70"/>
              </a:spcBef>
            </a:pPr>
            <a:r>
              <a:rPr sz="1100" b="1" spc="-10" dirty="0">
                <a:latin typeface="Arial"/>
                <a:cs typeface="Arial"/>
              </a:rPr>
              <a:t>Bounded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b</a:t>
            </a:r>
            <a:r>
              <a:rPr sz="1100" b="1" spc="-10" dirty="0">
                <a:latin typeface="Arial"/>
                <a:cs typeface="Arial"/>
              </a:rPr>
              <a:t>uf</a:t>
            </a:r>
            <a:r>
              <a:rPr sz="1100" b="1" spc="-20" dirty="0">
                <a:latin typeface="Arial"/>
                <a:cs typeface="Arial"/>
              </a:rPr>
              <a:t>f</a:t>
            </a:r>
            <a:r>
              <a:rPr sz="1100" b="1" spc="-5" dirty="0">
                <a:latin typeface="Arial"/>
                <a:cs typeface="Arial"/>
              </a:rPr>
              <a:t>er:</a:t>
            </a:r>
            <a:r>
              <a:rPr sz="1100" b="1" spc="6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5" dirty="0">
                <a:latin typeface="Arial"/>
                <a:cs typeface="Arial"/>
              </a:rPr>
              <a:t>uf</a:t>
            </a:r>
            <a:r>
              <a:rPr sz="1100" spc="-40" dirty="0">
                <a:latin typeface="Arial"/>
                <a:cs typeface="Arial"/>
              </a:rPr>
              <a:t>f</a:t>
            </a:r>
            <a:r>
              <a:rPr sz="1100" spc="-5" dirty="0">
                <a:latin typeface="Arial"/>
                <a:cs typeface="Arial"/>
              </a:rPr>
              <a:t>er is of fi</a:t>
            </a:r>
            <a:r>
              <a:rPr sz="1100" spc="-45" dirty="0">
                <a:latin typeface="Arial"/>
                <a:cs typeface="Arial"/>
              </a:rPr>
              <a:t>x</a:t>
            </a:r>
            <a:r>
              <a:rPr sz="1100" spc="-10" dirty="0">
                <a:latin typeface="Arial"/>
                <a:cs typeface="Arial"/>
              </a:rPr>
              <a:t>ed</a:t>
            </a:r>
            <a:r>
              <a:rPr sz="1100" spc="-5" dirty="0">
                <a:latin typeface="Arial"/>
                <a:cs typeface="Arial"/>
              </a:rPr>
              <a:t> si</a:t>
            </a:r>
            <a:r>
              <a:rPr sz="1100" spc="-30" dirty="0">
                <a:latin typeface="Arial"/>
                <a:cs typeface="Arial"/>
              </a:rPr>
              <a:t>z</a:t>
            </a:r>
            <a:r>
              <a:rPr sz="1100" spc="-10" dirty="0">
                <a:latin typeface="Arial"/>
                <a:cs typeface="Arial"/>
              </a:rPr>
              <a:t>e</a:t>
            </a:r>
            <a:endParaRPr sz="1100" dirty="0">
              <a:latin typeface="Arial"/>
              <a:cs typeface="Arial"/>
            </a:endParaRPr>
          </a:p>
          <a:p>
            <a:pPr marR="995044" algn="ctr">
              <a:lnSpc>
                <a:spcPct val="100000"/>
              </a:lnSpc>
              <a:spcBef>
                <a:spcPts val="375"/>
              </a:spcBef>
            </a:pPr>
            <a:r>
              <a:rPr sz="1000" spc="-5" dirty="0">
                <a:latin typeface="Arial"/>
                <a:cs typeface="Arial"/>
              </a:rPr>
              <a:t>producer </a:t>
            </a:r>
            <a:r>
              <a:rPr sz="1000" spc="-20" dirty="0">
                <a:latin typeface="Arial"/>
                <a:cs typeface="Arial"/>
              </a:rPr>
              <a:t>m</a:t>
            </a:r>
            <a:r>
              <a:rPr sz="1000" spc="-5" dirty="0">
                <a:latin typeface="Arial"/>
                <a:cs typeface="Arial"/>
              </a:rPr>
              <a:t>ust </a:t>
            </a:r>
            <a:r>
              <a:rPr sz="1000" spc="-25" dirty="0">
                <a:latin typeface="Arial"/>
                <a:cs typeface="Arial"/>
              </a:rPr>
              <a:t>w</a:t>
            </a:r>
            <a:r>
              <a:rPr sz="1000" spc="-5" dirty="0">
                <a:latin typeface="Arial"/>
                <a:cs typeface="Arial"/>
              </a:rPr>
              <a:t>ait if </a:t>
            </a:r>
            <a:r>
              <a:rPr sz="1000" spc="-30" dirty="0">
                <a:latin typeface="Arial"/>
                <a:cs typeface="Arial"/>
              </a:rPr>
              <a:t>b</a:t>
            </a:r>
            <a:r>
              <a:rPr sz="1000" spc="-5" dirty="0">
                <a:latin typeface="Arial"/>
                <a:cs typeface="Arial"/>
              </a:rPr>
              <a:t>uf</a:t>
            </a:r>
            <a:r>
              <a:rPr sz="1000" spc="-35" dirty="0">
                <a:latin typeface="Arial"/>
                <a:cs typeface="Arial"/>
              </a:rPr>
              <a:t>f</a:t>
            </a:r>
            <a:r>
              <a:rPr sz="1000" spc="-5" dirty="0">
                <a:latin typeface="Arial"/>
                <a:cs typeface="Arial"/>
              </a:rPr>
              <a:t>er is full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7310">
              <a:lnSpc>
                <a:spcPct val="100000"/>
              </a:lnSpc>
            </a:pPr>
            <a:fld id="{81D60167-4931-47E6-BA6A-407CBD079E47}" type="slidenum">
              <a:rPr spc="-5" dirty="0"/>
              <a:t>32</a:t>
            </a:fld>
            <a:r>
              <a:rPr spc="-5" dirty="0"/>
              <a:t> / 28</a:t>
            </a:r>
          </a:p>
        </p:txBody>
      </p:sp>
    </p:spTree>
    <p:extLst>
      <p:ext uri="{BB962C8B-B14F-4D97-AF65-F5344CB8AC3E}">
        <p14:creationId xmlns:p14="http://schemas.microsoft.com/office/powerpoint/2010/main" val="235740856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Race</a:t>
            </a:r>
            <a:r>
              <a:rPr spc="5" dirty="0"/>
              <a:t> </a:t>
            </a:r>
            <a:r>
              <a:rPr spc="10" dirty="0"/>
              <a:t>condition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95195" y="411226"/>
            <a:ext cx="1217930" cy="16002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ct val="100000"/>
              </a:lnSpc>
            </a:pPr>
            <a:r>
              <a:rPr sz="900" spc="-25" dirty="0">
                <a:latin typeface="Century"/>
                <a:cs typeface="Century"/>
              </a:rPr>
              <a:t>Reference: </a:t>
            </a:r>
            <a:r>
              <a:rPr sz="900" spc="-95" dirty="0">
                <a:latin typeface="Century"/>
                <a:cs typeface="Century"/>
              </a:rPr>
              <a:t> </a:t>
            </a:r>
            <a:r>
              <a:rPr sz="900" spc="-25" dirty="0">
                <a:latin typeface="Century"/>
                <a:cs typeface="Century"/>
              </a:rPr>
              <a:t>Section</a:t>
            </a:r>
            <a:r>
              <a:rPr sz="900" spc="55" dirty="0">
                <a:latin typeface="Century"/>
                <a:cs typeface="Century"/>
              </a:rPr>
              <a:t> </a:t>
            </a:r>
            <a:r>
              <a:rPr sz="900" spc="-30" dirty="0">
                <a:latin typeface="Century"/>
                <a:cs typeface="Century"/>
              </a:rPr>
              <a:t>6.1</a:t>
            </a:r>
            <a:endParaRPr sz="900">
              <a:latin typeface="Century"/>
              <a:cs typeface="Century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081" y="811759"/>
            <a:ext cx="47498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-5" dirty="0">
                <a:latin typeface="Arial"/>
                <a:cs typeface="Arial"/>
              </a:rPr>
              <a:t>producer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87781" y="952627"/>
            <a:ext cx="449580" cy="0"/>
          </a:xfrm>
          <a:custGeom>
            <a:avLst/>
            <a:gdLst/>
            <a:ahLst/>
            <a:cxnLst/>
            <a:rect l="l" t="t" r="r" b="b"/>
            <a:pathLst>
              <a:path w="449580">
                <a:moveTo>
                  <a:pt x="0" y="0"/>
                </a:moveTo>
                <a:lnTo>
                  <a:pt x="449326" y="0"/>
                </a:lnTo>
              </a:path>
            </a:pathLst>
          </a:custGeom>
          <a:ln w="4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75081" y="953235"/>
            <a:ext cx="1520190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15" dirty="0">
                <a:latin typeface="Times New Roman"/>
                <a:cs typeface="Times New Roman"/>
              </a:rPr>
              <a:t>p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produce();</a:t>
            </a:r>
            <a:endParaRPr sz="900">
              <a:latin typeface="Times New Roman"/>
              <a:cs typeface="Times New Roman"/>
            </a:endParaRPr>
          </a:p>
          <a:p>
            <a:pPr marL="12700" marR="5080">
              <a:lnSpc>
                <a:spcPct val="101400"/>
              </a:lnSpc>
            </a:pPr>
            <a:r>
              <a:rPr sz="900" spc="65" dirty="0">
                <a:latin typeface="Times New Roman"/>
                <a:cs typeface="Times New Roman"/>
              </a:rPr>
              <a:t>while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75" dirty="0">
                <a:latin typeface="Times New Roman"/>
                <a:cs typeface="Times New Roman"/>
              </a:rPr>
              <a:t>(count==n);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//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55" dirty="0">
                <a:latin typeface="Times New Roman"/>
                <a:cs typeface="Times New Roman"/>
              </a:rPr>
              <a:t>full</a:t>
            </a:r>
            <a:r>
              <a:rPr sz="900" spc="11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buffer[in]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p;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114" dirty="0">
                <a:latin typeface="Times New Roman"/>
                <a:cs typeface="Times New Roman"/>
              </a:rPr>
              <a:t>in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50" dirty="0">
                <a:latin typeface="Times New Roman"/>
                <a:cs typeface="Times New Roman"/>
              </a:rPr>
              <a:t>in+1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285" dirty="0">
                <a:latin typeface="Times New Roman"/>
                <a:cs typeface="Times New Roman"/>
              </a:rPr>
              <a:t>%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n;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8134" y="1509876"/>
            <a:ext cx="50419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60" dirty="0">
                <a:latin typeface="Times New Roman"/>
                <a:cs typeface="Times New Roman"/>
              </a:rPr>
              <a:t>count++;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7781" y="1504442"/>
            <a:ext cx="564515" cy="0"/>
          </a:xfrm>
          <a:custGeom>
            <a:avLst/>
            <a:gdLst/>
            <a:ahLst/>
            <a:cxnLst/>
            <a:rect l="l" t="t" r="r" b="b"/>
            <a:pathLst>
              <a:path w="564515">
                <a:moveTo>
                  <a:pt x="0" y="0"/>
                </a:moveTo>
                <a:lnTo>
                  <a:pt x="56438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0322" y="1504442"/>
            <a:ext cx="0" cy="160020"/>
          </a:xfrm>
          <a:custGeom>
            <a:avLst/>
            <a:gdLst/>
            <a:ahLst/>
            <a:cxnLst/>
            <a:rect l="l" t="t" r="r" b="b"/>
            <a:pathLst>
              <a:path h="160019">
                <a:moveTo>
                  <a:pt x="0" y="159892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49630" y="1504442"/>
            <a:ext cx="0" cy="160020"/>
          </a:xfrm>
          <a:custGeom>
            <a:avLst/>
            <a:gdLst/>
            <a:ahLst/>
            <a:cxnLst/>
            <a:rect l="l" t="t" r="r" b="b"/>
            <a:pathLst>
              <a:path h="160019">
                <a:moveTo>
                  <a:pt x="0" y="159892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87781" y="1664335"/>
            <a:ext cx="564515" cy="0"/>
          </a:xfrm>
          <a:custGeom>
            <a:avLst/>
            <a:gdLst/>
            <a:ahLst/>
            <a:cxnLst/>
            <a:rect l="l" t="t" r="r" b="b"/>
            <a:pathLst>
              <a:path w="564515">
                <a:moveTo>
                  <a:pt x="0" y="0"/>
                </a:moveTo>
                <a:lnTo>
                  <a:pt x="564388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358644" y="811759"/>
            <a:ext cx="1579880" cy="5594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u="sng" spc="-5" dirty="0">
                <a:latin typeface="Arial"/>
                <a:cs typeface="Arial"/>
              </a:rPr>
              <a:t>consumer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</a:pPr>
            <a:r>
              <a:rPr sz="900" spc="65" dirty="0">
                <a:latin typeface="Times New Roman"/>
                <a:cs typeface="Times New Roman"/>
              </a:rPr>
              <a:t>while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75" dirty="0">
                <a:latin typeface="Times New Roman"/>
                <a:cs typeface="Times New Roman"/>
              </a:rPr>
              <a:t>(count==0);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220" dirty="0">
                <a:latin typeface="Times New Roman"/>
                <a:cs typeface="Times New Roman"/>
              </a:rPr>
              <a:t>//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5" dirty="0">
                <a:latin typeface="Times New Roman"/>
                <a:cs typeface="Times New Roman"/>
              </a:rPr>
              <a:t>empty</a:t>
            </a:r>
            <a:r>
              <a:rPr sz="900" spc="10" dirty="0">
                <a:latin typeface="Times New Roman"/>
                <a:cs typeface="Times New Roman"/>
              </a:rPr>
              <a:t> p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buffer[out];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80" dirty="0">
                <a:latin typeface="Times New Roman"/>
                <a:cs typeface="Times New Roman"/>
              </a:rPr>
              <a:t>out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45" dirty="0">
                <a:latin typeface="Times New Roman"/>
                <a:cs typeface="Times New Roman"/>
              </a:rPr>
              <a:t>out+1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285" dirty="0">
                <a:latin typeface="Times New Roman"/>
                <a:cs typeface="Times New Roman"/>
              </a:rPr>
              <a:t>%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n;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71344" y="1365250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42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73757" y="1365250"/>
            <a:ext cx="0" cy="160020"/>
          </a:xfrm>
          <a:custGeom>
            <a:avLst/>
            <a:gdLst/>
            <a:ahLst/>
            <a:cxnLst/>
            <a:rect l="l" t="t" r="r" b="b"/>
            <a:pathLst>
              <a:path h="160019">
                <a:moveTo>
                  <a:pt x="0" y="159893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53004" y="1365250"/>
            <a:ext cx="0" cy="160020"/>
          </a:xfrm>
          <a:custGeom>
            <a:avLst/>
            <a:gdLst/>
            <a:ahLst/>
            <a:cxnLst/>
            <a:rect l="l" t="t" r="r" b="b"/>
            <a:pathLst>
              <a:path h="160019">
                <a:moveTo>
                  <a:pt x="0" y="159893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371344" y="1525143"/>
            <a:ext cx="584200" cy="0"/>
          </a:xfrm>
          <a:custGeom>
            <a:avLst/>
            <a:gdLst/>
            <a:ahLst/>
            <a:cxnLst/>
            <a:rect l="l" t="t" r="r" b="b"/>
            <a:pathLst>
              <a:path w="584200">
                <a:moveTo>
                  <a:pt x="0" y="0"/>
                </a:moveTo>
                <a:lnTo>
                  <a:pt x="5842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358644" y="1370684"/>
            <a:ext cx="68326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2545">
              <a:lnSpc>
                <a:spcPct val="101499"/>
              </a:lnSpc>
            </a:pPr>
            <a:r>
              <a:rPr sz="900" spc="80" dirty="0">
                <a:latin typeface="Times New Roman"/>
                <a:cs typeface="Times New Roman"/>
              </a:rPr>
              <a:t>count-</a:t>
            </a:r>
            <a:r>
              <a:rPr sz="900" spc="-70" dirty="0">
                <a:latin typeface="Times New Roman"/>
                <a:cs typeface="Times New Roman"/>
              </a:rPr>
              <a:t> </a:t>
            </a:r>
            <a:r>
              <a:rPr sz="900" spc="195" dirty="0">
                <a:latin typeface="Times New Roman"/>
                <a:cs typeface="Times New Roman"/>
              </a:rPr>
              <a:t>-;</a:t>
            </a:r>
            <a:r>
              <a:rPr sz="900" spc="155" dirty="0">
                <a:latin typeface="Times New Roman"/>
                <a:cs typeface="Times New Roman"/>
              </a:rPr>
              <a:t> </a:t>
            </a:r>
            <a:r>
              <a:rPr sz="900" spc="60" dirty="0">
                <a:latin typeface="Times New Roman"/>
                <a:cs typeface="Times New Roman"/>
              </a:rPr>
              <a:t>consume(p);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38556" y="1816227"/>
            <a:ext cx="4331335" cy="0"/>
          </a:xfrm>
          <a:custGeom>
            <a:avLst/>
            <a:gdLst/>
            <a:ahLst/>
            <a:cxnLst/>
            <a:rect l="l" t="t" r="r" b="b"/>
            <a:pathLst>
              <a:path w="4331335">
                <a:moveTo>
                  <a:pt x="0" y="0"/>
                </a:moveTo>
                <a:lnTo>
                  <a:pt x="4330954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325873" y="3345157"/>
            <a:ext cx="215900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5 / 28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0"/>
          <p:cNvSpPr txBox="1"/>
          <p:nvPr/>
        </p:nvSpPr>
        <p:spPr>
          <a:xfrm>
            <a:off x="287781" y="2868932"/>
            <a:ext cx="3084069" cy="415498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8915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900" spc="-10" dirty="0" smtClean="0">
                <a:latin typeface="Arial"/>
                <a:cs typeface="Arial"/>
              </a:rPr>
              <a:t>Most machines will not allow direct memory operation</a:t>
            </a:r>
          </a:p>
          <a:p>
            <a:pPr marL="208915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900" spc="-10" dirty="0" smtClean="0">
                <a:latin typeface="Arial"/>
                <a:cs typeface="Arial"/>
              </a:rPr>
              <a:t>Compiler translates this into 3 machine level instructions</a:t>
            </a:r>
          </a:p>
          <a:p>
            <a:pPr marL="208915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900" spc="-10" dirty="0" smtClean="0">
                <a:latin typeface="Arial"/>
                <a:cs typeface="Arial"/>
              </a:rPr>
              <a:t>Think of Interrupts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71450" y="1638869"/>
            <a:ext cx="4571999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7465">
              <a:lnSpc>
                <a:spcPct val="100000"/>
              </a:lnSpc>
            </a:pPr>
            <a:r>
              <a:rPr lang="en-US" sz="800" b="1" i="1" spc="-10" dirty="0">
                <a:latin typeface="Arial"/>
                <a:cs typeface="Arial"/>
              </a:rPr>
              <a:t>buffer</a:t>
            </a:r>
            <a:r>
              <a:rPr lang="en-US" sz="800" b="1" spc="-10" dirty="0">
                <a:latin typeface="Arial"/>
                <a:cs typeface="Arial"/>
              </a:rPr>
              <a:t> </a:t>
            </a:r>
            <a:r>
              <a:rPr lang="en-US" sz="800" b="1" spc="-10" dirty="0" smtClean="0">
                <a:latin typeface="Arial"/>
                <a:cs typeface="Arial"/>
              </a:rPr>
              <a:t>and count in </a:t>
            </a:r>
            <a:r>
              <a:rPr lang="en-US" sz="800" b="1" spc="-10" dirty="0">
                <a:latin typeface="Arial"/>
                <a:cs typeface="Arial"/>
              </a:rPr>
              <a:t>shared space, </a:t>
            </a:r>
            <a:r>
              <a:rPr lang="en-US" sz="800" b="1" i="1" spc="-10" dirty="0">
                <a:latin typeface="Arial"/>
                <a:cs typeface="Arial"/>
              </a:rPr>
              <a:t>in</a:t>
            </a:r>
            <a:r>
              <a:rPr lang="en-US" sz="800" b="1" spc="-10" dirty="0">
                <a:latin typeface="Arial"/>
                <a:cs typeface="Arial"/>
              </a:rPr>
              <a:t> and </a:t>
            </a:r>
            <a:r>
              <a:rPr lang="en-US" sz="800" b="1" i="1" spc="-10" dirty="0">
                <a:latin typeface="Arial"/>
                <a:cs typeface="Arial"/>
              </a:rPr>
              <a:t>out</a:t>
            </a:r>
            <a:r>
              <a:rPr lang="en-US" sz="800" b="1" spc="-10" dirty="0">
                <a:latin typeface="Arial"/>
                <a:cs typeface="Arial"/>
              </a:rPr>
              <a:t> in </a:t>
            </a:r>
            <a:r>
              <a:rPr lang="en-US" sz="800" b="1" spc="-10" dirty="0" smtClean="0">
                <a:latin typeface="Arial"/>
                <a:cs typeface="Arial"/>
              </a:rPr>
              <a:t>exclusive space</a:t>
            </a:r>
            <a:endParaRPr lang="en-US" sz="800" dirty="0">
              <a:latin typeface="Arial"/>
              <a:cs typeface="Arial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00050" y="1958975"/>
            <a:ext cx="2971800" cy="838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/>
          <p:cNvSpPr txBox="1"/>
          <p:nvPr/>
        </p:nvSpPr>
        <p:spPr>
          <a:xfrm>
            <a:off x="450954" y="2032423"/>
            <a:ext cx="5054496" cy="510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marR="2148205">
              <a:lnSpc>
                <a:spcPct val="101499"/>
              </a:lnSpc>
              <a:tabLst>
                <a:tab pos="789305" algn="l"/>
              </a:tabLst>
            </a:pPr>
            <a:r>
              <a:rPr lang="en-US" sz="900" spc="-235" dirty="0">
                <a:latin typeface="Times New Roman"/>
                <a:cs typeface="Times New Roman"/>
              </a:rPr>
              <a:t>MOV </a:t>
            </a:r>
            <a:r>
              <a:rPr lang="en-US" sz="900" spc="20" dirty="0">
                <a:latin typeface="Times New Roman"/>
                <a:cs typeface="Times New Roman"/>
              </a:rPr>
              <a:t> </a:t>
            </a:r>
            <a:r>
              <a:rPr lang="en-US" sz="900" spc="65" dirty="0">
                <a:latin typeface="Times New Roman"/>
                <a:cs typeface="Times New Roman"/>
              </a:rPr>
              <a:t>count</a:t>
            </a:r>
            <a:r>
              <a:rPr lang="en-US" sz="900" dirty="0">
                <a:latin typeface="Times New Roman"/>
                <a:cs typeface="Times New Roman"/>
              </a:rPr>
              <a:t> </a:t>
            </a:r>
            <a:r>
              <a:rPr lang="en-US" sz="900" spc="20" dirty="0">
                <a:latin typeface="Times New Roman"/>
                <a:cs typeface="Times New Roman"/>
              </a:rPr>
              <a:t> </a:t>
            </a:r>
            <a:r>
              <a:rPr lang="en-US" sz="900" spc="-60" dirty="0">
                <a:latin typeface="Times New Roman"/>
                <a:cs typeface="Times New Roman"/>
              </a:rPr>
              <a:t>R0</a:t>
            </a:r>
            <a:r>
              <a:rPr lang="en-US" sz="900" dirty="0">
                <a:latin typeface="Times New Roman"/>
                <a:cs typeface="Times New Roman"/>
              </a:rPr>
              <a:t> </a:t>
            </a:r>
            <a:r>
              <a:rPr lang="en-US" sz="900" spc="75" dirty="0" smtClean="0">
                <a:latin typeface="Times New Roman"/>
                <a:cs typeface="Times New Roman"/>
              </a:rPr>
              <a:t>			</a:t>
            </a:r>
            <a:r>
              <a:rPr lang="en-US" sz="900" spc="-235" dirty="0">
                <a:latin typeface="Times New Roman"/>
                <a:cs typeface="Times New Roman"/>
              </a:rPr>
              <a:t> MOV </a:t>
            </a:r>
            <a:r>
              <a:rPr lang="en-US" sz="900" spc="20" dirty="0">
                <a:latin typeface="Times New Roman"/>
                <a:cs typeface="Times New Roman"/>
              </a:rPr>
              <a:t> </a:t>
            </a:r>
            <a:r>
              <a:rPr lang="en-US" sz="900" spc="65" dirty="0">
                <a:latin typeface="Times New Roman"/>
                <a:cs typeface="Times New Roman"/>
              </a:rPr>
              <a:t>count</a:t>
            </a:r>
            <a:r>
              <a:rPr lang="en-US" sz="900" dirty="0">
                <a:latin typeface="Times New Roman"/>
                <a:cs typeface="Times New Roman"/>
              </a:rPr>
              <a:t> </a:t>
            </a:r>
            <a:r>
              <a:rPr lang="en-US" sz="900" spc="20" dirty="0">
                <a:latin typeface="Times New Roman"/>
                <a:cs typeface="Times New Roman"/>
              </a:rPr>
              <a:t> </a:t>
            </a:r>
            <a:r>
              <a:rPr lang="en-US" sz="900" spc="-60" dirty="0">
                <a:latin typeface="Times New Roman"/>
                <a:cs typeface="Times New Roman"/>
              </a:rPr>
              <a:t>R0</a:t>
            </a:r>
            <a:r>
              <a:rPr lang="en-US" sz="900" dirty="0">
                <a:latin typeface="Times New Roman"/>
                <a:cs typeface="Times New Roman"/>
              </a:rPr>
              <a:t> </a:t>
            </a:r>
            <a:endParaRPr lang="en-US" sz="900" spc="75" dirty="0" smtClean="0">
              <a:latin typeface="Times New Roman"/>
              <a:cs typeface="Times New Roman"/>
            </a:endParaRPr>
          </a:p>
          <a:p>
            <a:pPr marL="12700" marR="2148205">
              <a:lnSpc>
                <a:spcPct val="101499"/>
              </a:lnSpc>
              <a:tabLst>
                <a:tab pos="789305" algn="l"/>
              </a:tabLst>
            </a:pPr>
            <a:r>
              <a:rPr lang="en-US" sz="900" spc="-185" dirty="0" smtClean="0">
                <a:latin typeface="Times New Roman"/>
                <a:cs typeface="Times New Roman"/>
              </a:rPr>
              <a:t>ADD</a:t>
            </a:r>
            <a:r>
              <a:rPr lang="en-US" sz="900" dirty="0" smtClean="0">
                <a:latin typeface="Times New Roman"/>
                <a:cs typeface="Times New Roman"/>
              </a:rPr>
              <a:t> </a:t>
            </a:r>
            <a:r>
              <a:rPr lang="en-US" sz="900" spc="20" dirty="0" smtClean="0">
                <a:latin typeface="Times New Roman"/>
                <a:cs typeface="Times New Roman"/>
              </a:rPr>
              <a:t> </a:t>
            </a:r>
            <a:r>
              <a:rPr lang="en-US" sz="900" spc="15" dirty="0">
                <a:latin typeface="Times New Roman"/>
                <a:cs typeface="Times New Roman"/>
              </a:rPr>
              <a:t>#1</a:t>
            </a:r>
            <a:r>
              <a:rPr lang="en-US" sz="900" dirty="0">
                <a:latin typeface="Times New Roman"/>
                <a:cs typeface="Times New Roman"/>
              </a:rPr>
              <a:t> </a:t>
            </a:r>
            <a:r>
              <a:rPr lang="en-US" sz="900" spc="20" dirty="0">
                <a:latin typeface="Times New Roman"/>
                <a:cs typeface="Times New Roman"/>
              </a:rPr>
              <a:t> </a:t>
            </a:r>
            <a:r>
              <a:rPr lang="en-US" sz="900" spc="-60" dirty="0">
                <a:latin typeface="Times New Roman"/>
                <a:cs typeface="Times New Roman"/>
              </a:rPr>
              <a:t>R0</a:t>
            </a:r>
            <a:r>
              <a:rPr lang="en-US" sz="900" dirty="0">
                <a:latin typeface="Times New Roman"/>
                <a:cs typeface="Times New Roman"/>
              </a:rPr>
              <a:t>	</a:t>
            </a:r>
            <a:r>
              <a:rPr lang="en-US" sz="900" spc="-185" dirty="0">
                <a:latin typeface="Times New Roman"/>
                <a:cs typeface="Times New Roman"/>
              </a:rPr>
              <a:t> </a:t>
            </a:r>
            <a:r>
              <a:rPr lang="en-US" sz="900" spc="-185" dirty="0" smtClean="0">
                <a:latin typeface="Times New Roman"/>
                <a:cs typeface="Times New Roman"/>
              </a:rPr>
              <a:t>		SUB</a:t>
            </a:r>
            <a:r>
              <a:rPr lang="en-US" sz="900" dirty="0" smtClean="0">
                <a:latin typeface="Times New Roman"/>
                <a:cs typeface="Times New Roman"/>
              </a:rPr>
              <a:t> </a:t>
            </a:r>
            <a:r>
              <a:rPr lang="en-US" sz="900" spc="20" dirty="0" smtClean="0">
                <a:latin typeface="Times New Roman"/>
                <a:cs typeface="Times New Roman"/>
              </a:rPr>
              <a:t> </a:t>
            </a:r>
            <a:r>
              <a:rPr lang="en-US" sz="900" spc="15" dirty="0">
                <a:latin typeface="Times New Roman"/>
                <a:cs typeface="Times New Roman"/>
              </a:rPr>
              <a:t>#1</a:t>
            </a:r>
            <a:r>
              <a:rPr lang="en-US" sz="900" dirty="0">
                <a:latin typeface="Times New Roman"/>
                <a:cs typeface="Times New Roman"/>
              </a:rPr>
              <a:t> </a:t>
            </a:r>
            <a:r>
              <a:rPr lang="en-US" sz="900" spc="20" dirty="0">
                <a:latin typeface="Times New Roman"/>
                <a:cs typeface="Times New Roman"/>
              </a:rPr>
              <a:t> </a:t>
            </a:r>
            <a:r>
              <a:rPr lang="en-US" sz="900" spc="-60" dirty="0">
                <a:latin typeface="Times New Roman"/>
                <a:cs typeface="Times New Roman"/>
              </a:rPr>
              <a:t>R0</a:t>
            </a:r>
            <a:endParaRPr lang="en-US" sz="900" dirty="0">
              <a:latin typeface="Times New Roman"/>
              <a:cs typeface="Times New Roman"/>
            </a:endParaRPr>
          </a:p>
          <a:p>
            <a:pPr marL="12700">
              <a:spcBef>
                <a:spcPts val="15"/>
              </a:spcBef>
            </a:pPr>
            <a:r>
              <a:rPr lang="en-US" sz="900" spc="-235" dirty="0">
                <a:latin typeface="Times New Roman"/>
                <a:cs typeface="Times New Roman"/>
              </a:rPr>
              <a:t>MOV </a:t>
            </a:r>
            <a:r>
              <a:rPr lang="en-US" sz="900" spc="20" dirty="0">
                <a:latin typeface="Times New Roman"/>
                <a:cs typeface="Times New Roman"/>
              </a:rPr>
              <a:t> </a:t>
            </a:r>
            <a:r>
              <a:rPr lang="en-US" sz="900" spc="-60" dirty="0">
                <a:latin typeface="Times New Roman"/>
                <a:cs typeface="Times New Roman"/>
              </a:rPr>
              <a:t>R0</a:t>
            </a:r>
            <a:r>
              <a:rPr lang="en-US" sz="900" dirty="0">
                <a:latin typeface="Times New Roman"/>
                <a:cs typeface="Times New Roman"/>
              </a:rPr>
              <a:t> </a:t>
            </a:r>
            <a:r>
              <a:rPr lang="en-US" sz="900" spc="20" dirty="0">
                <a:latin typeface="Times New Roman"/>
                <a:cs typeface="Times New Roman"/>
              </a:rPr>
              <a:t> </a:t>
            </a:r>
            <a:r>
              <a:rPr lang="en-US" sz="900" spc="65" dirty="0" smtClean="0">
                <a:latin typeface="Times New Roman"/>
                <a:cs typeface="Times New Roman"/>
              </a:rPr>
              <a:t>count		</a:t>
            </a:r>
            <a:r>
              <a:rPr lang="en-US" sz="900" spc="-235" dirty="0">
                <a:latin typeface="Times New Roman"/>
                <a:cs typeface="Times New Roman"/>
              </a:rPr>
              <a:t>MOV </a:t>
            </a:r>
            <a:r>
              <a:rPr lang="en-US" sz="900" spc="20" dirty="0">
                <a:latin typeface="Times New Roman"/>
                <a:cs typeface="Times New Roman"/>
              </a:rPr>
              <a:t> </a:t>
            </a:r>
            <a:r>
              <a:rPr lang="en-US" sz="900" spc="-60" dirty="0">
                <a:latin typeface="Times New Roman"/>
                <a:cs typeface="Times New Roman"/>
              </a:rPr>
              <a:t>R0</a:t>
            </a:r>
            <a:r>
              <a:rPr lang="en-US" sz="900" dirty="0">
                <a:latin typeface="Times New Roman"/>
                <a:cs typeface="Times New Roman"/>
              </a:rPr>
              <a:t> </a:t>
            </a:r>
            <a:r>
              <a:rPr lang="en-US" sz="900" spc="20" dirty="0">
                <a:latin typeface="Times New Roman"/>
                <a:cs typeface="Times New Roman"/>
              </a:rPr>
              <a:t> </a:t>
            </a:r>
            <a:r>
              <a:rPr lang="en-US" sz="900" spc="65" dirty="0" smtClean="0">
                <a:latin typeface="Times New Roman"/>
                <a:cs typeface="Times New Roman"/>
              </a:rPr>
              <a:t>count</a:t>
            </a:r>
            <a:endParaRPr lang="en-IN" sz="900" dirty="0"/>
          </a:p>
        </p:txBody>
      </p:sp>
      <p:cxnSp>
        <p:nvCxnSpPr>
          <p:cNvPr id="37" name="Straight Connector 36"/>
          <p:cNvCxnSpPr/>
          <p:nvPr/>
        </p:nvCxnSpPr>
        <p:spPr>
          <a:xfrm>
            <a:off x="1795271" y="2032423"/>
            <a:ext cx="0" cy="6123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62601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Producer-consumer</a:t>
            </a:r>
            <a:r>
              <a:rPr spc="5" dirty="0"/>
              <a:t> </a:t>
            </a:r>
            <a:r>
              <a:rPr spc="10" dirty="0"/>
              <a:t>pro</a:t>
            </a:r>
            <a:r>
              <a:rPr spc="-15" dirty="0"/>
              <a:t>b</a:t>
            </a:r>
            <a:r>
              <a:rPr spc="15" dirty="0"/>
              <a:t>lem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1760" y="422167"/>
            <a:ext cx="2476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z="900" spc="30" dirty="0" smtClean="0">
                <a:latin typeface="Times New Roman"/>
                <a:cs typeface="Times New Roman"/>
              </a:rPr>
              <a:t>Shared variables are </a:t>
            </a:r>
            <a:r>
              <a:rPr lang="en-IN" sz="900" spc="30" dirty="0" smtClean="0">
                <a:solidFill>
                  <a:srgbClr val="FF0000"/>
                </a:solidFill>
                <a:latin typeface="Times New Roman"/>
                <a:cs typeface="Times New Roman"/>
              </a:rPr>
              <a:t>count</a:t>
            </a:r>
            <a:r>
              <a:rPr lang="en-IN" sz="900" spc="30" dirty="0" smtClean="0">
                <a:latin typeface="Times New Roman"/>
                <a:cs typeface="Times New Roman"/>
              </a:rPr>
              <a:t>, </a:t>
            </a:r>
            <a:r>
              <a:rPr lang="en-IN" sz="900" spc="30" dirty="0" smtClean="0">
                <a:solidFill>
                  <a:srgbClr val="FF0000"/>
                </a:solidFill>
                <a:latin typeface="Times New Roman"/>
                <a:cs typeface="Times New Roman"/>
              </a:rPr>
              <a:t>buffer</a:t>
            </a:r>
            <a:r>
              <a:rPr lang="en-IN" sz="900" spc="30" dirty="0" smtClean="0">
                <a:latin typeface="Times New Roman"/>
                <a:cs typeface="Times New Roman"/>
              </a:rPr>
              <a:t>;</a:t>
            </a:r>
          </a:p>
          <a:p>
            <a:pPr marL="12700">
              <a:lnSpc>
                <a:spcPct val="100000"/>
              </a:lnSpc>
            </a:pPr>
            <a:r>
              <a:rPr lang="en-IN" sz="900" spc="30" dirty="0" smtClean="0">
                <a:latin typeface="Times New Roman"/>
                <a:cs typeface="Times New Roman"/>
              </a:rPr>
              <a:t>Can have many producers, consumers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556" y="732156"/>
            <a:ext cx="256921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56130" algn="l"/>
              </a:tabLst>
            </a:pPr>
            <a:r>
              <a:rPr sz="900" u="sng" spc="-5" dirty="0">
                <a:latin typeface="Arial"/>
                <a:cs typeface="Arial"/>
              </a:rPr>
              <a:t>producer</a:t>
            </a:r>
            <a:r>
              <a:rPr sz="900" spc="-5" dirty="0">
                <a:latin typeface="Arial"/>
                <a:cs typeface="Arial"/>
              </a:rPr>
              <a:t>	</a:t>
            </a:r>
            <a:r>
              <a:rPr sz="900" u="sng" spc="-5" dirty="0">
                <a:latin typeface="Arial"/>
                <a:cs typeface="Arial"/>
              </a:rPr>
              <a:t>consumer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8582" y="915738"/>
            <a:ext cx="1747774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buAutoNum type="arabicPeriod"/>
            </a:pPr>
            <a:r>
              <a:rPr lang="en-IN" sz="900" spc="65" dirty="0" smtClean="0">
                <a:latin typeface="Times New Roman"/>
                <a:cs typeface="Times New Roman"/>
              </a:rPr>
              <a:t>data = produce();</a:t>
            </a:r>
          </a:p>
          <a:p>
            <a:pPr marL="241300" indent="-228600">
              <a:lnSpc>
                <a:spcPct val="100000"/>
              </a:lnSpc>
              <a:buAutoNum type="arabicPeriod"/>
            </a:pPr>
            <a:r>
              <a:rPr lang="en-IN" sz="900" spc="65" dirty="0" smtClean="0">
                <a:latin typeface="Times New Roman"/>
                <a:cs typeface="Times New Roman"/>
              </a:rPr>
              <a:t>While buffer is full,</a:t>
            </a:r>
          </a:p>
          <a:p>
            <a:pPr marL="12700">
              <a:lnSpc>
                <a:spcPct val="100000"/>
              </a:lnSpc>
            </a:pPr>
            <a:r>
              <a:rPr lang="en-IN" sz="900" spc="65" dirty="0" smtClean="0">
                <a:latin typeface="Times New Roman"/>
                <a:cs typeface="Times New Roman"/>
              </a:rPr>
              <a:t>             wait;</a:t>
            </a:r>
          </a:p>
          <a:p>
            <a:pPr marL="241300" indent="-228600">
              <a:lnSpc>
                <a:spcPct val="100000"/>
              </a:lnSpc>
              <a:buAutoNum type="arabicPeriod" startAt="3"/>
            </a:pPr>
            <a:r>
              <a:rPr lang="en-IN" sz="900" spc="65" dirty="0" smtClean="0">
                <a:latin typeface="Times New Roman"/>
                <a:cs typeface="Times New Roman"/>
              </a:rPr>
              <a:t>Add </a:t>
            </a:r>
            <a:r>
              <a:rPr lang="en-IN" sz="900" spc="65" dirty="0" smtClean="0">
                <a:latin typeface="Times New Roman"/>
                <a:cs typeface="Times New Roman"/>
              </a:rPr>
              <a:t>data to </a:t>
            </a:r>
            <a:r>
              <a:rPr lang="en-IN" sz="900" spc="65" dirty="0" smtClean="0">
                <a:solidFill>
                  <a:srgbClr val="FF0000"/>
                </a:solidFill>
                <a:latin typeface="Times New Roman"/>
                <a:cs typeface="Times New Roman"/>
              </a:rPr>
              <a:t>buffer</a:t>
            </a:r>
            <a:r>
              <a:rPr lang="en-IN" sz="900" spc="65" dirty="0" smtClean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</a:p>
          <a:p>
            <a:pPr marL="241300" indent="-228600">
              <a:lnSpc>
                <a:spcPct val="100000"/>
              </a:lnSpc>
              <a:buAutoNum type="arabicPeriod" startAt="3"/>
            </a:pPr>
            <a:r>
              <a:rPr lang="en-US" sz="900" spc="65" dirty="0" smtClean="0">
                <a:latin typeface="Times New Roman"/>
                <a:cs typeface="Times New Roman"/>
              </a:rPr>
              <a:t>Point to next empty cell;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69666" y="939008"/>
            <a:ext cx="2101343" cy="839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0666" marR="662305" indent="-228600">
              <a:lnSpc>
                <a:spcPct val="101499"/>
              </a:lnSpc>
              <a:buAutoNum type="arabicPeriod"/>
            </a:pPr>
            <a:r>
              <a:rPr lang="en-IN" sz="900" dirty="0" smtClean="0">
                <a:latin typeface="Times New Roman"/>
                <a:cs typeface="Times New Roman"/>
              </a:rPr>
              <a:t>While buffer is empty, wait;</a:t>
            </a:r>
          </a:p>
          <a:p>
            <a:pPr marL="240666" marR="662305" indent="-228600">
              <a:lnSpc>
                <a:spcPct val="101499"/>
              </a:lnSpc>
              <a:buAutoNum type="arabicPeriod"/>
            </a:pPr>
            <a:r>
              <a:rPr lang="en-IN" sz="900" dirty="0" smtClean="0">
                <a:latin typeface="Times New Roman"/>
                <a:cs typeface="Times New Roman"/>
              </a:rPr>
              <a:t>Remove data from buffer</a:t>
            </a:r>
            <a:r>
              <a:rPr lang="en-IN" sz="900" dirty="0" smtClean="0">
                <a:latin typeface="Times New Roman"/>
                <a:cs typeface="Times New Roman"/>
              </a:rPr>
              <a:t>;</a:t>
            </a:r>
          </a:p>
          <a:p>
            <a:pPr marL="240666" marR="662305" indent="-228600">
              <a:lnSpc>
                <a:spcPct val="101499"/>
              </a:lnSpc>
              <a:buAutoNum type="arabicPeriod"/>
            </a:pPr>
            <a:r>
              <a:rPr lang="en-US" sz="900" dirty="0" smtClean="0">
                <a:latin typeface="Times New Roman"/>
                <a:cs typeface="Times New Roman"/>
              </a:rPr>
              <a:t>Point to next filled cell;</a:t>
            </a:r>
            <a:endParaRPr lang="en-IN" sz="900" dirty="0" smtClean="0">
              <a:latin typeface="Times New Roman"/>
              <a:cs typeface="Times New Roman"/>
            </a:endParaRPr>
          </a:p>
          <a:p>
            <a:pPr marL="240666" marR="662305" indent="-228600">
              <a:lnSpc>
                <a:spcPct val="101499"/>
              </a:lnSpc>
              <a:buAutoNum type="arabicPeriod"/>
            </a:pPr>
            <a:r>
              <a:rPr lang="en-IN" sz="900" dirty="0" smtClean="0">
                <a:latin typeface="Times New Roman"/>
                <a:cs typeface="Times New Roman"/>
              </a:rPr>
              <a:t>Consume();</a:t>
            </a:r>
          </a:p>
          <a:p>
            <a:pPr marL="240666" marR="662305" indent="-228600">
              <a:lnSpc>
                <a:spcPct val="101499"/>
              </a:lnSpc>
              <a:buAutoNum type="arabicPeriod"/>
            </a:pP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23 / 28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95250" y="1730375"/>
            <a:ext cx="4267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bject 8"/>
          <p:cNvSpPr txBox="1"/>
          <p:nvPr/>
        </p:nvSpPr>
        <p:spPr>
          <a:xfrm>
            <a:off x="108582" y="1761299"/>
            <a:ext cx="4235831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30" dirty="0">
                <a:latin typeface="Times New Roman"/>
                <a:cs typeface="Times New Roman"/>
              </a:rPr>
              <a:t>semaphore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55" dirty="0">
                <a:latin typeface="Times New Roman"/>
                <a:cs typeface="Times New Roman"/>
              </a:rPr>
              <a:t>full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30" dirty="0">
                <a:latin typeface="Times New Roman"/>
                <a:cs typeface="Times New Roman"/>
              </a:rPr>
              <a:t>0,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5" dirty="0">
                <a:latin typeface="Times New Roman"/>
                <a:cs typeface="Times New Roman"/>
              </a:rPr>
              <a:t>empty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30" dirty="0">
                <a:latin typeface="Times New Roman"/>
                <a:cs typeface="Times New Roman"/>
              </a:rPr>
              <a:t>n,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lang="en-IN" sz="900" spc="15" dirty="0" err="1" smtClean="0">
                <a:latin typeface="Times New Roman"/>
                <a:cs typeface="Times New Roman"/>
              </a:rPr>
              <a:t>SBuf</a:t>
            </a:r>
            <a:r>
              <a:rPr sz="900" dirty="0" smtClean="0">
                <a:latin typeface="Times New Roman"/>
                <a:cs typeface="Times New Roman"/>
              </a:rPr>
              <a:t> </a:t>
            </a:r>
            <a:r>
              <a:rPr sz="900" spc="20" dirty="0" smtClean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1</a:t>
            </a:r>
            <a:r>
              <a:rPr sz="900" spc="114" dirty="0" smtClean="0">
                <a:latin typeface="Times New Roman"/>
                <a:cs typeface="Times New Roman"/>
              </a:rPr>
              <a:t>;</a:t>
            </a:r>
            <a:r>
              <a:rPr lang="en-IN" sz="900" spc="114" dirty="0" smtClean="0">
                <a:latin typeface="Times New Roman"/>
                <a:cs typeface="Times New Roman"/>
              </a:rPr>
              <a:t> /* share buffer and count */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20" name="object 10"/>
          <p:cNvSpPr txBox="1"/>
          <p:nvPr/>
        </p:nvSpPr>
        <p:spPr>
          <a:xfrm>
            <a:off x="171450" y="1924971"/>
            <a:ext cx="256921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56130" algn="l"/>
              </a:tabLst>
            </a:pPr>
            <a:r>
              <a:rPr lang="en-IN" sz="900" spc="-5" dirty="0" smtClean="0">
                <a:latin typeface="Arial"/>
                <a:cs typeface="Arial"/>
              </a:rPr>
              <a:t>P</a:t>
            </a:r>
            <a:r>
              <a:rPr sz="900" spc="-5" dirty="0" err="1" smtClean="0">
                <a:latin typeface="Arial"/>
                <a:cs typeface="Arial"/>
              </a:rPr>
              <a:t>roducer</a:t>
            </a:r>
            <a:r>
              <a:rPr lang="en-IN" sz="900" spc="-5" dirty="0" smtClean="0">
                <a:latin typeface="Arial"/>
                <a:cs typeface="Arial"/>
              </a:rPr>
              <a:t>                         </a:t>
            </a:r>
            <a:r>
              <a:rPr sz="900" u="sng" spc="-5" dirty="0" smtClean="0">
                <a:latin typeface="Arial"/>
                <a:cs typeface="Arial"/>
              </a:rPr>
              <a:t>consumer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21" name="object 11"/>
          <p:cNvSpPr txBox="1"/>
          <p:nvPr/>
        </p:nvSpPr>
        <p:spPr>
          <a:xfrm>
            <a:off x="171450" y="2180239"/>
            <a:ext cx="1112394" cy="1113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65" dirty="0">
                <a:latin typeface="Times New Roman"/>
                <a:cs typeface="Times New Roman"/>
              </a:rPr>
              <a:t>while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(1)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endParaRPr sz="900" dirty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15" dirty="0">
                <a:latin typeface="Times New Roman"/>
                <a:cs typeface="Times New Roman"/>
              </a:rPr>
              <a:t>p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produce</a:t>
            </a:r>
            <a:r>
              <a:rPr sz="900" spc="90" dirty="0" smtClean="0">
                <a:latin typeface="Times New Roman"/>
                <a:cs typeface="Times New Roman"/>
              </a:rPr>
              <a:t>();</a:t>
            </a:r>
            <a:endParaRPr lang="en-IN" sz="900" spc="9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80" dirty="0" smtClean="0">
                <a:solidFill>
                  <a:srgbClr val="00B050"/>
                </a:solidFill>
                <a:latin typeface="Times New Roman"/>
                <a:cs typeface="Times New Roman"/>
              </a:rPr>
              <a:t>wait(empty</a:t>
            </a:r>
            <a:r>
              <a:rPr sz="900" spc="80" dirty="0">
                <a:solidFill>
                  <a:srgbClr val="00B050"/>
                </a:solidFill>
                <a:latin typeface="Times New Roman"/>
                <a:cs typeface="Times New Roman"/>
              </a:rPr>
              <a:t>);</a:t>
            </a:r>
            <a:r>
              <a:rPr sz="900" spc="7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endParaRPr lang="en-IN" sz="900" spc="75" dirty="0" smtClean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75" dirty="0" smtClean="0">
                <a:solidFill>
                  <a:srgbClr val="FF0000"/>
                </a:solidFill>
                <a:latin typeface="Times New Roman"/>
                <a:cs typeface="Times New Roman"/>
              </a:rPr>
              <a:t>wait(</a:t>
            </a:r>
            <a:r>
              <a:rPr lang="en-IN" sz="900" spc="75" dirty="0" err="1" smtClean="0">
                <a:solidFill>
                  <a:srgbClr val="FF0000"/>
                </a:solidFill>
                <a:latin typeface="Times New Roman"/>
                <a:cs typeface="Times New Roman"/>
              </a:rPr>
              <a:t>SBuf</a:t>
            </a:r>
            <a:r>
              <a:rPr sz="900" spc="75" dirty="0" smtClean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endParaRPr lang="en-IN" sz="900" spc="75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50" dirty="0" err="1" smtClean="0">
                <a:latin typeface="Times New Roman"/>
                <a:cs typeface="Times New Roman"/>
              </a:rPr>
              <a:t>AddToBuffer</a:t>
            </a:r>
            <a:r>
              <a:rPr sz="900" spc="50" dirty="0" smtClean="0">
                <a:latin typeface="Times New Roman"/>
                <a:cs typeface="Times New Roman"/>
              </a:rPr>
              <a:t>(p);</a:t>
            </a:r>
            <a:endParaRPr lang="en-IN" sz="900" spc="5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90" dirty="0" smtClean="0">
                <a:solidFill>
                  <a:srgbClr val="FF0000"/>
                </a:solidFill>
                <a:latin typeface="Times New Roman"/>
                <a:cs typeface="Times New Roman"/>
              </a:rPr>
              <a:t>signal(</a:t>
            </a:r>
            <a:r>
              <a:rPr lang="en-IN" sz="900" spc="75" dirty="0" err="1">
                <a:solidFill>
                  <a:srgbClr val="FF0000"/>
                </a:solidFill>
                <a:latin typeface="Times New Roman"/>
                <a:cs typeface="Times New Roman"/>
              </a:rPr>
              <a:t>SBuf</a:t>
            </a:r>
            <a:r>
              <a:rPr sz="900" spc="90" dirty="0" smtClean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900" spc="5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endParaRPr lang="en-IN" sz="900" spc="55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140" dirty="0" smtClean="0">
                <a:solidFill>
                  <a:srgbClr val="7030A0"/>
                </a:solidFill>
                <a:latin typeface="Times New Roman"/>
                <a:cs typeface="Times New Roman"/>
              </a:rPr>
              <a:t>signal(full</a:t>
            </a:r>
            <a:r>
              <a:rPr sz="900" spc="140" dirty="0">
                <a:solidFill>
                  <a:srgbClr val="7030A0"/>
                </a:solidFill>
                <a:latin typeface="Times New Roman"/>
                <a:cs typeface="Times New Roman"/>
              </a:rPr>
              <a:t>);</a:t>
            </a:r>
            <a:endParaRPr sz="9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30" dirty="0">
                <a:latin typeface="Times New Roman"/>
                <a:cs typeface="Times New Roman"/>
              </a:rPr>
              <a:t>}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22" name="object 12"/>
          <p:cNvSpPr txBox="1"/>
          <p:nvPr/>
        </p:nvSpPr>
        <p:spPr>
          <a:xfrm>
            <a:off x="1290862" y="2180239"/>
            <a:ext cx="1659383" cy="111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 marR="662305" indent="-120014">
              <a:lnSpc>
                <a:spcPct val="101499"/>
              </a:lnSpc>
            </a:pPr>
            <a:r>
              <a:rPr sz="900" spc="65" dirty="0">
                <a:latin typeface="Times New Roman"/>
                <a:cs typeface="Times New Roman"/>
              </a:rPr>
              <a:t>while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(1)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endParaRPr lang="en-IN" sz="900" spc="15" dirty="0" smtClean="0">
              <a:latin typeface="Times New Roman"/>
              <a:cs typeface="Times New Roman"/>
            </a:endParaRPr>
          </a:p>
          <a:p>
            <a:pPr marL="132080" marR="662305" indent="-120014">
              <a:lnSpc>
                <a:spcPct val="101499"/>
              </a:lnSpc>
            </a:pPr>
            <a:r>
              <a:rPr lang="en-IN" sz="900" spc="15" dirty="0">
                <a:latin typeface="Times New Roman"/>
                <a:cs typeface="Times New Roman"/>
              </a:rPr>
              <a:t> </a:t>
            </a:r>
            <a:r>
              <a:rPr lang="en-IN" sz="900" spc="15" dirty="0" smtClean="0">
                <a:latin typeface="Times New Roman"/>
                <a:cs typeface="Times New Roman"/>
              </a:rPr>
              <a:t>   </a:t>
            </a:r>
            <a:r>
              <a:rPr sz="900" spc="135" dirty="0" smtClean="0">
                <a:solidFill>
                  <a:srgbClr val="7030A0"/>
                </a:solidFill>
                <a:latin typeface="Times New Roman"/>
                <a:cs typeface="Times New Roman"/>
              </a:rPr>
              <a:t>wait(full</a:t>
            </a:r>
            <a:r>
              <a:rPr sz="900" spc="135" dirty="0">
                <a:solidFill>
                  <a:srgbClr val="7030A0"/>
                </a:solidFill>
                <a:latin typeface="Times New Roman"/>
                <a:cs typeface="Times New Roman"/>
              </a:rPr>
              <a:t>);</a:t>
            </a:r>
            <a:r>
              <a:rPr sz="900" spc="90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endParaRPr lang="en-IN" sz="900" spc="90" dirty="0" smtClean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132080" marR="662305" indent="-120014">
              <a:lnSpc>
                <a:spcPct val="101499"/>
              </a:lnSpc>
            </a:pPr>
            <a:r>
              <a:rPr lang="en-IN" sz="900" spc="90" dirty="0">
                <a:latin typeface="Times New Roman"/>
                <a:cs typeface="Times New Roman"/>
              </a:rPr>
              <a:t> </a:t>
            </a:r>
            <a:r>
              <a:rPr lang="en-IN" sz="900" spc="90" dirty="0" smtClean="0">
                <a:latin typeface="Times New Roman"/>
                <a:cs typeface="Times New Roman"/>
              </a:rPr>
              <a:t>  </a:t>
            </a:r>
            <a:r>
              <a:rPr sz="900" spc="80" dirty="0" smtClean="0">
                <a:solidFill>
                  <a:srgbClr val="FF0000"/>
                </a:solidFill>
                <a:latin typeface="Times New Roman"/>
                <a:cs typeface="Times New Roman"/>
              </a:rPr>
              <a:t>wait(</a:t>
            </a:r>
            <a:r>
              <a:rPr lang="en-IN" sz="900" spc="75" dirty="0" err="1">
                <a:solidFill>
                  <a:srgbClr val="FF0000"/>
                </a:solidFill>
                <a:latin typeface="Times New Roman"/>
                <a:cs typeface="Times New Roman"/>
              </a:rPr>
              <a:t>SBuf</a:t>
            </a:r>
            <a:r>
              <a:rPr sz="900" spc="80" dirty="0" smtClean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lang="en-IN" sz="900" spc="80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15" dirty="0" smtClean="0">
                <a:latin typeface="Times New Roman"/>
                <a:cs typeface="Times New Roman"/>
              </a:rPr>
              <a:t>p 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5" dirty="0">
                <a:latin typeface="Times New Roman"/>
                <a:cs typeface="Times New Roman"/>
              </a:rPr>
              <a:t>RemoveFromBuffer();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endParaRPr lang="en-IN" sz="900" spc="2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90" dirty="0" smtClean="0">
                <a:solidFill>
                  <a:srgbClr val="FF0000"/>
                </a:solidFill>
                <a:latin typeface="Times New Roman"/>
                <a:cs typeface="Times New Roman"/>
              </a:rPr>
              <a:t>signal(</a:t>
            </a:r>
            <a:r>
              <a:rPr lang="en-IN" sz="900" spc="75" dirty="0" err="1">
                <a:solidFill>
                  <a:srgbClr val="FF0000"/>
                </a:solidFill>
                <a:latin typeface="Times New Roman"/>
                <a:cs typeface="Times New Roman"/>
              </a:rPr>
              <a:t>SBuf</a:t>
            </a:r>
            <a:r>
              <a:rPr sz="900" spc="90" dirty="0" smtClean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900" spc="8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endParaRPr lang="en-IN" sz="900" spc="85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85" dirty="0" smtClean="0">
                <a:solidFill>
                  <a:srgbClr val="00B050"/>
                </a:solidFill>
                <a:latin typeface="Times New Roman"/>
                <a:cs typeface="Times New Roman"/>
              </a:rPr>
              <a:t>signal(empty</a:t>
            </a:r>
            <a:r>
              <a:rPr sz="900" spc="85" dirty="0">
                <a:solidFill>
                  <a:srgbClr val="00B050"/>
                </a:solidFill>
                <a:latin typeface="Times New Roman"/>
                <a:cs typeface="Times New Roman"/>
              </a:rPr>
              <a:t>); </a:t>
            </a:r>
            <a:endParaRPr lang="en-IN" sz="900" spc="85" dirty="0" smtClean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60" dirty="0" smtClean="0">
                <a:latin typeface="Times New Roman"/>
                <a:cs typeface="Times New Roman"/>
              </a:rPr>
              <a:t>consume(p</a:t>
            </a:r>
            <a:r>
              <a:rPr sz="900" spc="60" dirty="0">
                <a:latin typeface="Times New Roman"/>
                <a:cs typeface="Times New Roman"/>
              </a:rPr>
              <a:t>);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30" dirty="0">
                <a:latin typeface="Times New Roman"/>
                <a:cs typeface="Times New Roman"/>
              </a:rPr>
              <a:t>}</a:t>
            </a:r>
            <a:endParaRPr sz="900" dirty="0">
              <a:latin typeface="Times New Roman"/>
              <a:cs typeface="Times New Roman"/>
            </a:endParaRPr>
          </a:p>
        </p:txBody>
      </p:sp>
      <p:cxnSp>
        <p:nvCxnSpPr>
          <p:cNvPr id="23" name="Straight Connector 22"/>
          <p:cNvCxnSpPr/>
          <p:nvPr/>
        </p:nvCxnSpPr>
        <p:spPr>
          <a:xfrm>
            <a:off x="1207644" y="1882775"/>
            <a:ext cx="0" cy="1411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243233" y="1925558"/>
            <a:ext cx="95410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 smtClean="0"/>
              <a:t>Sbuf</a:t>
            </a:r>
            <a:r>
              <a:rPr lang="en-US" sz="900" dirty="0" smtClean="0"/>
              <a:t>: binary</a:t>
            </a:r>
          </a:p>
          <a:p>
            <a:r>
              <a:rPr lang="en-US" sz="900" dirty="0" smtClean="0"/>
              <a:t>Full: counting</a:t>
            </a:r>
          </a:p>
          <a:p>
            <a:r>
              <a:rPr lang="en-US" sz="900" dirty="0" smtClean="0"/>
              <a:t>Empty: counting</a:t>
            </a:r>
            <a:endParaRPr lang="en-IN" sz="900" dirty="0"/>
          </a:p>
        </p:txBody>
      </p:sp>
      <p:sp>
        <p:nvSpPr>
          <p:cNvPr id="7" name="TextBox 6"/>
          <p:cNvSpPr txBox="1"/>
          <p:nvPr/>
        </p:nvSpPr>
        <p:spPr>
          <a:xfrm>
            <a:off x="3213987" y="2412758"/>
            <a:ext cx="14157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smtClean="0"/>
              <a:t>Producer Entry section: </a:t>
            </a:r>
          </a:p>
          <a:p>
            <a:r>
              <a:rPr lang="en-US" sz="900" dirty="0" smtClean="0"/>
              <a:t>locks the empty, locks </a:t>
            </a:r>
          </a:p>
          <a:p>
            <a:r>
              <a:rPr lang="en-US" sz="900" dirty="0" smtClean="0"/>
              <a:t>Buffer</a:t>
            </a:r>
          </a:p>
          <a:p>
            <a:r>
              <a:rPr lang="en-US" sz="900" dirty="0" smtClean="0"/>
              <a:t>CS: Add to buffer</a:t>
            </a:r>
          </a:p>
          <a:p>
            <a:r>
              <a:rPr lang="en-US" sz="900" dirty="0" smtClean="0"/>
              <a:t>Exit section: signal buffer, </a:t>
            </a:r>
          </a:p>
          <a:p>
            <a:r>
              <a:rPr lang="en-US" sz="900" dirty="0" smtClean="0"/>
              <a:t>Signal full</a:t>
            </a:r>
            <a:endParaRPr lang="en-IN" sz="900" dirty="0"/>
          </a:p>
        </p:txBody>
      </p:sp>
    </p:spTree>
    <p:extLst>
      <p:ext uri="{BB962C8B-B14F-4D97-AF65-F5344CB8AC3E}">
        <p14:creationId xmlns:p14="http://schemas.microsoft.com/office/powerpoint/2010/main" val="2740525077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Producer-consumer</a:t>
            </a:r>
            <a:r>
              <a:rPr spc="5" dirty="0"/>
              <a:t> </a:t>
            </a:r>
            <a:r>
              <a:rPr spc="10" dirty="0"/>
              <a:t>pro</a:t>
            </a:r>
            <a:r>
              <a:rPr spc="-15" dirty="0"/>
              <a:t>b</a:t>
            </a:r>
            <a:r>
              <a:rPr spc="15" dirty="0"/>
              <a:t>lem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02818" y="507719"/>
            <a:ext cx="4235831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30" dirty="0">
                <a:latin typeface="Times New Roman"/>
                <a:cs typeface="Times New Roman"/>
              </a:rPr>
              <a:t>semaphore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55" dirty="0">
                <a:latin typeface="Times New Roman"/>
                <a:cs typeface="Times New Roman"/>
              </a:rPr>
              <a:t>full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30" dirty="0">
                <a:latin typeface="Times New Roman"/>
                <a:cs typeface="Times New Roman"/>
              </a:rPr>
              <a:t>0,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5" dirty="0">
                <a:latin typeface="Times New Roman"/>
                <a:cs typeface="Times New Roman"/>
              </a:rPr>
              <a:t>empty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30" dirty="0">
                <a:latin typeface="Times New Roman"/>
                <a:cs typeface="Times New Roman"/>
              </a:rPr>
              <a:t>n,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lang="en-IN" sz="900" spc="15" dirty="0" err="1" smtClean="0">
                <a:latin typeface="Times New Roman"/>
                <a:cs typeface="Times New Roman"/>
              </a:rPr>
              <a:t>SBuf</a:t>
            </a:r>
            <a:r>
              <a:rPr sz="900" dirty="0" smtClean="0">
                <a:latin typeface="Times New Roman"/>
                <a:cs typeface="Times New Roman"/>
              </a:rPr>
              <a:t> </a:t>
            </a:r>
            <a:r>
              <a:rPr sz="900" spc="20" dirty="0" smtClean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1</a:t>
            </a:r>
            <a:r>
              <a:rPr sz="900" spc="114" dirty="0" smtClean="0">
                <a:latin typeface="Times New Roman"/>
                <a:cs typeface="Times New Roman"/>
              </a:rPr>
              <a:t>;</a:t>
            </a:r>
            <a:r>
              <a:rPr lang="en-IN" sz="900" spc="114" dirty="0" smtClean="0">
                <a:latin typeface="Times New Roman"/>
                <a:cs typeface="Times New Roman"/>
              </a:rPr>
              <a:t> /* share buffer and count */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8556" y="97028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80">
                <a:moveTo>
                  <a:pt x="0" y="0"/>
                </a:moveTo>
                <a:lnTo>
                  <a:pt x="449326" y="0"/>
                </a:lnTo>
              </a:path>
            </a:pathLst>
          </a:custGeom>
          <a:ln w="4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5856" y="829412"/>
            <a:ext cx="256921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56130" algn="l"/>
              </a:tabLst>
            </a:pPr>
            <a:r>
              <a:rPr lang="en-IN" sz="900" spc="-5" dirty="0" smtClean="0">
                <a:latin typeface="Arial"/>
                <a:cs typeface="Arial"/>
              </a:rPr>
              <a:t>P</a:t>
            </a:r>
            <a:r>
              <a:rPr sz="900" spc="-5" dirty="0" err="1" smtClean="0">
                <a:latin typeface="Arial"/>
                <a:cs typeface="Arial"/>
              </a:rPr>
              <a:t>roducer</a:t>
            </a:r>
            <a:r>
              <a:rPr lang="en-IN" sz="900" spc="-5" dirty="0" smtClean="0">
                <a:latin typeface="Arial"/>
                <a:cs typeface="Arial"/>
              </a:rPr>
              <a:t>                         </a:t>
            </a:r>
            <a:r>
              <a:rPr sz="900" u="sng" spc="-5" dirty="0" smtClean="0">
                <a:latin typeface="Arial"/>
                <a:cs typeface="Arial"/>
              </a:rPr>
              <a:t>consumer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195" y="1105242"/>
            <a:ext cx="1112394" cy="1113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65" dirty="0">
                <a:latin typeface="Times New Roman"/>
                <a:cs typeface="Times New Roman"/>
              </a:rPr>
              <a:t>while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(1)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endParaRPr sz="900" dirty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15" dirty="0">
                <a:latin typeface="Times New Roman"/>
                <a:cs typeface="Times New Roman"/>
              </a:rPr>
              <a:t>p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produce</a:t>
            </a:r>
            <a:r>
              <a:rPr sz="900" spc="90" dirty="0" smtClean="0">
                <a:latin typeface="Times New Roman"/>
                <a:cs typeface="Times New Roman"/>
              </a:rPr>
              <a:t>();</a:t>
            </a:r>
            <a:endParaRPr lang="en-IN" sz="900" spc="9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80" dirty="0" smtClean="0">
                <a:solidFill>
                  <a:srgbClr val="00B050"/>
                </a:solidFill>
                <a:latin typeface="Times New Roman"/>
                <a:cs typeface="Times New Roman"/>
              </a:rPr>
              <a:t>wait(empty</a:t>
            </a:r>
            <a:r>
              <a:rPr sz="900" spc="80" dirty="0">
                <a:solidFill>
                  <a:srgbClr val="00B050"/>
                </a:solidFill>
                <a:latin typeface="Times New Roman"/>
                <a:cs typeface="Times New Roman"/>
              </a:rPr>
              <a:t>);</a:t>
            </a:r>
            <a:r>
              <a:rPr sz="900" spc="75" dirty="0">
                <a:solidFill>
                  <a:srgbClr val="00B050"/>
                </a:solidFill>
                <a:latin typeface="Times New Roman"/>
                <a:cs typeface="Times New Roman"/>
              </a:rPr>
              <a:t> </a:t>
            </a:r>
            <a:endParaRPr lang="en-IN" sz="900" spc="75" dirty="0" smtClean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75" dirty="0" smtClean="0">
                <a:solidFill>
                  <a:srgbClr val="FF0000"/>
                </a:solidFill>
                <a:latin typeface="Times New Roman"/>
                <a:cs typeface="Times New Roman"/>
              </a:rPr>
              <a:t>wait(</a:t>
            </a:r>
            <a:r>
              <a:rPr lang="en-IN" sz="900" spc="75" dirty="0" err="1" smtClean="0">
                <a:solidFill>
                  <a:srgbClr val="FF0000"/>
                </a:solidFill>
                <a:latin typeface="Times New Roman"/>
                <a:cs typeface="Times New Roman"/>
              </a:rPr>
              <a:t>SBuf</a:t>
            </a:r>
            <a:r>
              <a:rPr sz="900" spc="75" dirty="0" smtClean="0">
                <a:solidFill>
                  <a:srgbClr val="FF0000"/>
                </a:solidFill>
                <a:latin typeface="Times New Roman"/>
                <a:cs typeface="Times New Roman"/>
              </a:rPr>
              <a:t>); </a:t>
            </a:r>
            <a:endParaRPr lang="en-IN" sz="900" spc="75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50" dirty="0" err="1" smtClean="0">
                <a:latin typeface="Times New Roman"/>
                <a:cs typeface="Times New Roman"/>
              </a:rPr>
              <a:t>AddToBuffer</a:t>
            </a:r>
            <a:r>
              <a:rPr sz="900" spc="50" dirty="0" smtClean="0">
                <a:latin typeface="Times New Roman"/>
                <a:cs typeface="Times New Roman"/>
              </a:rPr>
              <a:t>(p);</a:t>
            </a:r>
            <a:endParaRPr lang="en-IN" sz="900" spc="5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90" dirty="0" smtClean="0">
                <a:solidFill>
                  <a:srgbClr val="FF0000"/>
                </a:solidFill>
                <a:latin typeface="Times New Roman"/>
                <a:cs typeface="Times New Roman"/>
              </a:rPr>
              <a:t>signal(</a:t>
            </a:r>
            <a:r>
              <a:rPr lang="en-IN" sz="900" spc="75" dirty="0" err="1">
                <a:solidFill>
                  <a:srgbClr val="FF0000"/>
                </a:solidFill>
                <a:latin typeface="Times New Roman"/>
                <a:cs typeface="Times New Roman"/>
              </a:rPr>
              <a:t>SBuf</a:t>
            </a:r>
            <a:r>
              <a:rPr sz="900" spc="90" dirty="0" smtClean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900" spc="5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endParaRPr lang="en-IN" sz="900" spc="55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140" dirty="0" smtClean="0">
                <a:solidFill>
                  <a:srgbClr val="7030A0"/>
                </a:solidFill>
                <a:latin typeface="Times New Roman"/>
                <a:cs typeface="Times New Roman"/>
              </a:rPr>
              <a:t>signal(full</a:t>
            </a:r>
            <a:r>
              <a:rPr sz="900" spc="140" dirty="0">
                <a:solidFill>
                  <a:srgbClr val="7030A0"/>
                </a:solidFill>
                <a:latin typeface="Times New Roman"/>
                <a:cs typeface="Times New Roman"/>
              </a:rPr>
              <a:t>);</a:t>
            </a:r>
            <a:endParaRPr sz="9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30" dirty="0">
                <a:latin typeface="Times New Roman"/>
                <a:cs typeface="Times New Roman"/>
              </a:rPr>
              <a:t>}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5017" y="1090523"/>
            <a:ext cx="1659383" cy="111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 marR="662305" indent="-120014">
              <a:lnSpc>
                <a:spcPct val="101499"/>
              </a:lnSpc>
            </a:pPr>
            <a:r>
              <a:rPr sz="900" spc="65" dirty="0">
                <a:latin typeface="Times New Roman"/>
                <a:cs typeface="Times New Roman"/>
              </a:rPr>
              <a:t>while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(1)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endParaRPr lang="en-IN" sz="900" spc="15" dirty="0" smtClean="0">
              <a:latin typeface="Times New Roman"/>
              <a:cs typeface="Times New Roman"/>
            </a:endParaRPr>
          </a:p>
          <a:p>
            <a:pPr marL="132080" marR="662305" indent="-120014">
              <a:lnSpc>
                <a:spcPct val="101499"/>
              </a:lnSpc>
            </a:pPr>
            <a:r>
              <a:rPr lang="en-IN" sz="900" spc="15" dirty="0">
                <a:latin typeface="Times New Roman"/>
                <a:cs typeface="Times New Roman"/>
              </a:rPr>
              <a:t> </a:t>
            </a:r>
            <a:r>
              <a:rPr lang="en-IN" sz="900" spc="15" dirty="0" smtClean="0">
                <a:latin typeface="Times New Roman"/>
                <a:cs typeface="Times New Roman"/>
              </a:rPr>
              <a:t>   </a:t>
            </a:r>
            <a:r>
              <a:rPr sz="900" spc="135" dirty="0" smtClean="0">
                <a:solidFill>
                  <a:srgbClr val="7030A0"/>
                </a:solidFill>
                <a:latin typeface="Times New Roman"/>
                <a:cs typeface="Times New Roman"/>
              </a:rPr>
              <a:t>wait(full</a:t>
            </a:r>
            <a:r>
              <a:rPr sz="900" spc="135" dirty="0">
                <a:solidFill>
                  <a:srgbClr val="7030A0"/>
                </a:solidFill>
                <a:latin typeface="Times New Roman"/>
                <a:cs typeface="Times New Roman"/>
              </a:rPr>
              <a:t>);</a:t>
            </a:r>
            <a:r>
              <a:rPr sz="900" spc="90" dirty="0">
                <a:solidFill>
                  <a:srgbClr val="7030A0"/>
                </a:solidFill>
                <a:latin typeface="Times New Roman"/>
                <a:cs typeface="Times New Roman"/>
              </a:rPr>
              <a:t> </a:t>
            </a:r>
            <a:endParaRPr lang="en-IN" sz="900" spc="90" dirty="0" smtClean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132080" marR="662305" indent="-120014">
              <a:lnSpc>
                <a:spcPct val="101499"/>
              </a:lnSpc>
            </a:pPr>
            <a:r>
              <a:rPr lang="en-IN" sz="900" spc="90" dirty="0">
                <a:latin typeface="Times New Roman"/>
                <a:cs typeface="Times New Roman"/>
              </a:rPr>
              <a:t> </a:t>
            </a:r>
            <a:r>
              <a:rPr lang="en-IN" sz="900" spc="90" dirty="0" smtClean="0">
                <a:latin typeface="Times New Roman"/>
                <a:cs typeface="Times New Roman"/>
              </a:rPr>
              <a:t>  </a:t>
            </a:r>
            <a:r>
              <a:rPr sz="900" spc="80" dirty="0" smtClean="0">
                <a:solidFill>
                  <a:srgbClr val="FF0000"/>
                </a:solidFill>
                <a:latin typeface="Times New Roman"/>
                <a:cs typeface="Times New Roman"/>
              </a:rPr>
              <a:t>wait(</a:t>
            </a:r>
            <a:r>
              <a:rPr lang="en-IN" sz="900" spc="75" dirty="0" err="1">
                <a:solidFill>
                  <a:srgbClr val="FF0000"/>
                </a:solidFill>
                <a:latin typeface="Times New Roman"/>
                <a:cs typeface="Times New Roman"/>
              </a:rPr>
              <a:t>SBuf</a:t>
            </a:r>
            <a:r>
              <a:rPr sz="900" spc="80" dirty="0" smtClean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endParaRPr lang="en-IN" sz="900" spc="80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15" dirty="0" smtClean="0">
                <a:latin typeface="Times New Roman"/>
                <a:cs typeface="Times New Roman"/>
              </a:rPr>
              <a:t>p 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5" dirty="0">
                <a:latin typeface="Times New Roman"/>
                <a:cs typeface="Times New Roman"/>
              </a:rPr>
              <a:t>RemoveFromBuffer();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endParaRPr lang="en-IN" sz="900" spc="2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90" dirty="0" smtClean="0">
                <a:solidFill>
                  <a:srgbClr val="FF0000"/>
                </a:solidFill>
                <a:latin typeface="Times New Roman"/>
                <a:cs typeface="Times New Roman"/>
              </a:rPr>
              <a:t>signal(</a:t>
            </a:r>
            <a:r>
              <a:rPr lang="en-IN" sz="900" spc="75" dirty="0" err="1">
                <a:solidFill>
                  <a:srgbClr val="FF0000"/>
                </a:solidFill>
                <a:latin typeface="Times New Roman"/>
                <a:cs typeface="Times New Roman"/>
              </a:rPr>
              <a:t>SBuf</a:t>
            </a:r>
            <a:r>
              <a:rPr sz="900" spc="90" dirty="0" smtClean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900" spc="8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endParaRPr lang="en-IN" sz="900" spc="85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85" dirty="0" smtClean="0">
                <a:solidFill>
                  <a:srgbClr val="00B050"/>
                </a:solidFill>
                <a:latin typeface="Times New Roman"/>
                <a:cs typeface="Times New Roman"/>
              </a:rPr>
              <a:t>signal(empty</a:t>
            </a:r>
            <a:r>
              <a:rPr sz="900" spc="85" dirty="0">
                <a:solidFill>
                  <a:srgbClr val="00B050"/>
                </a:solidFill>
                <a:latin typeface="Times New Roman"/>
                <a:cs typeface="Times New Roman"/>
              </a:rPr>
              <a:t>); </a:t>
            </a:r>
            <a:endParaRPr lang="en-IN" sz="900" spc="85" dirty="0" smtClean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60" dirty="0" smtClean="0">
                <a:latin typeface="Times New Roman"/>
                <a:cs typeface="Times New Roman"/>
              </a:rPr>
              <a:t>consume(p</a:t>
            </a:r>
            <a:r>
              <a:rPr sz="900" spc="60" dirty="0">
                <a:latin typeface="Times New Roman"/>
                <a:cs typeface="Times New Roman"/>
              </a:rPr>
              <a:t>);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30" dirty="0">
                <a:latin typeface="Times New Roman"/>
                <a:cs typeface="Times New Roman"/>
              </a:rPr>
              <a:t>}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23 / 28</a:t>
            </a:r>
          </a:p>
        </p:txBody>
      </p:sp>
      <p:sp>
        <p:nvSpPr>
          <p:cNvPr id="19" name="object 8"/>
          <p:cNvSpPr txBox="1"/>
          <p:nvPr/>
        </p:nvSpPr>
        <p:spPr>
          <a:xfrm>
            <a:off x="0" y="2339468"/>
            <a:ext cx="4438649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800" spc="30" dirty="0" smtClean="0">
                <a:latin typeface="Times New Roman"/>
                <a:cs typeface="Times New Roman"/>
              </a:rPr>
              <a:t>Instead of a count and a semaphore to protect it, we use 2 semaphores full and empty (sum is n)</a:t>
            </a:r>
          </a:p>
          <a:p>
            <a:pPr marL="184150" indent="-171450">
              <a:buFont typeface="Arial" panose="020B0604020202020204" pitchFamily="34" charset="0"/>
              <a:buChar char="•"/>
            </a:pPr>
            <a:r>
              <a:rPr lang="en-IN" sz="800" spc="30" dirty="0">
                <a:latin typeface="Times New Roman"/>
                <a:cs typeface="Times New Roman"/>
              </a:rPr>
              <a:t>Initially, n vacant slots, and 0 full slot</a:t>
            </a:r>
          </a:p>
          <a:p>
            <a:pPr marL="1841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800" spc="30" dirty="0" smtClean="0">
                <a:latin typeface="Times New Roman"/>
                <a:cs typeface="Times New Roman"/>
              </a:rPr>
              <a:t>A producer calls wait (empty) </a:t>
            </a:r>
            <a:r>
              <a:rPr lang="en-IN" sz="800" spc="30" dirty="0" smtClean="0">
                <a:latin typeface="Times New Roman"/>
                <a:cs typeface="Times New Roman"/>
                <a:sym typeface="Wingdings" panose="05000000000000000000" pitchFamily="2" charset="2"/>
              </a:rPr>
              <a:t> </a:t>
            </a:r>
            <a:r>
              <a:rPr lang="en-IN" sz="800" spc="30" dirty="0" smtClean="0">
                <a:latin typeface="Times New Roman"/>
                <a:cs typeface="Times New Roman"/>
              </a:rPr>
              <a:t>n producers can run concurrently and produce</a:t>
            </a:r>
          </a:p>
          <a:p>
            <a:pPr marL="1841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800" spc="30" dirty="0" smtClean="0">
                <a:latin typeface="Times New Roman"/>
                <a:cs typeface="Times New Roman"/>
              </a:rPr>
              <a:t>Producers Synchronize on </a:t>
            </a:r>
            <a:r>
              <a:rPr lang="en-IN" sz="800" spc="30" dirty="0" err="1" smtClean="0">
                <a:latin typeface="Times New Roman"/>
                <a:cs typeface="Times New Roman"/>
              </a:rPr>
              <a:t>SBuf</a:t>
            </a:r>
            <a:r>
              <a:rPr lang="en-IN" sz="800" spc="30" dirty="0" smtClean="0">
                <a:latin typeface="Times New Roman"/>
                <a:cs typeface="Times New Roman"/>
              </a:rPr>
              <a:t> to protect buffer</a:t>
            </a:r>
          </a:p>
          <a:p>
            <a:pPr marL="1841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800" dirty="0" smtClean="0">
                <a:latin typeface="Times New Roman"/>
                <a:cs typeface="Times New Roman"/>
              </a:rPr>
              <a:t>Many consumers can consume in parallel, block at wait (full). </a:t>
            </a:r>
          </a:p>
          <a:p>
            <a:pPr marL="1841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800" dirty="0" smtClean="0">
                <a:latin typeface="Times New Roman"/>
                <a:cs typeface="Times New Roman"/>
              </a:rPr>
              <a:t>One producer has gone through 1 iteration, a consumer can consume</a:t>
            </a:r>
            <a:endParaRPr sz="800" dirty="0">
              <a:latin typeface="Times New Roman"/>
              <a:cs typeface="Times New Roman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162050" y="787216"/>
            <a:ext cx="0" cy="1411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568298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71457"/>
            <a:ext cx="44196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pc="10" dirty="0" smtClean="0"/>
              <a:t>What if?</a:t>
            </a:r>
            <a:endParaRPr spc="15" dirty="0"/>
          </a:p>
        </p:txBody>
      </p:sp>
      <p:sp>
        <p:nvSpPr>
          <p:cNvPr id="8" name="object 8"/>
          <p:cNvSpPr txBox="1"/>
          <p:nvPr/>
        </p:nvSpPr>
        <p:spPr>
          <a:xfrm>
            <a:off x="202818" y="507719"/>
            <a:ext cx="4235831" cy="1384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30" dirty="0">
                <a:latin typeface="Times New Roman"/>
                <a:cs typeface="Times New Roman"/>
              </a:rPr>
              <a:t>semaphore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55" dirty="0">
                <a:latin typeface="Times New Roman"/>
                <a:cs typeface="Times New Roman"/>
              </a:rPr>
              <a:t>full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30" dirty="0">
                <a:latin typeface="Times New Roman"/>
                <a:cs typeface="Times New Roman"/>
              </a:rPr>
              <a:t>0,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5" dirty="0">
                <a:latin typeface="Times New Roman"/>
                <a:cs typeface="Times New Roman"/>
              </a:rPr>
              <a:t>empty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30" dirty="0">
                <a:latin typeface="Times New Roman"/>
                <a:cs typeface="Times New Roman"/>
              </a:rPr>
              <a:t>n,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lang="en-IN" sz="900" spc="15" dirty="0" err="1" smtClean="0">
                <a:latin typeface="Times New Roman"/>
                <a:cs typeface="Times New Roman"/>
              </a:rPr>
              <a:t>SBuf</a:t>
            </a:r>
            <a:r>
              <a:rPr sz="900" dirty="0" smtClean="0">
                <a:latin typeface="Times New Roman"/>
                <a:cs typeface="Times New Roman"/>
              </a:rPr>
              <a:t> </a:t>
            </a:r>
            <a:r>
              <a:rPr sz="900" spc="20" dirty="0" smtClean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1</a:t>
            </a:r>
            <a:r>
              <a:rPr sz="900" spc="114" dirty="0" smtClean="0">
                <a:latin typeface="Times New Roman"/>
                <a:cs typeface="Times New Roman"/>
              </a:rPr>
              <a:t>;</a:t>
            </a:r>
            <a:r>
              <a:rPr lang="en-IN" sz="900" spc="114" dirty="0" smtClean="0">
                <a:latin typeface="Times New Roman"/>
                <a:cs typeface="Times New Roman"/>
              </a:rPr>
              <a:t> /* share buffer and count */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8556" y="970280"/>
            <a:ext cx="449580" cy="0"/>
          </a:xfrm>
          <a:custGeom>
            <a:avLst/>
            <a:gdLst/>
            <a:ahLst/>
            <a:cxnLst/>
            <a:rect l="l" t="t" r="r" b="b"/>
            <a:pathLst>
              <a:path w="449580">
                <a:moveTo>
                  <a:pt x="0" y="0"/>
                </a:moveTo>
                <a:lnTo>
                  <a:pt x="449326" y="0"/>
                </a:lnTo>
              </a:path>
            </a:pathLst>
          </a:custGeom>
          <a:ln w="48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5856" y="829412"/>
            <a:ext cx="2569210" cy="139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056130" algn="l"/>
              </a:tabLst>
            </a:pPr>
            <a:r>
              <a:rPr lang="en-IN" sz="900" spc="-5" dirty="0" smtClean="0">
                <a:latin typeface="Arial"/>
                <a:cs typeface="Arial"/>
              </a:rPr>
              <a:t>P</a:t>
            </a:r>
            <a:r>
              <a:rPr sz="900" spc="-5" dirty="0" err="1" smtClean="0">
                <a:latin typeface="Arial"/>
                <a:cs typeface="Arial"/>
              </a:rPr>
              <a:t>roducer</a:t>
            </a:r>
            <a:r>
              <a:rPr lang="en-IN" sz="900" spc="-5" dirty="0" smtClean="0">
                <a:latin typeface="Arial"/>
                <a:cs typeface="Arial"/>
              </a:rPr>
              <a:t>                         </a:t>
            </a:r>
            <a:r>
              <a:rPr sz="900" u="sng" spc="-5" dirty="0" smtClean="0">
                <a:latin typeface="Arial"/>
                <a:cs typeface="Arial"/>
              </a:rPr>
              <a:t>consumer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8195" y="1105242"/>
            <a:ext cx="1112394" cy="1113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65" dirty="0">
                <a:latin typeface="Times New Roman"/>
                <a:cs typeface="Times New Roman"/>
              </a:rPr>
              <a:t>while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(1)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endParaRPr sz="900" dirty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15" dirty="0">
                <a:latin typeface="Times New Roman"/>
                <a:cs typeface="Times New Roman"/>
              </a:rPr>
              <a:t>p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produce</a:t>
            </a:r>
            <a:r>
              <a:rPr sz="900" spc="90" dirty="0" smtClean="0">
                <a:latin typeface="Times New Roman"/>
                <a:cs typeface="Times New Roman"/>
              </a:rPr>
              <a:t>();</a:t>
            </a:r>
            <a:endParaRPr lang="en-IN" sz="900" spc="9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80" dirty="0" smtClean="0">
                <a:solidFill>
                  <a:srgbClr val="FF0000"/>
                </a:solidFill>
                <a:latin typeface="Times New Roman"/>
                <a:cs typeface="Times New Roman"/>
              </a:rPr>
              <a:t>wait(</a:t>
            </a:r>
            <a:r>
              <a:rPr lang="en-US" sz="900" spc="80" dirty="0" err="1" smtClean="0">
                <a:solidFill>
                  <a:srgbClr val="FF0000"/>
                </a:solidFill>
                <a:latin typeface="Times New Roman"/>
                <a:cs typeface="Times New Roman"/>
              </a:rPr>
              <a:t>SBuf</a:t>
            </a:r>
            <a:r>
              <a:rPr sz="900" spc="80" dirty="0" smtClean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900" spc="7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endParaRPr lang="en-IN" sz="900" spc="75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80" dirty="0">
                <a:solidFill>
                  <a:srgbClr val="00B050"/>
                </a:solidFill>
                <a:latin typeface="Times New Roman"/>
                <a:cs typeface="Times New Roman"/>
              </a:rPr>
              <a:t>wait(</a:t>
            </a:r>
            <a:r>
              <a:rPr lang="en-IN" sz="900" spc="80" dirty="0">
                <a:solidFill>
                  <a:srgbClr val="00B050"/>
                </a:solidFill>
                <a:latin typeface="Times New Roman"/>
                <a:cs typeface="Times New Roman"/>
              </a:rPr>
              <a:t>empty</a:t>
            </a:r>
            <a:r>
              <a:rPr sz="900" spc="80" dirty="0">
                <a:solidFill>
                  <a:srgbClr val="00B050"/>
                </a:solidFill>
                <a:latin typeface="Times New Roman"/>
                <a:cs typeface="Times New Roman"/>
              </a:rPr>
              <a:t>); </a:t>
            </a:r>
            <a:endParaRPr lang="en-IN" sz="900" spc="80" dirty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50" dirty="0" err="1" smtClean="0">
                <a:latin typeface="Times New Roman"/>
                <a:cs typeface="Times New Roman"/>
              </a:rPr>
              <a:t>AddToBuffer</a:t>
            </a:r>
            <a:r>
              <a:rPr sz="900" spc="50" dirty="0" smtClean="0">
                <a:latin typeface="Times New Roman"/>
                <a:cs typeface="Times New Roman"/>
              </a:rPr>
              <a:t>(p);</a:t>
            </a:r>
            <a:endParaRPr lang="en-IN" sz="900" spc="5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90" dirty="0" smtClean="0">
                <a:solidFill>
                  <a:srgbClr val="FF0000"/>
                </a:solidFill>
                <a:latin typeface="Times New Roman"/>
                <a:cs typeface="Times New Roman"/>
              </a:rPr>
              <a:t>signal(</a:t>
            </a:r>
            <a:r>
              <a:rPr lang="en-IN" sz="900" spc="75" dirty="0" err="1">
                <a:solidFill>
                  <a:srgbClr val="FF0000"/>
                </a:solidFill>
                <a:latin typeface="Times New Roman"/>
                <a:cs typeface="Times New Roman"/>
              </a:rPr>
              <a:t>SBuf</a:t>
            </a:r>
            <a:r>
              <a:rPr sz="900" spc="90" dirty="0" smtClean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900" spc="5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endParaRPr lang="en-IN" sz="900" spc="55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140" dirty="0" smtClean="0">
                <a:solidFill>
                  <a:srgbClr val="7030A0"/>
                </a:solidFill>
                <a:latin typeface="Times New Roman"/>
                <a:cs typeface="Times New Roman"/>
              </a:rPr>
              <a:t>signal(full</a:t>
            </a:r>
            <a:r>
              <a:rPr sz="900" spc="140" dirty="0">
                <a:solidFill>
                  <a:srgbClr val="7030A0"/>
                </a:solidFill>
                <a:latin typeface="Times New Roman"/>
                <a:cs typeface="Times New Roman"/>
              </a:rPr>
              <a:t>);</a:t>
            </a:r>
            <a:endParaRPr sz="90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30" dirty="0">
                <a:latin typeface="Times New Roman"/>
                <a:cs typeface="Times New Roman"/>
              </a:rPr>
              <a:t>}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95017" y="1090523"/>
            <a:ext cx="1659383" cy="11178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2080" marR="662305" indent="-120014">
              <a:lnSpc>
                <a:spcPct val="101499"/>
              </a:lnSpc>
            </a:pPr>
            <a:r>
              <a:rPr sz="900" spc="65" dirty="0">
                <a:latin typeface="Times New Roman"/>
                <a:cs typeface="Times New Roman"/>
              </a:rPr>
              <a:t>while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(1)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0" dirty="0">
                <a:latin typeface="Times New Roman"/>
                <a:cs typeface="Times New Roman"/>
              </a:rPr>
              <a:t>{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endParaRPr lang="en-IN" sz="900" spc="15" dirty="0" smtClean="0">
              <a:latin typeface="Times New Roman"/>
              <a:cs typeface="Times New Roman"/>
            </a:endParaRPr>
          </a:p>
          <a:p>
            <a:pPr marL="132080" marR="662305" indent="-120014">
              <a:lnSpc>
                <a:spcPct val="101499"/>
              </a:lnSpc>
            </a:pPr>
            <a:r>
              <a:rPr lang="en-IN" sz="9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900" spc="1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  </a:t>
            </a:r>
            <a:r>
              <a:rPr sz="900" spc="135" dirty="0" smtClean="0">
                <a:solidFill>
                  <a:srgbClr val="FF0000"/>
                </a:solidFill>
                <a:latin typeface="Times New Roman"/>
                <a:cs typeface="Times New Roman"/>
              </a:rPr>
              <a:t>wait(</a:t>
            </a:r>
            <a:r>
              <a:rPr lang="en-US" sz="900" spc="135" dirty="0" err="1" smtClean="0">
                <a:solidFill>
                  <a:srgbClr val="FF0000"/>
                </a:solidFill>
                <a:latin typeface="Times New Roman"/>
                <a:cs typeface="Times New Roman"/>
              </a:rPr>
              <a:t>SBuf</a:t>
            </a:r>
            <a:r>
              <a:rPr sz="900" spc="135" dirty="0" smtClean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900" spc="9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endParaRPr lang="en-IN" sz="900" spc="90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2080" marR="662305" indent="-120014">
              <a:lnSpc>
                <a:spcPct val="101499"/>
              </a:lnSpc>
            </a:pPr>
            <a:r>
              <a:rPr lang="en-IN" sz="900" spc="90" dirty="0">
                <a:latin typeface="Times New Roman"/>
                <a:cs typeface="Times New Roman"/>
              </a:rPr>
              <a:t> </a:t>
            </a:r>
            <a:r>
              <a:rPr lang="en-IN" sz="900" spc="90" dirty="0" smtClean="0">
                <a:latin typeface="Times New Roman"/>
                <a:cs typeface="Times New Roman"/>
              </a:rPr>
              <a:t>  </a:t>
            </a:r>
            <a:r>
              <a:rPr sz="900" spc="140" dirty="0">
                <a:solidFill>
                  <a:srgbClr val="7030A0"/>
                </a:solidFill>
                <a:latin typeface="Times New Roman"/>
                <a:cs typeface="Times New Roman"/>
              </a:rPr>
              <a:t>wait(</a:t>
            </a:r>
            <a:r>
              <a:rPr lang="en-IN" sz="900" spc="140" dirty="0">
                <a:solidFill>
                  <a:srgbClr val="7030A0"/>
                </a:solidFill>
                <a:latin typeface="Times New Roman"/>
                <a:cs typeface="Times New Roman"/>
              </a:rPr>
              <a:t>full</a:t>
            </a:r>
            <a:r>
              <a:rPr sz="900" spc="140" dirty="0">
                <a:solidFill>
                  <a:srgbClr val="7030A0"/>
                </a:solidFill>
                <a:latin typeface="Times New Roman"/>
                <a:cs typeface="Times New Roman"/>
              </a:rPr>
              <a:t>);</a:t>
            </a:r>
            <a:endParaRPr lang="en-IN" sz="900" spc="140" dirty="0">
              <a:solidFill>
                <a:srgbClr val="7030A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15" dirty="0" smtClean="0">
                <a:latin typeface="Times New Roman"/>
                <a:cs typeface="Times New Roman"/>
              </a:rPr>
              <a:t>p 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35" dirty="0">
                <a:latin typeface="Times New Roman"/>
                <a:cs typeface="Times New Roman"/>
              </a:rPr>
              <a:t>RemoveFromBuffer();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endParaRPr lang="en-IN" sz="900" spc="20" dirty="0" smtClean="0"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90" dirty="0" smtClean="0">
                <a:solidFill>
                  <a:srgbClr val="FF0000"/>
                </a:solidFill>
                <a:latin typeface="Times New Roman"/>
                <a:cs typeface="Times New Roman"/>
              </a:rPr>
              <a:t>signal(</a:t>
            </a:r>
            <a:r>
              <a:rPr lang="en-IN" sz="900" spc="75" dirty="0" err="1">
                <a:solidFill>
                  <a:srgbClr val="FF0000"/>
                </a:solidFill>
                <a:latin typeface="Times New Roman"/>
                <a:cs typeface="Times New Roman"/>
              </a:rPr>
              <a:t>SBuf</a:t>
            </a:r>
            <a:r>
              <a:rPr sz="900" spc="90" dirty="0" smtClean="0">
                <a:solidFill>
                  <a:srgbClr val="FF0000"/>
                </a:solidFill>
                <a:latin typeface="Times New Roman"/>
                <a:cs typeface="Times New Roman"/>
              </a:rPr>
              <a:t>);</a:t>
            </a:r>
            <a:r>
              <a:rPr sz="900" spc="8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endParaRPr lang="en-IN" sz="900" spc="85" dirty="0" smtClean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85" dirty="0" smtClean="0">
                <a:solidFill>
                  <a:srgbClr val="00B050"/>
                </a:solidFill>
                <a:latin typeface="Times New Roman"/>
                <a:cs typeface="Times New Roman"/>
              </a:rPr>
              <a:t>signal(empty</a:t>
            </a:r>
            <a:r>
              <a:rPr sz="900" spc="85" dirty="0">
                <a:solidFill>
                  <a:srgbClr val="00B050"/>
                </a:solidFill>
                <a:latin typeface="Times New Roman"/>
                <a:cs typeface="Times New Roman"/>
              </a:rPr>
              <a:t>); </a:t>
            </a:r>
            <a:endParaRPr lang="en-IN" sz="900" spc="85" dirty="0" smtClean="0">
              <a:solidFill>
                <a:srgbClr val="00B050"/>
              </a:solidFill>
              <a:latin typeface="Times New Roman"/>
              <a:cs typeface="Times New Roman"/>
            </a:endParaRPr>
          </a:p>
          <a:p>
            <a:pPr marL="132080" marR="5080">
              <a:lnSpc>
                <a:spcPct val="101499"/>
              </a:lnSpc>
            </a:pPr>
            <a:r>
              <a:rPr sz="900" spc="60" dirty="0" smtClean="0">
                <a:latin typeface="Times New Roman"/>
                <a:cs typeface="Times New Roman"/>
              </a:rPr>
              <a:t>consume(p</a:t>
            </a:r>
            <a:r>
              <a:rPr sz="900" spc="60" dirty="0">
                <a:latin typeface="Times New Roman"/>
                <a:cs typeface="Times New Roman"/>
              </a:rPr>
              <a:t>);</a:t>
            </a:r>
            <a:endParaRPr sz="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30" dirty="0">
                <a:latin typeface="Times New Roman"/>
                <a:cs typeface="Times New Roman"/>
              </a:rPr>
              <a:t>}</a:t>
            </a:r>
            <a:endParaRPr sz="9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23 / 28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162050" y="787216"/>
            <a:ext cx="0" cy="1411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89" y="2216608"/>
            <a:ext cx="45485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 smtClean="0"/>
              <a:t>Assuming that the buffer is not being accessed at this time by consumer, the Producer will be able to lock the buffer. </a:t>
            </a:r>
          </a:p>
          <a:p>
            <a:endParaRPr lang="en-US" sz="700" dirty="0"/>
          </a:p>
          <a:p>
            <a:r>
              <a:rPr lang="en-US" sz="700" dirty="0" smtClean="0"/>
              <a:t>Assuming that the buffer is full, the value of empty is 0 </a:t>
            </a:r>
            <a:r>
              <a:rPr lang="en-US" sz="700" dirty="0" smtClean="0">
                <a:sym typeface="Wingdings" panose="05000000000000000000" pitchFamily="2" charset="2"/>
              </a:rPr>
              <a:t> producer gets stuck</a:t>
            </a:r>
          </a:p>
          <a:p>
            <a:r>
              <a:rPr lang="en-US" sz="700" dirty="0" smtClean="0">
                <a:sym typeface="Wingdings" panose="05000000000000000000" pitchFamily="2" charset="2"/>
              </a:rPr>
              <a:t>Consumer will get stuck on </a:t>
            </a:r>
            <a:r>
              <a:rPr lang="en-US" sz="700" dirty="0" err="1" smtClean="0">
                <a:sym typeface="Wingdings" panose="05000000000000000000" pitchFamily="2" charset="2"/>
              </a:rPr>
              <a:t>Sbuf</a:t>
            </a:r>
            <a:r>
              <a:rPr lang="en-US" sz="700" dirty="0" smtClean="0">
                <a:sym typeface="Wingdings" panose="05000000000000000000" pitchFamily="2" charset="2"/>
              </a:rPr>
              <a:t>, and thus cannot execute wait (full) and consume</a:t>
            </a:r>
          </a:p>
          <a:p>
            <a:r>
              <a:rPr lang="en-US" sz="700" dirty="0" smtClean="0">
                <a:sym typeface="Wingdings" panose="05000000000000000000" pitchFamily="2" charset="2"/>
              </a:rPr>
              <a:t>Buffer is full but producer has needlessly locked the buffer  Deadlock</a:t>
            </a:r>
          </a:p>
          <a:p>
            <a:endParaRPr lang="en-US" sz="700" dirty="0" smtClean="0"/>
          </a:p>
          <a:p>
            <a:r>
              <a:rPr lang="en-US" sz="700" dirty="0" smtClean="0"/>
              <a:t>Producer should check if there are empty slots and then lock the buffer</a:t>
            </a:r>
          </a:p>
          <a:p>
            <a:r>
              <a:rPr lang="en-US" sz="700" dirty="0" smtClean="0"/>
              <a:t>Consumer should first check if there are items to consume and then lock the buffer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963277223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0502" y="547325"/>
            <a:ext cx="4137875" cy="236037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"/>
          <p:cNvSpPr txBox="1"/>
          <p:nvPr>
            <p:ph type="title"/>
          </p:nvPr>
        </p:nvSpPr>
        <p:spPr>
          <a:xfrm>
            <a:off x="95250" y="71457"/>
            <a:ext cx="441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Producer Consumer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1392" y="729840"/>
            <a:ext cx="3929550" cy="224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7625" y="1095206"/>
            <a:ext cx="4094850" cy="17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7921" y="479231"/>
            <a:ext cx="3794257" cy="2502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/>
          <p:nvPr>
            <p:ph type="title"/>
          </p:nvPr>
        </p:nvSpPr>
        <p:spPr>
          <a:xfrm>
            <a:off x="95250" y="71457"/>
            <a:ext cx="4419600" cy="2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Dining philosophers problem</a:t>
            </a:r>
            <a:endParaRPr/>
          </a:p>
        </p:txBody>
      </p:sp>
      <p:sp>
        <p:nvSpPr>
          <p:cNvPr id="50" name="Google Shape;50;p5"/>
          <p:cNvSpPr txBox="1"/>
          <p:nvPr/>
        </p:nvSpPr>
        <p:spPr>
          <a:xfrm>
            <a:off x="41055" y="579365"/>
            <a:ext cx="28956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philosopher()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while(1)  {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51459" marR="51054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eat(); /* CS */</a:t>
            </a:r>
            <a:endParaRPr/>
          </a:p>
          <a:p>
            <a:pPr indent="0" lvl="0" marL="251459" marR="51054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think(); 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208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philosopher()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 while(1)  {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51459" marR="51054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entry();</a:t>
            </a:r>
            <a:endParaRPr/>
          </a:p>
          <a:p>
            <a:pPr indent="0" lvl="0" marL="251459" marR="51054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eat(); /* CS */</a:t>
            </a:r>
            <a:endParaRPr/>
          </a:p>
          <a:p>
            <a:pPr indent="0" lvl="0" marL="251459" marR="51054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exit();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51459" marR="510540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think(); </a:t>
            </a:r>
            <a:endParaRPr/>
          </a:p>
          <a:p>
            <a:pPr indent="0" lvl="0" marL="13208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2666208" y="477816"/>
            <a:ext cx="1848600" cy="176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1930564" y="2489722"/>
            <a:ext cx="25215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508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the nearest chopsticks can be used Only free chopsticks can be used Chopsticks must be acquired one by one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0" y="3327019"/>
            <a:ext cx="1536065" cy="129539"/>
          </a:xfrm>
          <a:custGeom>
            <a:rect b="b" l="l" r="r" t="t"/>
            <a:pathLst>
              <a:path extrusionOk="0" h="129539" w="1536065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535938" y="3327019"/>
            <a:ext cx="1536064" cy="129539"/>
          </a:xfrm>
          <a:custGeom>
            <a:rect b="b" l="l" r="r" t="t"/>
            <a:pathLst>
              <a:path extrusionOk="0" h="129539" w="1536064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3072002" y="3327019"/>
            <a:ext cx="1536064" cy="129539"/>
          </a:xfrm>
          <a:custGeom>
            <a:rect b="b" l="l" r="r" t="t"/>
            <a:pathLst>
              <a:path extrusionOk="0" h="129539" w="1536064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>
            <p:ph idx="5" type="ftr"/>
          </p:nvPr>
        </p:nvSpPr>
        <p:spPr>
          <a:xfrm>
            <a:off x="525780" y="3345157"/>
            <a:ext cx="484500" cy="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M.Tech.  (ISI)</a:t>
            </a:r>
            <a:endParaRPr/>
          </a:p>
        </p:txBody>
      </p:sp>
      <p:sp>
        <p:nvSpPr>
          <p:cNvPr id="57" name="Google Shape;57;p5"/>
          <p:cNvSpPr txBox="1"/>
          <p:nvPr>
            <p:ph idx="6" type="dt"/>
          </p:nvPr>
        </p:nvSpPr>
        <p:spPr>
          <a:xfrm>
            <a:off x="1873630" y="3345157"/>
            <a:ext cx="8610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 Synchronization</a:t>
            </a:r>
            <a:endParaRPr/>
          </a:p>
        </p:txBody>
      </p:sp>
      <p:sp>
        <p:nvSpPr>
          <p:cNvPr id="58" name="Google Shape;58;p5"/>
          <p:cNvSpPr txBox="1"/>
          <p:nvPr>
            <p:ph idx="7" type="sldNum"/>
          </p:nvPr>
        </p:nvSpPr>
        <p:spPr>
          <a:xfrm>
            <a:off x="4271009" y="3345157"/>
            <a:ext cx="270600" cy="1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 / 28</a:t>
            </a:r>
            <a:endParaRPr/>
          </a:p>
        </p:txBody>
      </p:sp>
      <p:cxnSp>
        <p:nvCxnSpPr>
          <p:cNvPr id="59" name="Google Shape;59;p5"/>
          <p:cNvCxnSpPr/>
          <p:nvPr/>
        </p:nvCxnSpPr>
        <p:spPr>
          <a:xfrm flipH="1" rot="10800000">
            <a:off x="793688" y="892215"/>
            <a:ext cx="583500" cy="12240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" name="Google Shape;60;p5"/>
          <p:cNvSpPr txBox="1"/>
          <p:nvPr/>
        </p:nvSpPr>
        <p:spPr>
          <a:xfrm>
            <a:off x="1377154" y="609773"/>
            <a:ext cx="1298700" cy="507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either f</a:t>
            </a:r>
            <a:r>
              <a:rPr baseline="-25000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(i-1)%n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aseline="-25000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in use, wait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 f</a:t>
            </a:r>
            <a:r>
              <a:rPr baseline="-25000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(i-1)%n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f</a:t>
            </a:r>
            <a:r>
              <a:rPr baseline="-25000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use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00050" y="1577975"/>
            <a:ext cx="76200" cy="227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5"/>
          <p:cNvCxnSpPr/>
          <p:nvPr/>
        </p:nvCxnSpPr>
        <p:spPr>
          <a:xfrm>
            <a:off x="768032" y="2416175"/>
            <a:ext cx="768000" cy="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" name="Google Shape;63;p5"/>
          <p:cNvSpPr txBox="1"/>
          <p:nvPr/>
        </p:nvSpPr>
        <p:spPr>
          <a:xfrm>
            <a:off x="1439625" y="2116236"/>
            <a:ext cx="1164000" cy="3618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 both f</a:t>
            </a:r>
            <a:r>
              <a:rPr baseline="-25000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(i-1)%n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aseline="-25000"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in use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Dining</a:t>
            </a:r>
            <a:r>
              <a:rPr spc="5" dirty="0"/>
              <a:t> </a:t>
            </a:r>
            <a:r>
              <a:rPr spc="10" dirty="0"/>
              <a:t>philosophers</a:t>
            </a:r>
            <a:r>
              <a:rPr spc="5" dirty="0"/>
              <a:t> </a:t>
            </a:r>
            <a:r>
              <a:rPr spc="10" dirty="0"/>
              <a:t>pro</a:t>
            </a:r>
            <a:r>
              <a:rPr spc="-15" dirty="0"/>
              <a:t>b</a:t>
            </a:r>
            <a:r>
              <a:rPr spc="15" dirty="0"/>
              <a:t>lem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250" y="433519"/>
            <a:ext cx="4872863" cy="2966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2123440">
              <a:lnSpc>
                <a:spcPct val="184500"/>
              </a:lnSpc>
            </a:pPr>
            <a:r>
              <a:rPr sz="800" spc="30" dirty="0">
                <a:latin typeface="Times New Roman"/>
                <a:cs typeface="Times New Roman"/>
              </a:rPr>
              <a:t>semaphore </a:t>
            </a:r>
            <a:r>
              <a:rPr sz="800" spc="15" dirty="0">
                <a:latin typeface="Times New Roman"/>
                <a:cs typeface="Times New Roman"/>
              </a:rPr>
              <a:t> </a:t>
            </a:r>
            <a:r>
              <a:rPr sz="800" spc="90" dirty="0">
                <a:latin typeface="Times New Roman"/>
                <a:cs typeface="Times New Roman"/>
              </a:rPr>
              <a:t>chopstick[5]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r>
              <a:rPr sz="800" spc="-45" dirty="0">
                <a:latin typeface="Times New Roman"/>
                <a:cs typeface="Times New Roman"/>
              </a:rPr>
              <a:t>=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r>
              <a:rPr sz="800" spc="110" dirty="0">
                <a:latin typeface="Cambria"/>
                <a:cs typeface="Cambria"/>
              </a:rPr>
              <a:t>{</a:t>
            </a:r>
            <a:r>
              <a:rPr sz="800" spc="110" dirty="0">
                <a:latin typeface="Times New Roman"/>
                <a:cs typeface="Times New Roman"/>
              </a:rPr>
              <a:t>1,1,1,1,</a:t>
            </a:r>
            <a:r>
              <a:rPr sz="800" spc="145" dirty="0">
                <a:latin typeface="Times New Roman"/>
                <a:cs typeface="Times New Roman"/>
              </a:rPr>
              <a:t>1</a:t>
            </a:r>
            <a:r>
              <a:rPr sz="800" spc="110" dirty="0">
                <a:latin typeface="Cambria"/>
                <a:cs typeface="Cambria"/>
              </a:rPr>
              <a:t>}</a:t>
            </a:r>
            <a:r>
              <a:rPr sz="800" spc="204" dirty="0">
                <a:latin typeface="Times New Roman"/>
                <a:cs typeface="Times New Roman"/>
              </a:rPr>
              <a:t>; </a:t>
            </a:r>
            <a:endParaRPr lang="en-IN" sz="800" spc="204" dirty="0" smtClean="0">
              <a:latin typeface="Times New Roman"/>
              <a:cs typeface="Times New Roman"/>
            </a:endParaRPr>
          </a:p>
          <a:p>
            <a:pPr marL="12700" marR="2123440">
              <a:lnSpc>
                <a:spcPct val="184500"/>
              </a:lnSpc>
            </a:pPr>
            <a:r>
              <a:rPr sz="800" spc="65" dirty="0" smtClean="0">
                <a:latin typeface="Times New Roman"/>
                <a:cs typeface="Times New Roman"/>
              </a:rPr>
              <a:t>while</a:t>
            </a:r>
            <a:r>
              <a:rPr sz="800" dirty="0" smtClean="0">
                <a:latin typeface="Times New Roman"/>
                <a:cs typeface="Times New Roman"/>
              </a:rPr>
              <a:t> </a:t>
            </a:r>
            <a:r>
              <a:rPr sz="800" spc="15" dirty="0" smtClean="0">
                <a:latin typeface="Times New Roman"/>
                <a:cs typeface="Times New Roman"/>
              </a:rPr>
              <a:t> </a:t>
            </a:r>
            <a:r>
              <a:rPr sz="800" spc="114" dirty="0">
                <a:latin typeface="Times New Roman"/>
                <a:cs typeface="Times New Roman"/>
              </a:rPr>
              <a:t>(1)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r>
              <a:rPr sz="800" spc="30" dirty="0">
                <a:latin typeface="Times New Roman"/>
                <a:cs typeface="Times New Roman"/>
              </a:rPr>
              <a:t>{</a:t>
            </a:r>
            <a:endParaRPr sz="800" dirty="0">
              <a:latin typeface="Times New Roman"/>
              <a:cs typeface="Times New Roman"/>
            </a:endParaRPr>
          </a:p>
          <a:p>
            <a:pPr marL="132080" marR="2599055">
              <a:lnSpc>
                <a:spcPct val="101499"/>
              </a:lnSpc>
            </a:pPr>
            <a:r>
              <a:rPr sz="800" spc="100" dirty="0" smtClean="0">
                <a:latin typeface="Times New Roman"/>
                <a:cs typeface="Times New Roman"/>
              </a:rPr>
              <a:t>wait(chopstick</a:t>
            </a:r>
            <a:r>
              <a:rPr sz="800" spc="100" dirty="0">
                <a:latin typeface="Times New Roman"/>
                <a:cs typeface="Times New Roman"/>
              </a:rPr>
              <a:t>[(</a:t>
            </a:r>
            <a:r>
              <a:rPr sz="800" spc="100" dirty="0" err="1" smtClean="0">
                <a:latin typeface="Times New Roman"/>
                <a:cs typeface="Times New Roman"/>
              </a:rPr>
              <a:t>i</a:t>
            </a:r>
            <a:r>
              <a:rPr lang="en-IN" sz="800" spc="100" dirty="0" smtClean="0">
                <a:latin typeface="Times New Roman"/>
                <a:cs typeface="Times New Roman"/>
              </a:rPr>
              <a:t>-</a:t>
            </a:r>
            <a:r>
              <a:rPr sz="800" spc="100" dirty="0" smtClean="0">
                <a:latin typeface="Times New Roman"/>
                <a:cs typeface="Times New Roman"/>
              </a:rPr>
              <a:t>1</a:t>
            </a:r>
            <a:r>
              <a:rPr sz="800" spc="100" dirty="0">
                <a:latin typeface="Times New Roman"/>
                <a:cs typeface="Times New Roman"/>
              </a:rPr>
              <a:t>)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r>
              <a:rPr sz="800" spc="-285" dirty="0">
                <a:latin typeface="Times New Roman"/>
                <a:cs typeface="Times New Roman"/>
              </a:rPr>
              <a:t>%</a:t>
            </a:r>
            <a:r>
              <a:rPr sz="800" dirty="0">
                <a:latin typeface="Times New Roman"/>
                <a:cs typeface="Times New Roman"/>
              </a:rPr>
              <a:t> </a:t>
            </a:r>
            <a:r>
              <a:rPr sz="800" spc="20" dirty="0">
                <a:latin typeface="Times New Roman"/>
                <a:cs typeface="Times New Roman"/>
              </a:rPr>
              <a:t> </a:t>
            </a:r>
            <a:r>
              <a:rPr sz="800" spc="140" dirty="0">
                <a:latin typeface="Times New Roman"/>
                <a:cs typeface="Times New Roman"/>
              </a:rPr>
              <a:t>5]);</a:t>
            </a:r>
            <a:r>
              <a:rPr sz="800" spc="95" dirty="0">
                <a:latin typeface="Times New Roman"/>
                <a:cs typeface="Times New Roman"/>
              </a:rPr>
              <a:t> </a:t>
            </a:r>
            <a:endParaRPr lang="en-IN" sz="800" spc="95" dirty="0" smtClean="0">
              <a:latin typeface="Times New Roman"/>
              <a:cs typeface="Times New Roman"/>
            </a:endParaRPr>
          </a:p>
          <a:p>
            <a:pPr marL="132080" marR="2599055">
              <a:lnSpc>
                <a:spcPct val="101499"/>
              </a:lnSpc>
            </a:pPr>
            <a:r>
              <a:rPr lang="en-IN" sz="800" spc="114" dirty="0">
                <a:latin typeface="Times New Roman"/>
                <a:cs typeface="Times New Roman"/>
              </a:rPr>
              <a:t>wait(chopstick[</a:t>
            </a:r>
            <a:r>
              <a:rPr lang="en-IN" sz="800" spc="114" dirty="0" err="1">
                <a:latin typeface="Times New Roman"/>
                <a:cs typeface="Times New Roman"/>
              </a:rPr>
              <a:t>i</a:t>
            </a:r>
            <a:r>
              <a:rPr lang="en-IN" sz="800" spc="114" dirty="0">
                <a:latin typeface="Times New Roman"/>
                <a:cs typeface="Times New Roman"/>
              </a:rPr>
              <a:t>]);</a:t>
            </a:r>
            <a:endParaRPr lang="en-IN" sz="800" spc="95" dirty="0">
              <a:latin typeface="Times New Roman"/>
              <a:cs typeface="Times New Roman"/>
            </a:endParaRPr>
          </a:p>
          <a:p>
            <a:pPr marL="132080" marR="2599055">
              <a:lnSpc>
                <a:spcPct val="101499"/>
              </a:lnSpc>
            </a:pPr>
            <a:r>
              <a:rPr sz="800" spc="150" dirty="0" smtClean="0">
                <a:latin typeface="Times New Roman"/>
                <a:cs typeface="Times New Roman"/>
              </a:rPr>
              <a:t>eat</a:t>
            </a:r>
            <a:r>
              <a:rPr sz="800" spc="150" dirty="0">
                <a:latin typeface="Times New Roman"/>
                <a:cs typeface="Times New Roman"/>
              </a:rPr>
              <a:t>();</a:t>
            </a:r>
            <a:r>
              <a:rPr sz="800" spc="105" dirty="0">
                <a:latin typeface="Times New Roman"/>
                <a:cs typeface="Times New Roman"/>
              </a:rPr>
              <a:t> </a:t>
            </a:r>
            <a:endParaRPr lang="en-IN" sz="800" spc="105" dirty="0" smtClean="0">
              <a:latin typeface="Times New Roman"/>
              <a:cs typeface="Times New Roman"/>
            </a:endParaRPr>
          </a:p>
          <a:p>
            <a:pPr marL="132080" marR="2599055">
              <a:lnSpc>
                <a:spcPct val="101499"/>
              </a:lnSpc>
            </a:pPr>
            <a:r>
              <a:rPr sz="800" spc="120" dirty="0" smtClean="0">
                <a:latin typeface="Times New Roman"/>
                <a:cs typeface="Times New Roman"/>
              </a:rPr>
              <a:t>signal(chopstick[</a:t>
            </a:r>
            <a:r>
              <a:rPr sz="800" spc="120" dirty="0" err="1" smtClean="0">
                <a:latin typeface="Times New Roman"/>
                <a:cs typeface="Times New Roman"/>
              </a:rPr>
              <a:t>i</a:t>
            </a:r>
            <a:r>
              <a:rPr sz="800" spc="120" dirty="0">
                <a:latin typeface="Times New Roman"/>
                <a:cs typeface="Times New Roman"/>
              </a:rPr>
              <a:t>]);</a:t>
            </a:r>
            <a:endParaRPr sz="800" dirty="0">
              <a:latin typeface="Times New Roman"/>
              <a:cs typeface="Times New Roman"/>
            </a:endParaRPr>
          </a:p>
          <a:p>
            <a:pPr marL="132080">
              <a:spcBef>
                <a:spcPts val="15"/>
              </a:spcBef>
            </a:pPr>
            <a:r>
              <a:rPr lang="en-IN" sz="800" spc="105" dirty="0">
                <a:latin typeface="Times New Roman"/>
                <a:cs typeface="Times New Roman"/>
              </a:rPr>
              <a:t>signal(chopstick[(i-1) </a:t>
            </a:r>
            <a:r>
              <a:rPr lang="en-IN" sz="800" spc="20" dirty="0">
                <a:latin typeface="Times New Roman"/>
                <a:cs typeface="Times New Roman"/>
              </a:rPr>
              <a:t> </a:t>
            </a:r>
            <a:r>
              <a:rPr lang="en-IN" sz="800" spc="-285" dirty="0">
                <a:latin typeface="Times New Roman"/>
                <a:cs typeface="Times New Roman"/>
              </a:rPr>
              <a:t>%</a:t>
            </a:r>
            <a:r>
              <a:rPr lang="en-IN" sz="800" dirty="0">
                <a:latin typeface="Times New Roman"/>
                <a:cs typeface="Times New Roman"/>
              </a:rPr>
              <a:t> </a:t>
            </a:r>
            <a:r>
              <a:rPr lang="en-IN" sz="800" spc="20" dirty="0">
                <a:latin typeface="Times New Roman"/>
                <a:cs typeface="Times New Roman"/>
              </a:rPr>
              <a:t> </a:t>
            </a:r>
            <a:r>
              <a:rPr lang="en-IN" sz="800" spc="140" dirty="0">
                <a:latin typeface="Times New Roman"/>
                <a:cs typeface="Times New Roman"/>
              </a:rPr>
              <a:t>5]);</a:t>
            </a:r>
          </a:p>
          <a:p>
            <a:pPr marL="132080">
              <a:lnSpc>
                <a:spcPct val="100000"/>
              </a:lnSpc>
              <a:spcBef>
                <a:spcPts val="15"/>
              </a:spcBef>
            </a:pPr>
            <a:r>
              <a:rPr lang="en-IN" sz="800" spc="125" dirty="0" smtClean="0">
                <a:latin typeface="Times New Roman"/>
                <a:cs typeface="Times New Roman"/>
              </a:rPr>
              <a:t>think</a:t>
            </a:r>
            <a:r>
              <a:rPr lang="en-IN" sz="800" spc="125" dirty="0">
                <a:latin typeface="Times New Roman"/>
                <a:cs typeface="Times New Roman"/>
              </a:rPr>
              <a:t>();</a:t>
            </a:r>
            <a:endParaRPr sz="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800" spc="30" dirty="0">
                <a:latin typeface="Times New Roman"/>
                <a:cs typeface="Times New Roman"/>
              </a:rPr>
              <a:t>}</a:t>
            </a:r>
            <a:endParaRPr sz="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b="1" spc="-10" dirty="0" smtClean="0">
                <a:latin typeface="Arial"/>
                <a:cs typeface="Arial"/>
              </a:rPr>
              <a:t>Deadlo</a:t>
            </a:r>
            <a:r>
              <a:rPr sz="900" b="1" spc="-35" dirty="0" smtClean="0">
                <a:latin typeface="Arial"/>
                <a:cs typeface="Arial"/>
              </a:rPr>
              <a:t>c</a:t>
            </a:r>
            <a:r>
              <a:rPr sz="900" b="1" spc="-10" dirty="0" smtClean="0">
                <a:latin typeface="Arial"/>
                <a:cs typeface="Arial"/>
              </a:rPr>
              <a:t>k</a:t>
            </a:r>
            <a:r>
              <a:rPr sz="900" b="1" spc="-5" dirty="0" smtClean="0">
                <a:latin typeface="Arial"/>
                <a:cs typeface="Arial"/>
              </a:rPr>
              <a:t> </a:t>
            </a:r>
            <a:r>
              <a:rPr sz="900" b="1" spc="-30" dirty="0">
                <a:latin typeface="Arial"/>
                <a:cs typeface="Arial"/>
              </a:rPr>
              <a:t>a</a:t>
            </a:r>
            <a:r>
              <a:rPr sz="900" b="1" spc="-45" dirty="0">
                <a:latin typeface="Arial"/>
                <a:cs typeface="Arial"/>
              </a:rPr>
              <a:t>v</a:t>
            </a:r>
            <a:r>
              <a:rPr sz="900" b="1" spc="-10" dirty="0">
                <a:latin typeface="Arial"/>
                <a:cs typeface="Arial"/>
              </a:rPr>
              <a:t>oidance:</a:t>
            </a:r>
            <a:endParaRPr sz="900" dirty="0">
              <a:latin typeface="Arial"/>
              <a:cs typeface="Arial"/>
            </a:endParaRPr>
          </a:p>
          <a:p>
            <a:pPr marL="575310" indent="-285750">
              <a:spcBef>
                <a:spcPts val="35"/>
              </a:spcBef>
              <a:buAutoNum type="romanUcParenR"/>
              <a:tabLst>
                <a:tab pos="4197985" algn="l"/>
              </a:tabLst>
            </a:pPr>
            <a:r>
              <a:rPr lang="en-US" sz="800" spc="-10" dirty="0" smtClean="0">
                <a:latin typeface="Arial"/>
                <a:cs typeface="Arial"/>
              </a:rPr>
              <a:t>Odd</a:t>
            </a:r>
            <a:r>
              <a:rPr lang="en-US" sz="800" spc="-5" dirty="0" smtClean="0">
                <a:latin typeface="Arial"/>
                <a:cs typeface="Arial"/>
              </a:rPr>
              <a:t> </a:t>
            </a:r>
            <a:r>
              <a:rPr lang="en-US" sz="800" spc="-10" dirty="0" smtClean="0">
                <a:latin typeface="Arial"/>
                <a:cs typeface="Arial"/>
              </a:rPr>
              <a:t>philosophers</a:t>
            </a:r>
            <a:r>
              <a:rPr lang="en-US" sz="800" spc="-5" dirty="0" smtClean="0">
                <a:latin typeface="Arial"/>
                <a:cs typeface="Arial"/>
              </a:rPr>
              <a:t> </a:t>
            </a:r>
            <a:r>
              <a:rPr lang="en-US" sz="800" spc="-5" dirty="0">
                <a:latin typeface="Arial"/>
                <a:cs typeface="Arial"/>
              </a:rPr>
              <a:t>pi</a:t>
            </a:r>
            <a:r>
              <a:rPr lang="en-US" sz="800" spc="-35" dirty="0">
                <a:latin typeface="Arial"/>
                <a:cs typeface="Arial"/>
              </a:rPr>
              <a:t>c</a:t>
            </a:r>
            <a:r>
              <a:rPr lang="en-US" sz="800" spc="-10" dirty="0">
                <a:latin typeface="Arial"/>
                <a:cs typeface="Arial"/>
              </a:rPr>
              <a:t>k</a:t>
            </a:r>
            <a:r>
              <a:rPr lang="en-US" sz="800" spc="-5" dirty="0">
                <a:latin typeface="Arial"/>
                <a:cs typeface="Arial"/>
              </a:rPr>
              <a:t> </a:t>
            </a:r>
            <a:r>
              <a:rPr lang="en-US" sz="800" spc="-10" dirty="0">
                <a:latin typeface="Arial"/>
                <a:cs typeface="Arial"/>
              </a:rPr>
              <a:t>up</a:t>
            </a:r>
            <a:r>
              <a:rPr lang="en-US" sz="800" spc="-5" dirty="0">
                <a:latin typeface="Arial"/>
                <a:cs typeface="Arial"/>
              </a:rPr>
              <a:t> left chopsti</a:t>
            </a:r>
            <a:r>
              <a:rPr lang="en-US" sz="800" spc="-35" dirty="0">
                <a:latin typeface="Arial"/>
                <a:cs typeface="Arial"/>
              </a:rPr>
              <a:t>c</a:t>
            </a:r>
            <a:r>
              <a:rPr lang="en-US" sz="800" spc="-10" dirty="0">
                <a:latin typeface="Arial"/>
                <a:cs typeface="Arial"/>
              </a:rPr>
              <a:t>k</a:t>
            </a:r>
            <a:r>
              <a:rPr lang="en-US" sz="800" spc="-5" dirty="0">
                <a:latin typeface="Arial"/>
                <a:cs typeface="Arial"/>
              </a:rPr>
              <a:t> first; </a:t>
            </a:r>
            <a:endParaRPr lang="en-US" sz="800" spc="-5" dirty="0" smtClean="0">
              <a:latin typeface="Arial"/>
              <a:cs typeface="Arial"/>
            </a:endParaRPr>
          </a:p>
          <a:p>
            <a:pPr marL="289560">
              <a:spcBef>
                <a:spcPts val="35"/>
              </a:spcBef>
              <a:tabLst>
                <a:tab pos="4197985" algn="l"/>
              </a:tabLst>
            </a:pPr>
            <a:r>
              <a:rPr lang="en-US" sz="800" spc="-5" dirty="0">
                <a:latin typeface="Arial"/>
                <a:cs typeface="Arial"/>
              </a:rPr>
              <a:t>	</a:t>
            </a:r>
            <a:endParaRPr lang="en-US" sz="800" spc="-5" dirty="0" smtClean="0">
              <a:latin typeface="Arial"/>
              <a:cs typeface="Arial"/>
            </a:endParaRPr>
          </a:p>
          <a:p>
            <a:pPr marL="289560">
              <a:spcBef>
                <a:spcPts val="35"/>
              </a:spcBef>
              <a:tabLst>
                <a:tab pos="4197985" algn="l"/>
              </a:tabLst>
            </a:pPr>
            <a:r>
              <a:rPr lang="en-US" sz="800" spc="-5" dirty="0">
                <a:latin typeface="Arial"/>
                <a:cs typeface="Arial"/>
              </a:rPr>
              <a:t> </a:t>
            </a:r>
            <a:r>
              <a:rPr lang="en-US" sz="800" spc="-5" dirty="0" smtClean="0">
                <a:latin typeface="Arial"/>
                <a:cs typeface="Arial"/>
              </a:rPr>
              <a:t>        </a:t>
            </a:r>
            <a:r>
              <a:rPr lang="en-US" sz="800" spc="-45" dirty="0" smtClean="0">
                <a:latin typeface="Arial"/>
                <a:cs typeface="Arial"/>
              </a:rPr>
              <a:t>e</a:t>
            </a:r>
            <a:r>
              <a:rPr lang="en-US" sz="800" spc="-40" dirty="0" smtClean="0">
                <a:latin typeface="Arial"/>
                <a:cs typeface="Arial"/>
              </a:rPr>
              <a:t>v</a:t>
            </a:r>
            <a:r>
              <a:rPr lang="en-US" sz="800" spc="-10" dirty="0" smtClean="0">
                <a:latin typeface="Arial"/>
                <a:cs typeface="Arial"/>
              </a:rPr>
              <a:t>en</a:t>
            </a:r>
            <a:r>
              <a:rPr lang="en-US" sz="800" spc="-5" dirty="0" smtClean="0">
                <a:latin typeface="Arial"/>
                <a:cs typeface="Arial"/>
              </a:rPr>
              <a:t> </a:t>
            </a:r>
            <a:r>
              <a:rPr lang="en-US" sz="800" spc="-10" dirty="0">
                <a:latin typeface="Arial"/>
                <a:cs typeface="Arial"/>
              </a:rPr>
              <a:t>philosophers</a:t>
            </a:r>
            <a:r>
              <a:rPr lang="en-US" sz="800" spc="-5" dirty="0">
                <a:latin typeface="Arial"/>
                <a:cs typeface="Arial"/>
              </a:rPr>
              <a:t> pi</a:t>
            </a:r>
            <a:r>
              <a:rPr lang="en-US" sz="800" spc="-35" dirty="0">
                <a:latin typeface="Arial"/>
                <a:cs typeface="Arial"/>
              </a:rPr>
              <a:t>c</a:t>
            </a:r>
            <a:r>
              <a:rPr lang="en-US" sz="800" spc="-10" dirty="0">
                <a:latin typeface="Arial"/>
                <a:cs typeface="Arial"/>
              </a:rPr>
              <a:t>k</a:t>
            </a:r>
            <a:r>
              <a:rPr lang="en-US" sz="800" spc="-5" dirty="0">
                <a:latin typeface="Arial"/>
                <a:cs typeface="Arial"/>
              </a:rPr>
              <a:t> </a:t>
            </a:r>
            <a:r>
              <a:rPr lang="en-US" sz="800" spc="-10" dirty="0">
                <a:latin typeface="Arial"/>
                <a:cs typeface="Arial"/>
              </a:rPr>
              <a:t>up</a:t>
            </a:r>
            <a:r>
              <a:rPr lang="en-US" sz="800" spc="-5" dirty="0">
                <a:latin typeface="Arial"/>
                <a:cs typeface="Arial"/>
              </a:rPr>
              <a:t> </a:t>
            </a:r>
            <a:r>
              <a:rPr lang="en-US" sz="800" spc="5" dirty="0">
                <a:latin typeface="Arial"/>
                <a:cs typeface="Arial"/>
              </a:rPr>
              <a:t>r</a:t>
            </a:r>
            <a:r>
              <a:rPr lang="en-US" sz="800" spc="-5" dirty="0">
                <a:latin typeface="Arial"/>
                <a:cs typeface="Arial"/>
              </a:rPr>
              <a:t>ight chopsti</a:t>
            </a:r>
            <a:r>
              <a:rPr lang="en-US" sz="800" spc="-35" dirty="0">
                <a:latin typeface="Arial"/>
                <a:cs typeface="Arial"/>
              </a:rPr>
              <a:t>c</a:t>
            </a:r>
            <a:r>
              <a:rPr lang="en-US" sz="800" spc="-10" dirty="0">
                <a:latin typeface="Arial"/>
                <a:cs typeface="Arial"/>
              </a:rPr>
              <a:t>k</a:t>
            </a:r>
            <a:r>
              <a:rPr lang="en-US" sz="800" spc="-5" dirty="0">
                <a:latin typeface="Arial"/>
                <a:cs typeface="Arial"/>
              </a:rPr>
              <a:t> first.</a:t>
            </a:r>
            <a:endParaRPr lang="en-US" sz="8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  <a:tabLst>
                <a:tab pos="4197985" algn="l"/>
              </a:tabLst>
            </a:pPr>
            <a:endParaRPr lang="en-IN" sz="800" spc="-10" dirty="0" smtClean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"/>
              </a:spcBef>
              <a:tabLst>
                <a:tab pos="4197985" algn="l"/>
              </a:tabLst>
            </a:pPr>
            <a:r>
              <a:rPr lang="en-IN" sz="800" spc="-10" dirty="0" smtClean="0">
                <a:latin typeface="Arial"/>
                <a:cs typeface="Arial"/>
              </a:rPr>
              <a:t>II) </a:t>
            </a:r>
            <a:r>
              <a:rPr sz="800" spc="-10" dirty="0" smtClean="0">
                <a:latin typeface="Arial"/>
                <a:cs typeface="Arial"/>
              </a:rPr>
              <a:t>Philosophers</a:t>
            </a:r>
            <a:r>
              <a:rPr sz="800" spc="-25" dirty="0" smtClean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can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pi</a:t>
            </a:r>
            <a:r>
              <a:rPr sz="800" spc="-35" dirty="0">
                <a:latin typeface="Arial"/>
                <a:cs typeface="Arial"/>
              </a:rPr>
              <a:t>c</a:t>
            </a:r>
            <a:r>
              <a:rPr sz="800" spc="-10" dirty="0">
                <a:latin typeface="Arial"/>
                <a:cs typeface="Arial"/>
              </a:rPr>
              <a:t>k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up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chopsti</a:t>
            </a:r>
            <a:r>
              <a:rPr sz="800" spc="-35" dirty="0">
                <a:latin typeface="Arial"/>
                <a:cs typeface="Arial"/>
              </a:rPr>
              <a:t>c</a:t>
            </a:r>
            <a:r>
              <a:rPr sz="800" spc="-10" dirty="0">
                <a:latin typeface="Arial"/>
                <a:cs typeface="Arial"/>
              </a:rPr>
              <a:t>ks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only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5" dirty="0">
                <a:latin typeface="Arial"/>
                <a:cs typeface="Arial"/>
              </a:rPr>
              <a:t>if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both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are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35" dirty="0">
                <a:latin typeface="Arial"/>
                <a:cs typeface="Arial"/>
              </a:rPr>
              <a:t>a</a:t>
            </a:r>
            <a:r>
              <a:rPr sz="800" spc="-40" dirty="0">
                <a:latin typeface="Arial"/>
                <a:cs typeface="Arial"/>
              </a:rPr>
              <a:t>v</a:t>
            </a:r>
            <a:r>
              <a:rPr sz="800" spc="-5" dirty="0">
                <a:latin typeface="Arial"/>
                <a:cs typeface="Arial"/>
              </a:rPr>
              <a:t>aila</a:t>
            </a:r>
            <a:r>
              <a:rPr sz="800" spc="-35" dirty="0">
                <a:latin typeface="Arial"/>
                <a:cs typeface="Arial"/>
              </a:rPr>
              <a:t>b</a:t>
            </a:r>
            <a:r>
              <a:rPr sz="800" spc="-5" dirty="0">
                <a:latin typeface="Arial"/>
                <a:cs typeface="Arial"/>
              </a:rPr>
              <a:t>l</a:t>
            </a:r>
            <a:r>
              <a:rPr sz="800" spc="-30" dirty="0">
                <a:latin typeface="Arial"/>
                <a:cs typeface="Arial"/>
              </a:rPr>
              <a:t>e</a:t>
            </a:r>
            <a:r>
              <a:rPr sz="800" spc="-5" dirty="0">
                <a:latin typeface="Arial"/>
                <a:cs typeface="Arial"/>
              </a:rPr>
              <a:t>,</a:t>
            </a:r>
            <a:r>
              <a:rPr sz="800" dirty="0">
                <a:latin typeface="Arial"/>
                <a:cs typeface="Arial"/>
              </a:rPr>
              <a:t>	</a:t>
            </a:r>
            <a:endParaRPr sz="300" dirty="0">
              <a:latin typeface="Arial"/>
              <a:cs typeface="Arial"/>
            </a:endParaRPr>
          </a:p>
          <a:p>
            <a:pPr marL="289560" marR="1240790">
              <a:lnSpc>
                <a:spcPct val="102699"/>
              </a:lnSpc>
              <a:spcBef>
                <a:spcPts val="395"/>
              </a:spcBef>
            </a:pPr>
            <a:r>
              <a:rPr lang="en-IN" sz="800" spc="-10" dirty="0" smtClean="0">
                <a:latin typeface="Arial"/>
                <a:cs typeface="Arial"/>
              </a:rPr>
              <a:t>    Need a more general wait that waits on multiple    </a:t>
            </a:r>
          </a:p>
          <a:p>
            <a:pPr marL="289560" marR="1240790">
              <a:lnSpc>
                <a:spcPct val="102699"/>
              </a:lnSpc>
              <a:spcBef>
                <a:spcPts val="395"/>
              </a:spcBef>
            </a:pPr>
            <a:r>
              <a:rPr lang="en-IN" sz="800" spc="-10" dirty="0">
                <a:latin typeface="Arial"/>
                <a:cs typeface="Arial"/>
              </a:rPr>
              <a:t> </a:t>
            </a:r>
            <a:r>
              <a:rPr lang="en-IN" sz="800" spc="-10" dirty="0" smtClean="0">
                <a:latin typeface="Arial"/>
                <a:cs typeface="Arial"/>
              </a:rPr>
              <a:t>   semaphores, and either succeeds when both are </a:t>
            </a:r>
          </a:p>
          <a:p>
            <a:pPr marL="289560" marR="1240790">
              <a:lnSpc>
                <a:spcPct val="102699"/>
              </a:lnSpc>
              <a:spcBef>
                <a:spcPts val="395"/>
              </a:spcBef>
            </a:pPr>
            <a:r>
              <a:rPr lang="en-IN" sz="800" spc="-10" dirty="0">
                <a:latin typeface="Arial"/>
                <a:cs typeface="Arial"/>
              </a:rPr>
              <a:t> </a:t>
            </a:r>
            <a:r>
              <a:rPr lang="en-IN" sz="800" spc="-10" dirty="0" smtClean="0">
                <a:latin typeface="Arial"/>
                <a:cs typeface="Arial"/>
              </a:rPr>
              <a:t>   available or does not block when one is available</a:t>
            </a:r>
          </a:p>
          <a:p>
            <a:pPr marL="289560" marR="1240790">
              <a:lnSpc>
                <a:spcPct val="102699"/>
              </a:lnSpc>
              <a:spcBef>
                <a:spcPts val="395"/>
              </a:spcBef>
            </a:pPr>
            <a:r>
              <a:rPr lang="en-IN" sz="800" spc="100" dirty="0" smtClean="0">
                <a:solidFill>
                  <a:srgbClr val="FF0000"/>
                </a:solidFill>
                <a:latin typeface="Times New Roman"/>
                <a:cs typeface="Times New Roman"/>
              </a:rPr>
              <a:t>              wait(chopstick</a:t>
            </a:r>
            <a:r>
              <a:rPr lang="en-IN" sz="800" spc="100" dirty="0">
                <a:solidFill>
                  <a:srgbClr val="FF0000"/>
                </a:solidFill>
                <a:latin typeface="Times New Roman"/>
                <a:cs typeface="Times New Roman"/>
              </a:rPr>
              <a:t>[(i-1) </a:t>
            </a:r>
            <a:r>
              <a:rPr lang="en-IN" sz="8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800" spc="-285" dirty="0">
                <a:solidFill>
                  <a:srgbClr val="FF0000"/>
                </a:solidFill>
                <a:latin typeface="Times New Roman"/>
                <a:cs typeface="Times New Roman"/>
              </a:rPr>
              <a:t>%</a:t>
            </a:r>
            <a:r>
              <a:rPr lang="en-IN" sz="8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800" spc="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800" spc="140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r>
              <a:rPr lang="en-IN" sz="800" spc="140" dirty="0" smtClean="0">
                <a:solidFill>
                  <a:srgbClr val="FF0000"/>
                </a:solidFill>
                <a:latin typeface="Times New Roman"/>
                <a:cs typeface="Times New Roman"/>
              </a:rPr>
              <a:t>],</a:t>
            </a:r>
            <a:r>
              <a:rPr lang="en-IN" sz="800" spc="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lang="en-IN" sz="800" spc="100" dirty="0" smtClean="0">
                <a:solidFill>
                  <a:srgbClr val="FF0000"/>
                </a:solidFill>
                <a:latin typeface="Times New Roman"/>
                <a:cs typeface="Times New Roman"/>
              </a:rPr>
              <a:t>wait(chopstick[</a:t>
            </a:r>
            <a:r>
              <a:rPr lang="en-IN" sz="800" spc="100" dirty="0" err="1" smtClean="0">
                <a:solidFill>
                  <a:srgbClr val="FF0000"/>
                </a:solidFill>
                <a:latin typeface="Times New Roman"/>
                <a:cs typeface="Times New Roman"/>
              </a:rPr>
              <a:t>i</a:t>
            </a:r>
            <a:r>
              <a:rPr lang="en-IN" sz="800" spc="100" dirty="0" smtClean="0">
                <a:solidFill>
                  <a:srgbClr val="FF0000"/>
                </a:solidFill>
                <a:latin typeface="Times New Roman"/>
                <a:cs typeface="Times New Roman"/>
              </a:rPr>
              <a:t>])</a:t>
            </a:r>
            <a:r>
              <a:rPr lang="en-IN" sz="800" spc="140" dirty="0" smtClean="0">
                <a:solidFill>
                  <a:srgbClr val="FF0000"/>
                </a:solidFill>
                <a:latin typeface="Times New Roman"/>
                <a:cs typeface="Times New Roman"/>
              </a:rPr>
              <a:t>;</a:t>
            </a:r>
            <a:r>
              <a:rPr lang="en-IN" sz="800" spc="95" dirty="0" smtClean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endParaRPr lang="en-IN" sz="800" spc="95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289560" marR="1240790">
              <a:lnSpc>
                <a:spcPct val="102699"/>
              </a:lnSpc>
              <a:spcBef>
                <a:spcPts val="395"/>
              </a:spcBef>
            </a:pPr>
            <a:endParaRPr lang="en-IN" sz="800" spc="-10" dirty="0" smtClean="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27 / 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4650" y="587375"/>
            <a:ext cx="135635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 smtClean="0"/>
              <a:t>ME holds</a:t>
            </a:r>
          </a:p>
          <a:p>
            <a:r>
              <a:rPr lang="en-IN" sz="1100" dirty="0"/>
              <a:t> </a:t>
            </a:r>
            <a:endParaRPr lang="en-IN" sz="1100" dirty="0" smtClean="0"/>
          </a:p>
          <a:p>
            <a:r>
              <a:rPr lang="en-IN" sz="1100" dirty="0" smtClean="0"/>
              <a:t>Deadlock?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77080667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Readers-w</a:t>
            </a:r>
            <a:r>
              <a:rPr spc="25" dirty="0"/>
              <a:t>r</a:t>
            </a:r>
            <a:r>
              <a:rPr spc="10" dirty="0"/>
              <a:t>iters</a:t>
            </a:r>
            <a:r>
              <a:rPr spc="5" dirty="0"/>
              <a:t> </a:t>
            </a:r>
            <a:r>
              <a:rPr spc="10" dirty="0"/>
              <a:t>pro</a:t>
            </a:r>
            <a:r>
              <a:rPr spc="-15" dirty="0"/>
              <a:t>b</a:t>
            </a:r>
            <a:r>
              <a:rPr spc="15" dirty="0"/>
              <a:t>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49602" y="411226"/>
            <a:ext cx="1308735" cy="160020"/>
          </a:xfrm>
          <a:prstGeom prst="rect">
            <a:avLst/>
          </a:prstGeom>
          <a:ln w="505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465">
              <a:lnSpc>
                <a:spcPct val="100000"/>
              </a:lnSpc>
            </a:pPr>
            <a:r>
              <a:rPr sz="900" spc="-25" dirty="0">
                <a:latin typeface="Century"/>
                <a:cs typeface="Century"/>
              </a:rPr>
              <a:t>Reference: </a:t>
            </a:r>
            <a:r>
              <a:rPr sz="900" spc="-95" dirty="0">
                <a:latin typeface="Century"/>
                <a:cs typeface="Century"/>
              </a:rPr>
              <a:t> </a:t>
            </a:r>
            <a:r>
              <a:rPr sz="900" spc="-25" dirty="0">
                <a:latin typeface="Century"/>
                <a:cs typeface="Century"/>
              </a:rPr>
              <a:t>Section</a:t>
            </a:r>
            <a:r>
              <a:rPr sz="900" spc="55" dirty="0">
                <a:latin typeface="Century"/>
                <a:cs typeface="Century"/>
              </a:rPr>
              <a:t> </a:t>
            </a:r>
            <a:r>
              <a:rPr sz="900" spc="-25" dirty="0">
                <a:latin typeface="Century"/>
                <a:cs typeface="Century"/>
              </a:rPr>
              <a:t>6.5.2</a:t>
            </a:r>
            <a:endParaRPr sz="900">
              <a:latin typeface="Century"/>
              <a:cs typeface="Century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3938" y="718058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0" y="72517"/>
                </a:moveTo>
                <a:lnTo>
                  <a:pt x="72517" y="72517"/>
                </a:lnTo>
                <a:lnTo>
                  <a:pt x="72517" y="0"/>
                </a:lnTo>
                <a:lnTo>
                  <a:pt x="0" y="0"/>
                </a:lnTo>
                <a:lnTo>
                  <a:pt x="0" y="7251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7276" y="926846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66167"/>
                </a:moveTo>
                <a:lnTo>
                  <a:pt x="66167" y="66167"/>
                </a:lnTo>
                <a:lnTo>
                  <a:pt x="66167" y="0"/>
                </a:lnTo>
                <a:lnTo>
                  <a:pt x="0" y="0"/>
                </a:lnTo>
                <a:lnTo>
                  <a:pt x="0" y="6616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7276" y="1129284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66167"/>
                </a:moveTo>
                <a:lnTo>
                  <a:pt x="66167" y="66167"/>
                </a:lnTo>
                <a:lnTo>
                  <a:pt x="66167" y="0"/>
                </a:lnTo>
                <a:lnTo>
                  <a:pt x="0" y="0"/>
                </a:lnTo>
                <a:lnTo>
                  <a:pt x="0" y="6616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3938" y="1396238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0" y="72517"/>
                </a:moveTo>
                <a:lnTo>
                  <a:pt x="72517" y="72517"/>
                </a:lnTo>
                <a:lnTo>
                  <a:pt x="72517" y="0"/>
                </a:lnTo>
                <a:lnTo>
                  <a:pt x="0" y="0"/>
                </a:lnTo>
                <a:lnTo>
                  <a:pt x="0" y="7251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3938" y="1942846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0" y="72516"/>
                </a:moveTo>
                <a:lnTo>
                  <a:pt x="72517" y="72516"/>
                </a:lnTo>
                <a:lnTo>
                  <a:pt x="72517" y="0"/>
                </a:lnTo>
                <a:lnTo>
                  <a:pt x="0" y="0"/>
                </a:lnTo>
                <a:lnTo>
                  <a:pt x="0" y="72516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57276" y="2151633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66166"/>
                </a:moveTo>
                <a:lnTo>
                  <a:pt x="66167" y="66166"/>
                </a:lnTo>
                <a:lnTo>
                  <a:pt x="66167" y="0"/>
                </a:lnTo>
                <a:lnTo>
                  <a:pt x="0" y="0"/>
                </a:lnTo>
                <a:lnTo>
                  <a:pt x="0" y="66166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7276" y="2505836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66167"/>
                </a:moveTo>
                <a:lnTo>
                  <a:pt x="66167" y="66167"/>
                </a:lnTo>
                <a:lnTo>
                  <a:pt x="66167" y="0"/>
                </a:lnTo>
                <a:lnTo>
                  <a:pt x="0" y="0"/>
                </a:lnTo>
                <a:lnTo>
                  <a:pt x="0" y="6616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2970" y="671225"/>
            <a:ext cx="3833495" cy="20948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Arial"/>
                <a:cs typeface="Arial"/>
              </a:rPr>
              <a:t>Shared</a:t>
            </a:r>
            <a:r>
              <a:rPr sz="1100" spc="-5" dirty="0">
                <a:latin typeface="Arial"/>
                <a:cs typeface="Arial"/>
              </a:rPr>
              <a:t> object is </a:t>
            </a:r>
            <a:r>
              <a:rPr sz="1100" spc="-10" dirty="0">
                <a:latin typeface="Arial"/>
                <a:cs typeface="Arial"/>
              </a:rPr>
              <a:t>accessed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10" dirty="0">
                <a:latin typeface="Arial"/>
                <a:cs typeface="Arial"/>
              </a:rPr>
              <a:t>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</a:t>
            </a:r>
            <a:r>
              <a:rPr sz="1100" spc="-45" dirty="0">
                <a:latin typeface="Arial"/>
                <a:cs typeface="Arial"/>
              </a:rPr>
              <a:t>e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10" dirty="0">
                <a:latin typeface="Arial"/>
                <a:cs typeface="Arial"/>
              </a:rPr>
              <a:t>e</a:t>
            </a:r>
            <a:r>
              <a:rPr sz="1100" spc="-20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al </a:t>
            </a:r>
            <a:r>
              <a:rPr sz="1100" spc="-10" dirty="0">
                <a:latin typeface="Arial"/>
                <a:cs typeface="Arial"/>
              </a:rPr>
              <a:t>concurrent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processes</a:t>
            </a:r>
            <a:endParaRPr sz="110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75"/>
              </a:spcBef>
            </a:pPr>
            <a:r>
              <a:rPr sz="1000" b="1" spc="-10" dirty="0">
                <a:latin typeface="Arial"/>
                <a:cs typeface="Arial"/>
              </a:rPr>
              <a:t>Reader:</a:t>
            </a:r>
            <a:r>
              <a:rPr sz="1000" b="1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 that only read the shared object</a:t>
            </a:r>
            <a:endParaRPr sz="1000">
              <a:latin typeface="Arial"/>
              <a:cs typeface="Arial"/>
            </a:endParaRPr>
          </a:p>
          <a:p>
            <a:pPr marL="12700" indent="276860">
              <a:lnSpc>
                <a:spcPct val="100000"/>
              </a:lnSpc>
              <a:spcBef>
                <a:spcPts val="395"/>
              </a:spcBef>
            </a:pPr>
            <a:r>
              <a:rPr sz="1000" b="1" spc="-5" dirty="0">
                <a:latin typeface="Arial"/>
                <a:cs typeface="Arial"/>
              </a:rPr>
              <a:t>Writer:</a:t>
            </a:r>
            <a:r>
              <a:rPr sz="1000" b="1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processes that update (read </a:t>
            </a:r>
            <a:r>
              <a:rPr sz="1000" spc="-10" dirty="0">
                <a:latin typeface="Arial"/>
                <a:cs typeface="Arial"/>
              </a:rPr>
              <a:t>+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</a:t>
            </a:r>
            <a:r>
              <a:rPr sz="1000" spc="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ite) the shared object</a:t>
            </a:r>
            <a:endParaRPr sz="1000">
              <a:latin typeface="Arial"/>
              <a:cs typeface="Arial"/>
            </a:endParaRPr>
          </a:p>
          <a:p>
            <a:pPr marL="12700" marR="133350">
              <a:lnSpc>
                <a:spcPct val="102699"/>
              </a:lnSpc>
              <a:spcBef>
                <a:spcPts val="815"/>
              </a:spcBef>
            </a:pPr>
            <a:r>
              <a:rPr sz="1100" spc="-10" dirty="0">
                <a:latin typeface="Arial"/>
                <a:cs typeface="Arial"/>
              </a:rPr>
              <a:t>Synchronization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const</a:t>
            </a:r>
            <a:r>
              <a:rPr sz="1100" spc="-1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aint: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5" dirty="0">
                <a:latin typeface="Arial"/>
                <a:cs typeface="Arial"/>
              </a:rPr>
              <a:t>t</a:t>
            </a:r>
            <a:r>
              <a:rPr sz="1100" spc="-20" dirty="0">
                <a:latin typeface="Arial"/>
                <a:cs typeface="Arial"/>
              </a:rPr>
              <a:t>w</a:t>
            </a:r>
            <a:r>
              <a:rPr sz="1100" spc="-10" dirty="0">
                <a:latin typeface="Arial"/>
                <a:cs typeface="Arial"/>
              </a:rPr>
              <a:t>o</a:t>
            </a:r>
            <a:r>
              <a:rPr sz="1100" spc="-5" dirty="0">
                <a:latin typeface="Arial"/>
                <a:cs typeface="Arial"/>
              </a:rPr>
              <a:t> or </a:t>
            </a:r>
            <a:r>
              <a:rPr sz="1100" spc="-10" dirty="0">
                <a:latin typeface="Arial"/>
                <a:cs typeface="Arial"/>
              </a:rPr>
              <a:t>more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readers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can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access shared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</a:t>
            </a:r>
            <a:r>
              <a:rPr sz="1100" spc="-5" dirty="0">
                <a:latin typeface="Arial"/>
                <a:cs typeface="Arial"/>
              </a:rPr>
              <a:t> si</a:t>
            </a:r>
            <a:r>
              <a:rPr sz="1100" spc="-20" dirty="0">
                <a:latin typeface="Arial"/>
                <a:cs typeface="Arial"/>
              </a:rPr>
              <a:t>m</a:t>
            </a:r>
            <a:r>
              <a:rPr sz="1100" spc="-5" dirty="0">
                <a:latin typeface="Arial"/>
                <a:cs typeface="Arial"/>
              </a:rPr>
              <a:t>ultaneously; 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-30" dirty="0">
                <a:latin typeface="Arial"/>
                <a:cs typeface="Arial"/>
              </a:rPr>
              <a:t>n</a:t>
            </a:r>
            <a:r>
              <a:rPr sz="1100" spc="-10" dirty="0">
                <a:latin typeface="Arial"/>
                <a:cs typeface="Arial"/>
              </a:rPr>
              <a:t>y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w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iter </a:t>
            </a:r>
            <a:r>
              <a:rPr sz="1100" spc="-20" dirty="0">
                <a:latin typeface="Arial"/>
                <a:cs typeface="Arial"/>
              </a:rPr>
              <a:t>m</a:t>
            </a:r>
            <a:r>
              <a:rPr sz="1100" spc="-5" dirty="0">
                <a:latin typeface="Arial"/>
                <a:cs typeface="Arial"/>
              </a:rPr>
              <a:t>ust </a:t>
            </a:r>
            <a:r>
              <a:rPr sz="1100" spc="-10" dirty="0">
                <a:latin typeface="Arial"/>
                <a:cs typeface="Arial"/>
              </a:rPr>
              <a:t>h</a:t>
            </a:r>
            <a:r>
              <a:rPr sz="1100" spc="-35" dirty="0">
                <a:latin typeface="Arial"/>
                <a:cs typeface="Arial"/>
              </a:rPr>
              <a:t>a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10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e</a:t>
            </a:r>
            <a:r>
              <a:rPr sz="1100" spc="-5" dirty="0">
                <a:latin typeface="Arial"/>
                <a:cs typeface="Arial"/>
              </a:rPr>
              <a:t>xclusi</a:t>
            </a:r>
            <a:r>
              <a:rPr sz="1100" spc="-40" dirty="0">
                <a:latin typeface="Arial"/>
                <a:cs typeface="Arial"/>
              </a:rPr>
              <a:t>v</a:t>
            </a:r>
            <a:r>
              <a:rPr sz="1100" spc="-10" dirty="0">
                <a:latin typeface="Arial"/>
                <a:cs typeface="Arial"/>
              </a:rPr>
              <a:t>e access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100" spc="-90" dirty="0">
                <a:latin typeface="Arial"/>
                <a:cs typeface="Arial"/>
              </a:rPr>
              <a:t>V</a:t>
            </a:r>
            <a:r>
              <a:rPr sz="1100" spc="-10" dirty="0">
                <a:latin typeface="Arial"/>
                <a:cs typeface="Arial"/>
              </a:rPr>
              <a:t>a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iants:</a:t>
            </a:r>
            <a:endParaRPr sz="1100">
              <a:latin typeface="Arial"/>
              <a:cs typeface="Arial"/>
            </a:endParaRPr>
          </a:p>
          <a:p>
            <a:pPr marL="289560" marR="154305">
              <a:lnSpc>
                <a:spcPct val="100000"/>
              </a:lnSpc>
              <a:spcBef>
                <a:spcPts val="375"/>
              </a:spcBef>
            </a:pPr>
            <a:r>
              <a:rPr sz="1000" i="1" spc="-5" dirty="0">
                <a:solidFill>
                  <a:srgbClr val="0000FF"/>
                </a:solidFill>
                <a:latin typeface="Arial"/>
                <a:cs typeface="Arial"/>
              </a:rPr>
              <a:t>first </a:t>
            </a:r>
            <a:r>
              <a:rPr sz="1000" spc="-5" dirty="0">
                <a:latin typeface="Arial"/>
                <a:cs typeface="Arial"/>
              </a:rPr>
              <a:t>readers-w</a:t>
            </a:r>
            <a:r>
              <a:rPr sz="1000" spc="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iters pro</a:t>
            </a:r>
            <a:r>
              <a:rPr sz="1000" spc="-30" dirty="0">
                <a:latin typeface="Arial"/>
                <a:cs typeface="Arial"/>
              </a:rPr>
              <a:t>b</a:t>
            </a:r>
            <a:r>
              <a:rPr sz="1000" spc="-5" dirty="0">
                <a:latin typeface="Arial"/>
                <a:cs typeface="Arial"/>
              </a:rPr>
              <a:t>lem: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readers </a:t>
            </a:r>
            <a:r>
              <a:rPr sz="1000" spc="-10" dirty="0">
                <a:latin typeface="Arial"/>
                <a:cs typeface="Arial"/>
              </a:rPr>
              <a:t>h</a:t>
            </a:r>
            <a:r>
              <a:rPr sz="1000" spc="-30" dirty="0">
                <a:latin typeface="Arial"/>
                <a:cs typeface="Arial"/>
              </a:rPr>
              <a:t>av</a:t>
            </a:r>
            <a:r>
              <a:rPr sz="1000" spc="-10" dirty="0">
                <a:latin typeface="Arial"/>
                <a:cs typeface="Arial"/>
              </a:rPr>
              <a:t>e</a:t>
            </a:r>
            <a:r>
              <a:rPr sz="1000" spc="-5" dirty="0">
                <a:latin typeface="Arial"/>
                <a:cs typeface="Arial"/>
              </a:rPr>
              <a:t> (non-preempti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e) p</a:t>
            </a:r>
            <a:r>
              <a:rPr sz="1000" spc="0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io</a:t>
            </a:r>
            <a:r>
              <a:rPr sz="1000" spc="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ity</a:t>
            </a:r>
            <a:endParaRPr sz="1000">
              <a:latin typeface="Arial"/>
              <a:cs typeface="Arial"/>
            </a:endParaRPr>
          </a:p>
          <a:p>
            <a:pPr marL="289560" marR="5080">
              <a:lnSpc>
                <a:spcPct val="100000"/>
              </a:lnSpc>
              <a:spcBef>
                <a:spcPts val="395"/>
              </a:spcBef>
            </a:pPr>
            <a:r>
              <a:rPr sz="1000" i="1" spc="-10" dirty="0">
                <a:solidFill>
                  <a:srgbClr val="0000FF"/>
                </a:solidFill>
                <a:latin typeface="Arial"/>
                <a:cs typeface="Arial"/>
              </a:rPr>
              <a:t>second</a:t>
            </a:r>
            <a:r>
              <a:rPr sz="1000" i="1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000" spc="-5" dirty="0">
                <a:latin typeface="Arial"/>
                <a:cs typeface="Arial"/>
              </a:rPr>
              <a:t>readers-w</a:t>
            </a:r>
            <a:r>
              <a:rPr sz="1000" spc="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iters pro</a:t>
            </a:r>
            <a:r>
              <a:rPr sz="1000" spc="-30" dirty="0">
                <a:latin typeface="Arial"/>
                <a:cs typeface="Arial"/>
              </a:rPr>
              <a:t>b</a:t>
            </a:r>
            <a:r>
              <a:rPr sz="1000" spc="-5" dirty="0">
                <a:latin typeface="Arial"/>
                <a:cs typeface="Arial"/>
              </a:rPr>
              <a:t>lem:</a:t>
            </a:r>
            <a:r>
              <a:rPr sz="1000" spc="6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w</a:t>
            </a:r>
            <a:r>
              <a:rPr sz="1000" spc="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iters </a:t>
            </a:r>
            <a:r>
              <a:rPr sz="1000" spc="-10" dirty="0">
                <a:latin typeface="Arial"/>
                <a:cs typeface="Arial"/>
              </a:rPr>
              <a:t>h</a:t>
            </a:r>
            <a:r>
              <a:rPr sz="1000" spc="-30" dirty="0">
                <a:latin typeface="Arial"/>
                <a:cs typeface="Arial"/>
              </a:rPr>
              <a:t>av</a:t>
            </a:r>
            <a:r>
              <a:rPr sz="1000" spc="-10" dirty="0">
                <a:latin typeface="Arial"/>
                <a:cs typeface="Arial"/>
              </a:rPr>
              <a:t>e</a:t>
            </a:r>
            <a:r>
              <a:rPr sz="1000" spc="-5" dirty="0">
                <a:latin typeface="Arial"/>
                <a:cs typeface="Arial"/>
              </a:rPr>
              <a:t> (non-preempti</a:t>
            </a:r>
            <a:r>
              <a:rPr sz="1000" spc="-30" dirty="0">
                <a:latin typeface="Arial"/>
                <a:cs typeface="Arial"/>
              </a:rPr>
              <a:t>v</a:t>
            </a:r>
            <a:r>
              <a:rPr sz="1000" spc="-5" dirty="0">
                <a:latin typeface="Arial"/>
                <a:cs typeface="Arial"/>
              </a:rPr>
              <a:t>e) p</a:t>
            </a:r>
            <a:r>
              <a:rPr sz="1000" spc="0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io</a:t>
            </a:r>
            <a:r>
              <a:rPr sz="1000" spc="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ity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1459274818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Readers-w</a:t>
            </a:r>
            <a:r>
              <a:rPr spc="25" dirty="0"/>
              <a:t>r</a:t>
            </a:r>
            <a:r>
              <a:rPr spc="10" dirty="0"/>
              <a:t>iters</a:t>
            </a:r>
            <a:r>
              <a:rPr spc="5" dirty="0"/>
              <a:t> </a:t>
            </a:r>
            <a:r>
              <a:rPr spc="10" dirty="0"/>
              <a:t>pro</a:t>
            </a:r>
            <a:r>
              <a:rPr spc="-15" dirty="0"/>
              <a:t>b</a:t>
            </a:r>
            <a:r>
              <a:rPr spc="15" dirty="0"/>
              <a:t>lem</a:t>
            </a:r>
          </a:p>
        </p:txBody>
      </p:sp>
      <p:sp>
        <p:nvSpPr>
          <p:cNvPr id="3" name="object 3"/>
          <p:cNvSpPr/>
          <p:nvPr/>
        </p:nvSpPr>
        <p:spPr>
          <a:xfrm>
            <a:off x="1700022" y="603250"/>
            <a:ext cx="36195" cy="0"/>
          </a:xfrm>
          <a:custGeom>
            <a:avLst/>
            <a:gdLst/>
            <a:ahLst/>
            <a:cxnLst/>
            <a:rect l="l" t="t" r="r" b="b"/>
            <a:pathLst>
              <a:path w="36194">
                <a:moveTo>
                  <a:pt x="0" y="0"/>
                </a:moveTo>
                <a:lnTo>
                  <a:pt x="3594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5856" y="507719"/>
            <a:ext cx="3177540" cy="4610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30" dirty="0">
                <a:latin typeface="Times New Roman"/>
                <a:cs typeface="Times New Roman"/>
              </a:rPr>
              <a:t>semaphore </a:t>
            </a:r>
            <a:r>
              <a:rPr sz="900" spc="15" dirty="0">
                <a:latin typeface="Times New Roman"/>
                <a:cs typeface="Times New Roman"/>
              </a:rPr>
              <a:t> mutex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30" dirty="0">
                <a:latin typeface="Times New Roman"/>
                <a:cs typeface="Times New Roman"/>
              </a:rPr>
              <a:t>1,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5" dirty="0">
                <a:latin typeface="Times New Roman"/>
                <a:cs typeface="Times New Roman"/>
              </a:rPr>
              <a:t>write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-110" dirty="0">
                <a:latin typeface="Times New Roman"/>
                <a:cs typeface="Times New Roman"/>
              </a:rPr>
              <a:t> </a:t>
            </a:r>
            <a:r>
              <a:rPr sz="900" spc="80" dirty="0">
                <a:latin typeface="Times New Roman"/>
                <a:cs typeface="Times New Roman"/>
              </a:rPr>
              <a:t>access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30" dirty="0">
                <a:latin typeface="Times New Roman"/>
                <a:cs typeface="Times New Roman"/>
              </a:rPr>
              <a:t>1,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75" dirty="0">
                <a:latin typeface="Times New Roman"/>
                <a:cs typeface="Times New Roman"/>
              </a:rPr>
              <a:t>readcount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Times New Roman"/>
                <a:cs typeface="Times New Roman"/>
              </a:rPr>
              <a:t>0;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3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2489200" algn="l"/>
              </a:tabLst>
            </a:pPr>
            <a:r>
              <a:rPr sz="900" u="sng" spc="-5" dirty="0">
                <a:latin typeface="Arial"/>
                <a:cs typeface="Arial"/>
              </a:rPr>
              <a:t>reader</a:t>
            </a:r>
            <a:r>
              <a:rPr sz="900" spc="-5" dirty="0">
                <a:latin typeface="Arial"/>
                <a:cs typeface="Arial"/>
              </a:rPr>
              <a:t>	</a:t>
            </a:r>
            <a:r>
              <a:rPr sz="900" u="sng" spc="-10" dirty="0">
                <a:latin typeface="Arial"/>
                <a:cs typeface="Arial"/>
              </a:rPr>
              <a:t>w</a:t>
            </a:r>
            <a:r>
              <a:rPr sz="900" u="sng" spc="0" dirty="0">
                <a:latin typeface="Arial"/>
                <a:cs typeface="Arial"/>
              </a:rPr>
              <a:t>r</a:t>
            </a:r>
            <a:r>
              <a:rPr sz="900" u="sng" spc="-5" dirty="0">
                <a:latin typeface="Arial"/>
                <a:cs typeface="Arial"/>
              </a:rPr>
              <a:t>iter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56" y="1084680"/>
            <a:ext cx="1341120" cy="696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02615">
              <a:lnSpc>
                <a:spcPct val="101499"/>
              </a:lnSpc>
            </a:pPr>
            <a:r>
              <a:rPr sz="900" spc="75" dirty="0">
                <a:latin typeface="Times New Roman"/>
                <a:cs typeface="Times New Roman"/>
              </a:rPr>
              <a:t>wait(mutex); </a:t>
            </a:r>
            <a:r>
              <a:rPr sz="900" spc="65" dirty="0">
                <a:latin typeface="Times New Roman"/>
                <a:cs typeface="Times New Roman"/>
              </a:rPr>
              <a:t>readcount++;</a:t>
            </a:r>
            <a:endParaRPr sz="900">
              <a:latin typeface="Times New Roman"/>
              <a:cs typeface="Times New Roman"/>
            </a:endParaRPr>
          </a:p>
          <a:p>
            <a:pPr marL="191770" marR="5080" indent="-179705">
              <a:lnSpc>
                <a:spcPct val="101499"/>
              </a:lnSpc>
            </a:pPr>
            <a:r>
              <a:rPr sz="900" spc="195" dirty="0">
                <a:latin typeface="Times New Roman"/>
                <a:cs typeface="Times New Roman"/>
              </a:rPr>
              <a:t>if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80" dirty="0">
                <a:latin typeface="Times New Roman"/>
                <a:cs typeface="Times New Roman"/>
              </a:rPr>
              <a:t>(readcount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1)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spc="95" dirty="0">
                <a:latin typeface="Times New Roman"/>
                <a:cs typeface="Times New Roman"/>
              </a:rPr>
              <a:t>wait(write_access);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90" dirty="0">
                <a:latin typeface="Times New Roman"/>
                <a:cs typeface="Times New Roman"/>
              </a:rPr>
              <a:t>signal(mutex);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56" y="1919705"/>
            <a:ext cx="1460500" cy="974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00" spc="125" dirty="0">
                <a:latin typeface="Times New Roman"/>
                <a:cs typeface="Times New Roman"/>
              </a:rPr>
              <a:t>read();</a:t>
            </a: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"/>
              </a:spcBef>
            </a:pPr>
            <a:endParaRPr sz="950">
              <a:latin typeface="Times New Roman"/>
              <a:cs typeface="Times New Roman"/>
            </a:endParaRPr>
          </a:p>
          <a:p>
            <a:pPr marL="12700" marR="721995">
              <a:lnSpc>
                <a:spcPct val="101499"/>
              </a:lnSpc>
            </a:pPr>
            <a:r>
              <a:rPr sz="900" spc="75" dirty="0">
                <a:latin typeface="Times New Roman"/>
                <a:cs typeface="Times New Roman"/>
              </a:rPr>
              <a:t>wait(mutex); </a:t>
            </a:r>
            <a:r>
              <a:rPr sz="900" spc="100" dirty="0">
                <a:latin typeface="Times New Roman"/>
                <a:cs typeface="Times New Roman"/>
              </a:rPr>
              <a:t>readcount--;</a:t>
            </a:r>
            <a:endParaRPr sz="900">
              <a:latin typeface="Times New Roman"/>
              <a:cs typeface="Times New Roman"/>
            </a:endParaRPr>
          </a:p>
          <a:p>
            <a:pPr marL="191770" marR="5080" indent="-179705">
              <a:lnSpc>
                <a:spcPct val="101499"/>
              </a:lnSpc>
            </a:pPr>
            <a:r>
              <a:rPr sz="900" spc="195" dirty="0">
                <a:latin typeface="Times New Roman"/>
                <a:cs typeface="Times New Roman"/>
              </a:rPr>
              <a:t>if </a:t>
            </a:r>
            <a:r>
              <a:rPr sz="900" spc="15" dirty="0">
                <a:latin typeface="Times New Roman"/>
                <a:cs typeface="Times New Roman"/>
              </a:rPr>
              <a:t> </a:t>
            </a:r>
            <a:r>
              <a:rPr sz="900" spc="80" dirty="0">
                <a:latin typeface="Times New Roman"/>
                <a:cs typeface="Times New Roman"/>
              </a:rPr>
              <a:t>(readcount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-45" dirty="0">
                <a:latin typeface="Times New Roman"/>
                <a:cs typeface="Times New Roman"/>
              </a:rPr>
              <a:t>==</a:t>
            </a:r>
            <a:r>
              <a:rPr sz="900" dirty="0">
                <a:latin typeface="Times New Roman"/>
                <a:cs typeface="Times New Roman"/>
              </a:rPr>
              <a:t> </a:t>
            </a:r>
            <a:r>
              <a:rPr sz="900" spc="20" dirty="0">
                <a:latin typeface="Times New Roman"/>
                <a:cs typeface="Times New Roman"/>
              </a:rPr>
              <a:t> </a:t>
            </a:r>
            <a:r>
              <a:rPr sz="900" spc="90" dirty="0">
                <a:latin typeface="Times New Roman"/>
                <a:cs typeface="Times New Roman"/>
              </a:rPr>
              <a:t>0)</a:t>
            </a:r>
            <a:r>
              <a:rPr sz="900" spc="55" dirty="0">
                <a:latin typeface="Times New Roman"/>
                <a:cs typeface="Times New Roman"/>
              </a:rPr>
              <a:t> </a:t>
            </a:r>
            <a:r>
              <a:rPr sz="900" spc="105" dirty="0">
                <a:latin typeface="Times New Roman"/>
                <a:cs typeface="Times New Roman"/>
              </a:rPr>
              <a:t>signal(write_access);</a:t>
            </a:r>
            <a:endParaRPr sz="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90" dirty="0">
                <a:latin typeface="Times New Roman"/>
                <a:cs typeface="Times New Roman"/>
              </a:rPr>
              <a:t>signal(mutex);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2864" y="1084680"/>
            <a:ext cx="1280795" cy="417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499"/>
              </a:lnSpc>
            </a:pPr>
            <a:r>
              <a:rPr sz="900" spc="95" dirty="0">
                <a:latin typeface="Times New Roman"/>
                <a:cs typeface="Times New Roman"/>
              </a:rPr>
              <a:t>wait(write_access); </a:t>
            </a:r>
            <a:r>
              <a:rPr sz="900" spc="130" dirty="0">
                <a:latin typeface="Times New Roman"/>
                <a:cs typeface="Times New Roman"/>
              </a:rPr>
              <a:t>write();</a:t>
            </a:r>
            <a:r>
              <a:rPr sz="900" spc="85" dirty="0">
                <a:latin typeface="Times New Roman"/>
                <a:cs typeface="Times New Roman"/>
              </a:rPr>
              <a:t> </a:t>
            </a:r>
            <a:r>
              <a:rPr sz="900" spc="105" dirty="0">
                <a:latin typeface="Times New Roman"/>
                <a:cs typeface="Times New Roman"/>
              </a:rPr>
              <a:t>signal(write_access);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3361717564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Summa</a:t>
            </a:r>
            <a:r>
              <a:rPr spc="45" dirty="0"/>
              <a:t>r</a:t>
            </a:r>
            <a:r>
              <a:rPr spc="10" dirty="0"/>
              <a:t>y</a:t>
            </a:r>
          </a:p>
        </p:txBody>
      </p:sp>
      <p:sp>
        <p:nvSpPr>
          <p:cNvPr id="3" name="object 3"/>
          <p:cNvSpPr/>
          <p:nvPr/>
        </p:nvSpPr>
        <p:spPr>
          <a:xfrm>
            <a:off x="273938" y="566166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0" y="72517"/>
                </a:moveTo>
                <a:lnTo>
                  <a:pt x="72517" y="72517"/>
                </a:lnTo>
                <a:lnTo>
                  <a:pt x="72517" y="0"/>
                </a:lnTo>
                <a:lnTo>
                  <a:pt x="0" y="0"/>
                </a:lnTo>
                <a:lnTo>
                  <a:pt x="0" y="7251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73938" y="788924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0" y="72516"/>
                </a:moveTo>
                <a:lnTo>
                  <a:pt x="72517" y="72516"/>
                </a:lnTo>
                <a:lnTo>
                  <a:pt x="72517" y="0"/>
                </a:lnTo>
                <a:lnTo>
                  <a:pt x="0" y="0"/>
                </a:lnTo>
                <a:lnTo>
                  <a:pt x="0" y="72516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3938" y="991362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0" y="72516"/>
                </a:moveTo>
                <a:lnTo>
                  <a:pt x="72517" y="72516"/>
                </a:lnTo>
                <a:lnTo>
                  <a:pt x="72517" y="0"/>
                </a:lnTo>
                <a:lnTo>
                  <a:pt x="0" y="0"/>
                </a:lnTo>
                <a:lnTo>
                  <a:pt x="0" y="72516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7276" y="1187450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66167"/>
                </a:moveTo>
                <a:lnTo>
                  <a:pt x="66167" y="66167"/>
                </a:lnTo>
                <a:lnTo>
                  <a:pt x="66167" y="0"/>
                </a:lnTo>
                <a:lnTo>
                  <a:pt x="0" y="0"/>
                </a:lnTo>
                <a:lnTo>
                  <a:pt x="0" y="6616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34389" y="1351915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66167"/>
                </a:moveTo>
                <a:lnTo>
                  <a:pt x="66166" y="66167"/>
                </a:lnTo>
                <a:lnTo>
                  <a:pt x="66166" y="0"/>
                </a:lnTo>
                <a:lnTo>
                  <a:pt x="0" y="0"/>
                </a:lnTo>
                <a:lnTo>
                  <a:pt x="0" y="6616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7276" y="1567053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66167"/>
                </a:moveTo>
                <a:lnTo>
                  <a:pt x="66167" y="66167"/>
                </a:lnTo>
                <a:lnTo>
                  <a:pt x="66167" y="0"/>
                </a:lnTo>
                <a:lnTo>
                  <a:pt x="0" y="0"/>
                </a:lnTo>
                <a:lnTo>
                  <a:pt x="0" y="6616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34389" y="1731518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66166"/>
                </a:moveTo>
                <a:lnTo>
                  <a:pt x="66166" y="66166"/>
                </a:lnTo>
                <a:lnTo>
                  <a:pt x="66166" y="0"/>
                </a:lnTo>
                <a:lnTo>
                  <a:pt x="0" y="0"/>
                </a:lnTo>
                <a:lnTo>
                  <a:pt x="0" y="66166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57276" y="1946655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66166"/>
                </a:moveTo>
                <a:lnTo>
                  <a:pt x="66167" y="66166"/>
                </a:lnTo>
                <a:lnTo>
                  <a:pt x="66167" y="0"/>
                </a:lnTo>
                <a:lnTo>
                  <a:pt x="0" y="0"/>
                </a:lnTo>
                <a:lnTo>
                  <a:pt x="0" y="66166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34389" y="2111121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66166"/>
                </a:moveTo>
                <a:lnTo>
                  <a:pt x="66166" y="66166"/>
                </a:lnTo>
                <a:lnTo>
                  <a:pt x="66166" y="0"/>
                </a:lnTo>
                <a:lnTo>
                  <a:pt x="0" y="0"/>
                </a:lnTo>
                <a:lnTo>
                  <a:pt x="0" y="66166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4389" y="2414777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66167"/>
                </a:moveTo>
                <a:lnTo>
                  <a:pt x="66166" y="66167"/>
                </a:lnTo>
                <a:lnTo>
                  <a:pt x="66166" y="0"/>
                </a:lnTo>
                <a:lnTo>
                  <a:pt x="0" y="0"/>
                </a:lnTo>
                <a:lnTo>
                  <a:pt x="0" y="6616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3938" y="2686811"/>
            <a:ext cx="73025" cy="73025"/>
          </a:xfrm>
          <a:custGeom>
            <a:avLst/>
            <a:gdLst/>
            <a:ahLst/>
            <a:cxnLst/>
            <a:rect l="l" t="t" r="r" b="b"/>
            <a:pathLst>
              <a:path w="73025" h="73025">
                <a:moveTo>
                  <a:pt x="0" y="72517"/>
                </a:moveTo>
                <a:lnTo>
                  <a:pt x="72517" y="72517"/>
                </a:lnTo>
                <a:lnTo>
                  <a:pt x="72517" y="0"/>
                </a:lnTo>
                <a:lnTo>
                  <a:pt x="0" y="0"/>
                </a:lnTo>
                <a:lnTo>
                  <a:pt x="0" y="7251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57276" y="3047365"/>
            <a:ext cx="66675" cy="66675"/>
          </a:xfrm>
          <a:custGeom>
            <a:avLst/>
            <a:gdLst/>
            <a:ahLst/>
            <a:cxnLst/>
            <a:rect l="l" t="t" r="r" b="b"/>
            <a:pathLst>
              <a:path w="66675" h="66675">
                <a:moveTo>
                  <a:pt x="0" y="66167"/>
                </a:moveTo>
                <a:lnTo>
                  <a:pt x="66167" y="66167"/>
                </a:lnTo>
                <a:lnTo>
                  <a:pt x="66167" y="0"/>
                </a:lnTo>
                <a:lnTo>
                  <a:pt x="0" y="0"/>
                </a:lnTo>
                <a:lnTo>
                  <a:pt x="0" y="66167"/>
                </a:lnTo>
                <a:close/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2970" y="519333"/>
            <a:ext cx="3774440" cy="26822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10" dirty="0">
                <a:latin typeface="Arial"/>
                <a:cs typeface="Arial"/>
              </a:rPr>
              <a:t>Manipulation</a:t>
            </a:r>
            <a:r>
              <a:rPr sz="1100" spc="-5" dirty="0">
                <a:latin typeface="Arial"/>
                <a:cs typeface="Arial"/>
              </a:rPr>
              <a:t> of </a:t>
            </a:r>
            <a:r>
              <a:rPr sz="1100" spc="-10" dirty="0">
                <a:latin typeface="Arial"/>
                <a:cs typeface="Arial"/>
              </a:rPr>
              <a:t>shared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130" dirty="0">
                <a:latin typeface="Cambria"/>
                <a:cs typeface="Cambria"/>
              </a:rPr>
              <a:t>⇒</a:t>
            </a:r>
            <a:r>
              <a:rPr sz="1100" spc="60" dirty="0">
                <a:latin typeface="Cambria"/>
                <a:cs typeface="Cambria"/>
              </a:rPr>
              <a:t> </a:t>
            </a:r>
            <a:r>
              <a:rPr sz="1100" spc="-20" dirty="0">
                <a:latin typeface="Arial"/>
                <a:cs typeface="Arial"/>
              </a:rPr>
              <a:t>r</a:t>
            </a:r>
            <a:r>
              <a:rPr sz="1100" spc="-10" dirty="0">
                <a:latin typeface="Arial"/>
                <a:cs typeface="Arial"/>
              </a:rPr>
              <a:t>ace</a:t>
            </a:r>
            <a:r>
              <a:rPr sz="1100" spc="-5" dirty="0">
                <a:latin typeface="Arial"/>
                <a:cs typeface="Arial"/>
              </a:rPr>
              <a:t> conditions</a:t>
            </a:r>
            <a:endParaRPr sz="1100" dirty="0">
              <a:latin typeface="Arial"/>
              <a:cs typeface="Arial"/>
            </a:endParaRPr>
          </a:p>
          <a:p>
            <a:pPr marL="12700" marR="363220">
              <a:lnSpc>
                <a:spcPct val="120800"/>
              </a:lnSpc>
              <a:spcBef>
                <a:spcPts val="160"/>
              </a:spcBef>
            </a:pPr>
            <a:r>
              <a:rPr sz="1100" spc="-10" dirty="0">
                <a:latin typeface="Arial"/>
                <a:cs typeface="Arial"/>
              </a:rPr>
              <a:t>Shared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data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should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be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accessed</a:t>
            </a:r>
            <a:r>
              <a:rPr sz="1100" spc="-5" dirty="0">
                <a:latin typeface="Arial"/>
                <a:cs typeface="Arial"/>
              </a:rPr>
              <a:t> within </a:t>
            </a:r>
            <a:r>
              <a:rPr sz="1100" spc="-10" dirty="0">
                <a:latin typeface="Arial"/>
                <a:cs typeface="Arial"/>
              </a:rPr>
              <a:t>c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itical sections Solutions to </a:t>
            </a:r>
            <a:r>
              <a:rPr sz="1100" spc="-10" dirty="0">
                <a:latin typeface="Arial"/>
                <a:cs typeface="Arial"/>
              </a:rPr>
              <a:t>CSP: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275"/>
              </a:spcBef>
            </a:pPr>
            <a:r>
              <a:rPr sz="1000" spc="-5" dirty="0">
                <a:latin typeface="Arial"/>
                <a:cs typeface="Arial"/>
              </a:rPr>
              <a:t>Algo</a:t>
            </a:r>
            <a:r>
              <a:rPr sz="1000" spc="0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ithm </a:t>
            </a:r>
            <a:r>
              <a:rPr sz="1000" spc="-10" dirty="0" smtClean="0">
                <a:latin typeface="Arial"/>
                <a:cs typeface="Arial"/>
              </a:rPr>
              <a:t>3</a:t>
            </a:r>
            <a:r>
              <a:rPr lang="en-IN" sz="1000" spc="-5" dirty="0" smtClean="0">
                <a:latin typeface="Arial"/>
                <a:cs typeface="Arial"/>
              </a:rPr>
              <a:t>, </a:t>
            </a:r>
            <a:r>
              <a:rPr sz="1000" spc="-10" dirty="0" smtClean="0">
                <a:latin typeface="Arial"/>
                <a:cs typeface="Arial"/>
              </a:rPr>
              <a:t>Ba</a:t>
            </a:r>
            <a:r>
              <a:rPr sz="1000" spc="-25" dirty="0" smtClean="0">
                <a:latin typeface="Arial"/>
                <a:cs typeface="Arial"/>
              </a:rPr>
              <a:t>k</a:t>
            </a:r>
            <a:r>
              <a:rPr sz="1000" spc="-10" dirty="0" smtClean="0">
                <a:latin typeface="Arial"/>
                <a:cs typeface="Arial"/>
              </a:rPr>
              <a:t>e</a:t>
            </a:r>
            <a:r>
              <a:rPr sz="1000" spc="20" dirty="0" smtClean="0">
                <a:latin typeface="Arial"/>
                <a:cs typeface="Arial"/>
              </a:rPr>
              <a:t>r</a:t>
            </a:r>
            <a:r>
              <a:rPr sz="1000" spc="-5" dirty="0" smtClean="0">
                <a:latin typeface="Arial"/>
                <a:cs typeface="Arial"/>
              </a:rPr>
              <a:t>y </a:t>
            </a:r>
            <a:r>
              <a:rPr sz="1000" spc="-5" dirty="0">
                <a:latin typeface="Arial"/>
                <a:cs typeface="Arial"/>
              </a:rPr>
              <a:t>algo</a:t>
            </a:r>
            <a:r>
              <a:rPr sz="1000" spc="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ithm</a:t>
            </a:r>
            <a:endParaRPr sz="1000" dirty="0">
              <a:latin typeface="Arial"/>
              <a:cs typeface="Arial"/>
            </a:endParaRPr>
          </a:p>
          <a:p>
            <a:pPr marL="289560" indent="276860">
              <a:lnSpc>
                <a:spcPct val="100000"/>
              </a:lnSpc>
              <a:spcBef>
                <a:spcPts val="195"/>
              </a:spcBef>
            </a:pPr>
            <a:r>
              <a:rPr sz="900" spc="-10" dirty="0">
                <a:latin typeface="Arial"/>
                <a:cs typeface="Arial"/>
              </a:rPr>
              <a:t>assume</a:t>
            </a:r>
            <a:r>
              <a:rPr sz="900" spc="-5" dirty="0">
                <a:latin typeface="Arial"/>
                <a:cs typeface="Arial"/>
              </a:rPr>
              <a:t> only atomic load</a:t>
            </a:r>
            <a:r>
              <a:rPr sz="900" spc="-20" dirty="0">
                <a:latin typeface="Arial"/>
                <a:cs typeface="Arial"/>
              </a:rPr>
              <a:t>s</a:t>
            </a:r>
            <a:r>
              <a:rPr sz="900" spc="-5" dirty="0">
                <a:latin typeface="Arial"/>
                <a:cs typeface="Arial"/>
              </a:rPr>
              <a:t>, store</a:t>
            </a:r>
            <a:r>
              <a:rPr sz="900" spc="-20" dirty="0">
                <a:latin typeface="Arial"/>
                <a:cs typeface="Arial"/>
              </a:rPr>
              <a:t>s</a:t>
            </a:r>
            <a:r>
              <a:rPr sz="900" spc="-5" dirty="0">
                <a:latin typeface="Arial"/>
                <a:cs typeface="Arial"/>
              </a:rPr>
              <a:t>, tests</a:t>
            </a:r>
            <a:endParaRPr sz="9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1000" spc="-10" dirty="0">
                <a:latin typeface="Arial"/>
                <a:cs typeface="Arial"/>
              </a:rPr>
              <a:t>Hard</a:t>
            </a:r>
            <a:r>
              <a:rPr sz="1000" spc="-25" dirty="0">
                <a:latin typeface="Arial"/>
                <a:cs typeface="Arial"/>
              </a:rPr>
              <a:t>w</a:t>
            </a:r>
            <a:r>
              <a:rPr sz="1000" spc="-5" dirty="0">
                <a:latin typeface="Arial"/>
                <a:cs typeface="Arial"/>
              </a:rPr>
              <a:t>are solutions</a:t>
            </a:r>
            <a:endParaRPr sz="1000" dirty="0">
              <a:latin typeface="Arial"/>
              <a:cs typeface="Arial"/>
            </a:endParaRPr>
          </a:p>
          <a:p>
            <a:pPr marL="289560" indent="276860">
              <a:lnSpc>
                <a:spcPct val="100000"/>
              </a:lnSpc>
              <a:spcBef>
                <a:spcPts val="195"/>
              </a:spcBef>
            </a:pPr>
            <a:r>
              <a:rPr sz="900" spc="-10" dirty="0">
                <a:latin typeface="Arial"/>
                <a:cs typeface="Arial"/>
              </a:rPr>
              <a:t>assume</a:t>
            </a:r>
            <a:r>
              <a:rPr sz="900" spc="-5" dirty="0">
                <a:latin typeface="Arial"/>
                <a:cs typeface="Arial"/>
              </a:rPr>
              <a:t> atomic </a:t>
            </a:r>
            <a:r>
              <a:rPr sz="900" spc="-120" dirty="0">
                <a:latin typeface="Arial"/>
                <a:cs typeface="Arial"/>
              </a:rPr>
              <a:t>T</a:t>
            </a:r>
            <a:r>
              <a:rPr sz="900" spc="-5" dirty="0">
                <a:latin typeface="Arial"/>
                <a:cs typeface="Arial"/>
              </a:rPr>
              <a:t>estAndSet or </a:t>
            </a:r>
            <a:r>
              <a:rPr sz="900" spc="-10" dirty="0">
                <a:latin typeface="Arial"/>
                <a:cs typeface="Arial"/>
              </a:rPr>
              <a:t>S</a:t>
            </a:r>
            <a:r>
              <a:rPr sz="900" spc="-25" dirty="0">
                <a:latin typeface="Arial"/>
                <a:cs typeface="Arial"/>
              </a:rPr>
              <a:t>w</a:t>
            </a:r>
            <a:r>
              <a:rPr sz="900" spc="-5" dirty="0">
                <a:latin typeface="Arial"/>
                <a:cs typeface="Arial"/>
              </a:rPr>
              <a:t>ap inst</a:t>
            </a:r>
            <a:r>
              <a:rPr sz="900" spc="0" dirty="0">
                <a:latin typeface="Arial"/>
                <a:cs typeface="Arial"/>
              </a:rPr>
              <a:t>r</a:t>
            </a:r>
            <a:r>
              <a:rPr sz="900" spc="-5" dirty="0">
                <a:latin typeface="Arial"/>
                <a:cs typeface="Arial"/>
              </a:rPr>
              <a:t>uctions</a:t>
            </a:r>
            <a:endParaRPr sz="9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1000" spc="-10" dirty="0">
                <a:latin typeface="Arial"/>
                <a:cs typeface="Arial"/>
              </a:rPr>
              <a:t>Semaphores</a:t>
            </a:r>
            <a:endParaRPr sz="1000" dirty="0">
              <a:latin typeface="Arial"/>
              <a:cs typeface="Arial"/>
            </a:endParaRPr>
          </a:p>
          <a:p>
            <a:pPr marL="566420" marR="5080">
              <a:lnSpc>
                <a:spcPct val="101499"/>
              </a:lnSpc>
              <a:spcBef>
                <a:spcPts val="175"/>
              </a:spcBef>
            </a:pPr>
            <a:r>
              <a:rPr sz="900" spc="-5" dirty="0">
                <a:latin typeface="Arial"/>
                <a:cs typeface="Arial"/>
              </a:rPr>
              <a:t>semaphores use one of the ab</a:t>
            </a:r>
            <a:r>
              <a:rPr sz="900" spc="-20" dirty="0">
                <a:latin typeface="Arial"/>
                <a:cs typeface="Arial"/>
              </a:rPr>
              <a:t>o</a:t>
            </a:r>
            <a:r>
              <a:rPr sz="900" spc="-30" dirty="0">
                <a:latin typeface="Arial"/>
                <a:cs typeface="Arial"/>
              </a:rPr>
              <a:t>v</a:t>
            </a:r>
            <a:r>
              <a:rPr sz="900" spc="-5" dirty="0">
                <a:latin typeface="Arial"/>
                <a:cs typeface="Arial"/>
              </a:rPr>
              <a:t>e solutions inte</a:t>
            </a:r>
            <a:r>
              <a:rPr sz="900" spc="10" dirty="0">
                <a:latin typeface="Arial"/>
                <a:cs typeface="Arial"/>
              </a:rPr>
              <a:t>r</a:t>
            </a:r>
            <a:r>
              <a:rPr sz="900" spc="-5" dirty="0">
                <a:latin typeface="Arial"/>
                <a:cs typeface="Arial"/>
              </a:rPr>
              <a:t>nally to ensure </a:t>
            </a:r>
            <a:r>
              <a:rPr sz="900" spc="-20" dirty="0">
                <a:latin typeface="Arial"/>
                <a:cs typeface="Arial"/>
              </a:rPr>
              <a:t>m</a:t>
            </a:r>
            <a:r>
              <a:rPr sz="900" spc="-5" dirty="0">
                <a:latin typeface="Arial"/>
                <a:cs typeface="Arial"/>
              </a:rPr>
              <a:t>utually </a:t>
            </a:r>
            <a:r>
              <a:rPr sz="900" spc="-35" dirty="0">
                <a:latin typeface="Arial"/>
                <a:cs typeface="Arial"/>
              </a:rPr>
              <a:t>e</a:t>
            </a:r>
            <a:r>
              <a:rPr sz="900" spc="-5" dirty="0">
                <a:latin typeface="Arial"/>
                <a:cs typeface="Arial"/>
              </a:rPr>
              <a:t>xclusi</a:t>
            </a:r>
            <a:r>
              <a:rPr sz="900" spc="-30" dirty="0">
                <a:latin typeface="Arial"/>
                <a:cs typeface="Arial"/>
              </a:rPr>
              <a:t>v</a:t>
            </a:r>
            <a:r>
              <a:rPr sz="900" spc="-5" dirty="0">
                <a:latin typeface="Arial"/>
                <a:cs typeface="Arial"/>
              </a:rPr>
              <a:t>e access to semaphore </a:t>
            </a:r>
            <a:r>
              <a:rPr sz="900" spc="-30" dirty="0">
                <a:latin typeface="Arial"/>
                <a:cs typeface="Arial"/>
              </a:rPr>
              <a:t>v</a:t>
            </a:r>
            <a:r>
              <a:rPr sz="900" spc="-5" dirty="0">
                <a:latin typeface="Arial"/>
                <a:cs typeface="Arial"/>
              </a:rPr>
              <a:t>a</a:t>
            </a:r>
            <a:r>
              <a:rPr sz="900" spc="0" dirty="0">
                <a:latin typeface="Arial"/>
                <a:cs typeface="Arial"/>
              </a:rPr>
              <a:t>r</a:t>
            </a:r>
            <a:r>
              <a:rPr sz="900" spc="-5" dirty="0">
                <a:latin typeface="Arial"/>
                <a:cs typeface="Arial"/>
              </a:rPr>
              <a:t>ia</a:t>
            </a:r>
            <a:r>
              <a:rPr sz="900" spc="-25" dirty="0">
                <a:latin typeface="Arial"/>
                <a:cs typeface="Arial"/>
              </a:rPr>
              <a:t>b</a:t>
            </a:r>
            <a:r>
              <a:rPr sz="900" spc="-5" dirty="0">
                <a:latin typeface="Arial"/>
                <a:cs typeface="Arial"/>
              </a:rPr>
              <a:t>le</a:t>
            </a:r>
            <a:endParaRPr sz="900" dirty="0">
              <a:latin typeface="Arial"/>
              <a:cs typeface="Arial"/>
            </a:endParaRPr>
          </a:p>
          <a:p>
            <a:pPr marL="12700" indent="553720">
              <a:lnSpc>
                <a:spcPct val="100000"/>
              </a:lnSpc>
              <a:spcBef>
                <a:spcPts val="215"/>
              </a:spcBef>
            </a:pPr>
            <a:r>
              <a:rPr sz="900" spc="-10" dirty="0">
                <a:latin typeface="Arial"/>
                <a:cs typeface="Arial"/>
              </a:rPr>
              <a:t>m</a:t>
            </a:r>
            <a:r>
              <a:rPr sz="900" spc="-35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y be implemented as system calls which </a:t>
            </a:r>
            <a:r>
              <a:rPr sz="900" spc="-25" dirty="0">
                <a:latin typeface="Arial"/>
                <a:cs typeface="Arial"/>
              </a:rPr>
              <a:t>b</a:t>
            </a:r>
            <a:r>
              <a:rPr sz="900" spc="-5" dirty="0">
                <a:latin typeface="Arial"/>
                <a:cs typeface="Arial"/>
              </a:rPr>
              <a:t>lo</a:t>
            </a:r>
            <a:r>
              <a:rPr sz="900" spc="-25" dirty="0">
                <a:latin typeface="Arial"/>
                <a:cs typeface="Arial"/>
              </a:rPr>
              <a:t>c</a:t>
            </a:r>
            <a:r>
              <a:rPr sz="900" spc="-5" dirty="0">
                <a:latin typeface="Arial"/>
                <a:cs typeface="Arial"/>
              </a:rPr>
              <a:t>k if necessa</a:t>
            </a:r>
            <a:r>
              <a:rPr sz="900" spc="20" dirty="0">
                <a:latin typeface="Arial"/>
                <a:cs typeface="Arial"/>
              </a:rPr>
              <a:t>r</a:t>
            </a:r>
            <a:r>
              <a:rPr sz="900" spc="-5" dirty="0">
                <a:latin typeface="Arial"/>
                <a:cs typeface="Arial"/>
              </a:rPr>
              <a:t>y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900" dirty="0">
              <a:latin typeface="Times New Roman"/>
              <a:cs typeface="Times New Roman"/>
            </a:endParaRPr>
          </a:p>
          <a:p>
            <a:pPr marL="12700" marR="289560">
              <a:lnSpc>
                <a:spcPts val="1200"/>
              </a:lnSpc>
            </a:pPr>
            <a:r>
              <a:rPr sz="1100" spc="-10" dirty="0">
                <a:latin typeface="Arial"/>
                <a:cs typeface="Arial"/>
              </a:rPr>
              <a:t>Example</a:t>
            </a:r>
            <a:r>
              <a:rPr sz="1100" spc="-5" dirty="0">
                <a:latin typeface="Arial"/>
                <a:cs typeface="Arial"/>
              </a:rPr>
              <a:t> synchronization </a:t>
            </a:r>
            <a:r>
              <a:rPr sz="1100" spc="-10" dirty="0">
                <a:latin typeface="Arial"/>
                <a:cs typeface="Arial"/>
              </a:rPr>
              <a:t>pro</a:t>
            </a:r>
            <a:r>
              <a:rPr sz="1100" spc="-35" dirty="0">
                <a:latin typeface="Arial"/>
                <a:cs typeface="Arial"/>
              </a:rPr>
              <a:t>b</a:t>
            </a:r>
            <a:r>
              <a:rPr sz="1100" spc="-10" dirty="0">
                <a:latin typeface="Arial"/>
                <a:cs typeface="Arial"/>
              </a:rPr>
              <a:t>lems:</a:t>
            </a:r>
            <a:r>
              <a:rPr sz="1100" spc="6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producer-consume</a:t>
            </a:r>
            <a:r>
              <a:rPr sz="1100" spc="-60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,</a:t>
            </a:r>
            <a:r>
              <a:rPr sz="1100" spc="-10" dirty="0">
                <a:latin typeface="Arial"/>
                <a:cs typeface="Arial"/>
              </a:rPr>
              <a:t> reader-w</a:t>
            </a:r>
            <a:r>
              <a:rPr sz="1100" spc="5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ite</a:t>
            </a:r>
            <a:r>
              <a:rPr sz="1100" spc="-60" dirty="0">
                <a:latin typeface="Arial"/>
                <a:cs typeface="Arial"/>
              </a:rPr>
              <a:t>r</a:t>
            </a:r>
            <a:r>
              <a:rPr sz="1100" spc="-5" dirty="0">
                <a:latin typeface="Arial"/>
                <a:cs typeface="Arial"/>
              </a:rPr>
              <a:t>, dining </a:t>
            </a:r>
            <a:r>
              <a:rPr sz="1100" spc="-10" dirty="0">
                <a:latin typeface="Arial"/>
                <a:cs typeface="Arial"/>
              </a:rPr>
              <a:t>philosopher</a:t>
            </a:r>
            <a:endParaRPr sz="1100" dirty="0">
              <a:latin typeface="Arial"/>
              <a:cs typeface="Arial"/>
            </a:endParaRPr>
          </a:p>
          <a:p>
            <a:pPr marL="289560">
              <a:lnSpc>
                <a:spcPct val="100000"/>
              </a:lnSpc>
              <a:spcBef>
                <a:spcPts val="355"/>
              </a:spcBef>
            </a:pPr>
            <a:r>
              <a:rPr sz="1000" spc="-5" dirty="0">
                <a:latin typeface="Arial"/>
                <a:cs typeface="Arial"/>
              </a:rPr>
              <a:t>abst</a:t>
            </a:r>
            <a:r>
              <a:rPr sz="1000" spc="-15" dirty="0">
                <a:latin typeface="Arial"/>
                <a:cs typeface="Arial"/>
              </a:rPr>
              <a:t>r</a:t>
            </a:r>
            <a:r>
              <a:rPr sz="1000" spc="-5" dirty="0">
                <a:latin typeface="Arial"/>
                <a:cs typeface="Arial"/>
              </a:rPr>
              <a:t>actions of pro</a:t>
            </a:r>
            <a:r>
              <a:rPr sz="1000" spc="-30" dirty="0">
                <a:latin typeface="Arial"/>
                <a:cs typeface="Arial"/>
              </a:rPr>
              <a:t>b</a:t>
            </a:r>
            <a:r>
              <a:rPr sz="1000" spc="-10" dirty="0">
                <a:latin typeface="Arial"/>
                <a:cs typeface="Arial"/>
              </a:rPr>
              <a:t>lems</a:t>
            </a:r>
            <a:r>
              <a:rPr sz="1000" spc="-5" dirty="0">
                <a:latin typeface="Arial"/>
                <a:cs typeface="Arial"/>
              </a:rPr>
              <a:t> that occur in real </a:t>
            </a:r>
            <a:r>
              <a:rPr sz="1000" spc="-10" dirty="0">
                <a:latin typeface="Arial"/>
                <a:cs typeface="Arial"/>
              </a:rPr>
              <a:t>systems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5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19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535938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8" y="129031"/>
                </a:lnTo>
                <a:lnTo>
                  <a:pt x="1535938" y="0"/>
                </a:lnTo>
                <a:lnTo>
                  <a:pt x="0" y="0"/>
                </a:lnTo>
                <a:lnTo>
                  <a:pt x="0" y="129031"/>
                </a:lnTo>
                <a:close/>
              </a:path>
            </a:pathLst>
          </a:custGeom>
          <a:solidFill>
            <a:srgbClr val="265F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72002" y="3327019"/>
            <a:ext cx="1536065" cy="129539"/>
          </a:xfrm>
          <a:custGeom>
            <a:avLst/>
            <a:gdLst/>
            <a:ahLst/>
            <a:cxnLst/>
            <a:rect l="l" t="t" r="r" b="b"/>
            <a:pathLst>
              <a:path w="1536064" h="129539">
                <a:moveTo>
                  <a:pt x="0" y="129031"/>
                </a:moveTo>
                <a:lnTo>
                  <a:pt x="1535937" y="129031"/>
                </a:lnTo>
                <a:lnTo>
                  <a:pt x="1535937" y="0"/>
                </a:lnTo>
                <a:lnTo>
                  <a:pt x="0" y="0"/>
                </a:lnTo>
                <a:lnTo>
                  <a:pt x="0" y="129031"/>
                </a:lnTo>
              </a:path>
            </a:pathLst>
          </a:custGeom>
          <a:solidFill>
            <a:srgbClr val="33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xfrm>
            <a:off x="525780" y="3345157"/>
            <a:ext cx="484505" cy="923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pc="-5" dirty="0" smtClean="0"/>
              <a:t>M.Tech.</a:t>
            </a:r>
            <a:r>
              <a:rPr dirty="0" smtClean="0"/>
              <a:t> </a:t>
            </a:r>
            <a:r>
              <a:rPr spc="-5" dirty="0" smtClean="0"/>
              <a:t> </a:t>
            </a:r>
            <a:r>
              <a:rPr spc="-5" dirty="0"/>
              <a:t>(ISI)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5" dirty="0"/>
              <a:t>Process Synchronization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>
              <a:lnSpc>
                <a:spcPct val="100000"/>
              </a:lnSpc>
            </a:pPr>
            <a:r>
              <a:rPr spc="-5" dirty="0"/>
              <a:t>28 / 28</a:t>
            </a:r>
          </a:p>
        </p:txBody>
      </p:sp>
    </p:spTree>
    <p:extLst>
      <p:ext uri="{BB962C8B-B14F-4D97-AF65-F5344CB8AC3E}">
        <p14:creationId xmlns:p14="http://schemas.microsoft.com/office/powerpoint/2010/main" val="3902288146"/>
      </p:ext>
    </p:extLst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mv="urn:schemas-microsoft-com:mac:vml">
  <p:tag name="may_ignore_ucw" val="true"/>
  <p:tag name="ppt/slides/slide37.xml" val="321455254"/>
  <p:tag name="ppt/slides/slide38.xml" val="3120238195"/>
  <p:tag name="ppt/slides/slide39.xml" val="2493000290"/>
  <p:tag name="ppt/slides/slide41.xml" val="1152258876"/>
  <p:tag name="ppt/slides/slide40.xml" val="1636751857"/>
  <p:tag name="ppt/slides/slide17.xml" val="1034331731"/>
  <p:tag name="ppt/slides/slide36.xml" val="3079224794"/>
  <p:tag name="ppt/slides/slide35.xml" val="1379208082"/>
  <p:tag name="ppt/slides/slide42.xml" val="2742885447"/>
  <p:tag name="ppt/slides/slide43.xml" val="1192117359"/>
  <p:tag name="ppt/slides/slide13.xml" val="3868300856"/>
  <p:tag name="ppt/slides/slide14.xml" val="1779893735"/>
  <p:tag name="ppt/slides/slide15.xml" val="45928814"/>
  <p:tag name="ppt/slides/slide45.xml" val="3363211209"/>
  <p:tag name="ppt/slides/slide44.xml" val="1533725798"/>
  <p:tag name="ppt/slides/slide34.xml" val="3633039378"/>
  <p:tag name="ppt/slides/slide33.xml" val="1192302472"/>
  <p:tag name="ppt/slides/slide32.xml" val="683025465"/>
  <p:tag name="ppt/slides/slide23.xml" val="3731611914"/>
  <p:tag name="ppt/slides/slide22.xml" val="2248962645"/>
  <p:tag name="ppt/slides/slide21.xml" val="165305641"/>
  <p:tag name="ppt/slides/slide20.xml" val="2348414445"/>
  <p:tag name="ppt/slides/slide19.xml" val="2293840369"/>
  <p:tag name="ppt/slides/slide18.xml" val="157075609"/>
  <p:tag name="ppt/slides/slide24.xml" val="2557624908"/>
  <p:tag name="ppt/slides/slide25.xml" val="421868532"/>
  <p:tag name="ppt/slides/slide26.xml" val="3086943936"/>
  <p:tag name="ppt/slides/slide31.xml" val="3180456603"/>
  <p:tag name="ppt/slides/slide30.xml" val="1440706575"/>
  <p:tag name="ppt/slides/slide29.xml" val="2925030260"/>
  <p:tag name="ppt/slides/slide28.xml" val="2162599388"/>
  <p:tag name="ppt/slides/slide27.xml" val="3483063945"/>
  <p:tag name="ppt/slides/slide16.xml" val="1208241415"/>
  <p:tag name="ppt/slides/slide12.xml" val="223382005"/>
  <p:tag name="ppt/slides/slide10.xml" val="2637756153"/>
  <p:tag name="ppt/slides/slide1.xml" val="2815211173"/>
  <p:tag name="ppt/slides/slide2.xml" val="3988497626"/>
  <p:tag name="ppt/slides/slide3.xml" val="2285230839"/>
  <p:tag name="ppt/slides/slide4.xml" val="2922535826"/>
  <p:tag name="ppt/slides/slide11.xml" val="2307813052"/>
  <p:tag name="ppt/slides/slide6.xml" val="945876116"/>
  <p:tag name="ppt/slides/slide9.xml" val="2801273876"/>
  <p:tag name="ppt/slides/slide5.xml" val="219096043"/>
  <p:tag name="ppt/slides/slide7.xml" val="291882822"/>
  <p:tag name="ppt/slides/slide8.xml" val="3881346372"/>
  <p:tag name="ppt/slideMasters/slideMaster1.xml" val="2995419633"/>
  <p:tag name="ppt/slideLayouts/slideLayout1.xml" val="637458733"/>
  <p:tag name="ppt/notesSlides/notesSlide5.xml" val="1350945831"/>
  <p:tag name="ppt/notesSlides/notesSlide6.xml" val="1148491857"/>
  <p:tag name="ppt/notesSlides/notesSlide7.xml" val="2802297613"/>
  <p:tag name="ppt/notesSlides/notesSlide8.xml" val="3580533057"/>
  <p:tag name="ppt/notesSlides/notesSlide9.xml" val="2517923754"/>
  <p:tag name="ppt/notesSlides/notesSlide4.xml" val="2882311645"/>
  <p:tag name="ppt/notesSlides/notesSlide3.xml" val="2801267554"/>
  <p:tag name="ppt/notesSlides/notesSlide2.xml" val="2370085743"/>
  <p:tag name="ppt/slideLayouts/slideLayout2.xml" val="2306521009"/>
  <p:tag name="ppt/slideLayouts/slideLayout3.xml" val="1201497698"/>
  <p:tag name="ppt/slideLayouts/slideLayout4.xml" val="2231630818"/>
  <p:tag name="ppt/slideLayouts/slideLayout5.xml" val="3742072955"/>
  <p:tag name="ppt/notesSlides/notesSlide1.xml" val="1061340589"/>
  <p:tag name="ppt/notesSlides/notesSlide11.xml" val="2445730579"/>
  <p:tag name="ppt/notesSlides/notesSlide10.xml" val="4190384478"/>
  <p:tag name="ppt/notesSlides/notesSlide12.xml" val="3664063237"/>
  <p:tag name="ppt/notesSlides/notesSlide16.xml" val="3276918201"/>
  <p:tag name="ppt/notesSlides/notesSlide15.xml" val="1964365248"/>
  <p:tag name="ppt/notesSlides/notesSlide14.xml" val="103461675"/>
  <p:tag name="ppt/notesSlides/notesSlide13.xml" val="780971041"/>
  <p:tag name="ppt/notesSlides/notesSlide17.xml" val="4020001345"/>
  <p:tag name="ppt/theme/theme1.xml" val="956944377"/>
  <p:tag name="ppt/notesMasters/notesMaster1.xml" val="976009250"/>
  <p:tag name="ppt/theme/theme2.xml" val="4028356832"/>
  <p:tag name="ppt/media/image4.png" val="388934368"/>
  <p:tag name="ppt/media/image3.png" val="2384957570"/>
  <p:tag name="ppt/media/image2.png" val="940438322"/>
  <p:tag name="ppt/media/image1.png" val="344465313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
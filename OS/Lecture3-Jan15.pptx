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2"/>
  </p:notesMasterIdLst>
  <p:handoutMasterIdLst>
    <p:handoutMasterId r:id="rId33"/>
  </p:handoutMasterIdLst>
  <p:sldIdLst>
    <p:sldId id="330" r:id="rId2"/>
    <p:sldId id="594" r:id="rId3"/>
    <p:sldId id="413" r:id="rId4"/>
    <p:sldId id="597" r:id="rId5"/>
    <p:sldId id="598" r:id="rId6"/>
    <p:sldId id="599" r:id="rId7"/>
    <p:sldId id="529" r:id="rId8"/>
    <p:sldId id="591" r:id="rId9"/>
    <p:sldId id="592" r:id="rId10"/>
    <p:sldId id="576" r:id="rId11"/>
    <p:sldId id="593" r:id="rId12"/>
    <p:sldId id="601" r:id="rId13"/>
    <p:sldId id="602" r:id="rId14"/>
    <p:sldId id="577" r:id="rId15"/>
    <p:sldId id="578" r:id="rId16"/>
    <p:sldId id="579" r:id="rId17"/>
    <p:sldId id="580" r:id="rId18"/>
    <p:sldId id="605" r:id="rId19"/>
    <p:sldId id="608" r:id="rId20"/>
    <p:sldId id="581" r:id="rId21"/>
    <p:sldId id="583" r:id="rId22"/>
    <p:sldId id="582" r:id="rId23"/>
    <p:sldId id="595" r:id="rId24"/>
    <p:sldId id="603" r:id="rId25"/>
    <p:sldId id="604" r:id="rId26"/>
    <p:sldId id="584" r:id="rId27"/>
    <p:sldId id="585" r:id="rId28"/>
    <p:sldId id="586" r:id="rId29"/>
    <p:sldId id="606" r:id="rId30"/>
    <p:sldId id="607" r:id="rId3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5"/>
  </p:normalViewPr>
  <p:slideViewPr>
    <p:cSldViewPr snapToGrid="0">
      <p:cViewPr varScale="1">
        <p:scale>
          <a:sx n="109" d="100"/>
          <a:sy n="109" d="100"/>
        </p:scale>
        <p:origin x="1710" y="10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79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A12DC8-9922-4E6E-BC02-F6A637672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E72947A-FE2E-4445-85D8-C03306D26D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64A7CC0-6DD4-4720-82BF-E4908F4AFFA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BE9BEEC-119C-420C-8C74-AFCA5FA1C4C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96B91AD-C34E-4B05-8D9C-1014E5F01E3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15B35B-6971-4CC0-B4FB-95B01BCF42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A02FF1F-3F52-47A2-B35E-EBB0E22829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2612CE7-EF94-4293-9356-A0763F4E73E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3BD7482-5C58-44F9-A08E-BFE34494D0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AC6369B-F957-4079-90E1-CA217ED505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D62366FD-3440-43D4-A730-7A55A662E4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73B872E8-FDB0-4502-A51A-B7A4A00AC4E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DEF1EC1-A032-4256-A5B8-82331B81B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B6FBBD-AF90-4377-83FA-2F3819AD38A1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DCEB876-7853-4EC8-86DE-2233D519A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317CDD3-494C-45D9-A8EF-4B0E12327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730F164-3563-441D-A2BB-9ECF873C6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8081F0E-1362-4F6F-BE70-E88D6BFB0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658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730F164-3563-441D-A2BB-9ECF873C6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8081F0E-1362-4F6F-BE70-E88D6BFB0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EC96916-1BAE-4A4E-BF94-2604763DB9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FEBB5C8-282F-4906-80B9-C81D70161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998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ADFF460-F732-4F8E-9BEC-BDC62B69C0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27A0BF-8535-41FD-9918-F0C0C2585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461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BD142-F3AB-EFEA-3D08-A272F8EE7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3AAABF3B-08E9-F5E6-83D0-FD0CE23A10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A08DB84-BA41-30CA-F19D-AE958ACCB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672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F785276E-E512-431C-9863-60C16073997B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A16CBBBC-832D-4981-B7BE-1E6129BC1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CCF6664-2599-48D7-AF8C-34B0B9441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C5EC98FB-CBB8-449B-A94E-B0B58773A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334230E-B06E-4011-9947-832BC9534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5BFB58C-5B52-429B-BF7C-2A3DD468A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D3E76B3A-1933-415B-8018-61828BE8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568F85F6-D2B1-49C8-8F26-5A6CD47E8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68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0064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6602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68752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031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7327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39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029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386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12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9995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1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2BC4F5-85B8-4BE7-84AC-D9E779709B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00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4B7DADE-05C1-4235-BC95-7FD16DF5A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C13949F-D9D1-4EE3-9FC6-AFE9404AE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56033E-2A1D-44DE-9E54-71D4B4B6E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0575" y="1233488"/>
            <a:ext cx="77438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4A806BF-A0C0-4368-AD58-420F34B3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8CA0CBE-E7DB-4B13-BE0C-81E2F34D2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66E26E9-18B9-458C-AE7B-19180B81E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CCFF09E-8C15-497C-99D4-D11290D2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332EE4A3-5FFF-44B0-9A59-5F8CE7D75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x-none" sz="1000" b="1">
                <a:solidFill>
                  <a:srgbClr val="006699"/>
                </a:solidFill>
                <a:latin typeface="Helvetica" charset="0"/>
              </a:rPr>
              <a:t>3.</a:t>
            </a:r>
            <a:fld id="{A6EDADC4-5648-406C-94CA-EDDB863B04E2}" type="slidenum">
              <a:rPr lang="en-US" altLang="x-none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x-none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4AE1926B-ED4A-404A-BC01-96D11B8A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0963" y="66135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32010AC7-36CA-437D-BB87-25E8B15E0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59447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09E176C0-BBA8-45C3-9F79-40005E1F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  <p:sldLayoutId id="214748421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BD8569B-4861-4CBE-8902-C2DD5C49C8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 dirty="0" smtClean="0"/>
              <a:t>Processes</a:t>
            </a:r>
            <a:endParaRPr lang="en-US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930284" y="4403325"/>
            <a:ext cx="318375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Some additional slides</a:t>
            </a:r>
          </a:p>
          <a:p>
            <a:r>
              <a:rPr lang="en-IN" dirty="0"/>
              <a:t>Taken from </a:t>
            </a:r>
            <a:r>
              <a:rPr lang="en-IN" dirty="0" smtClean="0"/>
              <a:t>courses </a:t>
            </a:r>
            <a:endParaRPr lang="en-IN" dirty="0"/>
          </a:p>
          <a:p>
            <a:r>
              <a:rPr lang="en-IN" dirty="0"/>
              <a:t>By </a:t>
            </a:r>
            <a:r>
              <a:rPr lang="en-IN" dirty="0" err="1"/>
              <a:t>Prof.</a:t>
            </a:r>
            <a:r>
              <a:rPr lang="en-IN" dirty="0"/>
              <a:t> Chester </a:t>
            </a:r>
            <a:r>
              <a:rPr lang="en-IN" dirty="0" err="1" smtClean="0"/>
              <a:t>Rebeiro</a:t>
            </a:r>
            <a:r>
              <a:rPr lang="en-IN" dirty="0" smtClean="0"/>
              <a:t>, </a:t>
            </a:r>
          </a:p>
          <a:p>
            <a:r>
              <a:rPr lang="en-US" dirty="0" smtClean="0"/>
              <a:t>Prof. </a:t>
            </a:r>
            <a:r>
              <a:rPr lang="en-US" dirty="0" err="1" smtClean="0"/>
              <a:t>Mandar</a:t>
            </a:r>
            <a:r>
              <a:rPr lang="en-US" dirty="0" smtClean="0"/>
              <a:t> </a:t>
            </a:r>
            <a:r>
              <a:rPr lang="en-US" dirty="0" err="1" smtClean="0"/>
              <a:t>Mitra</a:t>
            </a:r>
            <a:r>
              <a:rPr lang="en-US" dirty="0" smtClean="0"/>
              <a:t>, </a:t>
            </a:r>
          </a:p>
          <a:p>
            <a:r>
              <a:rPr lang="en-US" dirty="0" smtClean="0"/>
              <a:t>Prof. </a:t>
            </a:r>
            <a:r>
              <a:rPr lang="en-US" dirty="0" err="1" smtClean="0"/>
              <a:t>Barsha</a:t>
            </a:r>
            <a:r>
              <a:rPr lang="en-US" dirty="0" smtClean="0"/>
              <a:t> </a:t>
            </a:r>
            <a:r>
              <a:rPr lang="en-US" dirty="0" err="1" smtClean="0"/>
              <a:t>Mitra</a:t>
            </a:r>
            <a:endParaRPr lang="en-IN" dirty="0"/>
          </a:p>
          <a:p>
            <a:r>
              <a:rPr lang="en-IN" dirty="0"/>
              <a:t>On top of slides from </a:t>
            </a:r>
          </a:p>
          <a:p>
            <a:r>
              <a:rPr lang="en-IN" dirty="0"/>
              <a:t>Textbook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E8AE27-E50C-40A0-B477-CFFEC3475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22250"/>
            <a:ext cx="6107112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Concept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D446FCF-843C-4B0E-B66C-D60BED277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0050" y="1267051"/>
            <a:ext cx="6800850" cy="4778149"/>
          </a:xfrm>
        </p:spPr>
        <p:txBody>
          <a:bodyPr/>
          <a:lstStyle/>
          <a:p>
            <a:r>
              <a:rPr lang="en-US" altLang="en-US" sz="2000" dirty="0" smtClean="0"/>
              <a:t>Multiple parts of a process</a:t>
            </a:r>
            <a:endParaRPr lang="en-US" altLang="en-US" sz="2000" dirty="0"/>
          </a:p>
          <a:p>
            <a:pPr lvl="1"/>
            <a:r>
              <a:rPr lang="en-US" altLang="en-US" sz="2000" dirty="0"/>
              <a:t>The program code, also called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text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section</a:t>
            </a:r>
          </a:p>
          <a:p>
            <a:pPr lvl="1"/>
            <a:r>
              <a:rPr lang="en-US" altLang="en-US" sz="2000" b="1" dirty="0" smtClean="0">
                <a:solidFill>
                  <a:srgbClr val="006699"/>
                </a:solidFill>
                <a:latin typeface="+mj-lt"/>
              </a:rPr>
              <a:t>Stack</a:t>
            </a:r>
            <a:r>
              <a:rPr lang="en-US" altLang="en-US" sz="2000" b="1" dirty="0" smtClean="0"/>
              <a:t> </a:t>
            </a:r>
            <a:r>
              <a:rPr lang="en-US" altLang="en-US" sz="2000" dirty="0"/>
              <a:t>containing temporary data</a:t>
            </a:r>
          </a:p>
          <a:p>
            <a:pPr lvl="2"/>
            <a:r>
              <a:rPr lang="en-US" altLang="en-US" sz="2000" dirty="0"/>
              <a:t>Function parameters, return addresses, local </a:t>
            </a:r>
            <a:r>
              <a:rPr lang="en-US" altLang="en-US" sz="2000" dirty="0" smtClean="0"/>
              <a:t>variables</a:t>
            </a:r>
          </a:p>
          <a:p>
            <a:pPr lvl="2"/>
            <a:r>
              <a:rPr lang="en-US" altLang="en-US" sz="2000" dirty="0" smtClean="0"/>
              <a:t>LIFO – Why?</a:t>
            </a:r>
            <a:endParaRPr lang="en-US" altLang="en-US" sz="2000" dirty="0"/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section</a:t>
            </a:r>
            <a:r>
              <a:rPr lang="en-US" altLang="en-US" sz="2000" b="1" dirty="0"/>
              <a:t> </a:t>
            </a:r>
            <a:r>
              <a:rPr lang="en-US" altLang="en-US" sz="2000" dirty="0"/>
              <a:t>containing global variables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Heap</a:t>
            </a:r>
            <a:r>
              <a:rPr lang="en-US" altLang="en-US" sz="2000" b="1" dirty="0"/>
              <a:t> </a:t>
            </a:r>
            <a:r>
              <a:rPr lang="en-US" altLang="en-US" sz="2000" dirty="0"/>
              <a:t>containing memory dynamically allocated during run </a:t>
            </a:r>
            <a:r>
              <a:rPr lang="en-US" altLang="en-US" sz="2000" dirty="0" smtClean="0"/>
              <a:t>time</a:t>
            </a:r>
          </a:p>
          <a:p>
            <a:pPr lvl="1"/>
            <a:r>
              <a:rPr lang="en-US" altLang="en-US" sz="2000" dirty="0"/>
              <a:t>Current activity including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</a:rPr>
              <a:t>program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006699"/>
                </a:solidFill>
              </a:rPr>
              <a:t>counter</a:t>
            </a:r>
            <a:r>
              <a:rPr lang="en-US" altLang="en-US" sz="2000" dirty="0"/>
              <a:t>, processor </a:t>
            </a:r>
            <a:r>
              <a:rPr lang="en-US" altLang="en-US" sz="2000" dirty="0" smtClean="0"/>
              <a:t>registers</a:t>
            </a:r>
            <a:endParaRPr lang="en-US" altLang="en-US" sz="2000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56913459-B2A5-4780-A47A-63C55AF8C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638300"/>
            <a:ext cx="2144950" cy="343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6355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E8AE27-E50C-40A0-B477-CFFEC3475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22250"/>
            <a:ext cx="6107112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Concept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D446FCF-843C-4B0E-B66C-D60BED277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0050" y="1344727"/>
            <a:ext cx="6413988" cy="477814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dirty="0" smtClean="0"/>
              <a:t> </a:t>
            </a:r>
            <a:r>
              <a:rPr lang="en-US" altLang="en-US" dirty="0"/>
              <a:t>– a program in execution; process execution must progress in sequential fashion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r>
              <a:rPr lang="en-US" altLang="en-US" sz="2000" dirty="0"/>
              <a:t>Program is </a:t>
            </a:r>
            <a:r>
              <a:rPr lang="en-US" altLang="en-US" sz="2000" b="1" dirty="0"/>
              <a:t>passive</a:t>
            </a:r>
            <a:r>
              <a:rPr lang="en-US" altLang="en-US" sz="2000" dirty="0"/>
              <a:t> entity stored on disk (</a:t>
            </a:r>
            <a:r>
              <a:rPr lang="en-US" altLang="en-US" sz="2000" b="1" dirty="0">
                <a:solidFill>
                  <a:srgbClr val="006699"/>
                </a:solidFill>
              </a:rPr>
              <a:t>executable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</a:rPr>
              <a:t>file</a:t>
            </a:r>
            <a:r>
              <a:rPr lang="en-US" altLang="en-US" sz="2000" dirty="0"/>
              <a:t>); process is </a:t>
            </a:r>
            <a:r>
              <a:rPr lang="en-US" altLang="en-US" sz="2000" b="1" dirty="0"/>
              <a:t>active</a:t>
            </a:r>
            <a:r>
              <a:rPr lang="en-US" altLang="en-US" sz="2000" b="1" i="1" dirty="0"/>
              <a:t> </a:t>
            </a:r>
          </a:p>
          <a:p>
            <a:pPr lvl="1"/>
            <a:r>
              <a:rPr lang="en-US" altLang="en-US" sz="2000" dirty="0"/>
              <a:t>Program becomes process when an executable file is loaded into memory</a:t>
            </a:r>
          </a:p>
          <a:p>
            <a:endParaRPr lang="en-US" altLang="en-US" sz="2000" dirty="0"/>
          </a:p>
          <a:p>
            <a:r>
              <a:rPr lang="en-US" altLang="en-US" sz="2000" dirty="0"/>
              <a:t>Execution of program started via GUI mouse clicks, command line entry of its name, etc</a:t>
            </a:r>
            <a:r>
              <a:rPr lang="en-US" altLang="en-US" sz="2000" dirty="0" smtClean="0"/>
              <a:t>.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184351" y="1219202"/>
            <a:ext cx="1447800" cy="3581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7196076" y="4809392"/>
            <a:ext cx="14478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 smtClean="0"/>
              <a:t>        OS</a:t>
            </a:r>
            <a:endParaRPr lang="en-US" altLang="en-US" sz="1800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7196076" y="4267202"/>
            <a:ext cx="1436072" cy="53339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Text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(instructions)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7184348" y="3200402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Data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7184348" y="2133602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Heap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7184348" y="1219202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Stack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F0918BC-EE47-4B64-B75C-97D41C08D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4057" y="196397"/>
            <a:ext cx="8077200" cy="576263"/>
          </a:xfrm>
        </p:spPr>
        <p:txBody>
          <a:bodyPr/>
          <a:lstStyle/>
          <a:p>
            <a:r>
              <a:rPr lang="en-US" altLang="en-US" dirty="0"/>
              <a:t>Memory Layout of a C Program</a:t>
            </a:r>
          </a:p>
        </p:txBody>
      </p:sp>
      <p:pic>
        <p:nvPicPr>
          <p:cNvPr id="17411" name="Picture 1">
            <a:extLst>
              <a:ext uri="{FF2B5EF4-FFF2-40B4-BE49-F238E27FC236}">
                <a16:creationId xmlns:a16="http://schemas.microsoft.com/office/drawing/2014/main" id="{E58EFC16-5ABF-4B34-B546-50AB9FB81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701800"/>
            <a:ext cx="7227888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93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14A1CD-800C-4EE8-84EF-ADDD2409A892}" type="slidenum">
              <a:rPr lang="en-US" altLang="en-US" sz="1400">
                <a:solidFill>
                  <a:schemeClr val="bg2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solidFill>
                <a:schemeClr val="bg2"/>
              </a:solidFill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>
                <a:ea typeface="ＭＳ Ｐゴシック" panose="020B0600070205080204" pitchFamily="34" charset="-128"/>
              </a:rPr>
              <a:t>Process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03738" y="1066800"/>
            <a:ext cx="4267200" cy="4876800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Process</a:t>
            </a:r>
          </a:p>
          <a:p>
            <a:pPr lvl="1" eaLnBrk="1" hangingPunct="1"/>
            <a:r>
              <a:rPr lang="en-US" altLang="en-US" sz="2000" dirty="0">
                <a:ea typeface="Arial" panose="020B0604020202020204" pitchFamily="34" charset="0"/>
              </a:rPr>
              <a:t>A program in execution</a:t>
            </a:r>
          </a:p>
          <a:p>
            <a:pPr lvl="1" eaLnBrk="1" hangingPunct="1"/>
            <a:r>
              <a:rPr lang="en-US" altLang="en-US" sz="2000" dirty="0">
                <a:ea typeface="Arial" panose="020B0604020202020204" pitchFamily="34" charset="0"/>
              </a:rPr>
              <a:t>Most important abstraction in an OS</a:t>
            </a:r>
          </a:p>
          <a:p>
            <a:pPr lvl="1" eaLnBrk="1" hangingPunct="1"/>
            <a:r>
              <a:rPr lang="en-US" altLang="en-US" sz="2000" dirty="0">
                <a:ea typeface="Arial" panose="020B0604020202020204" pitchFamily="34" charset="0"/>
              </a:rPr>
              <a:t>Comprises of</a:t>
            </a:r>
          </a:p>
          <a:p>
            <a:pPr lvl="2" eaLnBrk="1" hangingPunct="1"/>
            <a:r>
              <a:rPr lang="en-US" altLang="en-US" sz="1800" dirty="0">
                <a:ea typeface="Arial" panose="020B0604020202020204" pitchFamily="34" charset="0"/>
              </a:rPr>
              <a:t>Code</a:t>
            </a:r>
          </a:p>
          <a:p>
            <a:pPr lvl="2" eaLnBrk="1" hangingPunct="1"/>
            <a:r>
              <a:rPr lang="en-US" altLang="en-US" sz="1800" dirty="0">
                <a:ea typeface="Arial" panose="020B0604020202020204" pitchFamily="34" charset="0"/>
              </a:rPr>
              <a:t>Data</a:t>
            </a:r>
          </a:p>
          <a:p>
            <a:pPr lvl="2" eaLnBrk="1" hangingPunct="1"/>
            <a:r>
              <a:rPr lang="en-US" altLang="en-US" sz="1800" dirty="0">
                <a:ea typeface="Arial" panose="020B0604020202020204" pitchFamily="34" charset="0"/>
              </a:rPr>
              <a:t>Stack</a:t>
            </a:r>
          </a:p>
          <a:p>
            <a:pPr lvl="2" eaLnBrk="1" hangingPunct="1"/>
            <a:r>
              <a:rPr lang="en-US" altLang="en-US" sz="1800" dirty="0">
                <a:ea typeface="Arial" panose="020B0604020202020204" pitchFamily="34" charset="0"/>
              </a:rPr>
              <a:t>Heap</a:t>
            </a:r>
          </a:p>
          <a:p>
            <a:pPr lvl="2" eaLnBrk="1" hangingPunct="1"/>
            <a:r>
              <a:rPr lang="en-US" altLang="en-US" sz="1800" dirty="0">
                <a:ea typeface="Arial" panose="020B0604020202020204" pitchFamily="34" charset="0"/>
              </a:rPr>
              <a:t>State in the OS </a:t>
            </a:r>
          </a:p>
          <a:p>
            <a:pPr lvl="2" eaLnBrk="1" hangingPunct="1"/>
            <a:r>
              <a:rPr lang="en-US" altLang="en-US" sz="1800" dirty="0">
                <a:ea typeface="Arial" panose="020B0604020202020204" pitchFamily="34" charset="0"/>
              </a:rPr>
              <a:t>Kernel stack</a:t>
            </a:r>
          </a:p>
          <a:p>
            <a:pPr lvl="1" eaLnBrk="1" hangingPunct="1"/>
            <a:r>
              <a:rPr lang="en-US" altLang="en-US" sz="2000" dirty="0">
                <a:ea typeface="Arial" panose="020B0604020202020204" pitchFamily="34" charset="0"/>
              </a:rPr>
              <a:t>State contains: registers, list of open files, related processes, etc.</a:t>
            </a:r>
          </a:p>
          <a:p>
            <a:pPr lvl="2" eaLnBrk="1" hangingPunct="1"/>
            <a:endParaRPr lang="en-US" altLang="en-US" sz="1800" dirty="0">
              <a:ea typeface="Arial" panose="020B0604020202020204" pitchFamily="34" charset="0"/>
            </a:endParaRPr>
          </a:p>
        </p:txBody>
      </p:sp>
      <p:pic>
        <p:nvPicPr>
          <p:cNvPr id="410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8800"/>
            <a:ext cx="3810000" cy="155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2" name="AutoShape 5"/>
          <p:cNvSpPr>
            <a:spLocks noChangeArrowheads="1"/>
          </p:cNvSpPr>
          <p:nvPr/>
        </p:nvSpPr>
        <p:spPr bwMode="auto">
          <a:xfrm rot="5400000">
            <a:off x="769938" y="3560762"/>
            <a:ext cx="774700" cy="485775"/>
          </a:xfrm>
          <a:prstGeom prst="rightArrow">
            <a:avLst>
              <a:gd name="adj1" fmla="val 50000"/>
              <a:gd name="adj2" fmla="val 3986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03" name="Rectangle 6"/>
          <p:cNvSpPr>
            <a:spLocks noChangeArrowheads="1"/>
          </p:cNvSpPr>
          <p:nvPr/>
        </p:nvSpPr>
        <p:spPr bwMode="auto">
          <a:xfrm>
            <a:off x="457200" y="4191000"/>
            <a:ext cx="1371600" cy="1600200"/>
          </a:xfrm>
          <a:prstGeom prst="rect">
            <a:avLst/>
          </a:prstGeom>
          <a:solidFill>
            <a:srgbClr val="C7C6D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ELF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Executable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(a.out)</a:t>
            </a:r>
          </a:p>
        </p:txBody>
      </p:sp>
      <p:sp>
        <p:nvSpPr>
          <p:cNvPr id="4104" name="Text Box 7"/>
          <p:cNvSpPr txBox="1">
            <a:spLocks noChangeArrowheads="1"/>
          </p:cNvSpPr>
          <p:nvPr/>
        </p:nvSpPr>
        <p:spPr bwMode="auto">
          <a:xfrm>
            <a:off x="1219200" y="3505200"/>
            <a:ext cx="1403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$gcc hello.c</a:t>
            </a:r>
          </a:p>
        </p:txBody>
      </p:sp>
      <p:sp>
        <p:nvSpPr>
          <p:cNvPr id="4105" name="AutoShape 8"/>
          <p:cNvSpPr>
            <a:spLocks noChangeArrowheads="1"/>
          </p:cNvSpPr>
          <p:nvPr/>
        </p:nvSpPr>
        <p:spPr bwMode="auto">
          <a:xfrm>
            <a:off x="1828800" y="4724400"/>
            <a:ext cx="990600" cy="485775"/>
          </a:xfrm>
          <a:prstGeom prst="rightArrow">
            <a:avLst>
              <a:gd name="adj1" fmla="val 50000"/>
              <a:gd name="adj2" fmla="val 5098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06" name="Rectangle 9"/>
          <p:cNvSpPr>
            <a:spLocks noChangeArrowheads="1"/>
          </p:cNvSpPr>
          <p:nvPr/>
        </p:nvSpPr>
        <p:spPr bwMode="auto">
          <a:xfrm>
            <a:off x="2819400" y="3733800"/>
            <a:ext cx="1371600" cy="2590800"/>
          </a:xfrm>
          <a:prstGeom prst="rect">
            <a:avLst/>
          </a:prstGeom>
          <a:solidFill>
            <a:srgbClr val="C7C6D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Process</a:t>
            </a:r>
          </a:p>
        </p:txBody>
      </p:sp>
      <p:sp>
        <p:nvSpPr>
          <p:cNvPr id="4107" name="Text Box 10"/>
          <p:cNvSpPr txBox="1">
            <a:spLocks noChangeArrowheads="1"/>
          </p:cNvSpPr>
          <p:nvPr/>
        </p:nvSpPr>
        <p:spPr bwMode="auto">
          <a:xfrm>
            <a:off x="1752600" y="5181600"/>
            <a:ext cx="954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$./a.out</a:t>
            </a:r>
          </a:p>
        </p:txBody>
      </p:sp>
      <p:sp>
        <p:nvSpPr>
          <p:cNvPr id="4108" name="Line 11"/>
          <p:cNvSpPr>
            <a:spLocks noChangeShapeType="1"/>
          </p:cNvSpPr>
          <p:nvPr/>
        </p:nvSpPr>
        <p:spPr bwMode="auto">
          <a:xfrm>
            <a:off x="4419600" y="1600200"/>
            <a:ext cx="0" cy="525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1" name="AutoShape 14"/>
          <p:cNvSpPr>
            <a:spLocks/>
          </p:cNvSpPr>
          <p:nvPr/>
        </p:nvSpPr>
        <p:spPr bwMode="auto">
          <a:xfrm>
            <a:off x="7433469" y="3163888"/>
            <a:ext cx="381000" cy="1219200"/>
          </a:xfrm>
          <a:prstGeom prst="rightBrace">
            <a:avLst>
              <a:gd name="adj1" fmla="val 26667"/>
              <a:gd name="adj2" fmla="val 50000"/>
            </a:avLst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12" name="Text Box 15"/>
          <p:cNvSpPr txBox="1">
            <a:spLocks noChangeArrowheads="1"/>
          </p:cNvSpPr>
          <p:nvPr/>
        </p:nvSpPr>
        <p:spPr bwMode="auto">
          <a:xfrm>
            <a:off x="7848600" y="3171825"/>
            <a:ext cx="13144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</a:rPr>
              <a:t>In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</a:rPr>
              <a:t>user space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</a:rPr>
              <a:t>of process</a:t>
            </a:r>
          </a:p>
        </p:txBody>
      </p:sp>
      <p:sp>
        <p:nvSpPr>
          <p:cNvPr id="4113" name="Text Box 15"/>
          <p:cNvSpPr txBox="1">
            <a:spLocks noChangeArrowheads="1"/>
          </p:cNvSpPr>
          <p:nvPr/>
        </p:nvSpPr>
        <p:spPr bwMode="auto">
          <a:xfrm>
            <a:off x="7814469" y="4517232"/>
            <a:ext cx="16002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</a:rPr>
              <a:t>In the kernel space</a:t>
            </a:r>
          </a:p>
        </p:txBody>
      </p:sp>
      <p:sp>
        <p:nvSpPr>
          <p:cNvPr id="4114" name="AutoShape 14"/>
          <p:cNvSpPr>
            <a:spLocks/>
          </p:cNvSpPr>
          <p:nvPr/>
        </p:nvSpPr>
        <p:spPr bwMode="auto">
          <a:xfrm>
            <a:off x="7391401" y="4527551"/>
            <a:ext cx="381000" cy="685800"/>
          </a:xfrm>
          <a:prstGeom prst="rightBrace">
            <a:avLst>
              <a:gd name="adj1" fmla="val 26667"/>
              <a:gd name="adj2" fmla="val 50000"/>
            </a:avLst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145575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20101B-FAB9-4310-838D-0A058EA39190}" type="slidenum">
              <a:rPr lang="en-US" altLang="en-US" sz="1400">
                <a:solidFill>
                  <a:schemeClr val="bg2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solidFill>
                <a:schemeClr val="bg2"/>
              </a:solidFill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Process Stacks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89818"/>
            <a:ext cx="4953000" cy="4525963"/>
          </a:xfrm>
        </p:spPr>
        <p:txBody>
          <a:bodyPr/>
          <a:lstStyle/>
          <a:p>
            <a:pPr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Each process has 2 stacks</a:t>
            </a:r>
          </a:p>
          <a:p>
            <a:pPr lvl="1" eaLnBrk="1" hangingPunct="1"/>
            <a:r>
              <a:rPr lang="en-US" altLang="en-US" sz="2000" dirty="0">
                <a:ea typeface="Arial" panose="020B0604020202020204" pitchFamily="34" charset="0"/>
              </a:rPr>
              <a:t>User space stack</a:t>
            </a:r>
          </a:p>
          <a:p>
            <a:pPr lvl="2" eaLnBrk="1" hangingPunct="1"/>
            <a:r>
              <a:rPr lang="en-US" altLang="en-US" sz="1800" dirty="0">
                <a:ea typeface="Arial" panose="020B0604020202020204" pitchFamily="34" charset="0"/>
              </a:rPr>
              <a:t>Used when executing user code</a:t>
            </a:r>
          </a:p>
          <a:p>
            <a:pPr lvl="1" eaLnBrk="1" hangingPunct="1"/>
            <a:r>
              <a:rPr lang="en-US" altLang="en-US" sz="2000" dirty="0">
                <a:ea typeface="Arial" panose="020B0604020202020204" pitchFamily="34" charset="0"/>
              </a:rPr>
              <a:t>Kernel space stack</a:t>
            </a:r>
          </a:p>
          <a:p>
            <a:pPr lvl="2" eaLnBrk="1" hangingPunct="1"/>
            <a:r>
              <a:rPr lang="en-US" altLang="en-US" sz="1800" dirty="0">
                <a:ea typeface="Arial" panose="020B0604020202020204" pitchFamily="34" charset="0"/>
              </a:rPr>
              <a:t>Used when executing kernel code (for </a:t>
            </a:r>
            <a:r>
              <a:rPr lang="en-US" altLang="en-US" sz="1800" dirty="0" err="1">
                <a:ea typeface="Arial" panose="020B0604020202020204" pitchFamily="34" charset="0"/>
              </a:rPr>
              <a:t>eg</a:t>
            </a:r>
            <a:r>
              <a:rPr lang="en-US" altLang="en-US" sz="1800" dirty="0">
                <a:ea typeface="Arial" panose="020B0604020202020204" pitchFamily="34" charset="0"/>
              </a:rPr>
              <a:t>. during system calls)</a:t>
            </a:r>
          </a:p>
          <a:p>
            <a:pPr lvl="1" eaLnBrk="1" hangingPunct="1"/>
            <a:r>
              <a:rPr lang="en-US" altLang="en-US" sz="1600" dirty="0">
                <a:solidFill>
                  <a:srgbClr val="0000CC"/>
                </a:solidFill>
                <a:ea typeface="Arial" panose="020B0604020202020204" pitchFamily="34" charset="0"/>
              </a:rPr>
              <a:t>Advantage :</a:t>
            </a:r>
            <a:r>
              <a:rPr lang="en-US" altLang="en-US" sz="1600" dirty="0">
                <a:ea typeface="Arial" panose="020B0604020202020204" pitchFamily="34" charset="0"/>
              </a:rPr>
              <a:t> Kernel can execute even if user stack is corrupted</a:t>
            </a:r>
          </a:p>
          <a:p>
            <a:pPr lvl="1" eaLnBrk="1" hangingPunct="1">
              <a:buFontTx/>
              <a:buNone/>
            </a:pPr>
            <a:r>
              <a:rPr lang="en-US" altLang="en-US" sz="1600" dirty="0">
                <a:ea typeface="Arial" panose="020B0604020202020204" pitchFamily="34" charset="0"/>
              </a:rPr>
              <a:t>     (Attacks that target the stack, such as buffer overflow attack, will not affect the kernel)</a:t>
            </a:r>
          </a:p>
          <a:p>
            <a:pPr lvl="1" eaLnBrk="1" hangingPunct="1">
              <a:buFontTx/>
              <a:buNone/>
            </a:pPr>
            <a:endParaRPr lang="en-US" altLang="en-US" sz="1600" dirty="0">
              <a:ea typeface="Arial" panose="020B0604020202020204" pitchFamily="34" charset="0"/>
            </a:endParaRPr>
          </a:p>
          <a:p>
            <a:pPr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Each process will have it’s own kernel stack</a:t>
            </a:r>
          </a:p>
          <a:p>
            <a:pPr eaLnBrk="1" hangingPunct="1"/>
            <a:endParaRPr lang="en-US" altLang="en-US" sz="20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18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panose="020B0600070205080204" pitchFamily="34" charset="-128"/>
              </a:rPr>
              <a:t>Why so many kernel stacks? Why not use the user stack? </a:t>
            </a:r>
            <a:r>
              <a:rPr lang="en-US" altLang="en-US" sz="16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ＭＳ Ｐゴシック" panose="020B0600070205080204" pitchFamily="34" charset="-128"/>
              </a:rPr>
              <a:t>[Hint: Re-entrant kernel]</a:t>
            </a:r>
            <a:endParaRPr lang="en-US" altLang="en-US" sz="18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sz="1400" dirty="0">
              <a:ea typeface="ＭＳ Ｐゴシック" panose="020B0600070205080204" pitchFamily="34" charset="-128"/>
            </a:endParaRPr>
          </a:p>
        </p:txBody>
      </p:sp>
      <p:sp>
        <p:nvSpPr>
          <p:cNvPr id="10245" name="Rectangle 4"/>
          <p:cNvSpPr>
            <a:spLocks noChangeArrowheads="1"/>
          </p:cNvSpPr>
          <p:nvPr/>
        </p:nvSpPr>
        <p:spPr bwMode="auto">
          <a:xfrm>
            <a:off x="5562600" y="4343400"/>
            <a:ext cx="14478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Text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(instructions)</a:t>
            </a:r>
          </a:p>
        </p:txBody>
      </p:sp>
      <p:sp>
        <p:nvSpPr>
          <p:cNvPr id="10246" name="Rectangle 5"/>
          <p:cNvSpPr>
            <a:spLocks noChangeArrowheads="1"/>
          </p:cNvSpPr>
          <p:nvPr/>
        </p:nvSpPr>
        <p:spPr bwMode="auto">
          <a:xfrm>
            <a:off x="5562600" y="3810000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Data</a:t>
            </a:r>
          </a:p>
        </p:txBody>
      </p:sp>
      <p:sp>
        <p:nvSpPr>
          <p:cNvPr id="10247" name="Rectangle 6"/>
          <p:cNvSpPr>
            <a:spLocks noChangeArrowheads="1"/>
          </p:cNvSpPr>
          <p:nvPr/>
        </p:nvSpPr>
        <p:spPr bwMode="auto">
          <a:xfrm>
            <a:off x="5562600" y="2743200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Heap</a:t>
            </a:r>
          </a:p>
        </p:txBody>
      </p:sp>
      <p:sp>
        <p:nvSpPr>
          <p:cNvPr id="10248" name="Rectangle 7"/>
          <p:cNvSpPr>
            <a:spLocks noChangeArrowheads="1"/>
          </p:cNvSpPr>
          <p:nvPr/>
        </p:nvSpPr>
        <p:spPr bwMode="auto">
          <a:xfrm>
            <a:off x="7467600" y="1600200"/>
            <a:ext cx="1447800" cy="3657600"/>
          </a:xfrm>
          <a:prstGeom prst="rect">
            <a:avLst/>
          </a:prstGeom>
          <a:solidFill>
            <a:srgbClr val="ECB2E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/>
          </a:p>
        </p:txBody>
      </p:sp>
      <p:sp>
        <p:nvSpPr>
          <p:cNvPr id="10249" name="Rectangle 8"/>
          <p:cNvSpPr>
            <a:spLocks noChangeArrowheads="1"/>
          </p:cNvSpPr>
          <p:nvPr/>
        </p:nvSpPr>
        <p:spPr bwMode="auto">
          <a:xfrm>
            <a:off x="5562600" y="3276600"/>
            <a:ext cx="1447800" cy="5334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User stack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for process</a:t>
            </a:r>
          </a:p>
        </p:txBody>
      </p:sp>
      <p:sp>
        <p:nvSpPr>
          <p:cNvPr id="10250" name="Line 14"/>
          <p:cNvSpPr>
            <a:spLocks noChangeShapeType="1"/>
          </p:cNvSpPr>
          <p:nvPr/>
        </p:nvSpPr>
        <p:spPr bwMode="auto">
          <a:xfrm flipH="1">
            <a:off x="7467600" y="45720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51" name="Rectangle 15"/>
          <p:cNvSpPr>
            <a:spLocks noChangeArrowheads="1"/>
          </p:cNvSpPr>
          <p:nvPr/>
        </p:nvSpPr>
        <p:spPr bwMode="auto">
          <a:xfrm>
            <a:off x="7467600" y="2905125"/>
            <a:ext cx="1371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Kernel Stack for process</a:t>
            </a:r>
          </a:p>
        </p:txBody>
      </p:sp>
      <p:sp>
        <p:nvSpPr>
          <p:cNvPr id="10252" name="Rectangle 16"/>
          <p:cNvSpPr>
            <a:spLocks noChangeArrowheads="1"/>
          </p:cNvSpPr>
          <p:nvPr/>
        </p:nvSpPr>
        <p:spPr bwMode="auto">
          <a:xfrm>
            <a:off x="7467600" y="2895600"/>
            <a:ext cx="1447800" cy="4572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53" name="Rectangle 17"/>
          <p:cNvSpPr>
            <a:spLocks noChangeArrowheads="1"/>
          </p:cNvSpPr>
          <p:nvPr/>
        </p:nvSpPr>
        <p:spPr bwMode="auto">
          <a:xfrm>
            <a:off x="5257800" y="5410200"/>
            <a:ext cx="1981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Process Address Space</a:t>
            </a:r>
          </a:p>
        </p:txBody>
      </p:sp>
      <p:sp>
        <p:nvSpPr>
          <p:cNvPr id="10254" name="Rectangle 7"/>
          <p:cNvSpPr>
            <a:spLocks noChangeArrowheads="1"/>
          </p:cNvSpPr>
          <p:nvPr/>
        </p:nvSpPr>
        <p:spPr bwMode="auto">
          <a:xfrm>
            <a:off x="5562600" y="1905000"/>
            <a:ext cx="1447800" cy="304800"/>
          </a:xfrm>
          <a:prstGeom prst="rect">
            <a:avLst/>
          </a:prstGeom>
          <a:solidFill>
            <a:srgbClr val="ECB2E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trapframe</a:t>
            </a:r>
          </a:p>
        </p:txBody>
      </p:sp>
      <p:sp>
        <p:nvSpPr>
          <p:cNvPr id="10255" name="Rectangle 7"/>
          <p:cNvSpPr>
            <a:spLocks noChangeArrowheads="1"/>
          </p:cNvSpPr>
          <p:nvPr/>
        </p:nvSpPr>
        <p:spPr bwMode="auto">
          <a:xfrm>
            <a:off x="5562600" y="1600200"/>
            <a:ext cx="1447800" cy="304800"/>
          </a:xfrm>
          <a:prstGeom prst="rect">
            <a:avLst/>
          </a:prstGeom>
          <a:solidFill>
            <a:srgbClr val="ECB2E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trampoline</a:t>
            </a:r>
          </a:p>
        </p:txBody>
      </p:sp>
      <p:sp>
        <p:nvSpPr>
          <p:cNvPr id="10256" name="Rectangle 7"/>
          <p:cNvSpPr>
            <a:spLocks noChangeArrowheads="1"/>
          </p:cNvSpPr>
          <p:nvPr/>
        </p:nvSpPr>
        <p:spPr bwMode="auto">
          <a:xfrm>
            <a:off x="5562600" y="2209800"/>
            <a:ext cx="14478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/>
          </a:p>
        </p:txBody>
      </p:sp>
      <p:sp>
        <p:nvSpPr>
          <p:cNvPr id="10257" name="Rectangle 17"/>
          <p:cNvSpPr>
            <a:spLocks noChangeArrowheads="1"/>
          </p:cNvSpPr>
          <p:nvPr/>
        </p:nvSpPr>
        <p:spPr bwMode="auto">
          <a:xfrm>
            <a:off x="7134225" y="5486400"/>
            <a:ext cx="1981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Kernel Address Space</a:t>
            </a:r>
          </a:p>
        </p:txBody>
      </p:sp>
      <p:sp>
        <p:nvSpPr>
          <p:cNvPr id="10258" name="Rectangle 16"/>
          <p:cNvSpPr>
            <a:spLocks noChangeArrowheads="1"/>
          </p:cNvSpPr>
          <p:nvPr/>
        </p:nvSpPr>
        <p:spPr bwMode="auto">
          <a:xfrm>
            <a:off x="7467600" y="4572000"/>
            <a:ext cx="1447800" cy="228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Proc (PCB)</a:t>
            </a:r>
          </a:p>
        </p:txBody>
      </p:sp>
    </p:spTree>
    <p:extLst>
      <p:ext uri="{BB962C8B-B14F-4D97-AF65-F5344CB8AC3E}">
        <p14:creationId xmlns:p14="http://schemas.microsoft.com/office/powerpoint/2010/main" val="436833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5EBB9D-AF92-4676-A52A-D897D895BBEE}" type="slidenum">
              <a:rPr lang="en-US" altLang="en-US" sz="1400">
                <a:solidFill>
                  <a:schemeClr val="bg2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solidFill>
                <a:schemeClr val="bg2"/>
              </a:solidFill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-334962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Program ≠ Process</a:t>
            </a:r>
          </a:p>
        </p:txBody>
      </p:sp>
      <p:graphicFrame>
        <p:nvGraphicFramePr>
          <p:cNvPr id="80935" name="Group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0458488"/>
              </p:ext>
            </p:extLst>
          </p:nvPr>
        </p:nvGraphicFramePr>
        <p:xfrm>
          <a:off x="533399" y="1112830"/>
          <a:ext cx="8109560" cy="1968573"/>
        </p:xfrm>
        <a:graphic>
          <a:graphicData uri="http://schemas.openxmlformats.org/drawingml/2006/table">
            <a:tbl>
              <a:tblPr/>
              <a:tblGrid>
                <a:gridCol w="4138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0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9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Program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Process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8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code + static and global data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Dynamic instantiation of code + data + heap + stack + process state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8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One program can create several processes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 process is unique isolated entity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89DC41D-02A0-5EEA-FF0D-9412679DD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161" y="3429000"/>
            <a:ext cx="3805677" cy="328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085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D9C18A1-E10D-464E-ADF5-DBECC2503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Operations on Processes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EED5598-4581-4F9D-8CEF-0D1A5A554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313" y="1233488"/>
            <a:ext cx="7381875" cy="4448175"/>
          </a:xfrm>
        </p:spPr>
        <p:txBody>
          <a:bodyPr/>
          <a:lstStyle/>
          <a:p>
            <a:r>
              <a:rPr lang="en-US" altLang="en-US" sz="2400" dirty="0"/>
              <a:t>System must provide mechanisms for:</a:t>
            </a:r>
          </a:p>
          <a:p>
            <a:pPr lvl="1"/>
            <a:r>
              <a:rPr lang="en-US" altLang="en-US" sz="2400" dirty="0"/>
              <a:t> Process creation</a:t>
            </a:r>
          </a:p>
          <a:p>
            <a:pPr lvl="1"/>
            <a:r>
              <a:rPr lang="en-US" altLang="en-US" sz="2400" dirty="0"/>
              <a:t> Process termination</a:t>
            </a:r>
          </a:p>
        </p:txBody>
      </p:sp>
    </p:spTree>
    <p:extLst>
      <p:ext uri="{BB962C8B-B14F-4D97-AF65-F5344CB8AC3E}">
        <p14:creationId xmlns:p14="http://schemas.microsoft.com/office/powerpoint/2010/main" val="1836846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49A4D77-B9A2-46FC-972F-27C60015EE3D}" type="slidenum">
              <a:rPr lang="en-US" altLang="en-US" sz="1400">
                <a:solidFill>
                  <a:schemeClr val="bg2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solidFill>
                <a:schemeClr val="bg2"/>
              </a:solidFill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Creating a Process by Cloning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>
                <a:ea typeface="ＭＳ Ｐゴシック" panose="020B0600070205080204" pitchFamily="34" charset="-128"/>
              </a:rPr>
              <a:t>Cloning</a:t>
            </a:r>
          </a:p>
          <a:p>
            <a:pPr lvl="1" eaLnBrk="1" hangingPunct="1"/>
            <a:r>
              <a:rPr lang="en-US" altLang="en-US" sz="2400" dirty="0">
                <a:ea typeface="Arial" panose="020B0604020202020204" pitchFamily="34" charset="0"/>
              </a:rPr>
              <a:t>Child process is an exact </a:t>
            </a:r>
            <a:r>
              <a:rPr lang="en-US" altLang="en-US" sz="2400" u="sng" dirty="0">
                <a:ea typeface="Arial" panose="020B0604020202020204" pitchFamily="34" charset="0"/>
              </a:rPr>
              <a:t>replica</a:t>
            </a:r>
            <a:r>
              <a:rPr lang="en-US" altLang="en-US" sz="2400" dirty="0">
                <a:ea typeface="Arial" panose="020B0604020202020204" pitchFamily="34" charset="0"/>
              </a:rPr>
              <a:t> of the parent</a:t>
            </a:r>
          </a:p>
          <a:p>
            <a:pPr lvl="1" eaLnBrk="1" hangingPunct="1"/>
            <a:r>
              <a:rPr lang="en-US" altLang="en-US" sz="2400" dirty="0">
                <a:ea typeface="Arial" panose="020B0604020202020204" pitchFamily="34" charset="0"/>
              </a:rPr>
              <a:t>Fork system call</a:t>
            </a:r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914400" y="3276600"/>
            <a:ext cx="1524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Process 1</a:t>
            </a:r>
          </a:p>
        </p:txBody>
      </p:sp>
      <p:sp>
        <p:nvSpPr>
          <p:cNvPr id="22534" name="Rectangle 5"/>
          <p:cNvSpPr>
            <a:spLocks noChangeArrowheads="1"/>
          </p:cNvSpPr>
          <p:nvPr/>
        </p:nvSpPr>
        <p:spPr bwMode="auto">
          <a:xfrm>
            <a:off x="914400" y="4724400"/>
            <a:ext cx="1524000" cy="1295400"/>
          </a:xfrm>
          <a:prstGeom prst="rect">
            <a:avLst/>
          </a:prstGeom>
          <a:solidFill>
            <a:srgbClr val="ECB2E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Kernel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(execute fork)</a:t>
            </a:r>
          </a:p>
        </p:txBody>
      </p:sp>
      <p:sp>
        <p:nvSpPr>
          <p:cNvPr id="22535" name="Line 6"/>
          <p:cNvSpPr>
            <a:spLocks noChangeShapeType="1"/>
          </p:cNvSpPr>
          <p:nvPr/>
        </p:nvSpPr>
        <p:spPr bwMode="auto">
          <a:xfrm>
            <a:off x="1676400" y="37338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36" name="Text Box 7"/>
          <p:cNvSpPr txBox="1">
            <a:spLocks noChangeArrowheads="1"/>
          </p:cNvSpPr>
          <p:nvPr/>
        </p:nvSpPr>
        <p:spPr bwMode="auto">
          <a:xfrm>
            <a:off x="1736725" y="3998913"/>
            <a:ext cx="13255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system call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fork</a:t>
            </a:r>
          </a:p>
        </p:txBody>
      </p:sp>
      <p:sp>
        <p:nvSpPr>
          <p:cNvPr id="22537" name="Rectangle 8"/>
          <p:cNvSpPr>
            <a:spLocks noChangeArrowheads="1"/>
          </p:cNvSpPr>
          <p:nvPr/>
        </p:nvSpPr>
        <p:spPr bwMode="auto">
          <a:xfrm>
            <a:off x="4572000" y="3276600"/>
            <a:ext cx="1524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Process 1</a:t>
            </a:r>
          </a:p>
        </p:txBody>
      </p:sp>
      <p:sp>
        <p:nvSpPr>
          <p:cNvPr id="22538" name="Rectangle 9"/>
          <p:cNvSpPr>
            <a:spLocks noChangeArrowheads="1"/>
          </p:cNvSpPr>
          <p:nvPr/>
        </p:nvSpPr>
        <p:spPr bwMode="auto">
          <a:xfrm>
            <a:off x="5638800" y="4724400"/>
            <a:ext cx="1524000" cy="1295400"/>
          </a:xfrm>
          <a:prstGeom prst="rect">
            <a:avLst/>
          </a:prstGeom>
          <a:solidFill>
            <a:srgbClr val="ECB2E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Kernel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(execute fork)</a:t>
            </a:r>
          </a:p>
        </p:txBody>
      </p:sp>
      <p:sp>
        <p:nvSpPr>
          <p:cNvPr id="22539" name="Line 10"/>
          <p:cNvSpPr>
            <a:spLocks noChangeShapeType="1"/>
          </p:cNvSpPr>
          <p:nvPr/>
        </p:nvSpPr>
        <p:spPr bwMode="auto">
          <a:xfrm>
            <a:off x="5334000" y="37338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40" name="Rectangle 11"/>
          <p:cNvSpPr>
            <a:spLocks noChangeArrowheads="1"/>
          </p:cNvSpPr>
          <p:nvPr/>
        </p:nvSpPr>
        <p:spPr bwMode="auto">
          <a:xfrm>
            <a:off x="6248400" y="3276600"/>
            <a:ext cx="1524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Process 2</a:t>
            </a:r>
          </a:p>
        </p:txBody>
      </p:sp>
      <p:sp>
        <p:nvSpPr>
          <p:cNvPr id="22541" name="Text Box 12"/>
          <p:cNvSpPr txBox="1">
            <a:spLocks noChangeArrowheads="1"/>
          </p:cNvSpPr>
          <p:nvPr/>
        </p:nvSpPr>
        <p:spPr bwMode="auto">
          <a:xfrm>
            <a:off x="4632325" y="2909888"/>
            <a:ext cx="8651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Parent </a:t>
            </a:r>
          </a:p>
        </p:txBody>
      </p:sp>
      <p:sp>
        <p:nvSpPr>
          <p:cNvPr id="22542" name="Text Box 13"/>
          <p:cNvSpPr txBox="1">
            <a:spLocks noChangeArrowheads="1"/>
          </p:cNvSpPr>
          <p:nvPr/>
        </p:nvSpPr>
        <p:spPr bwMode="auto">
          <a:xfrm>
            <a:off x="6400800" y="2909888"/>
            <a:ext cx="71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Child </a:t>
            </a:r>
          </a:p>
        </p:txBody>
      </p:sp>
      <p:sp>
        <p:nvSpPr>
          <p:cNvPr id="22543" name="Text Box 14"/>
          <p:cNvSpPr txBox="1">
            <a:spLocks noChangeArrowheads="1"/>
          </p:cNvSpPr>
          <p:nvPr/>
        </p:nvSpPr>
        <p:spPr bwMode="auto">
          <a:xfrm>
            <a:off x="3733800" y="4876800"/>
            <a:ext cx="1082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=&gt;</a:t>
            </a:r>
          </a:p>
        </p:txBody>
      </p:sp>
    </p:spTree>
    <p:extLst>
      <p:ext uri="{BB962C8B-B14F-4D97-AF65-F5344CB8AC3E}">
        <p14:creationId xmlns:p14="http://schemas.microsoft.com/office/powerpoint/2010/main" val="120064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442EC-CABB-878B-FFDE-2B88DFC8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9CDDF-FA4B-2AC6-1AFC-2703D41B7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fork() for process creation</a:t>
            </a:r>
          </a:p>
          <a:p>
            <a:endParaRPr lang="en-IN" dirty="0"/>
          </a:p>
          <a:p>
            <a:r>
              <a:rPr lang="en-IN" dirty="0"/>
              <a:t>Child address space is a copy of the parent</a:t>
            </a:r>
          </a:p>
          <a:p>
            <a:pPr lvl="1"/>
            <a:r>
              <a:rPr lang="en-IN" dirty="0"/>
              <a:t>Same program</a:t>
            </a:r>
          </a:p>
          <a:p>
            <a:pPr lvl="1"/>
            <a:r>
              <a:rPr lang="en-IN" dirty="0"/>
              <a:t>Same Data</a:t>
            </a:r>
          </a:p>
          <a:p>
            <a:pPr lvl="1"/>
            <a:r>
              <a:rPr lang="en-IN" dirty="0"/>
              <a:t>Parent and child have their own copies of the variables</a:t>
            </a:r>
          </a:p>
          <a:p>
            <a:pPr lvl="2"/>
            <a:r>
              <a:rPr lang="en-IN" dirty="0"/>
              <a:t>Copy-On-Write (COW) optimization on Linux</a:t>
            </a:r>
          </a:p>
          <a:p>
            <a:pPr lvl="1"/>
            <a:endParaRPr lang="en-IN" dirty="0"/>
          </a:p>
          <a:p>
            <a:r>
              <a:rPr lang="en-IN" dirty="0"/>
              <a:t>Both child and parent continue execution at the instruction after fork()</a:t>
            </a:r>
          </a:p>
          <a:p>
            <a:endParaRPr lang="en-IN" dirty="0"/>
          </a:p>
          <a:p>
            <a:r>
              <a:rPr lang="en-IN" u="sng" dirty="0"/>
              <a:t>fork() returns 0 to child, and </a:t>
            </a:r>
            <a:r>
              <a:rPr lang="en-IN" u="sng" dirty="0" err="1"/>
              <a:t>pid</a:t>
            </a:r>
            <a:r>
              <a:rPr lang="en-IN" u="sng" dirty="0"/>
              <a:t> of child to parent</a:t>
            </a:r>
          </a:p>
        </p:txBody>
      </p:sp>
    </p:spTree>
    <p:extLst>
      <p:ext uri="{BB962C8B-B14F-4D97-AF65-F5344CB8AC3E}">
        <p14:creationId xmlns:p14="http://schemas.microsoft.com/office/powerpoint/2010/main" val="3967765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010400" y="6610350"/>
            <a:ext cx="2133600" cy="323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33408C-20B7-4242-B964-7454A70AD661}" type="slidenum">
              <a:rPr lang="en-US" altLang="en-US" sz="1400">
                <a:solidFill>
                  <a:schemeClr val="bg2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solidFill>
                <a:schemeClr val="bg2"/>
              </a:solidFill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Fork()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457200" y="4267200"/>
            <a:ext cx="1447800" cy="144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Text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(instructions)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457200" y="3733800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Data</a:t>
            </a: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457200" y="3200400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Stack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457200" y="2667000"/>
            <a:ext cx="1447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457200" y="2667000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Heap</a:t>
            </a:r>
          </a:p>
        </p:txBody>
      </p:sp>
      <p:sp>
        <p:nvSpPr>
          <p:cNvPr id="8201" name="Rectangle 13"/>
          <p:cNvSpPr>
            <a:spLocks noChangeArrowheads="1"/>
          </p:cNvSpPr>
          <p:nvPr/>
        </p:nvSpPr>
        <p:spPr bwMode="auto">
          <a:xfrm>
            <a:off x="7162800" y="4343400"/>
            <a:ext cx="1447800" cy="1447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Text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(instructions)</a:t>
            </a:r>
          </a:p>
        </p:txBody>
      </p:sp>
      <p:sp>
        <p:nvSpPr>
          <p:cNvPr id="8202" name="Rectangle 14"/>
          <p:cNvSpPr>
            <a:spLocks noChangeArrowheads="1"/>
          </p:cNvSpPr>
          <p:nvPr/>
        </p:nvSpPr>
        <p:spPr bwMode="auto">
          <a:xfrm>
            <a:off x="7162800" y="3810000"/>
            <a:ext cx="1447800" cy="533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Data</a:t>
            </a:r>
          </a:p>
        </p:txBody>
      </p:sp>
      <p:sp>
        <p:nvSpPr>
          <p:cNvPr id="8203" name="Rectangle 15"/>
          <p:cNvSpPr>
            <a:spLocks noChangeArrowheads="1"/>
          </p:cNvSpPr>
          <p:nvPr/>
        </p:nvSpPr>
        <p:spPr bwMode="auto">
          <a:xfrm>
            <a:off x="7162800" y="3276600"/>
            <a:ext cx="1447800" cy="533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Stack</a:t>
            </a:r>
          </a:p>
        </p:txBody>
      </p:sp>
      <p:sp>
        <p:nvSpPr>
          <p:cNvPr id="8204" name="Rectangle 16"/>
          <p:cNvSpPr>
            <a:spLocks noChangeArrowheads="1"/>
          </p:cNvSpPr>
          <p:nvPr/>
        </p:nvSpPr>
        <p:spPr bwMode="auto">
          <a:xfrm>
            <a:off x="7162800" y="2743200"/>
            <a:ext cx="1447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05" name="Rectangle 17"/>
          <p:cNvSpPr>
            <a:spLocks noChangeArrowheads="1"/>
          </p:cNvSpPr>
          <p:nvPr/>
        </p:nvSpPr>
        <p:spPr bwMode="auto">
          <a:xfrm>
            <a:off x="7162800" y="2743200"/>
            <a:ext cx="1447800" cy="533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Heap</a:t>
            </a:r>
          </a:p>
        </p:txBody>
      </p:sp>
      <p:sp>
        <p:nvSpPr>
          <p:cNvPr id="78871" name="Text Box 23"/>
          <p:cNvSpPr txBox="1">
            <a:spLocks noChangeArrowheads="1"/>
          </p:cNvSpPr>
          <p:nvPr/>
        </p:nvSpPr>
        <p:spPr bwMode="auto">
          <a:xfrm>
            <a:off x="457200" y="1676400"/>
            <a:ext cx="90281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8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Parent</a:t>
            </a:r>
            <a:endParaRPr lang="en-US" altLang="en-US" sz="1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8872" name="Text Box 24"/>
          <p:cNvSpPr txBox="1">
            <a:spLocks noChangeArrowheads="1"/>
          </p:cNvSpPr>
          <p:nvPr/>
        </p:nvSpPr>
        <p:spPr bwMode="auto">
          <a:xfrm>
            <a:off x="7505826" y="1746012"/>
            <a:ext cx="7617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8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Child</a:t>
            </a:r>
            <a:endParaRPr lang="en-US" altLang="en-US" sz="1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457200" y="2133600"/>
            <a:ext cx="1447800" cy="3124200"/>
            <a:chOff x="288" y="1344"/>
            <a:chExt cx="912" cy="1968"/>
          </a:xfrm>
        </p:grpSpPr>
        <p:sp>
          <p:nvSpPr>
            <p:cNvPr id="8243" name="Line 25"/>
            <p:cNvSpPr>
              <a:spLocks noChangeShapeType="1"/>
            </p:cNvSpPr>
            <p:nvPr/>
          </p:nvSpPr>
          <p:spPr bwMode="auto">
            <a:xfrm>
              <a:off x="288" y="3312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4" name="Line 26"/>
            <p:cNvSpPr>
              <a:spLocks noChangeShapeType="1"/>
            </p:cNvSpPr>
            <p:nvPr/>
          </p:nvSpPr>
          <p:spPr bwMode="auto">
            <a:xfrm>
              <a:off x="288" y="3024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5" name="Line 27"/>
            <p:cNvSpPr>
              <a:spLocks noChangeShapeType="1"/>
            </p:cNvSpPr>
            <p:nvPr/>
          </p:nvSpPr>
          <p:spPr bwMode="auto">
            <a:xfrm>
              <a:off x="288" y="2688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6" name="Line 28"/>
            <p:cNvSpPr>
              <a:spLocks noChangeShapeType="1"/>
            </p:cNvSpPr>
            <p:nvPr/>
          </p:nvSpPr>
          <p:spPr bwMode="auto">
            <a:xfrm>
              <a:off x="288" y="2352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7" name="Line 29"/>
            <p:cNvSpPr>
              <a:spLocks noChangeShapeType="1"/>
            </p:cNvSpPr>
            <p:nvPr/>
          </p:nvSpPr>
          <p:spPr bwMode="auto">
            <a:xfrm>
              <a:off x="288" y="2016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8" name="Line 30"/>
            <p:cNvSpPr>
              <a:spLocks noChangeShapeType="1"/>
            </p:cNvSpPr>
            <p:nvPr/>
          </p:nvSpPr>
          <p:spPr bwMode="auto">
            <a:xfrm>
              <a:off x="288" y="1680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9" name="Line 31"/>
            <p:cNvSpPr>
              <a:spLocks noChangeShapeType="1"/>
            </p:cNvSpPr>
            <p:nvPr/>
          </p:nvSpPr>
          <p:spPr bwMode="auto">
            <a:xfrm>
              <a:off x="288" y="1344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7162800" y="2209800"/>
            <a:ext cx="1447800" cy="3124200"/>
            <a:chOff x="288" y="1344"/>
            <a:chExt cx="912" cy="1968"/>
          </a:xfrm>
        </p:grpSpPr>
        <p:sp>
          <p:nvSpPr>
            <p:cNvPr id="8236" name="Line 34"/>
            <p:cNvSpPr>
              <a:spLocks noChangeShapeType="1"/>
            </p:cNvSpPr>
            <p:nvPr/>
          </p:nvSpPr>
          <p:spPr bwMode="auto">
            <a:xfrm>
              <a:off x="288" y="3312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37" name="Line 35"/>
            <p:cNvSpPr>
              <a:spLocks noChangeShapeType="1"/>
            </p:cNvSpPr>
            <p:nvPr/>
          </p:nvSpPr>
          <p:spPr bwMode="auto">
            <a:xfrm>
              <a:off x="288" y="3024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38" name="Line 36"/>
            <p:cNvSpPr>
              <a:spLocks noChangeShapeType="1"/>
            </p:cNvSpPr>
            <p:nvPr/>
          </p:nvSpPr>
          <p:spPr bwMode="auto">
            <a:xfrm>
              <a:off x="288" y="2688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39" name="Line 37"/>
            <p:cNvSpPr>
              <a:spLocks noChangeShapeType="1"/>
            </p:cNvSpPr>
            <p:nvPr/>
          </p:nvSpPr>
          <p:spPr bwMode="auto">
            <a:xfrm>
              <a:off x="288" y="2352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0" name="Line 38"/>
            <p:cNvSpPr>
              <a:spLocks noChangeShapeType="1"/>
            </p:cNvSpPr>
            <p:nvPr/>
          </p:nvSpPr>
          <p:spPr bwMode="auto">
            <a:xfrm>
              <a:off x="288" y="2016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1" name="Line 39"/>
            <p:cNvSpPr>
              <a:spLocks noChangeShapeType="1"/>
            </p:cNvSpPr>
            <p:nvPr/>
          </p:nvSpPr>
          <p:spPr bwMode="auto">
            <a:xfrm>
              <a:off x="288" y="1680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2" name="Line 40"/>
            <p:cNvSpPr>
              <a:spLocks noChangeShapeType="1"/>
            </p:cNvSpPr>
            <p:nvPr/>
          </p:nvSpPr>
          <p:spPr bwMode="auto">
            <a:xfrm>
              <a:off x="288" y="1344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211" name="Line 42"/>
          <p:cNvSpPr>
            <a:spLocks noChangeShapeType="1"/>
          </p:cNvSpPr>
          <p:nvPr/>
        </p:nvSpPr>
        <p:spPr bwMode="auto">
          <a:xfrm>
            <a:off x="2743200" y="1600200"/>
            <a:ext cx="0" cy="502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12" name="Rectangle 43"/>
          <p:cNvSpPr>
            <a:spLocks noChangeArrowheads="1"/>
          </p:cNvSpPr>
          <p:nvPr/>
        </p:nvSpPr>
        <p:spPr bwMode="auto">
          <a:xfrm>
            <a:off x="3810000" y="1981200"/>
            <a:ext cx="1447800" cy="533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13" name="Rectangle 44"/>
          <p:cNvSpPr>
            <a:spLocks noChangeArrowheads="1"/>
          </p:cNvSpPr>
          <p:nvPr/>
        </p:nvSpPr>
        <p:spPr bwMode="auto">
          <a:xfrm>
            <a:off x="3817145" y="4664809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14" name="Rectangle 45"/>
          <p:cNvSpPr>
            <a:spLocks noChangeArrowheads="1"/>
          </p:cNvSpPr>
          <p:nvPr/>
        </p:nvSpPr>
        <p:spPr bwMode="auto">
          <a:xfrm>
            <a:off x="3810000" y="3048000"/>
            <a:ext cx="1447800" cy="533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15" name="Rectangle 46"/>
          <p:cNvSpPr>
            <a:spLocks noChangeArrowheads="1"/>
          </p:cNvSpPr>
          <p:nvPr/>
        </p:nvSpPr>
        <p:spPr bwMode="auto">
          <a:xfrm>
            <a:off x="3810000" y="3581400"/>
            <a:ext cx="14478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16" name="Rectangle 47"/>
          <p:cNvSpPr>
            <a:spLocks noChangeArrowheads="1"/>
          </p:cNvSpPr>
          <p:nvPr/>
        </p:nvSpPr>
        <p:spPr bwMode="auto">
          <a:xfrm>
            <a:off x="3810000" y="4114800"/>
            <a:ext cx="14478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17" name="Rectangle 48"/>
          <p:cNvSpPr>
            <a:spLocks noChangeArrowheads="1"/>
          </p:cNvSpPr>
          <p:nvPr/>
        </p:nvSpPr>
        <p:spPr bwMode="auto">
          <a:xfrm>
            <a:off x="3807222" y="2513317"/>
            <a:ext cx="1447800" cy="533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18" name="Rectangle 49"/>
          <p:cNvSpPr>
            <a:spLocks noChangeArrowheads="1"/>
          </p:cNvSpPr>
          <p:nvPr/>
        </p:nvSpPr>
        <p:spPr bwMode="auto">
          <a:xfrm>
            <a:off x="3810000" y="5181600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19" name="Text Box 50"/>
          <p:cNvSpPr txBox="1">
            <a:spLocks noChangeArrowheads="1"/>
          </p:cNvSpPr>
          <p:nvPr/>
        </p:nvSpPr>
        <p:spPr bwMode="auto">
          <a:xfrm>
            <a:off x="3562350" y="5881688"/>
            <a:ext cx="19415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Physical Memory</a:t>
            </a:r>
          </a:p>
        </p:txBody>
      </p:sp>
      <p:sp>
        <p:nvSpPr>
          <p:cNvPr id="8220" name="Text Box 51"/>
          <p:cNvSpPr txBox="1">
            <a:spLocks noChangeArrowheads="1"/>
          </p:cNvSpPr>
          <p:nvPr/>
        </p:nvSpPr>
        <p:spPr bwMode="auto">
          <a:xfrm>
            <a:off x="5486400" y="45720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21" name="Line 77"/>
          <p:cNvSpPr>
            <a:spLocks noChangeShapeType="1"/>
          </p:cNvSpPr>
          <p:nvPr/>
        </p:nvSpPr>
        <p:spPr bwMode="auto">
          <a:xfrm>
            <a:off x="6248400" y="1600200"/>
            <a:ext cx="0" cy="502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23" name="Rectangle 79"/>
          <p:cNvSpPr>
            <a:spLocks noChangeArrowheads="1"/>
          </p:cNvSpPr>
          <p:nvPr/>
        </p:nvSpPr>
        <p:spPr bwMode="auto">
          <a:xfrm>
            <a:off x="2362200" y="3505200"/>
            <a:ext cx="990600" cy="1143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 smtClean="0"/>
              <a:t>Index</a:t>
            </a:r>
            <a:endParaRPr lang="en-US" altLang="en-US" sz="1600" dirty="0"/>
          </a:p>
        </p:txBody>
      </p:sp>
      <p:sp>
        <p:nvSpPr>
          <p:cNvPr id="8224" name="Line 86"/>
          <p:cNvSpPr>
            <a:spLocks noChangeShapeType="1"/>
          </p:cNvSpPr>
          <p:nvPr/>
        </p:nvSpPr>
        <p:spPr bwMode="auto">
          <a:xfrm>
            <a:off x="1905000" y="4038600"/>
            <a:ext cx="4572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25" name="Line 87"/>
          <p:cNvSpPr>
            <a:spLocks noChangeShapeType="1"/>
          </p:cNvSpPr>
          <p:nvPr/>
        </p:nvSpPr>
        <p:spPr bwMode="auto">
          <a:xfrm>
            <a:off x="1905000" y="3581400"/>
            <a:ext cx="4572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26" name="Line 88"/>
          <p:cNvSpPr>
            <a:spLocks noChangeShapeType="1"/>
          </p:cNvSpPr>
          <p:nvPr/>
        </p:nvSpPr>
        <p:spPr bwMode="auto">
          <a:xfrm>
            <a:off x="1905000" y="4495800"/>
            <a:ext cx="4572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cxnSp>
        <p:nvCxnSpPr>
          <p:cNvPr id="8227" name="AutoShape 89"/>
          <p:cNvCxnSpPr>
            <a:cxnSpLocks noChangeShapeType="1"/>
            <a:stCxn id="8223" idx="3"/>
          </p:cNvCxnSpPr>
          <p:nvPr/>
        </p:nvCxnSpPr>
        <p:spPr bwMode="auto">
          <a:xfrm flipV="1">
            <a:off x="3352800" y="3733800"/>
            <a:ext cx="452559" cy="3429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00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8" name="AutoShape 90"/>
          <p:cNvCxnSpPr>
            <a:cxnSpLocks noChangeShapeType="1"/>
            <a:stCxn id="8223" idx="3"/>
            <a:endCxn id="8218" idx="1"/>
          </p:cNvCxnSpPr>
          <p:nvPr/>
        </p:nvCxnSpPr>
        <p:spPr bwMode="auto">
          <a:xfrm>
            <a:off x="3352800" y="4076700"/>
            <a:ext cx="457200" cy="13716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00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29" name="Rectangle 91"/>
          <p:cNvSpPr>
            <a:spLocks noChangeArrowheads="1"/>
          </p:cNvSpPr>
          <p:nvPr/>
        </p:nvSpPr>
        <p:spPr bwMode="auto">
          <a:xfrm>
            <a:off x="5715000" y="3429000"/>
            <a:ext cx="957263" cy="11430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 smtClean="0"/>
              <a:t>Index</a:t>
            </a:r>
            <a:endParaRPr lang="en-US" altLang="en-US" sz="1600" dirty="0"/>
          </a:p>
        </p:txBody>
      </p:sp>
      <p:sp>
        <p:nvSpPr>
          <p:cNvPr id="8230" name="Line 92"/>
          <p:cNvSpPr>
            <a:spLocks noChangeShapeType="1"/>
          </p:cNvSpPr>
          <p:nvPr/>
        </p:nvSpPr>
        <p:spPr bwMode="auto">
          <a:xfrm>
            <a:off x="6673850" y="4038600"/>
            <a:ext cx="4572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31" name="Line 93"/>
          <p:cNvSpPr>
            <a:spLocks noChangeShapeType="1"/>
          </p:cNvSpPr>
          <p:nvPr/>
        </p:nvSpPr>
        <p:spPr bwMode="auto">
          <a:xfrm>
            <a:off x="6673850" y="3581400"/>
            <a:ext cx="4572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32" name="Line 94"/>
          <p:cNvSpPr>
            <a:spLocks noChangeShapeType="1"/>
          </p:cNvSpPr>
          <p:nvPr/>
        </p:nvSpPr>
        <p:spPr bwMode="auto">
          <a:xfrm>
            <a:off x="6673850" y="4495800"/>
            <a:ext cx="4572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cxnSp>
        <p:nvCxnSpPr>
          <p:cNvPr id="8233" name="AutoShape 95"/>
          <p:cNvCxnSpPr>
            <a:cxnSpLocks noChangeShapeType="1"/>
            <a:stCxn id="8229" idx="1"/>
            <a:endCxn id="8212" idx="3"/>
          </p:cNvCxnSpPr>
          <p:nvPr/>
        </p:nvCxnSpPr>
        <p:spPr bwMode="auto">
          <a:xfrm rot="10800000">
            <a:off x="5257800" y="2247900"/>
            <a:ext cx="457200" cy="17526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00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35" name="AutoShape 98"/>
          <p:cNvCxnSpPr>
            <a:cxnSpLocks noChangeShapeType="1"/>
            <a:stCxn id="8229" idx="1"/>
            <a:endCxn id="8214" idx="3"/>
          </p:cNvCxnSpPr>
          <p:nvPr/>
        </p:nvCxnSpPr>
        <p:spPr bwMode="auto">
          <a:xfrm rot="10800000">
            <a:off x="5257800" y="3314700"/>
            <a:ext cx="457200" cy="6858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00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Rectangle 49"/>
          <p:cNvSpPr>
            <a:spLocks noChangeArrowheads="1"/>
          </p:cNvSpPr>
          <p:nvPr/>
        </p:nvSpPr>
        <p:spPr bwMode="auto">
          <a:xfrm>
            <a:off x="3821234" y="4116082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9" name="Rectangle 49"/>
          <p:cNvSpPr>
            <a:spLocks noChangeArrowheads="1"/>
          </p:cNvSpPr>
          <p:nvPr/>
        </p:nvSpPr>
        <p:spPr bwMode="auto">
          <a:xfrm>
            <a:off x="3822028" y="3580759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0" name="Rectangle 43"/>
          <p:cNvSpPr>
            <a:spLocks noChangeArrowheads="1"/>
          </p:cNvSpPr>
          <p:nvPr/>
        </p:nvSpPr>
        <p:spPr bwMode="auto">
          <a:xfrm>
            <a:off x="3805359" y="1433329"/>
            <a:ext cx="1447800" cy="533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32042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442EC-CABB-878B-FFDE-2B88DFC8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/>
              <a:t>Copy-On-Write (COW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9CDDF-FA4B-2AC6-1AFC-2703D41B7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 smtClean="0"/>
              <a:t>Optimization </a:t>
            </a:r>
            <a:r>
              <a:rPr lang="en-IN" dirty="0"/>
              <a:t>on </a:t>
            </a:r>
            <a:r>
              <a:rPr lang="en-IN" dirty="0" smtClean="0"/>
              <a:t>Linux</a:t>
            </a:r>
          </a:p>
          <a:p>
            <a:endParaRPr lang="en-IN" dirty="0"/>
          </a:p>
          <a:p>
            <a:r>
              <a:rPr lang="en-IN" dirty="0" smtClean="0"/>
              <a:t>Child </a:t>
            </a:r>
            <a:r>
              <a:rPr lang="en-IN" dirty="0"/>
              <a:t>address space is </a:t>
            </a:r>
            <a:r>
              <a:rPr lang="en-IN" dirty="0" smtClean="0"/>
              <a:t>same as the parent to begin with</a:t>
            </a:r>
            <a:endParaRPr lang="en-IN" dirty="0"/>
          </a:p>
          <a:p>
            <a:pPr lvl="1"/>
            <a:r>
              <a:rPr lang="en-IN" dirty="0" smtClean="0"/>
              <a:t>Copy only when there is a write</a:t>
            </a:r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570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010400" y="6610350"/>
            <a:ext cx="2133600" cy="323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33408C-20B7-4242-B964-7454A70AD661}" type="slidenum">
              <a:rPr lang="en-US" altLang="en-US" sz="1400">
                <a:solidFill>
                  <a:schemeClr val="bg2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solidFill>
                <a:schemeClr val="bg2"/>
              </a:solidFill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dirty="0"/>
              <a:t>Copy-On-Write (COW)</a:t>
            </a:r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457200" y="4267200"/>
            <a:ext cx="1447800" cy="144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Text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(instructions)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457200" y="3733800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Data</a:t>
            </a: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457200" y="3200400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Stack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457200" y="2667000"/>
            <a:ext cx="1447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457200" y="2667000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Heap</a:t>
            </a:r>
          </a:p>
        </p:txBody>
      </p:sp>
      <p:sp>
        <p:nvSpPr>
          <p:cNvPr id="8201" name="Rectangle 13"/>
          <p:cNvSpPr>
            <a:spLocks noChangeArrowheads="1"/>
          </p:cNvSpPr>
          <p:nvPr/>
        </p:nvSpPr>
        <p:spPr bwMode="auto">
          <a:xfrm>
            <a:off x="7162800" y="4343400"/>
            <a:ext cx="1447800" cy="1447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Text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(instructions)</a:t>
            </a:r>
          </a:p>
        </p:txBody>
      </p:sp>
      <p:sp>
        <p:nvSpPr>
          <p:cNvPr id="8202" name="Rectangle 14"/>
          <p:cNvSpPr>
            <a:spLocks noChangeArrowheads="1"/>
          </p:cNvSpPr>
          <p:nvPr/>
        </p:nvSpPr>
        <p:spPr bwMode="auto">
          <a:xfrm>
            <a:off x="7162800" y="3810000"/>
            <a:ext cx="1447800" cy="533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Data</a:t>
            </a:r>
          </a:p>
        </p:txBody>
      </p:sp>
      <p:sp>
        <p:nvSpPr>
          <p:cNvPr id="8203" name="Rectangle 15"/>
          <p:cNvSpPr>
            <a:spLocks noChangeArrowheads="1"/>
          </p:cNvSpPr>
          <p:nvPr/>
        </p:nvSpPr>
        <p:spPr bwMode="auto">
          <a:xfrm>
            <a:off x="7162800" y="3276600"/>
            <a:ext cx="1447800" cy="533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Stack</a:t>
            </a:r>
          </a:p>
        </p:txBody>
      </p:sp>
      <p:sp>
        <p:nvSpPr>
          <p:cNvPr id="8204" name="Rectangle 16"/>
          <p:cNvSpPr>
            <a:spLocks noChangeArrowheads="1"/>
          </p:cNvSpPr>
          <p:nvPr/>
        </p:nvSpPr>
        <p:spPr bwMode="auto">
          <a:xfrm>
            <a:off x="7162800" y="2743200"/>
            <a:ext cx="1447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05" name="Rectangle 17"/>
          <p:cNvSpPr>
            <a:spLocks noChangeArrowheads="1"/>
          </p:cNvSpPr>
          <p:nvPr/>
        </p:nvSpPr>
        <p:spPr bwMode="auto">
          <a:xfrm>
            <a:off x="7162800" y="2743200"/>
            <a:ext cx="1447800" cy="533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Heap</a:t>
            </a:r>
          </a:p>
        </p:txBody>
      </p:sp>
      <p:sp>
        <p:nvSpPr>
          <p:cNvPr id="78871" name="Text Box 23"/>
          <p:cNvSpPr txBox="1">
            <a:spLocks noChangeArrowheads="1"/>
          </p:cNvSpPr>
          <p:nvPr/>
        </p:nvSpPr>
        <p:spPr bwMode="auto">
          <a:xfrm>
            <a:off x="457200" y="1676400"/>
            <a:ext cx="90281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8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Parent</a:t>
            </a:r>
            <a:endParaRPr lang="en-US" altLang="en-US" sz="1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8872" name="Text Box 24"/>
          <p:cNvSpPr txBox="1">
            <a:spLocks noChangeArrowheads="1"/>
          </p:cNvSpPr>
          <p:nvPr/>
        </p:nvSpPr>
        <p:spPr bwMode="auto">
          <a:xfrm>
            <a:off x="7505826" y="1746012"/>
            <a:ext cx="7617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8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Child</a:t>
            </a:r>
            <a:endParaRPr lang="en-US" altLang="en-US" sz="1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457200" y="2133600"/>
            <a:ext cx="1447800" cy="3124200"/>
            <a:chOff x="288" y="1344"/>
            <a:chExt cx="912" cy="1968"/>
          </a:xfrm>
        </p:grpSpPr>
        <p:sp>
          <p:nvSpPr>
            <p:cNvPr id="8243" name="Line 25"/>
            <p:cNvSpPr>
              <a:spLocks noChangeShapeType="1"/>
            </p:cNvSpPr>
            <p:nvPr/>
          </p:nvSpPr>
          <p:spPr bwMode="auto">
            <a:xfrm>
              <a:off x="288" y="3312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4" name="Line 26"/>
            <p:cNvSpPr>
              <a:spLocks noChangeShapeType="1"/>
            </p:cNvSpPr>
            <p:nvPr/>
          </p:nvSpPr>
          <p:spPr bwMode="auto">
            <a:xfrm>
              <a:off x="288" y="3024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5" name="Line 27"/>
            <p:cNvSpPr>
              <a:spLocks noChangeShapeType="1"/>
            </p:cNvSpPr>
            <p:nvPr/>
          </p:nvSpPr>
          <p:spPr bwMode="auto">
            <a:xfrm>
              <a:off x="288" y="2688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6" name="Line 28"/>
            <p:cNvSpPr>
              <a:spLocks noChangeShapeType="1"/>
            </p:cNvSpPr>
            <p:nvPr/>
          </p:nvSpPr>
          <p:spPr bwMode="auto">
            <a:xfrm>
              <a:off x="288" y="2352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7" name="Line 29"/>
            <p:cNvSpPr>
              <a:spLocks noChangeShapeType="1"/>
            </p:cNvSpPr>
            <p:nvPr/>
          </p:nvSpPr>
          <p:spPr bwMode="auto">
            <a:xfrm>
              <a:off x="288" y="2016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8" name="Line 30"/>
            <p:cNvSpPr>
              <a:spLocks noChangeShapeType="1"/>
            </p:cNvSpPr>
            <p:nvPr/>
          </p:nvSpPr>
          <p:spPr bwMode="auto">
            <a:xfrm>
              <a:off x="288" y="1680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9" name="Line 31"/>
            <p:cNvSpPr>
              <a:spLocks noChangeShapeType="1"/>
            </p:cNvSpPr>
            <p:nvPr/>
          </p:nvSpPr>
          <p:spPr bwMode="auto">
            <a:xfrm>
              <a:off x="288" y="1344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7162800" y="2209800"/>
            <a:ext cx="1447800" cy="3124200"/>
            <a:chOff x="288" y="1344"/>
            <a:chExt cx="912" cy="1968"/>
          </a:xfrm>
        </p:grpSpPr>
        <p:sp>
          <p:nvSpPr>
            <p:cNvPr id="8236" name="Line 34"/>
            <p:cNvSpPr>
              <a:spLocks noChangeShapeType="1"/>
            </p:cNvSpPr>
            <p:nvPr/>
          </p:nvSpPr>
          <p:spPr bwMode="auto">
            <a:xfrm>
              <a:off x="288" y="3312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37" name="Line 35"/>
            <p:cNvSpPr>
              <a:spLocks noChangeShapeType="1"/>
            </p:cNvSpPr>
            <p:nvPr/>
          </p:nvSpPr>
          <p:spPr bwMode="auto">
            <a:xfrm>
              <a:off x="288" y="3024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38" name="Line 36"/>
            <p:cNvSpPr>
              <a:spLocks noChangeShapeType="1"/>
            </p:cNvSpPr>
            <p:nvPr/>
          </p:nvSpPr>
          <p:spPr bwMode="auto">
            <a:xfrm>
              <a:off x="288" y="2688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39" name="Line 37"/>
            <p:cNvSpPr>
              <a:spLocks noChangeShapeType="1"/>
            </p:cNvSpPr>
            <p:nvPr/>
          </p:nvSpPr>
          <p:spPr bwMode="auto">
            <a:xfrm>
              <a:off x="288" y="2352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0" name="Line 38"/>
            <p:cNvSpPr>
              <a:spLocks noChangeShapeType="1"/>
            </p:cNvSpPr>
            <p:nvPr/>
          </p:nvSpPr>
          <p:spPr bwMode="auto">
            <a:xfrm>
              <a:off x="288" y="2016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1" name="Line 39"/>
            <p:cNvSpPr>
              <a:spLocks noChangeShapeType="1"/>
            </p:cNvSpPr>
            <p:nvPr/>
          </p:nvSpPr>
          <p:spPr bwMode="auto">
            <a:xfrm>
              <a:off x="288" y="1680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2" name="Line 40"/>
            <p:cNvSpPr>
              <a:spLocks noChangeShapeType="1"/>
            </p:cNvSpPr>
            <p:nvPr/>
          </p:nvSpPr>
          <p:spPr bwMode="auto">
            <a:xfrm>
              <a:off x="288" y="1344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211" name="Line 42"/>
          <p:cNvSpPr>
            <a:spLocks noChangeShapeType="1"/>
          </p:cNvSpPr>
          <p:nvPr/>
        </p:nvSpPr>
        <p:spPr bwMode="auto">
          <a:xfrm>
            <a:off x="2743200" y="1600200"/>
            <a:ext cx="0" cy="502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13" name="Rectangle 44"/>
          <p:cNvSpPr>
            <a:spLocks noChangeArrowheads="1"/>
          </p:cNvSpPr>
          <p:nvPr/>
        </p:nvSpPr>
        <p:spPr bwMode="auto">
          <a:xfrm>
            <a:off x="3817145" y="4664809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15" name="Rectangle 46"/>
          <p:cNvSpPr>
            <a:spLocks noChangeArrowheads="1"/>
          </p:cNvSpPr>
          <p:nvPr/>
        </p:nvSpPr>
        <p:spPr bwMode="auto">
          <a:xfrm>
            <a:off x="3810000" y="3581400"/>
            <a:ext cx="14478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16" name="Rectangle 47"/>
          <p:cNvSpPr>
            <a:spLocks noChangeArrowheads="1"/>
          </p:cNvSpPr>
          <p:nvPr/>
        </p:nvSpPr>
        <p:spPr bwMode="auto">
          <a:xfrm>
            <a:off x="3810000" y="4114800"/>
            <a:ext cx="14478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18" name="Rectangle 49"/>
          <p:cNvSpPr>
            <a:spLocks noChangeArrowheads="1"/>
          </p:cNvSpPr>
          <p:nvPr/>
        </p:nvSpPr>
        <p:spPr bwMode="auto">
          <a:xfrm>
            <a:off x="3810000" y="5181600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19" name="Text Box 50"/>
          <p:cNvSpPr txBox="1">
            <a:spLocks noChangeArrowheads="1"/>
          </p:cNvSpPr>
          <p:nvPr/>
        </p:nvSpPr>
        <p:spPr bwMode="auto">
          <a:xfrm>
            <a:off x="3562350" y="5881688"/>
            <a:ext cx="19415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Physical Memory</a:t>
            </a:r>
          </a:p>
        </p:txBody>
      </p:sp>
      <p:sp>
        <p:nvSpPr>
          <p:cNvPr id="8220" name="Text Box 51"/>
          <p:cNvSpPr txBox="1">
            <a:spLocks noChangeArrowheads="1"/>
          </p:cNvSpPr>
          <p:nvPr/>
        </p:nvSpPr>
        <p:spPr bwMode="auto">
          <a:xfrm>
            <a:off x="5486400" y="45720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21" name="Line 77"/>
          <p:cNvSpPr>
            <a:spLocks noChangeShapeType="1"/>
          </p:cNvSpPr>
          <p:nvPr/>
        </p:nvSpPr>
        <p:spPr bwMode="auto">
          <a:xfrm>
            <a:off x="6248400" y="1600200"/>
            <a:ext cx="0" cy="502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23" name="Rectangle 79"/>
          <p:cNvSpPr>
            <a:spLocks noChangeArrowheads="1"/>
          </p:cNvSpPr>
          <p:nvPr/>
        </p:nvSpPr>
        <p:spPr bwMode="auto">
          <a:xfrm>
            <a:off x="2362200" y="3505200"/>
            <a:ext cx="990600" cy="1143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 smtClean="0"/>
              <a:t>Index</a:t>
            </a:r>
            <a:endParaRPr lang="en-US" altLang="en-US" sz="1600" dirty="0"/>
          </a:p>
        </p:txBody>
      </p:sp>
      <p:sp>
        <p:nvSpPr>
          <p:cNvPr id="8224" name="Line 86"/>
          <p:cNvSpPr>
            <a:spLocks noChangeShapeType="1"/>
          </p:cNvSpPr>
          <p:nvPr/>
        </p:nvSpPr>
        <p:spPr bwMode="auto">
          <a:xfrm>
            <a:off x="1905000" y="4038600"/>
            <a:ext cx="4572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25" name="Line 87"/>
          <p:cNvSpPr>
            <a:spLocks noChangeShapeType="1"/>
          </p:cNvSpPr>
          <p:nvPr/>
        </p:nvSpPr>
        <p:spPr bwMode="auto">
          <a:xfrm>
            <a:off x="1905000" y="3581400"/>
            <a:ext cx="4572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26" name="Line 88"/>
          <p:cNvSpPr>
            <a:spLocks noChangeShapeType="1"/>
          </p:cNvSpPr>
          <p:nvPr/>
        </p:nvSpPr>
        <p:spPr bwMode="auto">
          <a:xfrm>
            <a:off x="1905000" y="4495800"/>
            <a:ext cx="4572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cxnSp>
        <p:nvCxnSpPr>
          <p:cNvPr id="8227" name="AutoShape 89"/>
          <p:cNvCxnSpPr>
            <a:cxnSpLocks noChangeShapeType="1"/>
            <a:stCxn id="8223" idx="3"/>
          </p:cNvCxnSpPr>
          <p:nvPr/>
        </p:nvCxnSpPr>
        <p:spPr bwMode="auto">
          <a:xfrm flipV="1">
            <a:off x="3352800" y="3733800"/>
            <a:ext cx="452559" cy="3429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00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8" name="AutoShape 90"/>
          <p:cNvCxnSpPr>
            <a:cxnSpLocks noChangeShapeType="1"/>
            <a:stCxn id="8223" idx="3"/>
            <a:endCxn id="8218" idx="1"/>
          </p:cNvCxnSpPr>
          <p:nvPr/>
        </p:nvCxnSpPr>
        <p:spPr bwMode="auto">
          <a:xfrm>
            <a:off x="3352800" y="4076700"/>
            <a:ext cx="457200" cy="13716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00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29" name="Rectangle 91"/>
          <p:cNvSpPr>
            <a:spLocks noChangeArrowheads="1"/>
          </p:cNvSpPr>
          <p:nvPr/>
        </p:nvSpPr>
        <p:spPr bwMode="auto">
          <a:xfrm>
            <a:off x="5715000" y="3429000"/>
            <a:ext cx="957263" cy="11430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 smtClean="0"/>
              <a:t>Index</a:t>
            </a:r>
            <a:endParaRPr lang="en-US" altLang="en-US" sz="1600" dirty="0"/>
          </a:p>
        </p:txBody>
      </p:sp>
      <p:sp>
        <p:nvSpPr>
          <p:cNvPr id="8230" name="Line 92"/>
          <p:cNvSpPr>
            <a:spLocks noChangeShapeType="1"/>
          </p:cNvSpPr>
          <p:nvPr/>
        </p:nvSpPr>
        <p:spPr bwMode="auto">
          <a:xfrm>
            <a:off x="6673850" y="4038600"/>
            <a:ext cx="4572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31" name="Line 93"/>
          <p:cNvSpPr>
            <a:spLocks noChangeShapeType="1"/>
          </p:cNvSpPr>
          <p:nvPr/>
        </p:nvSpPr>
        <p:spPr bwMode="auto">
          <a:xfrm>
            <a:off x="6673850" y="3581400"/>
            <a:ext cx="4572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32" name="Line 94"/>
          <p:cNvSpPr>
            <a:spLocks noChangeShapeType="1"/>
          </p:cNvSpPr>
          <p:nvPr/>
        </p:nvSpPr>
        <p:spPr bwMode="auto">
          <a:xfrm>
            <a:off x="6673850" y="4495800"/>
            <a:ext cx="4572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cxnSp>
        <p:nvCxnSpPr>
          <p:cNvPr id="8235" name="AutoShape 98"/>
          <p:cNvCxnSpPr>
            <a:cxnSpLocks noChangeShapeType="1"/>
          </p:cNvCxnSpPr>
          <p:nvPr/>
        </p:nvCxnSpPr>
        <p:spPr bwMode="auto">
          <a:xfrm rot="10800000">
            <a:off x="5271415" y="3771259"/>
            <a:ext cx="457200" cy="6858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00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Rectangle 49"/>
          <p:cNvSpPr>
            <a:spLocks noChangeArrowheads="1"/>
          </p:cNvSpPr>
          <p:nvPr/>
        </p:nvSpPr>
        <p:spPr bwMode="auto">
          <a:xfrm>
            <a:off x="3821234" y="4116082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9" name="Rectangle 49"/>
          <p:cNvSpPr>
            <a:spLocks noChangeArrowheads="1"/>
          </p:cNvSpPr>
          <p:nvPr/>
        </p:nvSpPr>
        <p:spPr bwMode="auto">
          <a:xfrm>
            <a:off x="3822028" y="3580759"/>
            <a:ext cx="1447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3822943" y="3109914"/>
            <a:ext cx="1447800" cy="45719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3825877" y="2655645"/>
            <a:ext cx="1447800" cy="45719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3" name="Rectangle 62"/>
          <p:cNvSpPr>
            <a:spLocks noChangeArrowheads="1"/>
          </p:cNvSpPr>
          <p:nvPr/>
        </p:nvSpPr>
        <p:spPr bwMode="auto">
          <a:xfrm>
            <a:off x="3837603" y="2192583"/>
            <a:ext cx="1447800" cy="45719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4" name="Rectangle 63"/>
          <p:cNvSpPr>
            <a:spLocks noChangeArrowheads="1"/>
          </p:cNvSpPr>
          <p:nvPr/>
        </p:nvSpPr>
        <p:spPr bwMode="auto">
          <a:xfrm>
            <a:off x="3849326" y="1720728"/>
            <a:ext cx="1447800" cy="45719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" name="TextBox 4"/>
          <p:cNvSpPr txBox="1"/>
          <p:nvPr/>
        </p:nvSpPr>
        <p:spPr>
          <a:xfrm>
            <a:off x="2898153" y="1052430"/>
            <a:ext cx="3774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When child writes to a variable</a:t>
            </a:r>
            <a:endParaRPr lang="en-IN" dirty="0"/>
          </a:p>
        </p:txBody>
      </p:sp>
      <p:cxnSp>
        <p:nvCxnSpPr>
          <p:cNvPr id="65" name="AutoShape 98"/>
          <p:cNvCxnSpPr>
            <a:cxnSpLocks noChangeShapeType="1"/>
          </p:cNvCxnSpPr>
          <p:nvPr/>
        </p:nvCxnSpPr>
        <p:spPr bwMode="auto">
          <a:xfrm rot="10800000">
            <a:off x="5265188" y="2859821"/>
            <a:ext cx="457200" cy="6858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00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Rectangle 17"/>
          <p:cNvSpPr>
            <a:spLocks noChangeArrowheads="1"/>
          </p:cNvSpPr>
          <p:nvPr/>
        </p:nvSpPr>
        <p:spPr bwMode="auto">
          <a:xfrm>
            <a:off x="4126390" y="2667303"/>
            <a:ext cx="1144353" cy="10172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1660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1E2BC-A43E-E129-4076-1F833CAD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fork()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2C9FA-381F-A56B-816A-A07D3D7C7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17731"/>
            <a:ext cx="7743825" cy="4530725"/>
          </a:xfrm>
        </p:spPr>
        <p:txBody>
          <a:bodyPr/>
          <a:lstStyle/>
          <a:p>
            <a:r>
              <a:rPr lang="en-IN" dirty="0"/>
              <a:t>Defined in header file </a:t>
            </a:r>
            <a:r>
              <a:rPr lang="en-IN" dirty="0" err="1"/>
              <a:t>unistd.h</a:t>
            </a:r>
            <a:endParaRPr lang="en-IN" dirty="0"/>
          </a:p>
          <a:p>
            <a:endParaRPr lang="en-IN" dirty="0"/>
          </a:p>
          <a:p>
            <a:r>
              <a:rPr lang="en-IN" dirty="0" err="1"/>
              <a:t>pid_t</a:t>
            </a:r>
            <a:r>
              <a:rPr lang="en-IN" dirty="0"/>
              <a:t> fork (void);</a:t>
            </a:r>
          </a:p>
          <a:p>
            <a:pPr lvl="1"/>
            <a:r>
              <a:rPr lang="en-IN" dirty="0"/>
              <a:t>Internally, </a:t>
            </a:r>
            <a:r>
              <a:rPr lang="en-IN" dirty="0" err="1"/>
              <a:t>pid_t</a:t>
            </a:r>
            <a:r>
              <a:rPr lang="en-IN" dirty="0"/>
              <a:t> is an integer (for POSIX systems)</a:t>
            </a:r>
          </a:p>
          <a:p>
            <a:pPr lvl="1"/>
            <a:r>
              <a:rPr lang="en-IN" dirty="0" err="1"/>
              <a:t>pid_t</a:t>
            </a:r>
            <a:r>
              <a:rPr lang="en-IN" dirty="0"/>
              <a:t> is defined in sys/</a:t>
            </a:r>
            <a:r>
              <a:rPr lang="en-IN" dirty="0" err="1"/>
              <a:t>types.h</a:t>
            </a: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57150" indent="0">
              <a:buNone/>
            </a:pPr>
            <a:r>
              <a:rPr lang="en-IN" dirty="0"/>
              <a:t>#include &lt;</a:t>
            </a:r>
            <a:r>
              <a:rPr lang="en-IN" dirty="0" err="1"/>
              <a:t>unistd.h</a:t>
            </a:r>
            <a:r>
              <a:rPr lang="en-IN" dirty="0"/>
              <a:t>&gt;</a:t>
            </a:r>
          </a:p>
          <a:p>
            <a:pPr marL="5715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57150" indent="0">
              <a:buNone/>
            </a:pPr>
            <a:endParaRPr lang="en-IN" dirty="0"/>
          </a:p>
          <a:p>
            <a:pPr marL="57150" indent="0">
              <a:buNone/>
            </a:pPr>
            <a:r>
              <a:rPr lang="en-IN" dirty="0"/>
              <a:t>int main() {</a:t>
            </a:r>
          </a:p>
          <a:p>
            <a:pPr marL="57150" indent="0">
              <a:buNone/>
            </a:pPr>
            <a:r>
              <a:rPr lang="en-IN" dirty="0"/>
              <a:t>	fork();</a:t>
            </a:r>
          </a:p>
          <a:p>
            <a:pPr marL="57150" indent="0">
              <a:buNone/>
            </a:pP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(“HELLO”):</a:t>
            </a:r>
          </a:p>
          <a:p>
            <a:pPr marL="57150" indent="0">
              <a:buNone/>
            </a:pPr>
            <a:r>
              <a:rPr lang="en-IN" dirty="0"/>
              <a:t>	return 0;</a:t>
            </a:r>
          </a:p>
          <a:p>
            <a:pPr marL="57150" indent="0">
              <a:buNone/>
            </a:pPr>
            <a:r>
              <a:rPr lang="en-IN" dirty="0"/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8A7300-58BA-2F62-38C9-6B1FB06E3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638" y="4973814"/>
            <a:ext cx="374384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3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F2EE-6FE3-869D-EE4D-D51761C8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65B9A-6D46-49EF-99A9-49D09B9B4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" indent="0">
              <a:buNone/>
            </a:pPr>
            <a:r>
              <a:rPr lang="en-IN" dirty="0"/>
              <a:t>#include &lt;</a:t>
            </a:r>
            <a:r>
              <a:rPr lang="en-IN" dirty="0" err="1"/>
              <a:t>unistd.h</a:t>
            </a:r>
            <a:r>
              <a:rPr lang="en-IN" dirty="0"/>
              <a:t>&gt;</a:t>
            </a:r>
          </a:p>
          <a:p>
            <a:pPr marL="5715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57150" indent="0">
              <a:buNone/>
            </a:pPr>
            <a:endParaRPr lang="en-IN" dirty="0"/>
          </a:p>
          <a:p>
            <a:pPr marL="57150" indent="0">
              <a:buNone/>
            </a:pPr>
            <a:r>
              <a:rPr lang="en-IN" dirty="0"/>
              <a:t>int main() {</a:t>
            </a:r>
          </a:p>
          <a:p>
            <a:pPr marL="57150" indent="0">
              <a:buNone/>
            </a:pPr>
            <a:r>
              <a:rPr lang="en-IN" dirty="0"/>
              <a:t>	fork();</a:t>
            </a:r>
          </a:p>
          <a:p>
            <a:pPr marL="57150" indent="0">
              <a:buNone/>
            </a:pPr>
            <a:r>
              <a:rPr lang="en-IN" dirty="0"/>
              <a:t>	while (true); </a:t>
            </a:r>
          </a:p>
          <a:p>
            <a:pPr marL="57150" indent="0">
              <a:buNone/>
            </a:pPr>
            <a:r>
              <a:rPr lang="en-IN" dirty="0"/>
              <a:t>	return 0;</a:t>
            </a:r>
          </a:p>
          <a:p>
            <a:pPr marL="57150" indent="0">
              <a:buNone/>
            </a:pPr>
            <a:r>
              <a:rPr lang="en-IN" dirty="0"/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20DB7C-14AA-57BE-8835-A9EC62A0D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4638978"/>
            <a:ext cx="8077200" cy="63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6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0E8DA-7EAE-3EEF-17B4-D08132A31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Creation flowchart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EBE96A-21B2-A891-125B-FED7D7BBA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652934" y="1026975"/>
            <a:ext cx="5685731" cy="5018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335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665C5-0AFB-B195-998D-95C898599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PID and PPID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DC368-11FE-F1A7-6EFA-B4CC08BF9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575" y="978511"/>
            <a:ext cx="7743825" cy="4530725"/>
          </a:xfrm>
        </p:spPr>
        <p:txBody>
          <a:bodyPr/>
          <a:lstStyle/>
          <a:p>
            <a:r>
              <a:rPr lang="en-IN" dirty="0" err="1"/>
              <a:t>getpid</a:t>
            </a:r>
            <a:r>
              <a:rPr lang="en-IN" dirty="0" smtClean="0"/>
              <a:t>(), </a:t>
            </a:r>
            <a:r>
              <a:rPr lang="en-IN" dirty="0" err="1" smtClean="0"/>
              <a:t>getppid</a:t>
            </a:r>
            <a:r>
              <a:rPr lang="en-IN" dirty="0" smtClean="0"/>
              <a:t>() are </a:t>
            </a:r>
            <a:r>
              <a:rPr lang="en-IN" dirty="0"/>
              <a:t>defined in </a:t>
            </a:r>
            <a:r>
              <a:rPr lang="en-IN" dirty="0" err="1"/>
              <a:t>unistd.h</a:t>
            </a:r>
            <a:endParaRPr lang="en-IN" dirty="0"/>
          </a:p>
          <a:p>
            <a:r>
              <a:rPr lang="en-IN" dirty="0" err="1" smtClean="0"/>
              <a:t>pid_t</a:t>
            </a:r>
            <a:r>
              <a:rPr lang="en-IN" dirty="0" smtClean="0"/>
              <a:t> </a:t>
            </a:r>
            <a:r>
              <a:rPr lang="en-IN" dirty="0" err="1"/>
              <a:t>getpid</a:t>
            </a:r>
            <a:r>
              <a:rPr lang="en-IN" dirty="0"/>
              <a:t> (void</a:t>
            </a:r>
            <a:r>
              <a:rPr lang="en-IN" dirty="0" smtClean="0"/>
              <a:t>); </a:t>
            </a:r>
            <a:r>
              <a:rPr lang="en-IN" dirty="0" err="1" smtClean="0"/>
              <a:t>pid_t</a:t>
            </a:r>
            <a:r>
              <a:rPr lang="en-IN" dirty="0" smtClean="0"/>
              <a:t> </a:t>
            </a:r>
            <a:r>
              <a:rPr lang="en-IN" dirty="0" err="1"/>
              <a:t>getppid</a:t>
            </a:r>
            <a:r>
              <a:rPr lang="en-IN" dirty="0"/>
              <a:t>(void</a:t>
            </a:r>
            <a:r>
              <a:rPr lang="en-IN" dirty="0" smtClean="0"/>
              <a:t>);</a:t>
            </a:r>
          </a:p>
          <a:p>
            <a:r>
              <a:rPr lang="en-US" dirty="0" smtClean="0"/>
              <a:t>RECALL: </a:t>
            </a:r>
            <a:r>
              <a:rPr lang="en-IN" u="sng" dirty="0"/>
              <a:t>fork() returns 0 to child, and </a:t>
            </a:r>
            <a:r>
              <a:rPr lang="en-IN" u="sng" dirty="0" err="1"/>
              <a:t>pid</a:t>
            </a:r>
            <a:r>
              <a:rPr lang="en-IN" u="sng" dirty="0"/>
              <a:t> of child to parent</a:t>
            </a:r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137139" y="2289075"/>
            <a:ext cx="7239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" indent="0">
              <a:buNone/>
            </a:pPr>
            <a:r>
              <a:rPr lang="en-IN" sz="1400" dirty="0"/>
              <a:t>#include &lt;</a:t>
            </a:r>
            <a:r>
              <a:rPr lang="en-IN" sz="1400" dirty="0" err="1"/>
              <a:t>unistd.h</a:t>
            </a:r>
            <a:r>
              <a:rPr lang="en-IN" sz="1400" dirty="0"/>
              <a:t>&gt;</a:t>
            </a:r>
          </a:p>
          <a:p>
            <a:pPr marL="57150" indent="0">
              <a:buNone/>
            </a:pPr>
            <a:r>
              <a:rPr lang="en-IN" sz="1400" dirty="0"/>
              <a:t>#include &lt;</a:t>
            </a:r>
            <a:r>
              <a:rPr lang="en-IN" sz="1400" dirty="0" err="1"/>
              <a:t>stdio.h</a:t>
            </a:r>
            <a:r>
              <a:rPr lang="en-IN" sz="1400" dirty="0"/>
              <a:t>&gt;</a:t>
            </a:r>
          </a:p>
          <a:p>
            <a:pPr marL="57150" indent="0">
              <a:buNone/>
            </a:pPr>
            <a:endParaRPr lang="en-IN" sz="1400" dirty="0"/>
          </a:p>
          <a:p>
            <a:pPr marL="57150" indent="0">
              <a:buNone/>
            </a:pPr>
            <a:r>
              <a:rPr lang="en-IN" sz="1400" dirty="0" err="1"/>
              <a:t>int</a:t>
            </a:r>
            <a:r>
              <a:rPr lang="en-IN" sz="1400" dirty="0"/>
              <a:t> main() {</a:t>
            </a:r>
          </a:p>
          <a:p>
            <a:pPr marL="57150" indent="0">
              <a:buNone/>
            </a:pPr>
            <a:r>
              <a:rPr lang="en-IN" sz="1400" dirty="0"/>
              <a:t>	</a:t>
            </a:r>
            <a:r>
              <a:rPr lang="en-IN" sz="1400" dirty="0" err="1" smtClean="0"/>
              <a:t>pid_t</a:t>
            </a:r>
            <a:r>
              <a:rPr lang="en-IN" sz="1400" dirty="0" smtClean="0"/>
              <a:t> p = fork</a:t>
            </a:r>
            <a:r>
              <a:rPr lang="en-IN" sz="1400" dirty="0"/>
              <a:t>();</a:t>
            </a:r>
          </a:p>
          <a:p>
            <a:pPr marL="57150" indent="0">
              <a:buNone/>
            </a:pPr>
            <a:r>
              <a:rPr lang="en-IN" sz="1400" dirty="0"/>
              <a:t>	</a:t>
            </a:r>
            <a:r>
              <a:rPr lang="en-IN" sz="1400" dirty="0" smtClean="0"/>
              <a:t>if (p == 0) {</a:t>
            </a:r>
          </a:p>
          <a:p>
            <a:pPr marL="57150" indent="0">
              <a:buNone/>
            </a:pPr>
            <a:r>
              <a:rPr lang="en-US" sz="1400" dirty="0"/>
              <a:t>	</a:t>
            </a:r>
            <a:r>
              <a:rPr lang="en-US" sz="1400" dirty="0" smtClean="0"/>
              <a:t>	</a:t>
            </a:r>
            <a:r>
              <a:rPr lang="en-US" sz="1400" dirty="0" err="1" smtClean="0"/>
              <a:t>printf</a:t>
            </a:r>
            <a:r>
              <a:rPr lang="en-US" sz="1400" dirty="0" smtClean="0"/>
              <a:t>(“Child PID %d\n”, </a:t>
            </a:r>
            <a:r>
              <a:rPr lang="en-US" sz="1400" dirty="0" err="1" smtClean="0"/>
              <a:t>getpid</a:t>
            </a:r>
            <a:r>
              <a:rPr lang="en-US" sz="1400" dirty="0" smtClean="0"/>
              <a:t>());</a:t>
            </a:r>
          </a:p>
          <a:p>
            <a:pPr marL="57150"/>
            <a:r>
              <a:rPr lang="en-US" sz="1400" dirty="0"/>
              <a:t>		</a:t>
            </a:r>
            <a:r>
              <a:rPr lang="en-US" sz="1400" dirty="0" err="1"/>
              <a:t>printf</a:t>
            </a:r>
            <a:r>
              <a:rPr lang="en-US" sz="1400" dirty="0" smtClean="0"/>
              <a:t>(“Parent </a:t>
            </a:r>
            <a:r>
              <a:rPr lang="en-US" sz="1400" dirty="0"/>
              <a:t>PID %d\n”, </a:t>
            </a:r>
            <a:r>
              <a:rPr lang="en-US" sz="1400" dirty="0" err="1" smtClean="0"/>
              <a:t>getppid</a:t>
            </a:r>
            <a:r>
              <a:rPr lang="en-US" sz="1400" dirty="0"/>
              <a:t>());</a:t>
            </a:r>
          </a:p>
          <a:p>
            <a:pPr marL="57150" indent="0">
              <a:buNone/>
            </a:pPr>
            <a:r>
              <a:rPr lang="en-US" sz="1400" dirty="0" smtClean="0"/>
              <a:t> 	}</a:t>
            </a:r>
            <a:endParaRPr lang="en-IN" sz="1400" dirty="0" smtClean="0"/>
          </a:p>
          <a:p>
            <a:pPr marL="57150" indent="0">
              <a:buNone/>
            </a:pPr>
            <a:r>
              <a:rPr lang="en-US" sz="1400" dirty="0" smtClean="0"/>
              <a:t>	else {</a:t>
            </a:r>
          </a:p>
          <a:p>
            <a:pPr marL="57150" indent="0">
              <a:buNone/>
            </a:pPr>
            <a:r>
              <a:rPr lang="en-US" sz="1400" dirty="0"/>
              <a:t>	</a:t>
            </a:r>
            <a:r>
              <a:rPr lang="en-US" sz="1400" dirty="0" smtClean="0"/>
              <a:t>	</a:t>
            </a:r>
            <a:r>
              <a:rPr lang="en-US" sz="1400" dirty="0" err="1"/>
              <a:t>printf</a:t>
            </a:r>
            <a:r>
              <a:rPr lang="en-US" sz="1400" dirty="0" smtClean="0"/>
              <a:t>(“Parent </a:t>
            </a:r>
            <a:r>
              <a:rPr lang="en-US" sz="1400" dirty="0"/>
              <a:t>PID %d\n”, </a:t>
            </a:r>
            <a:r>
              <a:rPr lang="en-US" sz="1400" dirty="0" err="1"/>
              <a:t>getpid</a:t>
            </a:r>
            <a:r>
              <a:rPr lang="en-US" sz="1400" dirty="0"/>
              <a:t>());</a:t>
            </a:r>
          </a:p>
          <a:p>
            <a:pPr marL="57150" indent="0">
              <a:buNone/>
            </a:pPr>
            <a:r>
              <a:rPr lang="en-US" sz="1400" dirty="0" smtClean="0"/>
              <a:t>		</a:t>
            </a:r>
            <a:r>
              <a:rPr lang="en-US" sz="1400" dirty="0" err="1" smtClean="0"/>
              <a:t>printf</a:t>
            </a:r>
            <a:r>
              <a:rPr lang="en-US" sz="1400" dirty="0"/>
              <a:t>(“Parent PID %d\n”, </a:t>
            </a:r>
            <a:r>
              <a:rPr lang="en-US" sz="1400" dirty="0" err="1"/>
              <a:t>getppid</a:t>
            </a:r>
            <a:r>
              <a:rPr lang="en-US" sz="1400" dirty="0" smtClean="0"/>
              <a:t>());</a:t>
            </a:r>
          </a:p>
          <a:p>
            <a:pPr marL="57150" indent="0">
              <a:buNone/>
            </a:pPr>
            <a:r>
              <a:rPr lang="en-US" sz="1400" dirty="0"/>
              <a:t>	</a:t>
            </a:r>
            <a:r>
              <a:rPr lang="en-US" sz="1400" dirty="0" smtClean="0"/>
              <a:t>}</a:t>
            </a:r>
          </a:p>
          <a:p>
            <a:pPr marL="57150" indent="0">
              <a:buNone/>
            </a:pPr>
            <a:endParaRPr lang="en-IN" sz="1400" dirty="0" smtClean="0"/>
          </a:p>
          <a:p>
            <a:pPr marL="57150" indent="0">
              <a:buNone/>
            </a:pPr>
            <a:r>
              <a:rPr lang="en-IN" sz="1400" dirty="0"/>
              <a:t>	</a:t>
            </a:r>
            <a:r>
              <a:rPr lang="en-IN" sz="1400" dirty="0" err="1" smtClean="0"/>
              <a:t>printf</a:t>
            </a:r>
            <a:r>
              <a:rPr lang="en-IN" sz="1400" dirty="0" smtClean="0"/>
              <a:t>(“Exiting with %d\n”, </a:t>
            </a:r>
            <a:r>
              <a:rPr lang="en-IN" sz="1400" dirty="0" err="1" smtClean="0"/>
              <a:t>getpid</a:t>
            </a:r>
            <a:r>
              <a:rPr lang="en-IN" sz="1400" dirty="0" smtClean="0"/>
              <a:t>());</a:t>
            </a:r>
          </a:p>
          <a:p>
            <a:pPr marL="57150" indent="0">
              <a:buNone/>
            </a:pPr>
            <a:endParaRPr lang="en-IN" sz="1400" dirty="0" smtClean="0"/>
          </a:p>
          <a:p>
            <a:pPr marL="57150" indent="0">
              <a:buNone/>
            </a:pPr>
            <a:r>
              <a:rPr lang="en-IN" sz="1400" dirty="0"/>
              <a:t>	</a:t>
            </a:r>
            <a:r>
              <a:rPr lang="en-IN" sz="1400" dirty="0" smtClean="0"/>
              <a:t>return </a:t>
            </a:r>
            <a:r>
              <a:rPr lang="en-IN" sz="1400" dirty="0"/>
              <a:t>0;</a:t>
            </a:r>
          </a:p>
          <a:p>
            <a:pPr marL="57150" indent="0">
              <a:buNone/>
            </a:pPr>
            <a:r>
              <a:rPr lang="en-IN" sz="1400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9546" y="4255477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Problem?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003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1925515" y="3094892"/>
            <a:ext cx="3956539" cy="79130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6240" y="924969"/>
            <a:ext cx="5448394" cy="567451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auto">
          <a:xfrm>
            <a:off x="1925515" y="3033251"/>
            <a:ext cx="3622431" cy="91459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89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main()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 smtClean="0"/>
              <a:t>	if (fork</a:t>
            </a:r>
            <a:r>
              <a:rPr lang="en-IN" dirty="0"/>
              <a:t>() &amp;&amp; fork</a:t>
            </a:r>
            <a:r>
              <a:rPr lang="en-IN" dirty="0" smtClean="0"/>
              <a:t>()) {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   </a:t>
            </a:r>
            <a:r>
              <a:rPr lang="en-IN" dirty="0"/>
              <a:t>	</a:t>
            </a:r>
            <a:r>
              <a:rPr lang="en-IN" dirty="0" smtClean="0"/>
              <a:t>     </a:t>
            </a:r>
            <a:r>
              <a:rPr lang="en-IN" dirty="0" err="1" smtClean="0"/>
              <a:t>printf</a:t>
            </a:r>
            <a:r>
              <a:rPr lang="en-IN" dirty="0"/>
              <a:t>("HELLO\n");</a:t>
            </a:r>
            <a:br>
              <a:rPr lang="en-IN" dirty="0"/>
            </a:br>
            <a:r>
              <a:rPr lang="en-IN" dirty="0" smtClean="0"/>
              <a:t>	}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("PID = %d, PPID = %d\n", </a:t>
            </a:r>
            <a:r>
              <a:rPr lang="en-IN" dirty="0" err="1"/>
              <a:t>getpid</a:t>
            </a:r>
            <a:r>
              <a:rPr lang="en-IN" dirty="0"/>
              <a:t>(), </a:t>
            </a:r>
            <a:r>
              <a:rPr lang="en-IN" dirty="0" err="1"/>
              <a:t>getppid</a:t>
            </a:r>
            <a:r>
              <a:rPr lang="en-IN" dirty="0"/>
              <a:t>());</a:t>
            </a:r>
            <a:br>
              <a:rPr lang="en-IN" dirty="0"/>
            </a:br>
            <a:r>
              <a:rPr lang="en-IN" dirty="0"/>
              <a:t>	</a:t>
            </a:r>
            <a:r>
              <a:rPr lang="en-IN" dirty="0" smtClean="0"/>
              <a:t>return </a:t>
            </a:r>
            <a:r>
              <a:rPr lang="en-IN" dirty="0"/>
              <a:t>0;</a:t>
            </a:r>
            <a:br>
              <a:rPr lang="en-IN" dirty="0"/>
            </a:b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8300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E43D30-47DB-4A10-9067-ED0817C05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Creation (Cont.)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A61E917-5669-429F-AA78-E90F2FCB8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9068" y="1012824"/>
            <a:ext cx="7800975" cy="5627688"/>
          </a:xfrm>
        </p:spPr>
        <p:txBody>
          <a:bodyPr/>
          <a:lstStyle/>
          <a:p>
            <a:r>
              <a:rPr lang="en-US" altLang="en-US" dirty="0"/>
              <a:t>Address space</a:t>
            </a:r>
          </a:p>
          <a:p>
            <a:pPr lvl="1"/>
            <a:r>
              <a:rPr lang="en-US" altLang="en-US" dirty="0"/>
              <a:t>Child duplicate of parent</a:t>
            </a:r>
          </a:p>
          <a:p>
            <a:pPr lvl="1"/>
            <a:r>
              <a:rPr lang="en-US" altLang="en-US" dirty="0"/>
              <a:t>Child has </a:t>
            </a:r>
            <a:r>
              <a:rPr lang="en-US" altLang="en-US" dirty="0" smtClean="0"/>
              <a:t>the same </a:t>
            </a:r>
            <a:r>
              <a:rPr lang="en-US" altLang="en-US" dirty="0"/>
              <a:t>program </a:t>
            </a:r>
            <a:r>
              <a:rPr lang="en-US" altLang="en-US" dirty="0" smtClean="0"/>
              <a:t>(default) loaded </a:t>
            </a:r>
            <a:r>
              <a:rPr lang="en-US" altLang="en-US" dirty="0"/>
              <a:t>into it</a:t>
            </a:r>
          </a:p>
          <a:p>
            <a:pPr marL="457200" lvl="1" indent="0">
              <a:buNone/>
            </a:pPr>
            <a:endParaRPr lang="en-US" altLang="en-US" dirty="0"/>
          </a:p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2"/>
            <a:r>
              <a:rPr lang="en-US" altLang="en-US" dirty="0"/>
              <a:t>Parent and child perform the same task</a:t>
            </a:r>
          </a:p>
          <a:p>
            <a:pPr lvl="2"/>
            <a:r>
              <a:rPr lang="en-US" altLang="en-US" dirty="0"/>
              <a:t>Parent and child continue execution from the statement following the fork() call</a:t>
            </a:r>
          </a:p>
          <a:p>
            <a:pPr lvl="2"/>
            <a:r>
              <a:rPr lang="en-US" altLang="en-US" dirty="0"/>
              <a:t>Parent and child can execute in parallel if we have more than 1 processor available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If parent needs to wait for the child?</a:t>
            </a:r>
          </a:p>
          <a:p>
            <a:pPr lvl="1"/>
            <a:r>
              <a:rPr lang="en-US" altLang="en-US" dirty="0"/>
              <a:t>Parent process calls </a:t>
            </a:r>
            <a:r>
              <a:rPr lang="en-US" altLang="en-US" sz="2000" b="1" dirty="0"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waiting for the child to terminate</a:t>
            </a:r>
          </a:p>
        </p:txBody>
      </p:sp>
    </p:spTree>
    <p:extLst>
      <p:ext uri="{BB962C8B-B14F-4D97-AF65-F5344CB8AC3E}">
        <p14:creationId xmlns:p14="http://schemas.microsoft.com/office/powerpoint/2010/main" val="341678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05AE7-7986-A8AE-7815-EB81086DA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6282A-561D-9243-B884-C6094C107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9376"/>
            <a:ext cx="7743825" cy="4530725"/>
          </a:xfrm>
        </p:spPr>
        <p:txBody>
          <a:bodyPr/>
          <a:lstStyle/>
          <a:p>
            <a:r>
              <a:rPr lang="en-IN" dirty="0"/>
              <a:t>Child prints Hello on console</a:t>
            </a:r>
          </a:p>
          <a:p>
            <a:endParaRPr lang="en-IN" dirty="0"/>
          </a:p>
          <a:p>
            <a:r>
              <a:rPr lang="en-IN" dirty="0"/>
              <a:t>Parent issues wait function call</a:t>
            </a:r>
          </a:p>
          <a:p>
            <a:pPr lvl="1"/>
            <a:r>
              <a:rPr lang="en-IN" dirty="0"/>
              <a:t>Definitely waits for child to </a:t>
            </a:r>
          </a:p>
          <a:p>
            <a:pPr marL="457200" lvl="1" indent="0">
              <a:buNone/>
            </a:pPr>
            <a:r>
              <a:rPr lang="en-IN" dirty="0"/>
              <a:t>     get over</a:t>
            </a:r>
          </a:p>
          <a:p>
            <a:pPr lvl="1"/>
            <a:r>
              <a:rPr lang="en-IN" dirty="0"/>
              <a:t>wait(NULL) indicates that </a:t>
            </a:r>
          </a:p>
          <a:p>
            <a:pPr marL="457200" lvl="1" indent="0">
              <a:buNone/>
            </a:pPr>
            <a:r>
              <a:rPr lang="en-IN" dirty="0"/>
              <a:t>     parent does not care about</a:t>
            </a:r>
          </a:p>
          <a:p>
            <a:pPr marL="457200" lvl="1" indent="0">
              <a:buNone/>
            </a:pPr>
            <a:r>
              <a:rPr lang="en-IN" dirty="0"/>
              <a:t>     the status of child termination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lvl="1"/>
            <a:r>
              <a:rPr lang="en-IN" dirty="0"/>
              <a:t>wait ensures the above order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3C4A54-57D1-FD16-EF17-087C884C0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927" y="4273919"/>
            <a:ext cx="1143160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20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C457-F1E5-48D4-99D2-CA9975AD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wait()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31E49-03E1-8330-BAB4-8DACE562C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028005"/>
            <a:ext cx="7743825" cy="4530725"/>
          </a:xfrm>
        </p:spPr>
        <p:txBody>
          <a:bodyPr/>
          <a:lstStyle/>
          <a:p>
            <a:r>
              <a:rPr lang="en-IN" dirty="0" err="1"/>
              <a:t>pid_t</a:t>
            </a:r>
            <a:r>
              <a:rPr lang="en-IN" dirty="0"/>
              <a:t> wait (int *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status</a:t>
            </a:r>
            <a:r>
              <a:rPr lang="en-IN" dirty="0"/>
              <a:t>); Defined in sys/</a:t>
            </a:r>
            <a:r>
              <a:rPr lang="en-IN" dirty="0" err="1"/>
              <a:t>wait.h</a:t>
            </a:r>
            <a:endParaRPr lang="en-IN" dirty="0"/>
          </a:p>
          <a:p>
            <a:endParaRPr lang="en-IN" dirty="0"/>
          </a:p>
          <a:p>
            <a:r>
              <a:rPr lang="en-IN" dirty="0"/>
              <a:t>Calling process waits for the child</a:t>
            </a:r>
          </a:p>
          <a:p>
            <a:endParaRPr lang="en-IN" dirty="0"/>
          </a:p>
          <a:p>
            <a:r>
              <a:rPr lang="en-IN" dirty="0"/>
              <a:t>While the parent process is waiting for the child to terminate, the parent process transitions from running to waiting state</a:t>
            </a:r>
          </a:p>
          <a:p>
            <a:endParaRPr lang="en-IN" dirty="0"/>
          </a:p>
          <a:p>
            <a:r>
              <a:rPr lang="en-IN" dirty="0"/>
              <a:t>When child terminates (either explicitly calling exit or return or implicitly), its status is recorded in the variable 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</a:p>
          <a:p>
            <a:pPr lvl="1"/>
            <a:r>
              <a:rPr lang="en-IN" dirty="0"/>
              <a:t>Parent gets to know the child exit status (normal or abnormal termination) – 0 if normal and non-zero for abnormal 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857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C457-F1E5-48D4-99D2-CA9975AD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wait()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31E49-03E1-8330-BAB4-8DACE562C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028005"/>
            <a:ext cx="7743825" cy="4530725"/>
          </a:xfrm>
        </p:spPr>
        <p:txBody>
          <a:bodyPr/>
          <a:lstStyle/>
          <a:p>
            <a:r>
              <a:rPr lang="en-IN" dirty="0" err="1"/>
              <a:t>pid_t</a:t>
            </a:r>
            <a:r>
              <a:rPr lang="en-IN" dirty="0"/>
              <a:t> wait (int *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status</a:t>
            </a:r>
            <a:r>
              <a:rPr lang="en-IN" dirty="0"/>
              <a:t>); Defined in sys/</a:t>
            </a:r>
            <a:r>
              <a:rPr lang="en-IN" dirty="0" err="1"/>
              <a:t>wait.h</a:t>
            </a:r>
            <a:endParaRPr lang="en-IN" dirty="0"/>
          </a:p>
          <a:p>
            <a:r>
              <a:rPr lang="en-IN" dirty="0" smtClean="0"/>
              <a:t>Calling </a:t>
            </a:r>
            <a:r>
              <a:rPr lang="en-IN" dirty="0"/>
              <a:t>process waits for the child</a:t>
            </a:r>
          </a:p>
          <a:p>
            <a:r>
              <a:rPr lang="en-IN" dirty="0" smtClean="0"/>
              <a:t>When </a:t>
            </a:r>
            <a:r>
              <a:rPr lang="en-IN" dirty="0"/>
              <a:t>child terminates (either explicitly calling exit or return or implicitly), its status is recorded in the variable 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</a:p>
          <a:p>
            <a:pPr lvl="1"/>
            <a:r>
              <a:rPr lang="en-IN" dirty="0"/>
              <a:t>Parent gets to know the child exit status (normal or abnormal termination) – 0 if normal and non-zero for abnormal </a:t>
            </a:r>
            <a:endParaRPr lang="en-IN" dirty="0" smtClean="0"/>
          </a:p>
          <a:p>
            <a:pPr lvl="1"/>
            <a:endParaRPr lang="en-IN" dirty="0"/>
          </a:p>
          <a:p>
            <a:pPr lvl="1"/>
            <a:endParaRPr lang="en-IN" dirty="0" smtClean="0"/>
          </a:p>
          <a:p>
            <a:pPr lvl="1"/>
            <a:endParaRPr lang="en-IN" dirty="0"/>
          </a:p>
          <a:p>
            <a:pPr lvl="1"/>
            <a:endParaRPr lang="en-IN" dirty="0" smtClean="0"/>
          </a:p>
          <a:p>
            <a:pPr lvl="1"/>
            <a:endParaRPr lang="en-IN" dirty="0"/>
          </a:p>
          <a:p>
            <a:pPr lvl="1"/>
            <a:endParaRPr lang="en-IN" dirty="0" smtClean="0"/>
          </a:p>
          <a:p>
            <a:pPr lvl="1"/>
            <a:endParaRPr lang="en-IN" dirty="0"/>
          </a:p>
          <a:p>
            <a:pPr lvl="1"/>
            <a:endParaRPr lang="en-IN" dirty="0" smtClean="0"/>
          </a:p>
          <a:p>
            <a:pPr lvl="1"/>
            <a:endParaRPr lang="en-IN" dirty="0"/>
          </a:p>
          <a:p>
            <a:pPr marL="457200" lvl="1" indent="0">
              <a:buNone/>
            </a:pPr>
            <a:r>
              <a:rPr lang="en-IN" dirty="0" smtClean="0"/>
              <a:t>             </a:t>
            </a:r>
            <a:r>
              <a:rPr lang="en-IN" sz="1200" dirty="0" smtClean="0"/>
              <a:t>}</a:t>
            </a:r>
            <a:endParaRPr lang="en-IN" dirty="0"/>
          </a:p>
          <a:p>
            <a:pPr lvl="1"/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49" y="3175402"/>
            <a:ext cx="4991100" cy="322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5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C457-F1E5-48D4-99D2-CA9975AD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wait()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31E49-03E1-8330-BAB4-8DACE562C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028005"/>
            <a:ext cx="7743825" cy="4530725"/>
          </a:xfrm>
        </p:spPr>
        <p:txBody>
          <a:bodyPr/>
          <a:lstStyle/>
          <a:p>
            <a:pPr lvl="1"/>
            <a:endParaRPr lang="en-IN" dirty="0"/>
          </a:p>
          <a:p>
            <a:r>
              <a:rPr lang="en-IN" dirty="0"/>
              <a:t>wait returns the </a:t>
            </a:r>
            <a:r>
              <a:rPr lang="en-IN" dirty="0" err="1"/>
              <a:t>pid</a:t>
            </a:r>
            <a:r>
              <a:rPr lang="en-IN" dirty="0"/>
              <a:t> of the terminated child </a:t>
            </a:r>
          </a:p>
          <a:p>
            <a:pPr lvl="1"/>
            <a:r>
              <a:rPr lang="en-IN" dirty="0"/>
              <a:t>Note: A parent can create multiple child processes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6" y="2898972"/>
            <a:ext cx="5153025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58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4" y="1065864"/>
            <a:ext cx="6682887" cy="51869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039" y="2936631"/>
            <a:ext cx="19812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20645" y="4501662"/>
            <a:ext cx="41137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Exercise: look at </a:t>
            </a:r>
            <a:r>
              <a:rPr lang="en-US" dirty="0" err="1" smtClean="0"/>
              <a:t>waitpid</a:t>
            </a:r>
            <a:r>
              <a:rPr lang="en-US" dirty="0" smtClean="0"/>
              <a:t>()</a:t>
            </a:r>
          </a:p>
          <a:p>
            <a:r>
              <a:rPr lang="en-US" dirty="0" smtClean="0"/>
              <a:t>Create a program where the </a:t>
            </a:r>
          </a:p>
          <a:p>
            <a:r>
              <a:rPr lang="en-US" dirty="0" smtClean="0"/>
              <a:t>Parent waits for multiple children </a:t>
            </a:r>
          </a:p>
          <a:p>
            <a:r>
              <a:rPr lang="en-US" dirty="0" smtClean="0"/>
              <a:t>And listens to their status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506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A5DE8-518B-2357-1FB9-EE8C55D11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E3F40842-0EEB-DCB2-933C-B983239E3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Parent and Child different tasks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278EC76F-4D6E-7340-3D9C-4CFC5516F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9332" y="902030"/>
            <a:ext cx="8225336" cy="5627688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exec()</a:t>
            </a:r>
            <a:r>
              <a:rPr lang="en-US" altLang="en-US" sz="2000" dirty="0"/>
              <a:t> </a:t>
            </a:r>
            <a:r>
              <a:rPr lang="en-US" altLang="en-US" dirty="0"/>
              <a:t>system call used after 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/>
              <a:t> </a:t>
            </a:r>
            <a:r>
              <a:rPr lang="en-US" altLang="en-US" dirty="0"/>
              <a:t>to replace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</a:p>
          <a:p>
            <a:pPr lvl="1"/>
            <a:r>
              <a:rPr lang="en-US" altLang="ja-JP" dirty="0"/>
              <a:t>exec() family of functions</a:t>
            </a:r>
          </a:p>
          <a:p>
            <a:pPr lvl="1"/>
            <a:r>
              <a:rPr lang="en-US" altLang="ja-JP" dirty="0"/>
              <a:t>Erase the current process image from child process</a:t>
            </a:r>
          </a:p>
          <a:p>
            <a:pPr lvl="1"/>
            <a:r>
              <a:rPr lang="en-US" altLang="ja-JP" dirty="0"/>
              <a:t>Loads a new process image</a:t>
            </a:r>
          </a:p>
          <a:p>
            <a:pPr lvl="1"/>
            <a:endParaRPr lang="en-US" altLang="ja-JP" dirty="0"/>
          </a:p>
          <a:p>
            <a:r>
              <a:rPr lang="en-US" altLang="ja-JP" dirty="0"/>
              <a:t>Defined in </a:t>
            </a:r>
            <a:r>
              <a:rPr lang="en-US" altLang="ja-JP" dirty="0" err="1"/>
              <a:t>unistd.h</a:t>
            </a:r>
            <a:endParaRPr lang="en-US" altLang="ja-JP" dirty="0"/>
          </a:p>
          <a:p>
            <a:endParaRPr lang="en-US" altLang="ja-JP" sz="1050" dirty="0"/>
          </a:p>
          <a:p>
            <a:r>
              <a:rPr lang="en-US" altLang="ja-JP" dirty="0"/>
              <a:t>int </a:t>
            </a:r>
            <a:r>
              <a:rPr lang="en-US" altLang="ja-JP" dirty="0" err="1"/>
              <a:t>execlp</a:t>
            </a:r>
            <a:r>
              <a:rPr lang="en-US" altLang="ja-JP" dirty="0"/>
              <a:t> (const char *path, const char *arg1, const char *arg2, .., const char *</a:t>
            </a:r>
            <a:r>
              <a:rPr lang="en-US" altLang="ja-JP" dirty="0" err="1"/>
              <a:t>argN</a:t>
            </a:r>
            <a:r>
              <a:rPr lang="en-US" altLang="ja-JP" dirty="0"/>
              <a:t>, NULL);</a:t>
            </a:r>
          </a:p>
          <a:p>
            <a:pPr lvl="1"/>
            <a:r>
              <a:rPr lang="en-US" altLang="ja-JP" dirty="0"/>
              <a:t>path of the binary file to be loaded</a:t>
            </a:r>
          </a:p>
          <a:p>
            <a:pPr lvl="1"/>
            <a:r>
              <a:rPr lang="en-US" altLang="ja-JP" dirty="0"/>
              <a:t>Strings </a:t>
            </a:r>
            <a:r>
              <a:rPr lang="en-US" altLang="ja-JP" dirty="0" err="1"/>
              <a:t>arg</a:t>
            </a:r>
            <a:r>
              <a:rPr lang="en-US" altLang="ja-JP" dirty="0"/>
              <a:t> specify the arguments / commands with which the binary file is to be executed</a:t>
            </a:r>
          </a:p>
          <a:p>
            <a:pPr lvl="1"/>
            <a:r>
              <a:rPr lang="en-US" altLang="ja-JP" dirty="0"/>
              <a:t>NULL specifies the end of the argument list</a:t>
            </a:r>
          </a:p>
          <a:p>
            <a:pPr lvl="1"/>
            <a:endParaRPr lang="en-US" altLang="ja-JP" dirty="0"/>
          </a:p>
          <a:p>
            <a:r>
              <a:rPr lang="en-US" altLang="ja-JP" dirty="0"/>
              <a:t>NOTE: since the process image has been over-written, it does not </a:t>
            </a:r>
            <a:r>
              <a:rPr lang="en-US" altLang="ja-JP"/>
              <a:t>return </a:t>
            </a:r>
            <a:r>
              <a:rPr lang="en-US" altLang="ja-JP" smtClean="0"/>
              <a:t>on </a:t>
            </a:r>
            <a:r>
              <a:rPr lang="en-US" altLang="ja-JP" dirty="0"/>
              <a:t>successful execution – returns -1 only if error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46084" name="Picture 1">
            <a:extLst>
              <a:ext uri="{FF2B5EF4-FFF2-40B4-BE49-F238E27FC236}">
                <a16:creationId xmlns:a16="http://schemas.microsoft.com/office/drawing/2014/main" id="{CE50BEBE-5E51-AE61-2744-72AEC18C1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265" y="2636160"/>
            <a:ext cx="57467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2422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F2EEF-E1A2-3D32-3FED-253DEA1B5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8B71A-5859-0A30-031D-1F2BC2747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Parent waits</a:t>
            </a:r>
          </a:p>
          <a:p>
            <a:endParaRPr lang="en-IN" dirty="0"/>
          </a:p>
          <a:p>
            <a:r>
              <a:rPr lang="en-IN" dirty="0"/>
              <a:t>Question: Will hello </a:t>
            </a:r>
          </a:p>
          <a:p>
            <a:pPr marL="0" indent="0">
              <a:buNone/>
            </a:pPr>
            <a:r>
              <a:rPr lang="en-IN" dirty="0"/>
              <a:t>      be printed?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BYE will be printed only </a:t>
            </a:r>
          </a:p>
          <a:p>
            <a:pPr marL="0" indent="0">
              <a:buNone/>
            </a:pPr>
            <a:r>
              <a:rPr lang="en-IN" dirty="0"/>
              <a:t>      after ls –l output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Binary file corresponding </a:t>
            </a:r>
            <a:r>
              <a:rPr lang="en-IN" dirty="0" smtClean="0"/>
              <a:t>to </a:t>
            </a:r>
            <a:r>
              <a:rPr lang="en-IN" dirty="0"/>
              <a:t>ls </a:t>
            </a:r>
          </a:p>
          <a:p>
            <a:pPr marL="0" indent="0">
              <a:buNone/>
            </a:pPr>
            <a:r>
              <a:rPr lang="en-IN" dirty="0" smtClean="0"/>
              <a:t>     has replaced the original binary file of the child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21B7B8-15FB-56CB-139A-7CE8A392C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210" y="1016204"/>
            <a:ext cx="4210281" cy="326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61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B0688-974E-A214-2965-3DB1E8EE8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64145-8D31-1D0E-FAF3-00C9B0D3B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 err="1"/>
              <a:t>gcc</a:t>
            </a:r>
            <a:r>
              <a:rPr lang="en-IN" dirty="0"/>
              <a:t> </a:t>
            </a:r>
            <a:r>
              <a:rPr lang="en-IN" dirty="0" err="1"/>
              <a:t>b.c</a:t>
            </a:r>
            <a:r>
              <a:rPr lang="en-IN" dirty="0"/>
              <a:t> –o </a:t>
            </a:r>
            <a:r>
              <a:rPr lang="en-IN" dirty="0" err="1"/>
              <a:t>b.out</a:t>
            </a:r>
            <a:endParaRPr lang="en-IN" dirty="0"/>
          </a:p>
          <a:p>
            <a:r>
              <a:rPr lang="en-IN" dirty="0" err="1"/>
              <a:t>gcc</a:t>
            </a:r>
            <a:r>
              <a:rPr lang="en-IN" dirty="0"/>
              <a:t> </a:t>
            </a:r>
            <a:r>
              <a:rPr lang="en-IN" dirty="0" err="1"/>
              <a:t>a.c</a:t>
            </a:r>
            <a:r>
              <a:rPr lang="en-IN" dirty="0"/>
              <a:t> –o </a:t>
            </a:r>
            <a:r>
              <a:rPr lang="en-IN" dirty="0" err="1"/>
              <a:t>a.out</a:t>
            </a:r>
            <a:endParaRPr lang="en-IN" dirty="0"/>
          </a:p>
          <a:p>
            <a:r>
              <a:rPr lang="en-IN" dirty="0"/>
              <a:t>./</a:t>
            </a:r>
            <a:r>
              <a:rPr lang="en-IN" dirty="0" err="1"/>
              <a:t>a.out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9C4D5-D5E6-503D-3570-A9A4EB58A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1840"/>
            <a:ext cx="6114450" cy="39957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5418D7-1E1A-3A6E-9654-F62418E8E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342" y="5448103"/>
            <a:ext cx="3115110" cy="140989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047536B-FE55-95FF-7B84-FEBD575293C0}"/>
              </a:ext>
            </a:extLst>
          </p:cNvPr>
          <p:cNvSpPr/>
          <p:nvPr/>
        </p:nvSpPr>
        <p:spPr bwMode="auto">
          <a:xfrm>
            <a:off x="7438490" y="5044611"/>
            <a:ext cx="534256" cy="40349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b.c</a:t>
            </a: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89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Inside the fork function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7488" y="2778398"/>
            <a:ext cx="6000750" cy="2571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5123" y="13012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8728"/>
            <a:ext cx="6048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45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Inside the fork function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161562"/>
            <a:ext cx="1933575" cy="1333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322" y="1966179"/>
            <a:ext cx="5114925" cy="8858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07078"/>
            <a:ext cx="5238750" cy="15049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6930" y="3598710"/>
            <a:ext cx="3807069" cy="325928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5673189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400" dirty="0" err="1" smtClean="0">
                <a:solidFill>
                  <a:srgbClr val="0C0D0E"/>
                </a:solidFill>
                <a:latin typeface="ui-monospace"/>
              </a:rPr>
              <a:t>wget</a:t>
            </a:r>
            <a:r>
              <a:rPr lang="en-IN" sz="1400" dirty="0" smtClean="0">
                <a:solidFill>
                  <a:srgbClr val="0C0D0E"/>
                </a:solidFill>
                <a:latin typeface="ui-monospace"/>
              </a:rPr>
              <a:t> http</a:t>
            </a:r>
            <a:r>
              <a:rPr lang="en-IN" sz="1400" dirty="0">
                <a:solidFill>
                  <a:srgbClr val="0C0D0E"/>
                </a:solidFill>
                <a:latin typeface="ui-monospace"/>
              </a:rPr>
              <a:t>://www.kernel.org/pub/linux/kernel/v2.6/linux-2.6.23.tar.bz2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37438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17868</TotalTime>
  <Words>1189</Words>
  <Application>Microsoft Office PowerPoint</Application>
  <PresentationFormat>On-screen Show (4:3)</PresentationFormat>
  <Paragraphs>316</Paragraphs>
  <Slides>30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MS PGothic</vt:lpstr>
      <vt:lpstr>MS PGothic</vt:lpstr>
      <vt:lpstr>Arial</vt:lpstr>
      <vt:lpstr>Courier New</vt:lpstr>
      <vt:lpstr>Helvetica</vt:lpstr>
      <vt:lpstr>Monotype Sorts</vt:lpstr>
      <vt:lpstr>Times New Roman</vt:lpstr>
      <vt:lpstr>ui-monospace</vt:lpstr>
      <vt:lpstr>Verdana</vt:lpstr>
      <vt:lpstr>Webdings</vt:lpstr>
      <vt:lpstr>Wingdings</vt:lpstr>
      <vt:lpstr>os-8</vt:lpstr>
      <vt:lpstr>Processes</vt:lpstr>
      <vt:lpstr>Process Concept</vt:lpstr>
      <vt:lpstr>Process Concept</vt:lpstr>
      <vt:lpstr>Memory Layout of a C Program</vt:lpstr>
      <vt:lpstr>Process</vt:lpstr>
      <vt:lpstr>Process Stacks</vt:lpstr>
      <vt:lpstr>Program ≠ Process</vt:lpstr>
      <vt:lpstr>Operations on Processes</vt:lpstr>
      <vt:lpstr>Creating a Process by Cloning</vt:lpstr>
      <vt:lpstr>Process Creation</vt:lpstr>
      <vt:lpstr>Fork()</vt:lpstr>
      <vt:lpstr>Copy-On-Write (COW)</vt:lpstr>
      <vt:lpstr>Copy-On-Write (COW)</vt:lpstr>
      <vt:lpstr>fork()</vt:lpstr>
      <vt:lpstr>Another Example</vt:lpstr>
      <vt:lpstr>Process Creation flowchart</vt:lpstr>
      <vt:lpstr>PID and PPID</vt:lpstr>
      <vt:lpstr>IMPORTANT</vt:lpstr>
      <vt:lpstr>Quiz</vt:lpstr>
      <vt:lpstr>Process Creation (Cont.)</vt:lpstr>
      <vt:lpstr>Example</vt:lpstr>
      <vt:lpstr>wait()</vt:lpstr>
      <vt:lpstr>wait()</vt:lpstr>
      <vt:lpstr>wait()</vt:lpstr>
      <vt:lpstr>An example</vt:lpstr>
      <vt:lpstr>Parent and Child different tasks</vt:lpstr>
      <vt:lpstr>Some more examples</vt:lpstr>
      <vt:lpstr>Some more examples</vt:lpstr>
      <vt:lpstr>Inside the fork function</vt:lpstr>
      <vt:lpstr>Inside the fork function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PC</cp:lastModifiedBy>
  <cp:revision>429</cp:revision>
  <cp:lastPrinted>2013-10-02T18:16:40Z</cp:lastPrinted>
  <dcterms:created xsi:type="dcterms:W3CDTF">2011-01-13T23:43:38Z</dcterms:created>
  <dcterms:modified xsi:type="dcterms:W3CDTF">2026-01-15T18:18:39Z</dcterms:modified>
</cp:coreProperties>
</file>